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2.xml" ContentType="application/vnd.openxmlformats-officedocument.theme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3.xml" ContentType="application/vnd.openxmlformats-officedocument.theme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theme/theme4.xml" ContentType="application/vnd.openxmlformats-officedocument.theme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theme/theme5.xml" ContentType="application/vnd.openxmlformats-officedocument.theme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theme/theme6.xml" ContentType="application/vnd.openxmlformats-officedocument.theme+xml"/>
  <Override PartName="/ppt/tags/tag319.xml" ContentType="application/vnd.openxmlformats-officedocument.presentationml.tags+xml"/>
  <Override PartName="/ppt/tags/tag320.xml" ContentType="application/vnd.openxmlformats-officedocument.presentationml.tags+xml"/>
  <Override PartName="/ppt/tags/tag321.xml" ContentType="application/vnd.openxmlformats-officedocument.presentationml.tags+xml"/>
  <Override PartName="/ppt/tags/tag322.xml" ContentType="application/vnd.openxmlformats-officedocument.presentationml.tags+xml"/>
  <Override PartName="/ppt/tags/tag323.xml" ContentType="application/vnd.openxmlformats-officedocument.presentationml.tags+xml"/>
  <Override PartName="/ppt/tags/tag324.xml" ContentType="application/vnd.openxmlformats-officedocument.presentationml.tags+xml"/>
  <Override PartName="/ppt/tags/tag325.xml" ContentType="application/vnd.openxmlformats-officedocument.presentationml.tags+xml"/>
  <Override PartName="/ppt/tags/tag326.xml" ContentType="application/vnd.openxmlformats-officedocument.presentationml.tags+xml"/>
  <Override PartName="/ppt/tags/tag327.xml" ContentType="application/vnd.openxmlformats-officedocument.presentationml.tags+xml"/>
  <Override PartName="/ppt/tags/tag328.xml" ContentType="application/vnd.openxmlformats-officedocument.presentationml.tags+xml"/>
  <Override PartName="/ppt/tags/tag329.xml" ContentType="application/vnd.openxmlformats-officedocument.presentationml.tags+xml"/>
  <Override PartName="/ppt/tags/tag330.xml" ContentType="application/vnd.openxmlformats-officedocument.presentationml.tags+xml"/>
  <Override PartName="/ppt/tags/tag331.xml" ContentType="application/vnd.openxmlformats-officedocument.presentationml.tags+xml"/>
  <Override PartName="/ppt/tags/tag332.xml" ContentType="application/vnd.openxmlformats-officedocument.presentationml.tags+xml"/>
  <Override PartName="/ppt/tags/tag333.xml" ContentType="application/vnd.openxmlformats-officedocument.presentationml.tags+xml"/>
  <Override PartName="/ppt/tags/tag334.xml" ContentType="application/vnd.openxmlformats-officedocument.presentationml.tags+xml"/>
  <Override PartName="/ppt/tags/tag335.xml" ContentType="application/vnd.openxmlformats-officedocument.presentationml.tags+xml"/>
  <Override PartName="/ppt/tags/tag336.xml" ContentType="application/vnd.openxmlformats-officedocument.presentationml.tags+xml"/>
  <Override PartName="/ppt/tags/tag337.xml" ContentType="application/vnd.openxmlformats-officedocument.presentationml.tags+xml"/>
  <Override PartName="/ppt/tags/tag338.xml" ContentType="application/vnd.openxmlformats-officedocument.presentationml.tags+xml"/>
  <Override PartName="/ppt/tags/tag339.xml" ContentType="application/vnd.openxmlformats-officedocument.presentationml.tags+xml"/>
  <Override PartName="/ppt/tags/tag340.xml" ContentType="application/vnd.openxmlformats-officedocument.presentationml.tags+xml"/>
  <Override PartName="/ppt/tags/tag341.xml" ContentType="application/vnd.openxmlformats-officedocument.presentationml.tags+xml"/>
  <Override PartName="/ppt/tags/tag342.xml" ContentType="application/vnd.openxmlformats-officedocument.presentationml.tags+xml"/>
  <Override PartName="/ppt/tags/tag343.xml" ContentType="application/vnd.openxmlformats-officedocument.presentationml.tags+xml"/>
  <Override PartName="/ppt/tags/tag344.xml" ContentType="application/vnd.openxmlformats-officedocument.presentationml.tags+xml"/>
  <Override PartName="/ppt/tags/tag345.xml" ContentType="application/vnd.openxmlformats-officedocument.presentationml.tags+xml"/>
  <Override PartName="/ppt/tags/tag346.xml" ContentType="application/vnd.openxmlformats-officedocument.presentationml.tags+xml"/>
  <Override PartName="/ppt/tags/tag347.xml" ContentType="application/vnd.openxmlformats-officedocument.presentationml.tags+xml"/>
  <Override PartName="/ppt/tags/tag348.xml" ContentType="application/vnd.openxmlformats-officedocument.presentationml.tags+xml"/>
  <Override PartName="/ppt/tags/tag349.xml" ContentType="application/vnd.openxmlformats-officedocument.presentationml.tags+xml"/>
  <Override PartName="/ppt/tags/tag350.xml" ContentType="application/vnd.openxmlformats-officedocument.presentationml.tags+xml"/>
  <Override PartName="/ppt/tags/tag351.xml" ContentType="application/vnd.openxmlformats-officedocument.presentationml.tags+xml"/>
  <Override PartName="/ppt/tags/tag352.xml" ContentType="application/vnd.openxmlformats-officedocument.presentationml.tags+xml"/>
  <Override PartName="/ppt/tags/tag353.xml" ContentType="application/vnd.openxmlformats-officedocument.presentationml.tags+xml"/>
  <Override PartName="/ppt/tags/tag354.xml" ContentType="application/vnd.openxmlformats-officedocument.presentationml.tags+xml"/>
  <Override PartName="/ppt/tags/tag355.xml" ContentType="application/vnd.openxmlformats-officedocument.presentationml.tags+xml"/>
  <Override PartName="/ppt/tags/tag356.xml" ContentType="application/vnd.openxmlformats-officedocument.presentationml.tags+xml"/>
  <Override PartName="/ppt/tags/tag357.xml" ContentType="application/vnd.openxmlformats-officedocument.presentationml.tags+xml"/>
  <Override PartName="/ppt/tags/tag358.xml" ContentType="application/vnd.openxmlformats-officedocument.presentationml.tags+xml"/>
  <Override PartName="/ppt/tags/tag359.xml" ContentType="application/vnd.openxmlformats-officedocument.presentationml.tags+xml"/>
  <Override PartName="/ppt/tags/tag360.xml" ContentType="application/vnd.openxmlformats-officedocument.presentationml.tags+xml"/>
  <Override PartName="/ppt/tags/tag361.xml" ContentType="application/vnd.openxmlformats-officedocument.presentationml.tags+xml"/>
  <Override PartName="/ppt/tags/tag362.xml" ContentType="application/vnd.openxmlformats-officedocument.presentationml.tags+xml"/>
  <Override PartName="/ppt/tags/tag363.xml" ContentType="application/vnd.openxmlformats-officedocument.presentationml.tags+xml"/>
  <Override PartName="/ppt/tags/tag364.xml" ContentType="application/vnd.openxmlformats-officedocument.presentationml.tags+xml"/>
  <Override PartName="/ppt/tags/tag365.xml" ContentType="application/vnd.openxmlformats-officedocument.presentationml.tags+xml"/>
  <Override PartName="/ppt/tags/tag366.xml" ContentType="application/vnd.openxmlformats-officedocument.presentationml.tags+xml"/>
  <Override PartName="/ppt/tags/tag367.xml" ContentType="application/vnd.openxmlformats-officedocument.presentationml.tags+xml"/>
  <Override PartName="/ppt/tags/tag368.xml" ContentType="application/vnd.openxmlformats-officedocument.presentationml.tags+xml"/>
  <Override PartName="/ppt/tags/tag369.xml" ContentType="application/vnd.openxmlformats-officedocument.presentationml.tags+xml"/>
  <Override PartName="/ppt/tags/tag370.xml" ContentType="application/vnd.openxmlformats-officedocument.presentationml.tags+xml"/>
  <Override PartName="/ppt/tags/tag371.xml" ContentType="application/vnd.openxmlformats-officedocument.presentationml.tags+xml"/>
  <Override PartName="/ppt/tags/tag372.xml" ContentType="application/vnd.openxmlformats-officedocument.presentationml.tags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theme/theme7.xml" ContentType="application/vnd.openxmlformats-officedocument.theme+xml"/>
  <Override PartName="/ppt/tags/tag373.xml" ContentType="application/vnd.openxmlformats-officedocument.presentationml.tags+xml"/>
  <Override PartName="/ppt/tags/tag374.xml" ContentType="application/vnd.openxmlformats-officedocument.presentationml.tags+xml"/>
  <Override PartName="/ppt/tags/tag375.xml" ContentType="application/vnd.openxmlformats-officedocument.presentationml.tags+xml"/>
  <Override PartName="/ppt/tags/tag376.xml" ContentType="application/vnd.openxmlformats-officedocument.presentationml.tags+xml"/>
  <Override PartName="/ppt/tags/tag377.xml" ContentType="application/vnd.openxmlformats-officedocument.presentationml.tags+xml"/>
  <Override PartName="/ppt/tags/tag378.xml" ContentType="application/vnd.openxmlformats-officedocument.presentationml.tags+xml"/>
  <Override PartName="/ppt/tags/tag379.xml" ContentType="application/vnd.openxmlformats-officedocument.presentationml.tags+xml"/>
  <Override PartName="/ppt/tags/tag380.xml" ContentType="application/vnd.openxmlformats-officedocument.presentationml.tags+xml"/>
  <Override PartName="/ppt/tags/tag381.xml" ContentType="application/vnd.openxmlformats-officedocument.presentationml.tags+xml"/>
  <Override PartName="/ppt/tags/tag382.xml" ContentType="application/vnd.openxmlformats-officedocument.presentationml.tags+xml"/>
  <Override PartName="/ppt/tags/tag383.xml" ContentType="application/vnd.openxmlformats-officedocument.presentationml.tags+xml"/>
  <Override PartName="/ppt/tags/tag384.xml" ContentType="application/vnd.openxmlformats-officedocument.presentationml.tags+xml"/>
  <Override PartName="/ppt/tags/tag385.xml" ContentType="application/vnd.openxmlformats-officedocument.presentationml.tags+xml"/>
  <Override PartName="/ppt/tags/tag386.xml" ContentType="application/vnd.openxmlformats-officedocument.presentationml.tags+xml"/>
  <Override PartName="/ppt/tags/tag387.xml" ContentType="application/vnd.openxmlformats-officedocument.presentationml.tags+xml"/>
  <Override PartName="/ppt/tags/tag388.xml" ContentType="application/vnd.openxmlformats-officedocument.presentationml.tags+xml"/>
  <Override PartName="/ppt/tags/tag389.xml" ContentType="application/vnd.openxmlformats-officedocument.presentationml.tags+xml"/>
  <Override PartName="/ppt/tags/tag390.xml" ContentType="application/vnd.openxmlformats-officedocument.presentationml.tags+xml"/>
  <Override PartName="/ppt/tags/tag391.xml" ContentType="application/vnd.openxmlformats-officedocument.presentationml.tags+xml"/>
  <Override PartName="/ppt/tags/tag392.xml" ContentType="application/vnd.openxmlformats-officedocument.presentationml.tags+xml"/>
  <Override PartName="/ppt/tags/tag393.xml" ContentType="application/vnd.openxmlformats-officedocument.presentationml.tags+xml"/>
  <Override PartName="/ppt/tags/tag394.xml" ContentType="application/vnd.openxmlformats-officedocument.presentationml.tags+xml"/>
  <Override PartName="/ppt/tags/tag395.xml" ContentType="application/vnd.openxmlformats-officedocument.presentationml.tags+xml"/>
  <Override PartName="/ppt/tags/tag396.xml" ContentType="application/vnd.openxmlformats-officedocument.presentationml.tags+xml"/>
  <Override PartName="/ppt/tags/tag397.xml" ContentType="application/vnd.openxmlformats-officedocument.presentationml.tags+xml"/>
  <Override PartName="/ppt/tags/tag398.xml" ContentType="application/vnd.openxmlformats-officedocument.presentationml.tags+xml"/>
  <Override PartName="/ppt/tags/tag399.xml" ContentType="application/vnd.openxmlformats-officedocument.presentationml.tags+xml"/>
  <Override PartName="/ppt/tags/tag400.xml" ContentType="application/vnd.openxmlformats-officedocument.presentationml.tags+xml"/>
  <Override PartName="/ppt/tags/tag401.xml" ContentType="application/vnd.openxmlformats-officedocument.presentationml.tags+xml"/>
  <Override PartName="/ppt/tags/tag402.xml" ContentType="application/vnd.openxmlformats-officedocument.presentationml.tags+xml"/>
  <Override PartName="/ppt/tags/tag403.xml" ContentType="application/vnd.openxmlformats-officedocument.presentationml.tags+xml"/>
  <Override PartName="/ppt/tags/tag404.xml" ContentType="application/vnd.openxmlformats-officedocument.presentationml.tags+xml"/>
  <Override PartName="/ppt/tags/tag405.xml" ContentType="application/vnd.openxmlformats-officedocument.presentationml.tags+xml"/>
  <Override PartName="/ppt/tags/tag406.xml" ContentType="application/vnd.openxmlformats-officedocument.presentationml.tags+xml"/>
  <Override PartName="/ppt/tags/tag407.xml" ContentType="application/vnd.openxmlformats-officedocument.presentationml.tags+xml"/>
  <Override PartName="/ppt/tags/tag408.xml" ContentType="application/vnd.openxmlformats-officedocument.presentationml.tags+xml"/>
  <Override PartName="/ppt/tags/tag409.xml" ContentType="application/vnd.openxmlformats-officedocument.presentationml.tags+xml"/>
  <Override PartName="/ppt/tags/tag410.xml" ContentType="application/vnd.openxmlformats-officedocument.presentationml.tags+xml"/>
  <Override PartName="/ppt/tags/tag411.xml" ContentType="application/vnd.openxmlformats-officedocument.presentationml.tags+xml"/>
  <Override PartName="/ppt/tags/tag412.xml" ContentType="application/vnd.openxmlformats-officedocument.presentationml.tags+xml"/>
  <Override PartName="/ppt/tags/tag413.xml" ContentType="application/vnd.openxmlformats-officedocument.presentationml.tags+xml"/>
  <Override PartName="/ppt/tags/tag414.xml" ContentType="application/vnd.openxmlformats-officedocument.presentationml.tags+xml"/>
  <Override PartName="/ppt/tags/tag415.xml" ContentType="application/vnd.openxmlformats-officedocument.presentationml.tags+xml"/>
  <Override PartName="/ppt/tags/tag416.xml" ContentType="application/vnd.openxmlformats-officedocument.presentationml.tags+xml"/>
  <Override PartName="/ppt/tags/tag417.xml" ContentType="application/vnd.openxmlformats-officedocument.presentationml.tags+xml"/>
  <Override PartName="/ppt/tags/tag418.xml" ContentType="application/vnd.openxmlformats-officedocument.presentationml.tags+xml"/>
  <Override PartName="/ppt/tags/tag419.xml" ContentType="application/vnd.openxmlformats-officedocument.presentationml.tags+xml"/>
  <Override PartName="/ppt/tags/tag420.xml" ContentType="application/vnd.openxmlformats-officedocument.presentationml.tags+xml"/>
  <Override PartName="/ppt/tags/tag421.xml" ContentType="application/vnd.openxmlformats-officedocument.presentationml.tags+xml"/>
  <Override PartName="/ppt/tags/tag422.xml" ContentType="application/vnd.openxmlformats-officedocument.presentationml.tags+xml"/>
  <Override PartName="/ppt/tags/tag423.xml" ContentType="application/vnd.openxmlformats-officedocument.presentationml.tags+xml"/>
  <Override PartName="/ppt/tags/tag424.xml" ContentType="application/vnd.openxmlformats-officedocument.presentationml.tags+xml"/>
  <Override PartName="/ppt/tags/tag425.xml" ContentType="application/vnd.openxmlformats-officedocument.presentationml.tags+xml"/>
  <Override PartName="/ppt/tags/tag426.xml" ContentType="application/vnd.openxmlformats-officedocument.presentationml.tags+xml"/>
  <Override PartName="/ppt/tags/tag427.xml" ContentType="application/vnd.openxmlformats-officedocument.presentationml.tags+xml"/>
  <Override PartName="/ppt/tags/tag428.xml" ContentType="application/vnd.openxmlformats-officedocument.presentationml.tags+xml"/>
  <Override PartName="/ppt/tags/tag429.xml" ContentType="application/vnd.openxmlformats-officedocument.presentationml.tags+xml"/>
  <Override PartName="/ppt/tags/tag430.xml" ContentType="application/vnd.openxmlformats-officedocument.presentationml.tags+xml"/>
  <Override PartName="/ppt/tags/tag431.xml" ContentType="application/vnd.openxmlformats-officedocument.presentationml.tags+xml"/>
  <Override PartName="/ppt/tags/tag432.xml" ContentType="application/vnd.openxmlformats-officedocument.presentationml.tags+xml"/>
  <Override PartName="/ppt/tags/tag433.xml" ContentType="application/vnd.openxmlformats-officedocument.presentationml.tags+xml"/>
  <Override PartName="/ppt/tags/tag434.xml" ContentType="application/vnd.openxmlformats-officedocument.presentationml.tags+xml"/>
  <Override PartName="/ppt/tags/tag435.xml" ContentType="application/vnd.openxmlformats-officedocument.presentationml.tags+xml"/>
  <Override PartName="/ppt/tags/tag436.xml" ContentType="application/vnd.openxmlformats-officedocument.presentationml.tags+xml"/>
  <Override PartName="/ppt/theme/theme8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tags/tag437.xml" ContentType="application/vnd.openxmlformats-officedocument.presentationml.tags+xml"/>
  <Override PartName="/ppt/tags/tag438.xml" ContentType="application/vnd.openxmlformats-officedocument.presentationml.tags+xml"/>
  <Override PartName="/ppt/tags/tag439.xml" ContentType="application/vnd.openxmlformats-officedocument.presentationml.tags+xml"/>
  <Override PartName="/ppt/tags/tag440.xml" ContentType="application/vnd.openxmlformats-officedocument.presentationml.tags+xml"/>
  <Override PartName="/ppt/tags/tag441.xml" ContentType="application/vnd.openxmlformats-officedocument.presentationml.tags+xml"/>
  <Override PartName="/ppt/tags/tag442.xml" ContentType="application/vnd.openxmlformats-officedocument.presentationml.tags+xml"/>
  <Override PartName="/ppt/tags/tag443.xml" ContentType="application/vnd.openxmlformats-officedocument.presentationml.tags+xml"/>
  <Override PartName="/ppt/tags/tag444.xml" ContentType="application/vnd.openxmlformats-officedocument.presentationml.tags+xml"/>
  <Override PartName="/ppt/tags/tag445.xml" ContentType="application/vnd.openxmlformats-officedocument.presentationml.tags+xml"/>
  <Override PartName="/ppt/tags/tag446.xml" ContentType="application/vnd.openxmlformats-officedocument.presentationml.tags+xml"/>
  <Override PartName="/ppt/tags/tag447.xml" ContentType="application/vnd.openxmlformats-officedocument.presentationml.tags+xml"/>
  <Override PartName="/ppt/tags/tag448.xml" ContentType="application/vnd.openxmlformats-officedocument.presentationml.tags+xml"/>
  <Override PartName="/ppt/tags/tag449.xml" ContentType="application/vnd.openxmlformats-officedocument.presentationml.tags+xml"/>
  <Override PartName="/ppt/tags/tag450.xml" ContentType="application/vnd.openxmlformats-officedocument.presentationml.tags+xml"/>
  <Override PartName="/ppt/tags/tag451.xml" ContentType="application/vnd.openxmlformats-officedocument.presentationml.tags+xml"/>
  <Override PartName="/ppt/tags/tag452.xml" ContentType="application/vnd.openxmlformats-officedocument.presentationml.tags+xml"/>
  <Override PartName="/ppt/tags/tag453.xml" ContentType="application/vnd.openxmlformats-officedocument.presentationml.tags+xml"/>
  <Override PartName="/ppt/tags/tag454.xml" ContentType="application/vnd.openxmlformats-officedocument.presentationml.tags+xml"/>
  <Override PartName="/ppt/tags/tag455.xml" ContentType="application/vnd.openxmlformats-officedocument.presentationml.tags+xml"/>
  <Override PartName="/ppt/tags/tag456.xml" ContentType="application/vnd.openxmlformats-officedocument.presentationml.tags+xml"/>
  <Override PartName="/ppt/tags/tag457.xml" ContentType="application/vnd.openxmlformats-officedocument.presentationml.tags+xml"/>
  <Override PartName="/ppt/tags/tag458.xml" ContentType="application/vnd.openxmlformats-officedocument.presentationml.tags+xml"/>
  <Override PartName="/ppt/tags/tag459.xml" ContentType="application/vnd.openxmlformats-officedocument.presentationml.tags+xml"/>
  <Override PartName="/ppt/tags/tag460.xml" ContentType="application/vnd.openxmlformats-officedocument.presentationml.tags+xml"/>
  <Override PartName="/ppt/tags/tag461.xml" ContentType="application/vnd.openxmlformats-officedocument.presentationml.tags+xml"/>
  <Override PartName="/ppt/tags/tag462.xml" ContentType="application/vnd.openxmlformats-officedocument.presentationml.tags+xml"/>
  <Override PartName="/ppt/tags/tag463.xml" ContentType="application/vnd.openxmlformats-officedocument.presentationml.tags+xml"/>
  <Override PartName="/ppt/tags/tag464.xml" ContentType="application/vnd.openxmlformats-officedocument.presentationml.tags+xml"/>
  <Override PartName="/ppt/tags/tag465.xml" ContentType="application/vnd.openxmlformats-officedocument.presentationml.tags+xml"/>
  <Override PartName="/ppt/tags/tag466.xml" ContentType="application/vnd.openxmlformats-officedocument.presentationml.tags+xml"/>
  <Override PartName="/ppt/tags/tag467.xml" ContentType="application/vnd.openxmlformats-officedocument.presentationml.tags+xml"/>
  <Override PartName="/ppt/tags/tag468.xml" ContentType="application/vnd.openxmlformats-officedocument.presentationml.tags+xml"/>
  <Override PartName="/ppt/tags/tag469.xml" ContentType="application/vnd.openxmlformats-officedocument.presentationml.tags+xml"/>
  <Override PartName="/ppt/tags/tag470.xml" ContentType="application/vnd.openxmlformats-officedocument.presentationml.tags+xml"/>
  <Override PartName="/ppt/tags/tag471.xml" ContentType="application/vnd.openxmlformats-officedocument.presentationml.tags+xml"/>
  <Override PartName="/ppt/tags/tag472.xml" ContentType="application/vnd.openxmlformats-officedocument.presentationml.tags+xml"/>
  <Override PartName="/ppt/tags/tag473.xml" ContentType="application/vnd.openxmlformats-officedocument.presentationml.tags+xml"/>
  <Override PartName="/ppt/notesSlides/notesSlide13.xml" ContentType="application/vnd.openxmlformats-officedocument.presentationml.notesSlide+xml"/>
  <Override PartName="/ppt/tags/tag474.xml" ContentType="application/vnd.openxmlformats-officedocument.presentationml.tags+xml"/>
  <Override PartName="/ppt/tags/tag475.xml" ContentType="application/vnd.openxmlformats-officedocument.presentationml.tags+xml"/>
  <Override PartName="/ppt/notesSlides/notesSlide14.xml" ContentType="application/vnd.openxmlformats-officedocument.presentationml.notesSlide+xml"/>
  <Override PartName="/ppt/tags/tag476.xml" ContentType="application/vnd.openxmlformats-officedocument.presentationml.tags+xml"/>
  <Override PartName="/ppt/tags/tag477.xml" ContentType="application/vnd.openxmlformats-officedocument.presentationml.tags+xml"/>
  <Override PartName="/ppt/tags/tag478.xml" ContentType="application/vnd.openxmlformats-officedocument.presentationml.tags+xml"/>
  <Override PartName="/ppt/tags/tag479.xml" ContentType="application/vnd.openxmlformats-officedocument.presentationml.tags+xml"/>
  <Override PartName="/ppt/tags/tag480.xml" ContentType="application/vnd.openxmlformats-officedocument.presentationml.tags+xml"/>
  <Override PartName="/ppt/tags/tag481.xml" ContentType="application/vnd.openxmlformats-officedocument.presentationml.tags+xml"/>
  <Override PartName="/ppt/tags/tag482.xml" ContentType="application/vnd.openxmlformats-officedocument.presentationml.tags+xml"/>
  <Override PartName="/ppt/tags/tag483.xml" ContentType="application/vnd.openxmlformats-officedocument.presentationml.tags+xml"/>
  <Override PartName="/ppt/tags/tag484.xml" ContentType="application/vnd.openxmlformats-officedocument.presentationml.tags+xml"/>
  <Override PartName="/ppt/tags/tag485.xml" ContentType="application/vnd.openxmlformats-officedocument.presentationml.tags+xml"/>
  <Override PartName="/ppt/tags/tag486.xml" ContentType="application/vnd.openxmlformats-officedocument.presentationml.tags+xml"/>
  <Override PartName="/ppt/tags/tag487.xml" ContentType="application/vnd.openxmlformats-officedocument.presentationml.tags+xml"/>
  <Override PartName="/ppt/tags/tag488.xml" ContentType="application/vnd.openxmlformats-officedocument.presentationml.tags+xml"/>
  <Override PartName="/ppt/tags/tag489.xml" ContentType="application/vnd.openxmlformats-officedocument.presentationml.tags+xml"/>
  <Override PartName="/ppt/tags/tag490.xml" ContentType="application/vnd.openxmlformats-officedocument.presentationml.tags+xml"/>
  <Override PartName="/ppt/tags/tag491.xml" ContentType="application/vnd.openxmlformats-officedocument.presentationml.tags+xml"/>
  <Override PartName="/ppt/tags/tag492.xml" ContentType="application/vnd.openxmlformats-officedocument.presentationml.tags+xml"/>
  <Override PartName="/ppt/tags/tag493.xml" ContentType="application/vnd.openxmlformats-officedocument.presentationml.tags+xml"/>
  <Override PartName="/ppt/tags/tag494.xml" ContentType="application/vnd.openxmlformats-officedocument.presentationml.tags+xml"/>
  <Override PartName="/ppt/tags/tag495.xml" ContentType="application/vnd.openxmlformats-officedocument.presentationml.tags+xml"/>
  <Override PartName="/ppt/tags/tag496.xml" ContentType="application/vnd.openxmlformats-officedocument.presentationml.tags+xml"/>
  <Override PartName="/ppt/tags/tag497.xml" ContentType="application/vnd.openxmlformats-officedocument.presentationml.tags+xml"/>
  <Override PartName="/ppt/tags/tag498.xml" ContentType="application/vnd.openxmlformats-officedocument.presentationml.tags+xml"/>
  <Override PartName="/ppt/tags/tag499.xml" ContentType="application/vnd.openxmlformats-officedocument.presentationml.tags+xml"/>
  <Override PartName="/ppt/tags/tag500.xml" ContentType="application/vnd.openxmlformats-officedocument.presentationml.tags+xml"/>
  <Override PartName="/ppt/tags/tag501.xml" ContentType="application/vnd.openxmlformats-officedocument.presentationml.tags+xml"/>
  <Override PartName="/ppt/tags/tag502.xml" ContentType="application/vnd.openxmlformats-officedocument.presentationml.tags+xml"/>
  <Override PartName="/ppt/tags/tag503.xml" ContentType="application/vnd.openxmlformats-officedocument.presentationml.tags+xml"/>
  <Override PartName="/ppt/tags/tag504.xml" ContentType="application/vnd.openxmlformats-officedocument.presentationml.tags+xml"/>
  <Override PartName="/ppt/tags/tag505.xml" ContentType="application/vnd.openxmlformats-officedocument.presentationml.tags+xml"/>
  <Override PartName="/ppt/tags/tag506.xml" ContentType="application/vnd.openxmlformats-officedocument.presentationml.tags+xml"/>
  <Override PartName="/ppt/tags/tag507.xml" ContentType="application/vnd.openxmlformats-officedocument.presentationml.tags+xml"/>
  <Override PartName="/ppt/tags/tag508.xml" ContentType="application/vnd.openxmlformats-officedocument.presentationml.tags+xml"/>
  <Override PartName="/ppt/tags/tag509.xml" ContentType="application/vnd.openxmlformats-officedocument.presentationml.tags+xml"/>
  <Override PartName="/ppt/tags/tag510.xml" ContentType="application/vnd.openxmlformats-officedocument.presentationml.tags+xml"/>
  <Override PartName="/ppt/tags/tag511.xml" ContentType="application/vnd.openxmlformats-officedocument.presentationml.tags+xml"/>
  <Override PartName="/ppt/tags/tag512.xml" ContentType="application/vnd.openxmlformats-officedocument.presentationml.tags+xml"/>
  <Override PartName="/ppt/tags/tag513.xml" ContentType="application/vnd.openxmlformats-officedocument.presentationml.tags+xml"/>
  <Override PartName="/ppt/tags/tag514.xml" ContentType="application/vnd.openxmlformats-officedocument.presentationml.tags+xml"/>
  <Override PartName="/ppt/tags/tag515.xml" ContentType="application/vnd.openxmlformats-officedocument.presentationml.tags+xml"/>
  <Override PartName="/ppt/tags/tag516.xml" ContentType="application/vnd.openxmlformats-officedocument.presentationml.tags+xml"/>
  <Override PartName="/ppt/tags/tag517.xml" ContentType="application/vnd.openxmlformats-officedocument.presentationml.tags+xml"/>
  <Override PartName="/ppt/tags/tag518.xml" ContentType="application/vnd.openxmlformats-officedocument.presentationml.tags+xml"/>
  <Override PartName="/ppt/tags/tag519.xml" ContentType="application/vnd.openxmlformats-officedocument.presentationml.tags+xml"/>
  <Override PartName="/ppt/tags/tag520.xml" ContentType="application/vnd.openxmlformats-officedocument.presentationml.tags+xml"/>
  <Override PartName="/ppt/tags/tag521.xml" ContentType="application/vnd.openxmlformats-officedocument.presentationml.tags+xml"/>
  <Override PartName="/ppt/tags/tag522.xml" ContentType="application/vnd.openxmlformats-officedocument.presentationml.tags+xml"/>
  <Override PartName="/ppt/tags/tag523.xml" ContentType="application/vnd.openxmlformats-officedocument.presentationml.tags+xml"/>
  <Override PartName="/ppt/tags/tag524.xml" ContentType="application/vnd.openxmlformats-officedocument.presentationml.tags+xml"/>
  <Override PartName="/ppt/tags/tag525.xml" ContentType="application/vnd.openxmlformats-officedocument.presentationml.tags+xml"/>
  <Override PartName="/ppt/tags/tag526.xml" ContentType="application/vnd.openxmlformats-officedocument.presentationml.tags+xml"/>
  <Override PartName="/ppt/tags/tag527.xml" ContentType="application/vnd.openxmlformats-officedocument.presentationml.tags+xml"/>
  <Override PartName="/ppt/tags/tag528.xml" ContentType="application/vnd.openxmlformats-officedocument.presentationml.tags+xml"/>
  <Override PartName="/ppt/tags/tag529.xml" ContentType="application/vnd.openxmlformats-officedocument.presentationml.tags+xml"/>
  <Override PartName="/ppt/tags/tag530.xml" ContentType="application/vnd.openxmlformats-officedocument.presentationml.tags+xml"/>
  <Override PartName="/ppt/tags/tag531.xml" ContentType="application/vnd.openxmlformats-officedocument.presentationml.tags+xml"/>
  <Override PartName="/ppt/tags/tag532.xml" ContentType="application/vnd.openxmlformats-officedocument.presentationml.tags+xml"/>
  <Override PartName="/ppt/tags/tag533.xml" ContentType="application/vnd.openxmlformats-officedocument.presentationml.tags+xml"/>
  <Override PartName="/ppt/tags/tag534.xml" ContentType="application/vnd.openxmlformats-officedocument.presentationml.tags+xml"/>
  <Override PartName="/ppt/tags/tag535.xml" ContentType="application/vnd.openxmlformats-officedocument.presentationml.tags+xml"/>
  <Override PartName="/ppt/tags/tag536.xml" ContentType="application/vnd.openxmlformats-officedocument.presentationml.tags+xml"/>
  <Override PartName="/ppt/tags/tag537.xml" ContentType="application/vnd.openxmlformats-officedocument.presentationml.tags+xml"/>
  <Override PartName="/ppt/tags/tag538.xml" ContentType="application/vnd.openxmlformats-officedocument.presentationml.tags+xml"/>
  <Override PartName="/ppt/tags/tag539.xml" ContentType="application/vnd.openxmlformats-officedocument.presentationml.tags+xml"/>
  <Override PartName="/ppt/tags/tag540.xml" ContentType="application/vnd.openxmlformats-officedocument.presentationml.tags+xml"/>
  <Override PartName="/ppt/tags/tag541.xml" ContentType="application/vnd.openxmlformats-officedocument.presentationml.tags+xml"/>
  <Override PartName="/ppt/tags/tag542.xml" ContentType="application/vnd.openxmlformats-officedocument.presentationml.tags+xml"/>
  <Override PartName="/ppt/tags/tag543.xml" ContentType="application/vnd.openxmlformats-officedocument.presentationml.tags+xml"/>
  <Override PartName="/ppt/tags/tag544.xml" ContentType="application/vnd.openxmlformats-officedocument.presentationml.tags+xml"/>
  <Override PartName="/ppt/tags/tag545.xml" ContentType="application/vnd.openxmlformats-officedocument.presentationml.tags+xml"/>
  <Override PartName="/ppt/tags/tag546.xml" ContentType="application/vnd.openxmlformats-officedocument.presentationml.tags+xml"/>
  <Override PartName="/ppt/tags/tag547.xml" ContentType="application/vnd.openxmlformats-officedocument.presentationml.tags+xml"/>
  <Override PartName="/ppt/tags/tag548.xml" ContentType="application/vnd.openxmlformats-officedocument.presentationml.tags+xml"/>
  <Override PartName="/ppt/tags/tag549.xml" ContentType="application/vnd.openxmlformats-officedocument.presentationml.tags+xml"/>
  <Override PartName="/ppt/tags/tag550.xml" ContentType="application/vnd.openxmlformats-officedocument.presentationml.tags+xml"/>
  <Override PartName="/ppt/tags/tag551.xml" ContentType="application/vnd.openxmlformats-officedocument.presentationml.tags+xml"/>
  <Override PartName="/ppt/tags/tag552.xml" ContentType="application/vnd.openxmlformats-officedocument.presentationml.tags+xml"/>
  <Override PartName="/ppt/tags/tag553.xml" ContentType="application/vnd.openxmlformats-officedocument.presentationml.tags+xml"/>
  <Override PartName="/ppt/tags/tag554.xml" ContentType="application/vnd.openxmlformats-officedocument.presentationml.tags+xml"/>
  <Override PartName="/ppt/tags/tag555.xml" ContentType="application/vnd.openxmlformats-officedocument.presentationml.tags+xml"/>
  <Override PartName="/ppt/tags/tag556.xml" ContentType="application/vnd.openxmlformats-officedocument.presentationml.tags+xml"/>
  <Override PartName="/ppt/tags/tag557.xml" ContentType="application/vnd.openxmlformats-officedocument.presentationml.tags+xml"/>
  <Override PartName="/ppt/tags/tag558.xml" ContentType="application/vnd.openxmlformats-officedocument.presentationml.tags+xml"/>
  <Override PartName="/ppt/tags/tag559.xml" ContentType="application/vnd.openxmlformats-officedocument.presentationml.tags+xml"/>
  <Override PartName="/ppt/tags/tag560.xml" ContentType="application/vnd.openxmlformats-officedocument.presentationml.tags+xml"/>
  <Override PartName="/ppt/tags/tag561.xml" ContentType="application/vnd.openxmlformats-officedocument.presentationml.tags+xml"/>
  <Override PartName="/ppt/tags/tag562.xml" ContentType="application/vnd.openxmlformats-officedocument.presentationml.tags+xml"/>
  <Override PartName="/ppt/tags/tag563.xml" ContentType="application/vnd.openxmlformats-officedocument.presentationml.tags+xml"/>
  <Override PartName="/ppt/tags/tag564.xml" ContentType="application/vnd.openxmlformats-officedocument.presentationml.tags+xml"/>
  <Override PartName="/ppt/tags/tag565.xml" ContentType="application/vnd.openxmlformats-officedocument.presentationml.tags+xml"/>
  <Override PartName="/ppt/tags/tag566.xml" ContentType="application/vnd.openxmlformats-officedocument.presentationml.tags+xml"/>
  <Override PartName="/ppt/tags/tag567.xml" ContentType="application/vnd.openxmlformats-officedocument.presentationml.tags+xml"/>
  <Override PartName="/ppt/tags/tag568.xml" ContentType="application/vnd.openxmlformats-officedocument.presentationml.tags+xml"/>
  <Override PartName="/ppt/tags/tag569.xml" ContentType="application/vnd.openxmlformats-officedocument.presentationml.tags+xml"/>
  <Override PartName="/ppt/tags/tag570.xml" ContentType="application/vnd.openxmlformats-officedocument.presentationml.tags+xml"/>
  <Override PartName="/ppt/tags/tag571.xml" ContentType="application/vnd.openxmlformats-officedocument.presentationml.tags+xml"/>
  <Override PartName="/ppt/tags/tag572.xml" ContentType="application/vnd.openxmlformats-officedocument.presentationml.tags+xml"/>
  <Override PartName="/ppt/tags/tag573.xml" ContentType="application/vnd.openxmlformats-officedocument.presentationml.tags+xml"/>
  <Override PartName="/ppt/tags/tag574.xml" ContentType="application/vnd.openxmlformats-officedocument.presentationml.tags+xml"/>
  <Override PartName="/ppt/tags/tag575.xml" ContentType="application/vnd.openxmlformats-officedocument.presentationml.tags+xml"/>
  <Override PartName="/ppt/tags/tag576.xml" ContentType="application/vnd.openxmlformats-officedocument.presentationml.tags+xml"/>
  <Override PartName="/ppt/tags/tag577.xml" ContentType="application/vnd.openxmlformats-officedocument.presentationml.tags+xml"/>
  <Override PartName="/ppt/tags/tag578.xml" ContentType="application/vnd.openxmlformats-officedocument.presentationml.tags+xml"/>
  <Override PartName="/ppt/tags/tag579.xml" ContentType="application/vnd.openxmlformats-officedocument.presentationml.tags+xml"/>
  <Override PartName="/ppt/tags/tag580.xml" ContentType="application/vnd.openxmlformats-officedocument.presentationml.tags+xml"/>
  <Override PartName="/ppt/tags/tag581.xml" ContentType="application/vnd.openxmlformats-officedocument.presentationml.tags+xml"/>
  <Override PartName="/ppt/tags/tag582.xml" ContentType="application/vnd.openxmlformats-officedocument.presentationml.tags+xml"/>
  <Override PartName="/ppt/tags/tag583.xml" ContentType="application/vnd.openxmlformats-officedocument.presentationml.tags+xml"/>
  <Override PartName="/ppt/tags/tag584.xml" ContentType="application/vnd.openxmlformats-officedocument.presentationml.tags+xml"/>
  <Override PartName="/ppt/tags/tag585.xml" ContentType="application/vnd.openxmlformats-officedocument.presentationml.tags+xml"/>
  <Override PartName="/ppt/tags/tag586.xml" ContentType="application/vnd.openxmlformats-officedocument.presentationml.tags+xml"/>
  <Override PartName="/ppt/tags/tag587.xml" ContentType="application/vnd.openxmlformats-officedocument.presentationml.tags+xml"/>
  <Override PartName="/ppt/tags/tag588.xml" ContentType="application/vnd.openxmlformats-officedocument.presentationml.tags+xml"/>
  <Override PartName="/ppt/tags/tag589.xml" ContentType="application/vnd.openxmlformats-officedocument.presentationml.tags+xml"/>
  <Override PartName="/ppt/tags/tag590.xml" ContentType="application/vnd.openxmlformats-officedocument.presentationml.tags+xml"/>
  <Override PartName="/ppt/tags/tag591.xml" ContentType="application/vnd.openxmlformats-officedocument.presentationml.tags+xml"/>
  <Override PartName="/ppt/tags/tag592.xml" ContentType="application/vnd.openxmlformats-officedocument.presentationml.tags+xml"/>
  <Override PartName="/ppt/tags/tag593.xml" ContentType="application/vnd.openxmlformats-officedocument.presentationml.tags+xml"/>
  <Override PartName="/ppt/tags/tag594.xml" ContentType="application/vnd.openxmlformats-officedocument.presentationml.tags+xml"/>
  <Override PartName="/ppt/tags/tag595.xml" ContentType="application/vnd.openxmlformats-officedocument.presentationml.tags+xml"/>
  <Override PartName="/ppt/tags/tag596.xml" ContentType="application/vnd.openxmlformats-officedocument.presentationml.tags+xml"/>
  <Override PartName="/ppt/tags/tag597.xml" ContentType="application/vnd.openxmlformats-officedocument.presentationml.tags+xml"/>
  <Override PartName="/ppt/tags/tag598.xml" ContentType="application/vnd.openxmlformats-officedocument.presentationml.tags+xml"/>
  <Override PartName="/ppt/tags/tag599.xml" ContentType="application/vnd.openxmlformats-officedocument.presentationml.tags+xml"/>
  <Override PartName="/ppt/tags/tag600.xml" ContentType="application/vnd.openxmlformats-officedocument.presentationml.tags+xml"/>
  <Override PartName="/ppt/tags/tag601.xml" ContentType="application/vnd.openxmlformats-officedocument.presentationml.tags+xml"/>
  <Override PartName="/ppt/tags/tag602.xml" ContentType="application/vnd.openxmlformats-officedocument.presentationml.tags+xml"/>
  <Override PartName="/ppt/tags/tag603.xml" ContentType="application/vnd.openxmlformats-officedocument.presentationml.tags+xml"/>
  <Override PartName="/ppt/tags/tag604.xml" ContentType="application/vnd.openxmlformats-officedocument.presentationml.tags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89" r:id="rId1"/>
    <p:sldMasterId id="2147483737" r:id="rId2"/>
    <p:sldMasterId id="2147483759" r:id="rId3"/>
    <p:sldMasterId id="2147483776" r:id="rId4"/>
    <p:sldMasterId id="2147483792" r:id="rId5"/>
    <p:sldMasterId id="2147483809" r:id="rId6"/>
    <p:sldMasterId id="2147483831" r:id="rId7"/>
  </p:sldMasterIdLst>
  <p:notesMasterIdLst>
    <p:notesMasterId r:id="rId63"/>
  </p:notesMasterIdLst>
  <p:sldIdLst>
    <p:sldId id="396" r:id="rId8"/>
    <p:sldId id="321" r:id="rId9"/>
    <p:sldId id="258" r:id="rId10"/>
    <p:sldId id="322" r:id="rId11"/>
    <p:sldId id="348" r:id="rId12"/>
    <p:sldId id="323" r:id="rId13"/>
    <p:sldId id="400" r:id="rId14"/>
    <p:sldId id="262" r:id="rId15"/>
    <p:sldId id="327" r:id="rId16"/>
    <p:sldId id="403" r:id="rId17"/>
    <p:sldId id="404" r:id="rId18"/>
    <p:sldId id="405" r:id="rId19"/>
    <p:sldId id="273" r:id="rId20"/>
    <p:sldId id="344" r:id="rId21"/>
    <p:sldId id="337" r:id="rId22"/>
    <p:sldId id="338" r:id="rId23"/>
    <p:sldId id="339" r:id="rId24"/>
    <p:sldId id="340" r:id="rId25"/>
    <p:sldId id="341" r:id="rId26"/>
    <p:sldId id="342" r:id="rId27"/>
    <p:sldId id="343" r:id="rId28"/>
    <p:sldId id="345" r:id="rId29"/>
    <p:sldId id="346" r:id="rId30"/>
    <p:sldId id="347" r:id="rId31"/>
    <p:sldId id="410" r:id="rId32"/>
    <p:sldId id="349" r:id="rId33"/>
    <p:sldId id="336" r:id="rId34"/>
    <p:sldId id="392" r:id="rId35"/>
    <p:sldId id="355" r:id="rId36"/>
    <p:sldId id="411" r:id="rId37"/>
    <p:sldId id="356" r:id="rId38"/>
    <p:sldId id="357" r:id="rId39"/>
    <p:sldId id="370" r:id="rId40"/>
    <p:sldId id="371" r:id="rId41"/>
    <p:sldId id="372" r:id="rId42"/>
    <p:sldId id="373" r:id="rId43"/>
    <p:sldId id="409" r:id="rId44"/>
    <p:sldId id="358" r:id="rId45"/>
    <p:sldId id="359" r:id="rId46"/>
    <p:sldId id="360" r:id="rId47"/>
    <p:sldId id="361" r:id="rId48"/>
    <p:sldId id="362" r:id="rId49"/>
    <p:sldId id="363" r:id="rId50"/>
    <p:sldId id="364" r:id="rId51"/>
    <p:sldId id="365" r:id="rId52"/>
    <p:sldId id="366" r:id="rId53"/>
    <p:sldId id="367" r:id="rId54"/>
    <p:sldId id="368" r:id="rId55"/>
    <p:sldId id="369" r:id="rId56"/>
    <p:sldId id="324" r:id="rId57"/>
    <p:sldId id="374" r:id="rId58"/>
    <p:sldId id="375" r:id="rId59"/>
    <p:sldId id="376" r:id="rId60"/>
    <p:sldId id="377" r:id="rId61"/>
    <p:sldId id="383" r:id="rId6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0" userDrawn="1">
          <p15:clr>
            <a:srgbClr val="A4A3A4"/>
          </p15:clr>
        </p15:guide>
        <p15:guide id="2" pos="395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07" name="未知的使用者122" initials="" lastIdx="0" clrIdx="306"/>
  <p:cmAuthor id="1" name="liyc" initials="l" lastIdx="0" clrIdx="0"/>
  <p:cmAuthor id="308" name="未知的使用者123" initials="" lastIdx="0" clrIdx="307"/>
  <p:cmAuthor id="2" name="localadmin" initials="l" lastIdx="0" clrIdx="1"/>
  <p:cmAuthor id="309" name="fyl" initials="f" lastIdx="0" clrIdx="308"/>
  <p:cmAuthor id="3" name="hezhidong" initials="h" lastIdx="0" clrIdx="2"/>
  <p:cmAuthor id="310" name="胡一刀" initials="胡" lastIdx="0" clrIdx="309"/>
  <p:cmAuthor id="4" name="Author" initials="A" lastIdx="0" clrIdx="3"/>
  <p:cmAuthor id="311" name="zhangwei@archforce.cn" initials="" lastIdx="0" clrIdx="310"/>
  <p:cmAuthor id="5" name="archforce" initials="a" lastIdx="0" clrIdx="4"/>
  <p:cmAuthor id="312" name="Robin Wang" initials="Robin" lastIdx="0" clrIdx="311"/>
  <p:cmAuthor id="6" name="Andrea" initials="WYX" lastIdx="0" clrIdx="5"/>
  <p:cmAuthor id="313" name="Qian Fangli 钱芳利" initials="QF钱" lastIdx="0" clrIdx="312"/>
  <p:cmAuthor id="7" name="作者" initials="A" lastIdx="0" clrIdx="6"/>
  <p:cmAuthor id="314" name="高 媛" initials="高" lastIdx="0" clrIdx="313"/>
  <p:cmAuthor id="8" name="葛 小绿" initials="葛" lastIdx="0" clrIdx="7"/>
  <p:cmAuthor id="315" name="chenjing" initials="c" lastIdx="0" clrIdx="314"/>
  <p:cmAuthor id="9" name="才子媛" initials=" czy" lastIdx="0" clrIdx="8"/>
  <p:cmAuthor id="316" name="Saku Uchikawa" initials="S" lastIdx="0" clrIdx="315"/>
  <p:cmAuthor id="10" name="张芳" initials="zf" lastIdx="0" clrIdx="9"/>
  <p:cmAuthor id="317" name="00035181" initials="0" lastIdx="0" clrIdx="316"/>
  <p:cmAuthor id="11" name="13920" initials="1" lastIdx="0" clrIdx="10"/>
  <p:cmAuthor id="318" name="13480188160_zuQvA3qI" initials="authorId_943550368" lastIdx="0" clrIdx="317"/>
  <p:cmAuthor id="12" name="caiziyuan" initials="c" lastIdx="0" clrIdx="11"/>
  <p:cmAuthor id="13" name="Chen Darren" initials="CD" lastIdx="0" clrIdx="12"/>
  <p:cmAuthor id="14" name="Hanjing Wang (IB)" initials="HW" lastIdx="0" clrIdx="13"/>
  <p:cmAuthor id="15" name="Z Zhang Fa IB" initials="ZZFI" lastIdx="0" clrIdx="14"/>
  <p:cmAuthor id="16" name="胡逸天" initials="胡" lastIdx="0" clrIdx="15"/>
  <p:cmAuthor id="17" name="86131" initials="8" lastIdx="0" clrIdx="16"/>
  <p:cmAuthor id="18" name="THINK" initials="T" lastIdx="0" clrIdx="17"/>
  <p:cmAuthor id="19" name="李秋军" initials="Kevin" lastIdx="0" clrIdx="18"/>
  <p:cmAuthor id="20" name="hyjchzu@outlook.com" initials="" lastIdx="0" clrIdx="19"/>
  <p:cmAuthor id="21" name="未知用户93" initials="" lastIdx="0" clrIdx="20"/>
  <p:cmAuthor id="22" name="未知用户90" initials="" lastIdx="0" clrIdx="21"/>
  <p:cmAuthor id="23" name="未知用户91" initials="" lastIdx="0" clrIdx="22"/>
  <p:cmAuthor id="24" name="未知用户92" initials="" lastIdx="0" clrIdx="23"/>
  <p:cmAuthor id="25" name="未知用户74" initials="" lastIdx="0" clrIdx="24"/>
  <p:cmAuthor id="26" name="未知用户75" initials="" lastIdx="0" clrIdx="25"/>
  <p:cmAuthor id="27" name="未知用户76" initials="" lastIdx="0" clrIdx="26"/>
  <p:cmAuthor id="28" name="未知用户77" initials="" lastIdx="0" clrIdx="27"/>
  <p:cmAuthor id="29" name="未知用户78" initials="" lastIdx="0" clrIdx="28"/>
  <p:cmAuthor id="30" name="未知用户79" initials="" lastIdx="0" clrIdx="29"/>
  <p:cmAuthor id="31" name="未知用户80" initials="" lastIdx="0" clrIdx="30"/>
  <p:cmAuthor id="32" name="Harry xu" initials="" lastIdx="0" clrIdx="31"/>
  <p:cmAuthor id="33" name="未知用户27" initials="未" lastIdx="0" clrIdx="32"/>
  <p:cmAuthor id="34" name="未知用户35" initials="未" lastIdx="0" clrIdx="33"/>
  <p:cmAuthor id="35" name="未知用户111" initials="未" lastIdx="0" clrIdx="34"/>
  <p:cmAuthor id="36" name="鬲莉" initials="A" lastIdx="0" clrIdx="35"/>
  <p:cmAuthor id="37" name="10066351" initials="1" lastIdx="0" clrIdx="36"/>
  <p:cmAuthor id="38" name="蔡建楠" initials="caijianna" lastIdx="0" clrIdx="37"/>
  <p:cmAuthor id="39" name="赵诚荣10027092" initials="赵" lastIdx="0" clrIdx="38"/>
  <p:cmAuthor id="40" name="李蕾00009994" initials="李" lastIdx="0" clrIdx="39"/>
  <p:cmAuthor id="41" name="wyz" initials="w" lastIdx="0" clrIdx="40"/>
  <p:cmAuthor id="42" name="10270945" initials="1" lastIdx="0" clrIdx="41"/>
  <p:cmAuthor id="43" name="10295142" initials="1" lastIdx="0" clrIdx="42"/>
  <p:cmAuthor id="44" name="Hou Yingfeng" initials="H" lastIdx="0" clrIdx="43"/>
  <p:cmAuthor id="45" name="10092001" initials="1" lastIdx="0" clrIdx="44"/>
  <p:cmAuthor id="46" name="10056791" initials="ZTE" lastIdx="0" clrIdx="45"/>
  <p:cmAuthor id="47" name="李楠10047711" initials="李楠10047711" lastIdx="0" clrIdx="46"/>
  <p:cmAuthor id="48" name="610007" initials="6" lastIdx="0" clrIdx="47"/>
  <p:cmAuthor id="49" name="叶建阳10032546" initials="叶建阳10032546" lastIdx="0" clrIdx="48"/>
  <p:cmAuthor id="50" name="Administrator" initials="A" lastIdx="0" clrIdx="49"/>
  <p:cmAuthor id="51" name="关全全10258021" initials="关全全10258021" lastIdx="0" clrIdx="50"/>
  <p:cmAuthor id="52" name="10032948" initials="1" lastIdx="0" clrIdx="51"/>
  <p:cmAuthor id="53" name="赵欣" initials="zx" lastIdx="0" clrIdx="52"/>
  <p:cmAuthor id="54" name="10209970" initials="1" lastIdx="0" clrIdx="53"/>
  <p:cmAuthor id="55" name="10133177" initials="1" lastIdx="0" clrIdx="54"/>
  <p:cmAuthor id="56" name="10072453" initials="1" lastIdx="0" clrIdx="55"/>
  <p:cmAuthor id="57" name="未知的使用者77" initials="" lastIdx="0" clrIdx="56"/>
  <p:cmAuthor id="58" name="未知的使用者92" initials="" lastIdx="0" clrIdx="57"/>
  <p:cmAuthor id="59" name="未知的使用者78" initials="" lastIdx="0" clrIdx="58"/>
  <p:cmAuthor id="60" name="10319231" initials="1" lastIdx="0" clrIdx="59"/>
  <p:cmAuthor id="61" name="未知的使用者79" initials="" lastIdx="0" clrIdx="60"/>
  <p:cmAuthor id="62" name="未知用户107" initials="" lastIdx="0" clrIdx="61"/>
  <p:cmAuthor id="63" name="未知的使用者80" initials="" lastIdx="0" clrIdx="62"/>
  <p:cmAuthor id="64" name="未知用户51" initials="" lastIdx="0" clrIdx="63"/>
  <p:cmAuthor id="65" name="未知的使用者82" initials="" lastIdx="0" clrIdx="64"/>
  <p:cmAuthor id="66" name="未知的使用者83" initials="" lastIdx="0" clrIdx="65"/>
  <p:cmAuthor id="67" name="未知的使用者118" initials="" lastIdx="0" clrIdx="66"/>
  <p:cmAuthor id="68" name="未知的使用者84" initials="" lastIdx="0" clrIdx="67"/>
  <p:cmAuthor id="69" name="未知的使用者70" initials="" lastIdx="0" clrIdx="68"/>
  <p:cmAuthor id="70" name="未知的使用者85" initials="" lastIdx="0" clrIdx="69"/>
  <p:cmAuthor id="71" name="未知的使用者40" initials="" lastIdx="0" clrIdx="70"/>
  <p:cmAuthor id="72" name="未知的使用者87" initials="" lastIdx="0" clrIdx="71"/>
  <p:cmAuthor id="73" name="曾红" initials="" lastIdx="0" clrIdx="72"/>
  <p:cmAuthor id="74" name="未知的使用者90" initials="" lastIdx="0" clrIdx="73"/>
  <p:cmAuthor id="75" name="未知的使用者29" initials="" lastIdx="0" clrIdx="74"/>
  <p:cmAuthor id="76" name="未知的使用者91" initials="" lastIdx="0" clrIdx="75"/>
  <p:cmAuthor id="77" name="未知的使用者98" initials="" lastIdx="0" clrIdx="76"/>
  <p:cmAuthor id="78" name="CHRISYU" initials="" lastIdx="0" clrIdx="77"/>
  <p:cmAuthor id="79" name="未知的使用者113" initials="" lastIdx="0" clrIdx="78"/>
  <p:cmAuthor id="80" name="liucunri" initials="" lastIdx="0" clrIdx="79"/>
  <p:cmAuthor id="81" name="未知用户9" initials="" lastIdx="0" clrIdx="80"/>
  <p:cmAuthor id="82" name="Unknown User48" initials="" lastIdx="0" clrIdx="81"/>
  <p:cmAuthor id="83" name="未知用户103" initials="" lastIdx="0" clrIdx="82"/>
  <p:cmAuthor id="84" name="Unknown User52" initials="" lastIdx="0" clrIdx="83"/>
  <p:cmAuthor id="85" name="未知的使用者42" initials="" lastIdx="0" clrIdx="84"/>
  <p:cmAuthor id="86" name="Unknown User50" initials="" lastIdx="0" clrIdx="85"/>
  <p:cmAuthor id="87" name="未知的使用者120" initials="" lastIdx="0" clrIdx="86"/>
  <p:cmAuthor id="88" name="px" initials="" lastIdx="0" clrIdx="87"/>
  <p:cmAuthor id="89" name="Sky123.Org" initials="" lastIdx="0" clrIdx="88"/>
  <p:cmAuthor id="90" name="elfinhsu" initials="" lastIdx="0" clrIdx="89"/>
  <p:cmAuthor id="91" name="微软用户" initials="" lastIdx="0" clrIdx="90"/>
  <p:cmAuthor id="92" name="未知的使用者73" initials="" lastIdx="0" clrIdx="91"/>
  <p:cmAuthor id="93" name="未知的使用者24" initials="" lastIdx="0" clrIdx="92"/>
  <p:cmAuthor id="94" name="未知用户16" initials="" lastIdx="0" clrIdx="93"/>
  <p:cmAuthor id="95" name="Mary Feil-Jacobs" initials="" lastIdx="0" clrIdx="94"/>
  <p:cmAuthor id="96" name="LiuHui" initials="" lastIdx="0" clrIdx="95"/>
  <p:cmAuthor id="97" name="未知的使用者45" initials="" lastIdx="0" clrIdx="96"/>
  <p:cmAuthor id="98" name="王鹏凯" initials="" lastIdx="0" clrIdx="97"/>
  <p:cmAuthor id="99" name="未知用户104" initials="" lastIdx="0" clrIdx="98"/>
  <p:cmAuthor id="100" name="未知用户5" initials="" lastIdx="0" clrIdx="99"/>
  <p:cmAuthor id="101" name="未知的使用者10" initials="" lastIdx="0" clrIdx="100"/>
  <p:cmAuthor id="102" name="未知的使用者93" initials="" lastIdx="0" clrIdx="101"/>
  <p:cmAuthor id="103" name="LeeElva" initials="" lastIdx="0" clrIdx="102"/>
  <p:cmAuthor id="104" name="未知用户99" initials="" lastIdx="0" clrIdx="103"/>
  <p:cmAuthor id="105" name="未知的使用者34" initials="" lastIdx="0" clrIdx="104"/>
  <p:cmAuthor id="106" name="未知的使用者115" initials="" lastIdx="0" clrIdx="105"/>
  <p:cmAuthor id="107" name="未知用户57" initials="" lastIdx="0" clrIdx="106"/>
  <p:cmAuthor id="108" name="lianghb" initials="" lastIdx="0" clrIdx="107"/>
  <p:cmAuthor id="109" name="未知用户17" initials="" lastIdx="0" clrIdx="108"/>
  <p:cmAuthor id="110" name="Deanna Schuler (Bookey Consulting)" initials="" lastIdx="0" clrIdx="109"/>
  <p:cmAuthor id="111" name="未知的使用者57" initials="" lastIdx="0" clrIdx="110"/>
  <p:cmAuthor id="112" name="未知的使用者16" initials="" lastIdx="0" clrIdx="111"/>
  <p:cmAuthor id="113" name="未知的使用者35" initials="" lastIdx="0" clrIdx="112"/>
  <p:cmAuthor id="114" name="未知用户102" initials="" lastIdx="0" clrIdx="113"/>
  <p:cmAuthor id="115" name="maxine" initials="" lastIdx="0" clrIdx="114"/>
  <p:cmAuthor id="116" name="未知的使用者121" initials="" lastIdx="0" clrIdx="115"/>
  <p:cmAuthor id="117" name="未知的使用者12" initials="" lastIdx="0" clrIdx="116"/>
  <p:cmAuthor id="118" name="周元元" initials="" lastIdx="0" clrIdx="117"/>
  <p:cmAuthor id="119" name="未知的使用者27" initials="" lastIdx="0" clrIdx="118"/>
  <p:cmAuthor id="120" name="未知的使用者30" initials="" lastIdx="0" clrIdx="119"/>
  <p:cmAuthor id="121" name="未知的使用者53" initials="" lastIdx="0" clrIdx="120"/>
  <p:cmAuthor id="122" name="未知用户58" initials="" lastIdx="0" clrIdx="121"/>
  <p:cmAuthor id="123" name="未知的使用者25" initials="" lastIdx="0" clrIdx="122"/>
  <p:cmAuthor id="124" name="liupeng" initials="" lastIdx="0" clrIdx="123"/>
  <p:cmAuthor id="125" name="未知用户24" initials="" lastIdx="0" clrIdx="124"/>
  <p:cmAuthor id="126" name="AbuSina" initials="" lastIdx="0" clrIdx="125"/>
  <p:cmAuthor id="127" name="hl sun" initials="" lastIdx="0" clrIdx="126"/>
  <p:cmAuthor id="128" name="未知的使用者94" initials="" lastIdx="0" clrIdx="127"/>
  <p:cmAuthor id="129" name="未知用户66" initials="" lastIdx="0" clrIdx="128"/>
  <p:cmAuthor id="130" name="未知用户19" initials="" lastIdx="0" clrIdx="129"/>
  <p:cmAuthor id="131" name="周宏達JerryChou" initials="" lastIdx="0" clrIdx="130"/>
  <p:cmAuthor id="132" name="未知用户7" initials="" lastIdx="0" clrIdx="131"/>
  <p:cmAuthor id="133" name="未知的使用者56" initials="" lastIdx="0" clrIdx="132"/>
  <p:cmAuthor id="134" name="未知的使用者119" initials="" lastIdx="0" clrIdx="133"/>
  <p:cmAuthor id="135" name="未知用户59" initials="" lastIdx="0" clrIdx="134"/>
  <p:cmAuthor id="136" name="未知的使用者22" initials="" lastIdx="0" clrIdx="135"/>
  <p:cmAuthor id="137" name="未知的使用者103" initials="" lastIdx="0" clrIdx="136"/>
  <p:cmAuthor id="138" name="Wenwen" initials="" lastIdx="0" clrIdx="137"/>
  <p:cmAuthor id="139" name="未知的使用者117" initials="" lastIdx="0" clrIdx="138"/>
  <p:cmAuthor id="140" name="未知的使用者33" initials="" lastIdx="0" clrIdx="139"/>
  <p:cmAuthor id="141" name="未知的使用者28" initials="" lastIdx="0" clrIdx="140"/>
  <p:cmAuthor id="142" name="未知用户67" initials="" lastIdx="0" clrIdx="141"/>
  <p:cmAuthor id="143" name="未知用户114" initials="" lastIdx="0" clrIdx="142"/>
  <p:cmAuthor id="144" name="未知用户18" initials="" lastIdx="0" clrIdx="143"/>
  <p:cmAuthor id="145" name="未知的使用者67" initials="" lastIdx="0" clrIdx="144"/>
  <p:cmAuthor id="146" name="未知的使用者46" initials="" lastIdx="0" clrIdx="145"/>
  <p:cmAuthor id="147" name="未知的使用者26" initials="" lastIdx="0" clrIdx="146"/>
  <p:cmAuthor id="148" name="未知的使用者43" initials="" lastIdx="0" clrIdx="147"/>
  <p:cmAuthor id="149" name="未知的使用者9" initials="" lastIdx="0" clrIdx="148"/>
  <p:cmAuthor id="150" name="未知用户62" initials="" lastIdx="0" clrIdx="149"/>
  <p:cmAuthor id="151" name="yuanzh" initials="" lastIdx="0" clrIdx="150"/>
  <p:cmAuthor id="152" name="不明使用者57" initials="" lastIdx="0" clrIdx="151"/>
  <p:cmAuthor id="153" name="未知用户108" initials="" lastIdx="0" clrIdx="152"/>
  <p:cmAuthor id="154" name="未知的使用者110" initials="" lastIdx="0" clrIdx="153"/>
  <p:cmAuthor id="155" name="linyd" initials="" lastIdx="0" clrIdx="154"/>
  <p:cmAuthor id="156" name="未知用户8" initials="" lastIdx="0" clrIdx="155"/>
  <p:cmAuthor id="157" name="未知的使用者31" initials="" lastIdx="0" clrIdx="156"/>
  <p:cmAuthor id="158" name="未知用户81" initials="" lastIdx="0" clrIdx="157"/>
  <p:cmAuthor id="159" name="未知用户115" initials="" lastIdx="0" clrIdx="158"/>
  <p:cmAuthor id="160" name="未知用户21" initials="" lastIdx="0" clrIdx="159"/>
  <p:cmAuthor id="161" name="未知的使用者68" initials="" lastIdx="0" clrIdx="160"/>
  <p:cmAuthor id="162" name="mm" initials="" lastIdx="0" clrIdx="161"/>
  <p:cmAuthor id="163" name="未知用户15" initials="" lastIdx="0" clrIdx="162"/>
  <p:cmAuthor id="164" name="朱晓瑜" initials="" lastIdx="0" clrIdx="163"/>
  <p:cmAuthor id="165" name="不明使用者20" initials="" lastIdx="0" clrIdx="164"/>
  <p:cmAuthor id="166" name="未知用户82" initials="" lastIdx="0" clrIdx="165"/>
  <p:cmAuthor id="167" name="未知的使用者7" initials="" lastIdx="0" clrIdx="166"/>
  <p:cmAuthor id="168" name="未知用户6" initials="" lastIdx="0" clrIdx="167"/>
  <p:cmAuthor id="169" name="未知的使用者55" initials="" lastIdx="0" clrIdx="168"/>
  <p:cmAuthor id="170" name="未知的使用者111" initials="" lastIdx="0" clrIdx="169"/>
  <p:cmAuthor id="171" name="未知的使用者50" initials="" lastIdx="0" clrIdx="170"/>
  <p:cmAuthor id="172" name="未知的使用者11" initials="" lastIdx="0" clrIdx="171"/>
  <p:cmAuthor id="173" name="未知用户47" initials="" lastIdx="0" clrIdx="172"/>
  <p:cmAuthor id="174" name="小延魔法师" initials="小" lastIdx="0" clrIdx="173"/>
  <p:cmAuthor id="175" name="未知用户106" initials="未" lastIdx="0" clrIdx="174"/>
  <p:cmAuthor id="176" name="未知用户116" initials="" lastIdx="0" clrIdx="175"/>
  <p:cmAuthor id="177" name="未知的使用者150" initials="未" lastIdx="0" clrIdx="176"/>
  <p:cmAuthor id="178" name="未知的使用者69" initials="" lastIdx="0" clrIdx="177"/>
  <p:cmAuthor id="179" name="未知的使用者112" initials="" lastIdx="0" clrIdx="178"/>
  <p:cmAuthor id="180" name="Kevin Hu" initials="" lastIdx="0" clrIdx="179"/>
  <p:cmAuthor id="181" name="未知的使用者38" initials="" lastIdx="0" clrIdx="180"/>
  <p:cmAuthor id="182" name="唐可欣" initials="" lastIdx="0" clrIdx="181"/>
  <p:cmAuthor id="183" name="未知的使用者8" initials="" lastIdx="0" clrIdx="182"/>
  <p:cmAuthor id="184" name="不明使用者56" initials="" lastIdx="0" clrIdx="183"/>
  <p:cmAuthor id="185" name="P00035_jeremy" initials="" lastIdx="0" clrIdx="184"/>
  <p:cmAuthor id="186" name="Unknown User7" initials="" lastIdx="0" clrIdx="185"/>
  <p:cmAuthor id="187" name="muzi wei" initials="" lastIdx="0" clrIdx="186"/>
  <p:cmAuthor id="188" name="未知的使用者41" initials="" lastIdx="0" clrIdx="187"/>
  <p:cmAuthor id="189" name="未知的使用者13" initials="" lastIdx="0" clrIdx="188"/>
  <p:cmAuthor id="190" name="djj" initials="" lastIdx="0" clrIdx="189"/>
  <p:cmAuthor id="191" name="未知用户117" initials="" lastIdx="0" clrIdx="190"/>
  <p:cmAuthor id="192" name="未知用户13" initials="" lastIdx="0" clrIdx="191"/>
  <p:cmAuthor id="193" name="不明使用者21" initials="" lastIdx="0" clrIdx="192"/>
  <p:cmAuthor id="194" name="YUMINGNJ" initials="" lastIdx="0" clrIdx="193"/>
  <p:cmAuthor id="195" name="未知的使用者52" initials="" lastIdx="0" clrIdx="194"/>
  <p:cmAuthor id="196" name="未知用户109" initials="" lastIdx="0" clrIdx="195"/>
  <p:cmAuthor id="197" name="Unknown User117" initials="U" lastIdx="0" clrIdx="196"/>
  <p:cmAuthor id="198" name="thomas" initials="" lastIdx="0" clrIdx="197"/>
  <p:cmAuthor id="199" name="未知的使用者3" initials="" lastIdx="0" clrIdx="198"/>
  <p:cmAuthor id="200" name="未知用户14" initials="" lastIdx="0" clrIdx="199"/>
  <p:cmAuthor id="201" name="Unknown User65" initials="U" lastIdx="0" clrIdx="200"/>
  <p:cmAuthor id="202" name="未知用户98" initials="" lastIdx="0" clrIdx="201"/>
  <p:cmAuthor id="203" name="未知用户83" initials="" lastIdx="0" clrIdx="202"/>
  <p:cmAuthor id="204" name="未知用户61" initials="" lastIdx="0" clrIdx="203"/>
  <p:cmAuthor id="205" name="張秀娟" initials="" lastIdx="0" clrIdx="204"/>
  <p:cmAuthor id="206" name="Jason Wang" initials="" lastIdx="0" clrIdx="205"/>
  <p:cmAuthor id="207" name="不明使用者18" initials="" lastIdx="0" clrIdx="206"/>
  <p:cmAuthor id="208" name="未知用户28" initials="未" lastIdx="0" clrIdx="207"/>
  <p:cmAuthor id="209" name="未知的使用者72" initials="" lastIdx="0" clrIdx="208"/>
  <p:cmAuthor id="210" name="未知的使用者48" initials="" lastIdx="0" clrIdx="209"/>
  <p:cmAuthor id="211" name="未知的使用者104" initials="" lastIdx="0" clrIdx="210"/>
  <p:cmAuthor id="212" name="未知用户60" initials="" lastIdx="0" clrIdx="211"/>
  <p:cmAuthor id="213" name="未知的使用者39" initials="未" lastIdx="0" clrIdx="212"/>
  <p:cmAuthor id="214" name="Shawna Strickland" initials="" lastIdx="0" clrIdx="213"/>
  <p:cmAuthor id="215" name="未知的使用者36" initials="" lastIdx="0" clrIdx="214"/>
  <p:cmAuthor id="216" name="Daniel Wuu" initials="" lastIdx="0" clrIdx="215"/>
  <p:cmAuthor id="217" name="未知用户56" initials="" lastIdx="0" clrIdx="216"/>
  <p:cmAuthor id="218" name="未知的使用者14" initials="" lastIdx="0" clrIdx="217"/>
  <p:cmAuthor id="219" name="Ashley Eberenz" initials="" lastIdx="0" clrIdx="218"/>
  <p:cmAuthor id="220" name="不明使用者19" initials="" lastIdx="0" clrIdx="219"/>
  <p:cmAuthor id="221" name="qiantong" initials="" lastIdx="0" clrIdx="220"/>
  <p:cmAuthor id="222" name="未知的使用者74" initials="" lastIdx="0" clrIdx="221"/>
  <p:cmAuthor id="223" name="未知的使用者23" initials="" lastIdx="0" clrIdx="222"/>
  <p:cmAuthor id="224" name="未知的使用者1" initials="" lastIdx="0" clrIdx="223"/>
  <p:cmAuthor id="225" name="116304" initials="" lastIdx="0" clrIdx="224"/>
  <p:cmAuthor id="226" name="未知用户31" initials="未" lastIdx="0" clrIdx="225"/>
  <p:cmAuthor id="227" name="R affer" initials="" lastIdx="0" clrIdx="226"/>
  <p:cmAuthor id="228" name="qihua-DCMS" initials="" lastIdx="0" clrIdx="227"/>
  <p:cmAuthor id="229" name="未知用户55" initials="" lastIdx="0" clrIdx="228"/>
  <p:cmAuthor id="230" name="未知的使用者95" initials="" lastIdx="0" clrIdx="229"/>
  <p:cmAuthor id="231" name="未知的使用者32" initials="" lastIdx="0" clrIdx="230"/>
  <p:cmAuthor id="232" name="未知的使用者49" initials="" lastIdx="0" clrIdx="231"/>
  <p:cmAuthor id="233" name="Unknown User26" initials="U" lastIdx="0" clrIdx="232"/>
  <p:cmAuthor id="234" name="yuexuejun" initials="" lastIdx="0" clrIdx="233"/>
  <p:cmAuthor id="235" name="未知的使用者71" initials="" lastIdx="0" clrIdx="234"/>
  <p:cmAuthor id="236" name="未知的使用者105" initials="" lastIdx="0" clrIdx="235"/>
  <p:cmAuthor id="237" name="Unknown User70" initials="" lastIdx="0" clrIdx="236"/>
  <p:cmAuthor id="238" name="clinchen" initials="" lastIdx="0" clrIdx="237"/>
  <p:cmAuthor id="239" name="未知用户23" initials="" lastIdx="0" clrIdx="238"/>
  <p:cmAuthor id="240" name="hanjuncompany" initials="" lastIdx="0" clrIdx="239"/>
  <p:cmAuthor id="241" name="kathy chen" initials="" lastIdx="0" clrIdx="240"/>
  <p:cmAuthor id="242" name="黄晓平" initials="黄" lastIdx="0" clrIdx="241"/>
  <p:cmAuthor id="243" name="未知的使用者63" initials="" lastIdx="0" clrIdx="242"/>
  <p:cmAuthor id="244" name="未知的使用者64" initials="" lastIdx="0" clrIdx="243"/>
  <p:cmAuthor id="245" name="未知的使用者47" initials="" lastIdx="0" clrIdx="244"/>
  <p:cmAuthor id="246" name="未知的使用者60" initials="" lastIdx="0" clrIdx="245"/>
  <p:cmAuthor id="247" name="未知的使用者59" initials="" lastIdx="0" clrIdx="246"/>
  <p:cmAuthor id="248" name="未知的使用者54" initials="" lastIdx="0" clrIdx="247"/>
  <p:cmAuthor id="249" name="未知的使用者66" initials="" lastIdx="0" clrIdx="248"/>
  <p:cmAuthor id="250" name="未知的使用者65" initials="" lastIdx="0" clrIdx="249"/>
  <p:cmAuthor id="251" name="未知的使用者106" initials="" lastIdx="0" clrIdx="250"/>
  <p:cmAuthor id="252" name="未知的使用者107" initials="" lastIdx="0" clrIdx="251"/>
  <p:cmAuthor id="253" name="未知的使用者108" initials="" lastIdx="0" clrIdx="252"/>
  <p:cmAuthor id="254" name="未知的使用者86" initials="" lastIdx="0" clrIdx="253"/>
  <p:cmAuthor id="255" name="未知的使用者116" initials="" lastIdx="0" clrIdx="254"/>
  <p:cmAuthor id="256" name="未知的使用者44" initials="" lastIdx="0" clrIdx="255"/>
  <p:cmAuthor id="257" name="未知的使用者37" initials="" lastIdx="0" clrIdx="256"/>
  <p:cmAuthor id="258" name="未知的使用者126" initials="" lastIdx="0" clrIdx="257"/>
  <p:cmAuthor id="259" name="未知的使用者127" initials="" lastIdx="0" clrIdx="258"/>
  <p:cmAuthor id="260" name="未知的使用者128" initials="" lastIdx="0" clrIdx="259"/>
  <p:cmAuthor id="261" name="未知的使用者124" initials="" lastIdx="0" clrIdx="260"/>
  <p:cmAuthor id="262" name="未知的使用者125" initials="" lastIdx="0" clrIdx="261"/>
  <p:cmAuthor id="263" name="Sara Chen" initials="" lastIdx="0" clrIdx="262"/>
  <p:cmAuthor id="264" name="huang gerrard" initials="" lastIdx="0" clrIdx="263"/>
  <p:cmAuthor id="265" name="未知用户170" initials="" lastIdx="0" clrIdx="264"/>
  <p:cmAuthor id="266" name="未知用户171" initials="" lastIdx="0" clrIdx="265"/>
  <p:cmAuthor id="267" name="未知用户172" initials="" lastIdx="0" clrIdx="266"/>
  <p:cmAuthor id="268" name="未知用户173" initials="" lastIdx="0" clrIdx="267"/>
  <p:cmAuthor id="269" name="未知用户149" initials="" lastIdx="0" clrIdx="268"/>
  <p:cmAuthor id="270" name="未知用户150" initials="" lastIdx="0" clrIdx="269"/>
  <p:cmAuthor id="271" name="未知用户151" initials="" lastIdx="0" clrIdx="270"/>
  <p:cmAuthor id="272" name="未知用户152" initials="" lastIdx="0" clrIdx="271"/>
  <p:cmAuthor id="273" name="未知用户153" initials="" lastIdx="0" clrIdx="272"/>
  <p:cmAuthor id="274" name="未知用户154" initials="" lastIdx="0" clrIdx="273"/>
  <p:cmAuthor id="275" name="未知用户155" initials="" lastIdx="0" clrIdx="274"/>
  <p:cmAuthor id="276" name="未知用户41" initials="" lastIdx="0" clrIdx="275"/>
  <p:cmAuthor id="277" name="未知用户44" initials="" lastIdx="0" clrIdx="276"/>
  <p:cmAuthor id="278" name="未知用户45" initials="" lastIdx="0" clrIdx="277"/>
  <p:cmAuthor id="279" name="未知用户156" initials="" lastIdx="0" clrIdx="278"/>
  <p:cmAuthor id="280" name="未知用户64" initials="" lastIdx="0" clrIdx="279"/>
  <p:cmAuthor id="281" name="未知用户65" initials="" lastIdx="0" clrIdx="280"/>
  <p:cmAuthor id="282" name="未知用户68" initials="" lastIdx="0" clrIdx="281"/>
  <p:cmAuthor id="283" name="未知用户69" initials="" lastIdx="0" clrIdx="282"/>
  <p:cmAuthor id="284" name="未知用户70" initials="" lastIdx="0" clrIdx="283"/>
  <p:cmAuthor id="285" name="未知用户71" initials="" lastIdx="0" clrIdx="284"/>
  <p:cmAuthor id="286" name="未知用户72" initials="" lastIdx="0" clrIdx="285"/>
  <p:cmAuthor id="287" name="未知用户73" initials="" lastIdx="0" clrIdx="286"/>
  <p:cmAuthor id="288" name="未知用户49" initials="" lastIdx="0" clrIdx="287"/>
  <p:cmAuthor id="289" name="未知用户50" initials="" lastIdx="0" clrIdx="288"/>
  <p:cmAuthor id="290" name="未知用户52" initials="" lastIdx="0" clrIdx="289"/>
  <p:cmAuthor id="291" name="MA15" initials="" lastIdx="0" clrIdx="290"/>
  <p:cmAuthor id="292" name="未知用户53" initials="" lastIdx="0" clrIdx="291"/>
  <p:cmAuthor id="293" name="未知用户96" initials="" lastIdx="0" clrIdx="292"/>
  <p:cmAuthor id="294" name="未知用户48" initials="" lastIdx="0" clrIdx="293"/>
  <p:cmAuthor id="295" name="未知用户97" initials="" lastIdx="0" clrIdx="294"/>
  <p:cmAuthor id="296" name="未知用户40" initials="" lastIdx="0" clrIdx="295"/>
  <p:cmAuthor id="297" name="未知用户43" initials="" lastIdx="0" clrIdx="296"/>
  <p:cmAuthor id="298" name="未知用户100" initials="" lastIdx="0" clrIdx="297"/>
  <p:cmAuthor id="299" name="未知用户101" initials="" lastIdx="0" clrIdx="298"/>
  <p:cmAuthor id="300" name="未知用户26" initials="" lastIdx="0" clrIdx="299"/>
  <p:cmAuthor id="301" name="未知用户29" initials="" lastIdx="0" clrIdx="300"/>
  <p:cmAuthor id="302" name="未知用户32" initials="" lastIdx="0" clrIdx="301"/>
  <p:cmAuthor id="303" name="未知用户33" initials="" lastIdx="0" clrIdx="302"/>
  <p:cmAuthor id="304" name="未知用户34" initials="" lastIdx="0" clrIdx="303"/>
  <p:cmAuthor id="305" name="未知用户42" initials="" lastIdx="0" clrIdx="304"/>
  <p:cmAuthor id="306" name="未知的使用者109" initials="" lastIdx="0" clrIdx="30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FD051"/>
    <a:srgbClr val="225FD1"/>
    <a:srgbClr val="379DFF"/>
    <a:srgbClr val="1F80B4"/>
    <a:srgbClr val="F889A3"/>
    <a:srgbClr val="FF9800"/>
    <a:srgbClr val="F8A212"/>
    <a:srgbClr val="FF6F18"/>
    <a:srgbClr val="5E7A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108" d="100"/>
          <a:sy n="108" d="100"/>
        </p:scale>
        <p:origin x="78" y="-30"/>
      </p:cViewPr>
      <p:guideLst>
        <p:guide orient="horz" pos="2110"/>
        <p:guide pos="3954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19.xml"/><Relationship Id="rId21" Type="http://schemas.openxmlformats.org/officeDocument/2006/relationships/slide" Target="slides/slide14.xml"/><Relationship Id="rId34" Type="http://schemas.openxmlformats.org/officeDocument/2006/relationships/slide" Target="slides/slide27.xml"/><Relationship Id="rId42" Type="http://schemas.openxmlformats.org/officeDocument/2006/relationships/slide" Target="slides/slide35.xml"/><Relationship Id="rId47" Type="http://schemas.openxmlformats.org/officeDocument/2006/relationships/slide" Target="slides/slide40.xml"/><Relationship Id="rId50" Type="http://schemas.openxmlformats.org/officeDocument/2006/relationships/slide" Target="slides/slide43.xml"/><Relationship Id="rId55" Type="http://schemas.openxmlformats.org/officeDocument/2006/relationships/slide" Target="slides/slide48.xml"/><Relationship Id="rId63" Type="http://schemas.openxmlformats.org/officeDocument/2006/relationships/notesMaster" Target="notesMasters/notesMaster1.xml"/><Relationship Id="rId68" Type="http://schemas.openxmlformats.org/officeDocument/2006/relationships/tableStyles" Target="tableStyles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9.xml"/><Relationship Id="rId29" Type="http://schemas.openxmlformats.org/officeDocument/2006/relationships/slide" Target="slides/slide22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slide" Target="slides/slide25.xml"/><Relationship Id="rId37" Type="http://schemas.openxmlformats.org/officeDocument/2006/relationships/slide" Target="slides/slide30.xml"/><Relationship Id="rId40" Type="http://schemas.openxmlformats.org/officeDocument/2006/relationships/slide" Target="slides/slide33.xml"/><Relationship Id="rId45" Type="http://schemas.openxmlformats.org/officeDocument/2006/relationships/slide" Target="slides/slide38.xml"/><Relationship Id="rId53" Type="http://schemas.openxmlformats.org/officeDocument/2006/relationships/slide" Target="slides/slide46.xml"/><Relationship Id="rId58" Type="http://schemas.openxmlformats.org/officeDocument/2006/relationships/slide" Target="slides/slide51.xml"/><Relationship Id="rId66" Type="http://schemas.openxmlformats.org/officeDocument/2006/relationships/viewProps" Target="viewProps.xml"/><Relationship Id="rId5" Type="http://schemas.openxmlformats.org/officeDocument/2006/relationships/slideMaster" Target="slideMasters/slideMaster5.xml"/><Relationship Id="rId61" Type="http://schemas.openxmlformats.org/officeDocument/2006/relationships/slide" Target="slides/slide54.xml"/><Relationship Id="rId19" Type="http://schemas.openxmlformats.org/officeDocument/2006/relationships/slide" Target="slides/slide1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35" Type="http://schemas.openxmlformats.org/officeDocument/2006/relationships/slide" Target="slides/slide28.xml"/><Relationship Id="rId43" Type="http://schemas.openxmlformats.org/officeDocument/2006/relationships/slide" Target="slides/slide36.xml"/><Relationship Id="rId48" Type="http://schemas.openxmlformats.org/officeDocument/2006/relationships/slide" Target="slides/slide41.xml"/><Relationship Id="rId56" Type="http://schemas.openxmlformats.org/officeDocument/2006/relationships/slide" Target="slides/slide49.xml"/><Relationship Id="rId64" Type="http://schemas.openxmlformats.org/officeDocument/2006/relationships/commentAuthors" Target="commentAuthors.xml"/><Relationship Id="rId8" Type="http://schemas.openxmlformats.org/officeDocument/2006/relationships/slide" Target="slides/slide1.xml"/><Relationship Id="rId51" Type="http://schemas.openxmlformats.org/officeDocument/2006/relationships/slide" Target="slides/slide44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slide" Target="slides/slide26.xml"/><Relationship Id="rId38" Type="http://schemas.openxmlformats.org/officeDocument/2006/relationships/slide" Target="slides/slide31.xml"/><Relationship Id="rId46" Type="http://schemas.openxmlformats.org/officeDocument/2006/relationships/slide" Target="slides/slide39.xml"/><Relationship Id="rId59" Type="http://schemas.openxmlformats.org/officeDocument/2006/relationships/slide" Target="slides/slide52.xml"/><Relationship Id="rId67" Type="http://schemas.openxmlformats.org/officeDocument/2006/relationships/theme" Target="theme/theme1.xml"/><Relationship Id="rId20" Type="http://schemas.openxmlformats.org/officeDocument/2006/relationships/slide" Target="slides/slide13.xml"/><Relationship Id="rId41" Type="http://schemas.openxmlformats.org/officeDocument/2006/relationships/slide" Target="slides/slide34.xml"/><Relationship Id="rId54" Type="http://schemas.openxmlformats.org/officeDocument/2006/relationships/slide" Target="slides/slide47.xml"/><Relationship Id="rId62" Type="http://schemas.openxmlformats.org/officeDocument/2006/relationships/slide" Target="slides/slide55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slide" Target="slides/slide29.xml"/><Relationship Id="rId49" Type="http://schemas.openxmlformats.org/officeDocument/2006/relationships/slide" Target="slides/slide42.xml"/><Relationship Id="rId57" Type="http://schemas.openxmlformats.org/officeDocument/2006/relationships/slide" Target="slides/slide50.xml"/><Relationship Id="rId10" Type="http://schemas.openxmlformats.org/officeDocument/2006/relationships/slide" Target="slides/slide3.xml"/><Relationship Id="rId31" Type="http://schemas.openxmlformats.org/officeDocument/2006/relationships/slide" Target="slides/slide24.xml"/><Relationship Id="rId44" Type="http://schemas.openxmlformats.org/officeDocument/2006/relationships/slide" Target="slides/slide37.xml"/><Relationship Id="rId52" Type="http://schemas.openxmlformats.org/officeDocument/2006/relationships/slide" Target="slides/slide45.xml"/><Relationship Id="rId60" Type="http://schemas.openxmlformats.org/officeDocument/2006/relationships/slide" Target="slides/slide53.xml"/><Relationship Id="rId65" Type="http://schemas.openxmlformats.org/officeDocument/2006/relationships/presProps" Target="pres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39" Type="http://schemas.openxmlformats.org/officeDocument/2006/relationships/slide" Target="slides/slide3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2026/4/29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Cover. 38-slide proposal for Guoyuan Securities. POMS = Portfolio &amp; Order Management System. ~60 min +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各位领导，一页纸看懂我们的方案。国元近千亿自营资金，战略目标非常清晰。要实现全资产精细化管理，需要四大能力跃升。华锐POMS就是支撑这四个跃升的业务智能平台。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我们对国元做了深入研究。自营业务4年增长4倍，2025年上半年占比43%。2025年8月的组织架构升级更说明问题——每一个调整都指向同一个方向：需要一个统一的组合管理平台。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Situation. Guoyuan prop trading grew 4x in 4 years. Three forcing functions: regulatory (15th 5-year plan), competitive (Huatai/PA already deep), compliance (IFRS9 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国元的资质积累非常扎实——5年拿齐了FICC全套通行证。但这些能力分散在不同系统、不同团队里。POMS就是把这些资质的业务价值统一释放出来的平台。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这四个跃升目标——配得优、算得快、控得稳、连得通——不是孤立的需求，是战略落地的系统性能力要求。任何单点工具都解决不了，需要一个统一平台系统性支撑。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我们的价值测算有两个特点：第一，全部是保守估计——配置优化用的是行业基准的十分之一。第二，只计算系统赋能的部分。我们用的配置Alpha假设是0.02%-0.05%，行业通常用0.3%-0.5%——我们只取了十分之一。即使被挑战说太乐观，我们还有9倍的安全边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7C8F1-D712-520A-DB0E-146059B64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5F3931-2483-4E40-CA4B-0E853E7705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3B071C-B53E-280D-5FC6-0476F0A114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924 War Room case study. 1.2B difference in one day. Real industry event Sep 24 2024.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FF0180-2B2A-757E-998E-A8F35D29BF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641291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B5B71-464D-DEE8-5F96-6C3F1F381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EFF688-FEDC-D9D6-A60D-FCCBF2C3B1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337C2-73E6-C34E-428D-EE7302C356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Cost of inaction. 3-year waterfall. 3.3-8B including extreme event. Irreversible strategic gap.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AA3DC0-246D-17CD-A125-154C240642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0627152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B106C-B365-C13E-3846-6FC0F2D89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149A0-CB9F-930D-3D82-E75A2341B9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EA3918-4446-7E28-D1CA-DECBAFB9FE5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KPI scorecard. 12 measurable metrics. Phase-by-phase validation against each KPI.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2232F6-8A32-88D7-0BB9-0449A6B138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8983928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>
                <a:highlight>
                  <a:srgbClr val="FFFF00"/>
                </a:highlight>
              </a:rPr>
              <a:t>孙晔</a:t>
            </a:r>
            <a:r>
              <a:rPr lang="en-US" altLang="zh-CN">
                <a:highlight>
                  <a:srgbClr val="FFFF00"/>
                </a:highlight>
              </a:rPr>
              <a:t>-OMS，</a:t>
            </a:r>
            <a:r>
              <a:rPr lang="zh-CN" altLang="en-US">
                <a:highlight>
                  <a:srgbClr val="FFFF00"/>
                </a:highlight>
              </a:rPr>
              <a:t>现券和询价管理在定位上有重叠</a:t>
            </a:r>
            <a:r>
              <a:rPr lang="en-US" altLang="zh-CN">
                <a:highlight>
                  <a:srgbClr val="FFFF00"/>
                </a:highlight>
              </a:rPr>
              <a:t>，</a:t>
            </a:r>
            <a:r>
              <a:rPr lang="zh-CN" altLang="en-US">
                <a:highlight>
                  <a:srgbClr val="FFFF00"/>
                </a:highlight>
              </a:rPr>
              <a:t>询报价正在做</a:t>
            </a:r>
            <a:r>
              <a:rPr lang="en-US" altLang="zh-CN">
                <a:highlight>
                  <a:srgbClr val="FFFF00"/>
                </a:highlight>
              </a:rPr>
              <a:t>，</a:t>
            </a:r>
            <a:r>
              <a:rPr lang="zh-CN" altLang="en-US">
                <a:highlight>
                  <a:srgbClr val="FFFF00"/>
                </a:highlight>
              </a:rPr>
              <a:t>但是计划还未完全覆盖</a:t>
            </a:r>
            <a:r>
              <a:rPr lang="en-US" altLang="zh-CN">
                <a:highlight>
                  <a:srgbClr val="FFFF00"/>
                </a:highlight>
              </a:rPr>
              <a:t>FICC</a:t>
            </a:r>
            <a:r>
              <a:rPr lang="zh-CN" altLang="en-US">
                <a:highlight>
                  <a:srgbClr val="FFFF00"/>
                </a:highlight>
              </a:rPr>
              <a:t>领域</a:t>
            </a:r>
            <a:r>
              <a:rPr lang="en-US" altLang="zh-CN">
                <a:highlight>
                  <a:srgbClr val="FFFF00"/>
                </a:highlight>
              </a:rPr>
              <a:t>，</a:t>
            </a:r>
            <a:r>
              <a:rPr lang="zh-CN" altLang="en-US">
                <a:highlight>
                  <a:srgbClr val="FFFF00"/>
                </a:highlight>
              </a:rPr>
              <a:t>特别是与外汇交易中心交易的部分</a:t>
            </a:r>
            <a:r>
              <a:rPr lang="en-US" altLang="zh-CN">
                <a:highlight>
                  <a:srgbClr val="FFFF00"/>
                </a:highlight>
              </a:rPr>
              <a:t>；PMS</a:t>
            </a:r>
            <a:r>
              <a:rPr lang="zh-CN" altLang="en-US">
                <a:highlight>
                  <a:srgbClr val="FFFF00"/>
                </a:highlight>
              </a:rPr>
              <a:t>领域需要结合风控</a:t>
            </a:r>
            <a:r>
              <a:rPr lang="en-US" altLang="zh-CN">
                <a:highlight>
                  <a:srgbClr val="FFFF00"/>
                </a:highlight>
              </a:rPr>
              <a:t>、</a:t>
            </a:r>
            <a:r>
              <a:rPr lang="zh-CN" altLang="en-US">
                <a:highlight>
                  <a:srgbClr val="FFFF00"/>
                </a:highlight>
              </a:rPr>
              <a:t>询报价共同组建一个方案</a:t>
            </a:r>
            <a:r>
              <a:rPr lang="en-US" altLang="zh-CN">
                <a:highlight>
                  <a:srgbClr val="FFFF00"/>
                </a:highlight>
              </a:rPr>
              <a:t>；</a:t>
            </a:r>
            <a:r>
              <a:rPr lang="zh-CN" altLang="en-US">
                <a:highlight>
                  <a:srgbClr val="FFFF00"/>
                </a:highlight>
              </a:rPr>
              <a:t>量化策略部分的利差策略等内容与</a:t>
            </a:r>
          </a:p>
          <a:p>
            <a:r>
              <a:rPr lang="zh-CN" altLang="en-US">
                <a:highlight>
                  <a:srgbClr val="FFFF00"/>
                </a:highlight>
              </a:rPr>
              <a:t>第一</a:t>
            </a:r>
            <a:r>
              <a:rPr lang="en-US" altLang="zh-CN">
                <a:highlight>
                  <a:srgbClr val="FFFF00"/>
                </a:highlight>
              </a:rPr>
              <a:t>，</a:t>
            </a:r>
            <a:r>
              <a:rPr lang="zh-CN" altLang="en-US">
                <a:highlight>
                  <a:srgbClr val="FFFF00"/>
                </a:highlight>
              </a:rPr>
              <a:t>交易管理系统</a:t>
            </a:r>
            <a:r>
              <a:rPr lang="en-US" altLang="zh-CN">
                <a:highlight>
                  <a:srgbClr val="FFFF00"/>
                </a:highlight>
              </a:rPr>
              <a:t>，</a:t>
            </a:r>
            <a:r>
              <a:rPr lang="zh-CN" altLang="en-US">
                <a:highlight>
                  <a:srgbClr val="FFFF00"/>
                </a:highlight>
              </a:rPr>
              <a:t>指令汇总管理</a:t>
            </a:r>
            <a:r>
              <a:rPr lang="en-US" altLang="zh-CN">
                <a:highlight>
                  <a:srgbClr val="FFFF00"/>
                </a:highlight>
              </a:rPr>
              <a:t>；</a:t>
            </a:r>
            <a:r>
              <a:rPr lang="zh-CN" altLang="en-US">
                <a:highlight>
                  <a:srgbClr val="FFFF00"/>
                </a:highlight>
              </a:rPr>
              <a:t>第二</a:t>
            </a:r>
            <a:r>
              <a:rPr lang="en-US" altLang="zh-CN">
                <a:highlight>
                  <a:srgbClr val="FFFF00"/>
                </a:highlight>
              </a:rPr>
              <a:t>，</a:t>
            </a:r>
            <a:r>
              <a:rPr lang="zh-CN" altLang="en-US">
                <a:highlight>
                  <a:srgbClr val="FFFF00"/>
                </a:highlight>
              </a:rPr>
              <a:t>绩效归因系统</a:t>
            </a:r>
            <a:r>
              <a:rPr lang="en-US" altLang="zh-CN">
                <a:highlight>
                  <a:srgbClr val="FFFF00"/>
                </a:highlight>
              </a:rPr>
              <a:t>，</a:t>
            </a:r>
            <a:r>
              <a:rPr lang="zh-CN" altLang="en-US">
                <a:highlight>
                  <a:srgbClr val="FFFF00"/>
                </a:highlight>
              </a:rPr>
              <a:t>市场需求度高</a:t>
            </a:r>
            <a:r>
              <a:rPr lang="en-US" altLang="zh-CN">
                <a:highlight>
                  <a:srgbClr val="FFFF00"/>
                </a:highlight>
              </a:rPr>
              <a:t>；</a:t>
            </a:r>
            <a:r>
              <a:rPr lang="zh-CN" altLang="en-US">
                <a:highlight>
                  <a:srgbClr val="FFFF00"/>
                </a:highlight>
              </a:rPr>
              <a:t>第三</a:t>
            </a:r>
            <a:r>
              <a:rPr lang="en-US" altLang="zh-CN">
                <a:highlight>
                  <a:srgbClr val="FFFF00"/>
                </a:highlight>
              </a:rPr>
              <a:t>，</a:t>
            </a:r>
            <a:r>
              <a:rPr lang="zh-CN" altLang="en-US">
                <a:highlight>
                  <a:srgbClr val="FFFF00"/>
                </a:highlight>
              </a:rPr>
              <a:t>合规风控</a:t>
            </a:r>
            <a:r>
              <a:rPr lang="en-US" altLang="zh-CN">
                <a:highlight>
                  <a:srgbClr val="FFFF00"/>
                </a:highlight>
              </a:rPr>
              <a:t>，</a:t>
            </a:r>
            <a:r>
              <a:rPr lang="zh-CN" altLang="en-US">
                <a:highlight>
                  <a:srgbClr val="FFFF00"/>
                </a:highlight>
              </a:rPr>
              <a:t>异常交易</a:t>
            </a:r>
            <a:r>
              <a:rPr lang="en-US" altLang="zh-CN">
                <a:highlight>
                  <a:srgbClr val="FFFF00"/>
                </a:highlight>
              </a:rPr>
              <a:t>，</a:t>
            </a:r>
            <a:r>
              <a:rPr lang="zh-CN" altLang="en-US">
                <a:highlight>
                  <a:srgbClr val="FFFF00"/>
                </a:highlight>
              </a:rPr>
              <a:t>端到端的风控</a:t>
            </a:r>
            <a:r>
              <a:rPr lang="en-US" altLang="zh-CN">
                <a:highlight>
                  <a:srgbClr val="FFFF00"/>
                </a:highlight>
              </a:rPr>
              <a:t>；</a:t>
            </a:r>
            <a:r>
              <a:rPr lang="zh-CN" altLang="en-US">
                <a:highlight>
                  <a:srgbClr val="FFFF00"/>
                </a:highlight>
              </a:rPr>
              <a:t>客需与</a:t>
            </a:r>
            <a:r>
              <a:rPr lang="en-US" altLang="zh-CN">
                <a:highlight>
                  <a:srgbClr val="FFFF00"/>
                </a:highlight>
              </a:rPr>
              <a:t>TRS</a:t>
            </a:r>
            <a:r>
              <a:rPr lang="zh-CN" altLang="en-US">
                <a:highlight>
                  <a:srgbClr val="FFFF00"/>
                </a:highlight>
              </a:rPr>
              <a:t>比较迫切</a:t>
            </a:r>
          </a:p>
          <a:p>
            <a:endParaRPr lang="zh-CN" altLang="en-US">
              <a:highlight>
                <a:srgbClr val="FFFF00"/>
              </a:highlight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国元证券需求分析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尚未覆盖</a:t>
            </a:r>
            <a:r>
              <a:rPr lang="en-US" altLang="zh-CN"/>
              <a:t>，</a:t>
            </a:r>
            <a:r>
              <a:rPr lang="zh-CN" altLang="en-US"/>
              <a:t>且目前不在规划之中的内容</a:t>
            </a:r>
            <a:r>
              <a:rPr lang="en-US" altLang="zh-CN"/>
              <a:t>；</a:t>
            </a:r>
            <a:r>
              <a:rPr lang="zh-CN" altLang="en-US"/>
              <a:t>九鞅在做</a:t>
            </a:r>
            <a:r>
              <a:rPr lang="en-US" altLang="zh-CN"/>
              <a:t>，</a:t>
            </a:r>
            <a:r>
              <a:rPr lang="zh-CN" altLang="en-US"/>
              <a:t>但是做的不是很好</a:t>
            </a:r>
            <a:r>
              <a:rPr lang="en-US" altLang="zh-CN"/>
              <a:t>，</a:t>
            </a:r>
            <a:r>
              <a:rPr lang="zh-CN" altLang="en-US"/>
              <a:t>也不是实时的；国元证券需求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市面上较少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市场上做组合管理的厂商不少但多数只覆盖一个点。华锐是唯一一个六大引擎全覆盖的。如CEO追问竞品：现有6家供应商各做垂直模块，华锐做的是横向的组合管理智能层，是互补不是竞争。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Vendor matrix. Archforce is the only domestic vendor covering both FICC and buy-side portfolio management.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 irreplaceable advantages. The key differentiator: only domestic vendor with both FICC sell-side AND buy-side portfolio management DNA.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5 engines architecture. POMS = business intelligence layer on top of IBOR data foundation. 4-directional integration.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 opener: 10 core capabilities. Next 12 slides deep-dive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Engine 2: High-performance computing. Self-developed pricing to replace Bloomberg. 20M pricings/day.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Engine 3: Quant strategy. Relative value tools, multi-timeframe signals, backtesting. 1000-2000M/yr alpha.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Engine 4: Event-driven risk control. CEP 100K+ events/sec. 5000+ compliance rules. Pre-trade checking.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Engine 5: Order and execution management. Full lifecycle from research signal to execution to attribution.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4.4.1.1: Factor-driven portfolio construction. 2200+ risk factors. SAA→TAA linkage.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4.4.1.2: Unified position model. 8 asset classes. Multi-level portfolio tree. T+0 real-time.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4.4.1.3: QP optimization engine. 500+ constraints, millisecond solve. 5-10bp per rebalancing saved.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4.4.1.4: Cross-asset correlation + Shadow Portfolio. Real-time correlation matrix, 100+ virtual portfolios.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4.4.1.5: Campisi 2.0 fixed income attribution. 5 effects. Real example with 21.8bp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4.4.1.6: Brinson attribution for equity/fund. 3-layer decomposition. Fund-of-funds penetration.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4.4.1.7: Factor risk decomposition + MCTR. From knowing total VaR to knowing each position's risk budget consumption.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4.4.1.8: Component VaR. 4-layer penetration. 3 VaR methods cross-validate.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4.4.1.9: Sensitivity analysis. Real-time DV01/CS01/Delta dashboard. Shock grid for scenario planning.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4.4.1.10: Scenario analysis + stress testing. 3 layers. 924 event: 1.2B difference with/without POMS.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4.4.1.11: Liquidity risk management. Almgren-Chriss model. LVaR. Liquidation timeline dashboard.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4.4.1.12: Derivatives hedging matrix. Decision engine. 7 tool types. One-click hedge generation.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3-phase 18-month roadmap. Phase 1: data integration + portfolio visibility in 6 months.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Phase 1 lighthouse effect. Day-in-the-life comparison shows concrete daily value to investment managers.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Risk register. 7 key risks with mitigation. Data integration and performance are the highest priority.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Governance structure. 7-milestone timeline. Biweekly sprints. Quarterly steering committee.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Closing. POMS = investment in investment capability. Not IT project. 1-1.8B annual direct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9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1.xml"/><Relationship Id="rId1" Type="http://schemas.openxmlformats.org/officeDocument/2006/relationships/tags" Target="../tags/tag40.xml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1" Type="http://schemas.openxmlformats.org/officeDocument/2006/relationships/tags" Target="../tags/tag42.xml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tags" Target="../tags/tag46.xml"/><Relationship Id="rId2" Type="http://schemas.openxmlformats.org/officeDocument/2006/relationships/tags" Target="../tags/tag45.xml"/><Relationship Id="rId1" Type="http://schemas.openxmlformats.org/officeDocument/2006/relationships/tags" Target="../tags/tag44.xml"/><Relationship Id="rId5" Type="http://schemas.openxmlformats.org/officeDocument/2006/relationships/image" Target="../media/image3.png"/><Relationship Id="rId4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1" Type="http://schemas.openxmlformats.org/officeDocument/2006/relationships/tags" Target="../tags/tag47.xml"/><Relationship Id="rId4" Type="http://schemas.openxmlformats.org/officeDocument/2006/relationships/image" Target="../media/image4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50.xml"/><Relationship Id="rId1" Type="http://schemas.openxmlformats.org/officeDocument/2006/relationships/tags" Target="../tags/tag49.xml"/><Relationship Id="rId4" Type="http://schemas.openxmlformats.org/officeDocument/2006/relationships/image" Target="../media/image4.png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52.xml"/><Relationship Id="rId1" Type="http://schemas.openxmlformats.org/officeDocument/2006/relationships/tags" Target="../tags/tag51.xml"/><Relationship Id="rId4" Type="http://schemas.openxmlformats.org/officeDocument/2006/relationships/image" Target="../media/image3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55.xml"/><Relationship Id="rId2" Type="http://schemas.openxmlformats.org/officeDocument/2006/relationships/tags" Target="../tags/tag54.xml"/><Relationship Id="rId1" Type="http://schemas.openxmlformats.org/officeDocument/2006/relationships/tags" Target="../tags/tag53.xml"/><Relationship Id="rId4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tags" Target="../tags/tag58.xml"/><Relationship Id="rId2" Type="http://schemas.openxmlformats.org/officeDocument/2006/relationships/tags" Target="../tags/tag57.xml"/><Relationship Id="rId1" Type="http://schemas.openxmlformats.org/officeDocument/2006/relationships/tags" Target="../tags/tag56.xml"/><Relationship Id="rId5" Type="http://schemas.openxmlformats.org/officeDocument/2006/relationships/image" Target="../media/image3.png"/><Relationship Id="rId4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tags" Target="../tags/tag61.xml"/><Relationship Id="rId2" Type="http://schemas.openxmlformats.org/officeDocument/2006/relationships/tags" Target="../tags/tag60.xml"/><Relationship Id="rId1" Type="http://schemas.openxmlformats.org/officeDocument/2006/relationships/tags" Target="../tags/tag59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tags" Target="../tags/tag64.xml"/><Relationship Id="rId2" Type="http://schemas.openxmlformats.org/officeDocument/2006/relationships/tags" Target="../tags/tag63.xml"/><Relationship Id="rId1" Type="http://schemas.openxmlformats.org/officeDocument/2006/relationships/tags" Target="../tags/tag62.xml"/><Relationship Id="rId5" Type="http://schemas.openxmlformats.org/officeDocument/2006/relationships/image" Target="../media/image4.png"/><Relationship Id="rId4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66.xml"/><Relationship Id="rId1" Type="http://schemas.openxmlformats.org/officeDocument/2006/relationships/tags" Target="../tags/tag65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68.xml"/><Relationship Id="rId1" Type="http://schemas.openxmlformats.org/officeDocument/2006/relationships/tags" Target="../tags/tag67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8" Type="http://schemas.openxmlformats.org/officeDocument/2006/relationships/tags" Target="../tags/tag111.xml"/><Relationship Id="rId3" Type="http://schemas.openxmlformats.org/officeDocument/2006/relationships/tags" Target="../tags/tag106.xml"/><Relationship Id="rId7" Type="http://schemas.openxmlformats.org/officeDocument/2006/relationships/tags" Target="../tags/tag110.xml"/><Relationship Id="rId2" Type="http://schemas.openxmlformats.org/officeDocument/2006/relationships/tags" Target="../tags/tag105.xml"/><Relationship Id="rId1" Type="http://schemas.openxmlformats.org/officeDocument/2006/relationships/tags" Target="../tags/tag104.xml"/><Relationship Id="rId6" Type="http://schemas.openxmlformats.org/officeDocument/2006/relationships/tags" Target="../tags/tag109.xml"/><Relationship Id="rId11" Type="http://schemas.openxmlformats.org/officeDocument/2006/relationships/image" Target="../media/image10.png"/><Relationship Id="rId5" Type="http://schemas.openxmlformats.org/officeDocument/2006/relationships/tags" Target="../tags/tag108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107.xml"/><Relationship Id="rId9" Type="http://schemas.openxmlformats.org/officeDocument/2006/relationships/tags" Target="../tags/tag11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14.xml"/><Relationship Id="rId1" Type="http://schemas.openxmlformats.org/officeDocument/2006/relationships/tags" Target="../tags/tag113.xml"/><Relationship Id="rId5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tags" Target="../tags/tag117.xml"/><Relationship Id="rId2" Type="http://schemas.openxmlformats.org/officeDocument/2006/relationships/tags" Target="../tags/tag116.xml"/><Relationship Id="rId1" Type="http://schemas.openxmlformats.org/officeDocument/2006/relationships/tags" Target="../tags/tag115.xml"/><Relationship Id="rId5" Type="http://schemas.openxmlformats.org/officeDocument/2006/relationships/image" Target="../media/image3.png"/><Relationship Id="rId4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18.xml"/><Relationship Id="rId4" Type="http://schemas.openxmlformats.org/officeDocument/2006/relationships/image" Target="../media/image13.pn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20.xml"/><Relationship Id="rId1" Type="http://schemas.openxmlformats.org/officeDocument/2006/relationships/tags" Target="../tags/tag119.xml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22.xml"/><Relationship Id="rId1" Type="http://schemas.openxmlformats.org/officeDocument/2006/relationships/tags" Target="../tags/tag121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16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3.xml"/><Relationship Id="rId2" Type="http://schemas.openxmlformats.org/officeDocument/2006/relationships/tags" Target="../tags/tag163.xml"/><Relationship Id="rId1" Type="http://schemas.openxmlformats.org/officeDocument/2006/relationships/tags" Target="../tags/tag162.xml"/><Relationship Id="rId4" Type="http://schemas.openxmlformats.org/officeDocument/2006/relationships/image" Target="../media/image3.png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3.xml"/><Relationship Id="rId2" Type="http://schemas.openxmlformats.org/officeDocument/2006/relationships/tags" Target="../tags/tag165.xml"/><Relationship Id="rId1" Type="http://schemas.openxmlformats.org/officeDocument/2006/relationships/tags" Target="../tags/tag164.xml"/><Relationship Id="rId4" Type="http://schemas.openxmlformats.org/officeDocument/2006/relationships/image" Target="../media/image3.png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tags" Target="../tags/tag168.xml"/><Relationship Id="rId2" Type="http://schemas.openxmlformats.org/officeDocument/2006/relationships/tags" Target="../tags/tag167.xml"/><Relationship Id="rId1" Type="http://schemas.openxmlformats.org/officeDocument/2006/relationships/tags" Target="../tags/tag166.xml"/><Relationship Id="rId5" Type="http://schemas.openxmlformats.org/officeDocument/2006/relationships/image" Target="../media/image3.png"/><Relationship Id="rId4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3.xml"/><Relationship Id="rId2" Type="http://schemas.openxmlformats.org/officeDocument/2006/relationships/tags" Target="../tags/tag170.xml"/><Relationship Id="rId1" Type="http://schemas.openxmlformats.org/officeDocument/2006/relationships/tags" Target="../tags/tag169.xml"/><Relationship Id="rId4" Type="http://schemas.openxmlformats.org/officeDocument/2006/relationships/image" Target="../media/image4.png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3.xml"/><Relationship Id="rId2" Type="http://schemas.openxmlformats.org/officeDocument/2006/relationships/tags" Target="../tags/tag172.xml"/><Relationship Id="rId1" Type="http://schemas.openxmlformats.org/officeDocument/2006/relationships/tags" Target="../tags/tag171.xml"/><Relationship Id="rId4" Type="http://schemas.openxmlformats.org/officeDocument/2006/relationships/image" Target="../media/image4.png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3.xml"/><Relationship Id="rId2" Type="http://schemas.openxmlformats.org/officeDocument/2006/relationships/tags" Target="../tags/tag174.xml"/><Relationship Id="rId1" Type="http://schemas.openxmlformats.org/officeDocument/2006/relationships/tags" Target="../tags/tag173.xml"/><Relationship Id="rId4" Type="http://schemas.openxmlformats.org/officeDocument/2006/relationships/image" Target="../media/image3.png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tags" Target="../tags/tag177.xml"/><Relationship Id="rId2" Type="http://schemas.openxmlformats.org/officeDocument/2006/relationships/tags" Target="../tags/tag176.xml"/><Relationship Id="rId1" Type="http://schemas.openxmlformats.org/officeDocument/2006/relationships/tags" Target="../tags/tag175.xml"/><Relationship Id="rId4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tags" Target="../tags/tag180.xml"/><Relationship Id="rId2" Type="http://schemas.openxmlformats.org/officeDocument/2006/relationships/tags" Target="../tags/tag179.xml"/><Relationship Id="rId1" Type="http://schemas.openxmlformats.org/officeDocument/2006/relationships/tags" Target="../tags/tag178.xml"/><Relationship Id="rId5" Type="http://schemas.openxmlformats.org/officeDocument/2006/relationships/image" Target="../media/image3.png"/><Relationship Id="rId4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tags" Target="../tags/tag183.xml"/><Relationship Id="rId2" Type="http://schemas.openxmlformats.org/officeDocument/2006/relationships/tags" Target="../tags/tag182.xml"/><Relationship Id="rId1" Type="http://schemas.openxmlformats.org/officeDocument/2006/relationships/tags" Target="../tags/tag181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tags" Target="../tags/tag186.xml"/><Relationship Id="rId2" Type="http://schemas.openxmlformats.org/officeDocument/2006/relationships/tags" Target="../tags/tag185.xml"/><Relationship Id="rId1" Type="http://schemas.openxmlformats.org/officeDocument/2006/relationships/tags" Target="../tags/tag184.xml"/><Relationship Id="rId5" Type="http://schemas.openxmlformats.org/officeDocument/2006/relationships/image" Target="../media/image4.png"/><Relationship Id="rId4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3.xml"/><Relationship Id="rId2" Type="http://schemas.openxmlformats.org/officeDocument/2006/relationships/tags" Target="../tags/tag188.xml"/><Relationship Id="rId1" Type="http://schemas.openxmlformats.org/officeDocument/2006/relationships/tags" Target="../tags/tag187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227.xml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4.xml"/><Relationship Id="rId2" Type="http://schemas.openxmlformats.org/officeDocument/2006/relationships/tags" Target="../tags/tag229.xml"/><Relationship Id="rId1" Type="http://schemas.openxmlformats.org/officeDocument/2006/relationships/tags" Target="../tags/tag228.xml"/><Relationship Id="rId4" Type="http://schemas.openxmlformats.org/officeDocument/2006/relationships/image" Target="../media/image3.png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4.xml"/><Relationship Id="rId2" Type="http://schemas.openxmlformats.org/officeDocument/2006/relationships/tags" Target="../tags/tag231.xml"/><Relationship Id="rId1" Type="http://schemas.openxmlformats.org/officeDocument/2006/relationships/tags" Target="../tags/tag230.xml"/><Relationship Id="rId4" Type="http://schemas.openxmlformats.org/officeDocument/2006/relationships/image" Target="../media/image3.png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tags" Target="../tags/tag234.xml"/><Relationship Id="rId2" Type="http://schemas.openxmlformats.org/officeDocument/2006/relationships/tags" Target="../tags/tag233.xml"/><Relationship Id="rId1" Type="http://schemas.openxmlformats.org/officeDocument/2006/relationships/tags" Target="../tags/tag232.xml"/><Relationship Id="rId5" Type="http://schemas.openxmlformats.org/officeDocument/2006/relationships/image" Target="../media/image3.png"/><Relationship Id="rId4" Type="http://schemas.openxmlformats.org/officeDocument/2006/relationships/slideMaster" Target="../slideMasters/slideMaster4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4.xml"/><Relationship Id="rId2" Type="http://schemas.openxmlformats.org/officeDocument/2006/relationships/tags" Target="../tags/tag236.xml"/><Relationship Id="rId1" Type="http://schemas.openxmlformats.org/officeDocument/2006/relationships/tags" Target="../tags/tag235.xml"/><Relationship Id="rId4" Type="http://schemas.openxmlformats.org/officeDocument/2006/relationships/image" Target="../media/image4.png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4.xml"/><Relationship Id="rId2" Type="http://schemas.openxmlformats.org/officeDocument/2006/relationships/tags" Target="../tags/tag238.xml"/><Relationship Id="rId1" Type="http://schemas.openxmlformats.org/officeDocument/2006/relationships/tags" Target="../tags/tag237.xml"/><Relationship Id="rId4" Type="http://schemas.openxmlformats.org/officeDocument/2006/relationships/image" Target="../media/image4.png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4.xml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4.xml"/><Relationship Id="rId2" Type="http://schemas.openxmlformats.org/officeDocument/2006/relationships/tags" Target="../tags/tag240.xml"/><Relationship Id="rId1" Type="http://schemas.openxmlformats.org/officeDocument/2006/relationships/tags" Target="../tags/tag239.xml"/><Relationship Id="rId4" Type="http://schemas.openxmlformats.org/officeDocument/2006/relationships/image" Target="../media/image3.png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tags" Target="../tags/tag243.xml"/><Relationship Id="rId2" Type="http://schemas.openxmlformats.org/officeDocument/2006/relationships/tags" Target="../tags/tag242.xml"/><Relationship Id="rId1" Type="http://schemas.openxmlformats.org/officeDocument/2006/relationships/tags" Target="../tags/tag241.xml"/><Relationship Id="rId4" Type="http://schemas.openxmlformats.org/officeDocument/2006/relationships/slideMaster" Target="../slideMasters/slideMaster4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tags" Target="../tags/tag246.xml"/><Relationship Id="rId2" Type="http://schemas.openxmlformats.org/officeDocument/2006/relationships/tags" Target="../tags/tag245.xml"/><Relationship Id="rId1" Type="http://schemas.openxmlformats.org/officeDocument/2006/relationships/tags" Target="../tags/tag244.xml"/><Relationship Id="rId5" Type="http://schemas.openxmlformats.org/officeDocument/2006/relationships/image" Target="../media/image3.png"/><Relationship Id="rId4" Type="http://schemas.openxmlformats.org/officeDocument/2006/relationships/slideMaster" Target="../slideMasters/slideMaster4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tags" Target="../tags/tag249.xml"/><Relationship Id="rId2" Type="http://schemas.openxmlformats.org/officeDocument/2006/relationships/tags" Target="../tags/tag248.xml"/><Relationship Id="rId1" Type="http://schemas.openxmlformats.org/officeDocument/2006/relationships/tags" Target="../tags/tag247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slideMaster" Target="../slideMasters/slideMaster4.xml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tags" Target="../tags/tag252.xml"/><Relationship Id="rId2" Type="http://schemas.openxmlformats.org/officeDocument/2006/relationships/tags" Target="../tags/tag251.xml"/><Relationship Id="rId1" Type="http://schemas.openxmlformats.org/officeDocument/2006/relationships/tags" Target="../tags/tag250.xml"/><Relationship Id="rId5" Type="http://schemas.openxmlformats.org/officeDocument/2006/relationships/image" Target="../media/image4.png"/><Relationship Id="rId4" Type="http://schemas.openxmlformats.org/officeDocument/2006/relationships/slideMaster" Target="../slideMasters/slideMaster4.xml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4.xml"/><Relationship Id="rId2" Type="http://schemas.openxmlformats.org/officeDocument/2006/relationships/tags" Target="../tags/tag254.xml"/><Relationship Id="rId1" Type="http://schemas.openxmlformats.org/officeDocument/2006/relationships/tags" Target="../tags/tag253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5.xml"/></Relationships>
</file>

<file path=ppt/slideLayouts/_rels/slideLayout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Master" Target="../slideMasters/slideMaster5.xml"/><Relationship Id="rId1" Type="http://schemas.openxmlformats.org/officeDocument/2006/relationships/tags" Target="../tags/tag293.xml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5.xml"/><Relationship Id="rId2" Type="http://schemas.openxmlformats.org/officeDocument/2006/relationships/tags" Target="../tags/tag295.xml"/><Relationship Id="rId1" Type="http://schemas.openxmlformats.org/officeDocument/2006/relationships/tags" Target="../tags/tag294.xml"/><Relationship Id="rId4" Type="http://schemas.openxmlformats.org/officeDocument/2006/relationships/image" Target="../media/image3.png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5.xml"/><Relationship Id="rId2" Type="http://schemas.openxmlformats.org/officeDocument/2006/relationships/tags" Target="../tags/tag297.xml"/><Relationship Id="rId1" Type="http://schemas.openxmlformats.org/officeDocument/2006/relationships/tags" Target="../tags/tag296.xml"/><Relationship Id="rId4" Type="http://schemas.openxmlformats.org/officeDocument/2006/relationships/image" Target="../media/image3.png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tags" Target="../tags/tag300.xml"/><Relationship Id="rId2" Type="http://schemas.openxmlformats.org/officeDocument/2006/relationships/tags" Target="../tags/tag299.xml"/><Relationship Id="rId1" Type="http://schemas.openxmlformats.org/officeDocument/2006/relationships/tags" Target="../tags/tag298.xml"/><Relationship Id="rId5" Type="http://schemas.openxmlformats.org/officeDocument/2006/relationships/image" Target="../media/image3.png"/><Relationship Id="rId4" Type="http://schemas.openxmlformats.org/officeDocument/2006/relationships/slideMaster" Target="../slideMasters/slideMaster5.xml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5.xml"/><Relationship Id="rId2" Type="http://schemas.openxmlformats.org/officeDocument/2006/relationships/tags" Target="../tags/tag302.xml"/><Relationship Id="rId1" Type="http://schemas.openxmlformats.org/officeDocument/2006/relationships/tags" Target="../tags/tag301.xml"/><Relationship Id="rId4" Type="http://schemas.openxmlformats.org/officeDocument/2006/relationships/image" Target="../media/image4.png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5.xml"/><Relationship Id="rId2" Type="http://schemas.openxmlformats.org/officeDocument/2006/relationships/tags" Target="../tags/tag304.xml"/><Relationship Id="rId1" Type="http://schemas.openxmlformats.org/officeDocument/2006/relationships/tags" Target="../tags/tag303.xml"/><Relationship Id="rId4" Type="http://schemas.openxmlformats.org/officeDocument/2006/relationships/image" Target="../media/image4.png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5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5.xml"/><Relationship Id="rId2" Type="http://schemas.openxmlformats.org/officeDocument/2006/relationships/tags" Target="../tags/tag306.xml"/><Relationship Id="rId1" Type="http://schemas.openxmlformats.org/officeDocument/2006/relationships/tags" Target="../tags/tag305.xml"/><Relationship Id="rId4" Type="http://schemas.openxmlformats.org/officeDocument/2006/relationships/image" Target="../media/image3.png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tags" Target="../tags/tag309.xml"/><Relationship Id="rId2" Type="http://schemas.openxmlformats.org/officeDocument/2006/relationships/tags" Target="../tags/tag308.xml"/><Relationship Id="rId1" Type="http://schemas.openxmlformats.org/officeDocument/2006/relationships/tags" Target="../tags/tag307.xml"/><Relationship Id="rId4" Type="http://schemas.openxmlformats.org/officeDocument/2006/relationships/slideMaster" Target="../slideMasters/slideMaster5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5.xml"/></Relationships>
</file>

<file path=ppt/slideLayouts/_rels/slideLayout82.xml.rels><?xml version="1.0" encoding="UTF-8" standalone="yes"?>
<Relationships xmlns="http://schemas.openxmlformats.org/package/2006/relationships"><Relationship Id="rId3" Type="http://schemas.openxmlformats.org/officeDocument/2006/relationships/tags" Target="../tags/tag312.xml"/><Relationship Id="rId2" Type="http://schemas.openxmlformats.org/officeDocument/2006/relationships/tags" Target="../tags/tag311.xml"/><Relationship Id="rId1" Type="http://schemas.openxmlformats.org/officeDocument/2006/relationships/tags" Target="../tags/tag310.xml"/><Relationship Id="rId5" Type="http://schemas.openxmlformats.org/officeDocument/2006/relationships/image" Target="../media/image3.png"/><Relationship Id="rId4" Type="http://schemas.openxmlformats.org/officeDocument/2006/relationships/slideMaster" Target="../slideMasters/slideMaster5.xml"/></Relationships>
</file>

<file path=ppt/slideLayouts/_rels/slideLayout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/Relationships>
</file>

<file path=ppt/slideLayouts/_rels/slideLayout84.xml.rels><?xml version="1.0" encoding="UTF-8" standalone="yes"?>
<Relationships xmlns="http://schemas.openxmlformats.org/package/2006/relationships"><Relationship Id="rId3" Type="http://schemas.openxmlformats.org/officeDocument/2006/relationships/tags" Target="../tags/tag315.xml"/><Relationship Id="rId2" Type="http://schemas.openxmlformats.org/officeDocument/2006/relationships/tags" Target="../tags/tag314.xml"/><Relationship Id="rId1" Type="http://schemas.openxmlformats.org/officeDocument/2006/relationships/tags" Target="../tags/tag313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slideMaster" Target="../slideMasters/slideMaster5.xml"/></Relationships>
</file>

<file path=ppt/slideLayouts/_rels/slideLayout85.xml.rels><?xml version="1.0" encoding="UTF-8" standalone="yes"?>
<Relationships xmlns="http://schemas.openxmlformats.org/package/2006/relationships"><Relationship Id="rId3" Type="http://schemas.openxmlformats.org/officeDocument/2006/relationships/tags" Target="../tags/tag318.xml"/><Relationship Id="rId2" Type="http://schemas.openxmlformats.org/officeDocument/2006/relationships/tags" Target="../tags/tag317.xml"/><Relationship Id="rId1" Type="http://schemas.openxmlformats.org/officeDocument/2006/relationships/tags" Target="../tags/tag316.xml"/><Relationship Id="rId5" Type="http://schemas.openxmlformats.org/officeDocument/2006/relationships/image" Target="../media/image4.png"/><Relationship Id="rId4" Type="http://schemas.openxmlformats.org/officeDocument/2006/relationships/slideMaster" Target="../slideMasters/slideMaster5.xml"/></Relationships>
</file>

<file path=ppt/slideLayouts/_rels/slideLayout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6.xml"/></Relationships>
</file>

<file path=ppt/slideLayouts/_rels/slideLayout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6.xml"/></Relationships>
</file>

<file path=ppt/slideLayouts/_rels/slideLayout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6.xml"/></Relationships>
</file>

<file path=ppt/slideLayouts/_rels/slideLayout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6.xml"/></Relationships>
</file>

<file path=ppt/slideLayouts/_rels/slideLayout93.xml.rels><?xml version="1.0" encoding="UTF-8" standalone="yes"?>
<Relationships xmlns="http://schemas.openxmlformats.org/package/2006/relationships"><Relationship Id="rId8" Type="http://schemas.openxmlformats.org/officeDocument/2006/relationships/tags" Target="../tags/tag361.xml"/><Relationship Id="rId3" Type="http://schemas.openxmlformats.org/officeDocument/2006/relationships/tags" Target="../tags/tag356.xml"/><Relationship Id="rId7" Type="http://schemas.openxmlformats.org/officeDocument/2006/relationships/tags" Target="../tags/tag360.xml"/><Relationship Id="rId2" Type="http://schemas.openxmlformats.org/officeDocument/2006/relationships/tags" Target="../tags/tag355.xml"/><Relationship Id="rId1" Type="http://schemas.openxmlformats.org/officeDocument/2006/relationships/tags" Target="../tags/tag354.xml"/><Relationship Id="rId6" Type="http://schemas.openxmlformats.org/officeDocument/2006/relationships/tags" Target="../tags/tag359.xml"/><Relationship Id="rId11" Type="http://schemas.openxmlformats.org/officeDocument/2006/relationships/image" Target="../media/image10.png"/><Relationship Id="rId5" Type="http://schemas.openxmlformats.org/officeDocument/2006/relationships/tags" Target="../tags/tag358.xml"/><Relationship Id="rId10" Type="http://schemas.openxmlformats.org/officeDocument/2006/relationships/slideMaster" Target="../slideMasters/slideMaster6.xml"/><Relationship Id="rId4" Type="http://schemas.openxmlformats.org/officeDocument/2006/relationships/tags" Target="../tags/tag357.xml"/><Relationship Id="rId9" Type="http://schemas.openxmlformats.org/officeDocument/2006/relationships/tags" Target="../tags/tag362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6.xml"/></Relationships>
</file>

<file path=ppt/slideLayouts/_rels/slideLayout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6.xml"/></Relationships>
</file>

<file path=ppt/slideLayouts/_rels/slideLayout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6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0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6.xml"/><Relationship Id="rId2" Type="http://schemas.openxmlformats.org/officeDocument/2006/relationships/tags" Target="../tags/tag364.xml"/><Relationship Id="rId1" Type="http://schemas.openxmlformats.org/officeDocument/2006/relationships/tags" Target="../tags/tag363.xml"/><Relationship Id="rId5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Layouts/_rels/slideLayout102.xml.rels><?xml version="1.0" encoding="UTF-8" standalone="yes"?>
<Relationships xmlns="http://schemas.openxmlformats.org/package/2006/relationships"><Relationship Id="rId3" Type="http://schemas.openxmlformats.org/officeDocument/2006/relationships/tags" Target="../tags/tag367.xml"/><Relationship Id="rId2" Type="http://schemas.openxmlformats.org/officeDocument/2006/relationships/tags" Target="../tags/tag366.xml"/><Relationship Id="rId1" Type="http://schemas.openxmlformats.org/officeDocument/2006/relationships/tags" Target="../tags/tag365.xml"/><Relationship Id="rId5" Type="http://schemas.openxmlformats.org/officeDocument/2006/relationships/image" Target="../media/image3.png"/><Relationship Id="rId4" Type="http://schemas.openxmlformats.org/officeDocument/2006/relationships/slideMaster" Target="../slideMasters/slideMaster6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Master" Target="../slideMasters/slideMaster6.xml"/><Relationship Id="rId1" Type="http://schemas.openxmlformats.org/officeDocument/2006/relationships/tags" Target="../tags/tag368.xml"/><Relationship Id="rId4" Type="http://schemas.openxmlformats.org/officeDocument/2006/relationships/image" Target="../media/image13.png"/></Relationships>
</file>

<file path=ppt/slideLayouts/_rels/slideLayout10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6.xml"/><Relationship Id="rId2" Type="http://schemas.openxmlformats.org/officeDocument/2006/relationships/tags" Target="../tags/tag370.xml"/><Relationship Id="rId1" Type="http://schemas.openxmlformats.org/officeDocument/2006/relationships/tags" Target="../tags/tag369.xml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10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6.xml"/><Relationship Id="rId2" Type="http://schemas.openxmlformats.org/officeDocument/2006/relationships/tags" Target="../tags/tag372.xml"/><Relationship Id="rId1" Type="http://schemas.openxmlformats.org/officeDocument/2006/relationships/tags" Target="../tags/tag371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7.xml"/></Relationships>
</file>

<file path=ppt/slideLayouts/_rels/slideLayout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411.xml"/></Relationships>
</file>

<file path=ppt/slideLayouts/_rels/slideLayout10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7.xml"/><Relationship Id="rId2" Type="http://schemas.openxmlformats.org/officeDocument/2006/relationships/tags" Target="../tags/tag413.xml"/><Relationship Id="rId1" Type="http://schemas.openxmlformats.org/officeDocument/2006/relationships/tags" Target="../tags/tag412.xml"/><Relationship Id="rId4" Type="http://schemas.openxmlformats.org/officeDocument/2006/relationships/image" Target="../media/image3.png"/></Relationships>
</file>

<file path=ppt/slideLayouts/_rels/slideLayout1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7.xml"/><Relationship Id="rId2" Type="http://schemas.openxmlformats.org/officeDocument/2006/relationships/tags" Target="../tags/tag415.xml"/><Relationship Id="rId1" Type="http://schemas.openxmlformats.org/officeDocument/2006/relationships/tags" Target="../tags/tag414.xml"/><Relationship Id="rId4" Type="http://schemas.openxmlformats.org/officeDocument/2006/relationships/image" Target="../media/image3.png"/></Relationships>
</file>

<file path=ppt/slideLayouts/_rels/slideLayout111.xml.rels><?xml version="1.0" encoding="UTF-8" standalone="yes"?>
<Relationships xmlns="http://schemas.openxmlformats.org/package/2006/relationships"><Relationship Id="rId3" Type="http://schemas.openxmlformats.org/officeDocument/2006/relationships/tags" Target="../tags/tag418.xml"/><Relationship Id="rId2" Type="http://schemas.openxmlformats.org/officeDocument/2006/relationships/tags" Target="../tags/tag417.xml"/><Relationship Id="rId1" Type="http://schemas.openxmlformats.org/officeDocument/2006/relationships/tags" Target="../tags/tag416.xml"/><Relationship Id="rId5" Type="http://schemas.openxmlformats.org/officeDocument/2006/relationships/image" Target="../media/image3.png"/><Relationship Id="rId4" Type="http://schemas.openxmlformats.org/officeDocument/2006/relationships/slideMaster" Target="../slideMasters/slideMaster7.xml"/></Relationships>
</file>

<file path=ppt/slideLayouts/_rels/slideLayout11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7.xml"/><Relationship Id="rId2" Type="http://schemas.openxmlformats.org/officeDocument/2006/relationships/tags" Target="../tags/tag420.xml"/><Relationship Id="rId1" Type="http://schemas.openxmlformats.org/officeDocument/2006/relationships/tags" Target="../tags/tag419.xml"/><Relationship Id="rId4" Type="http://schemas.openxmlformats.org/officeDocument/2006/relationships/image" Target="../media/image4.png"/></Relationships>
</file>

<file path=ppt/slideLayouts/_rels/slideLayout11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7.xml"/><Relationship Id="rId2" Type="http://schemas.openxmlformats.org/officeDocument/2006/relationships/tags" Target="../tags/tag422.xml"/><Relationship Id="rId1" Type="http://schemas.openxmlformats.org/officeDocument/2006/relationships/tags" Target="../tags/tag421.xml"/><Relationship Id="rId4" Type="http://schemas.openxmlformats.org/officeDocument/2006/relationships/image" Target="../media/image4.png"/></Relationships>
</file>

<file path=ppt/slideLayouts/_rels/slideLayout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7.xml"/></Relationships>
</file>

<file path=ppt/slideLayouts/_rels/slideLayout11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7.xml"/><Relationship Id="rId2" Type="http://schemas.openxmlformats.org/officeDocument/2006/relationships/tags" Target="../tags/tag424.xml"/><Relationship Id="rId1" Type="http://schemas.openxmlformats.org/officeDocument/2006/relationships/tags" Target="../tags/tag423.xml"/><Relationship Id="rId4" Type="http://schemas.openxmlformats.org/officeDocument/2006/relationships/image" Target="../media/image3.png"/></Relationships>
</file>

<file path=ppt/slideLayouts/_rels/slideLayout116.xml.rels><?xml version="1.0" encoding="UTF-8" standalone="yes"?>
<Relationships xmlns="http://schemas.openxmlformats.org/package/2006/relationships"><Relationship Id="rId3" Type="http://schemas.openxmlformats.org/officeDocument/2006/relationships/tags" Target="../tags/tag427.xml"/><Relationship Id="rId2" Type="http://schemas.openxmlformats.org/officeDocument/2006/relationships/tags" Target="../tags/tag426.xml"/><Relationship Id="rId1" Type="http://schemas.openxmlformats.org/officeDocument/2006/relationships/tags" Target="../tags/tag425.xml"/><Relationship Id="rId4" Type="http://schemas.openxmlformats.org/officeDocument/2006/relationships/slideMaster" Target="../slideMasters/slideMaster7.xml"/></Relationships>
</file>

<file path=ppt/slideLayouts/_rels/slideLayout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7.xml"/></Relationships>
</file>

<file path=ppt/slideLayouts/_rels/slideLayout118.xml.rels><?xml version="1.0" encoding="UTF-8" standalone="yes"?>
<Relationships xmlns="http://schemas.openxmlformats.org/package/2006/relationships"><Relationship Id="rId3" Type="http://schemas.openxmlformats.org/officeDocument/2006/relationships/tags" Target="../tags/tag430.xml"/><Relationship Id="rId2" Type="http://schemas.openxmlformats.org/officeDocument/2006/relationships/tags" Target="../tags/tag429.xml"/><Relationship Id="rId1" Type="http://schemas.openxmlformats.org/officeDocument/2006/relationships/tags" Target="../tags/tag428.xml"/><Relationship Id="rId5" Type="http://schemas.openxmlformats.org/officeDocument/2006/relationships/image" Target="../media/image3.png"/><Relationship Id="rId4" Type="http://schemas.openxmlformats.org/officeDocument/2006/relationships/slideMaster" Target="../slideMasters/slideMaster7.xml"/></Relationships>
</file>

<file path=ppt/slideLayouts/_rels/slideLayout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7.xml"/></Relationships>
</file>

<file path=ppt/slideLayouts/_rels/slideLayout120.xml.rels><?xml version="1.0" encoding="UTF-8" standalone="yes"?>
<Relationships xmlns="http://schemas.openxmlformats.org/package/2006/relationships"><Relationship Id="rId3" Type="http://schemas.openxmlformats.org/officeDocument/2006/relationships/tags" Target="../tags/tag433.xml"/><Relationship Id="rId2" Type="http://schemas.openxmlformats.org/officeDocument/2006/relationships/tags" Target="../tags/tag432.xml"/><Relationship Id="rId1" Type="http://schemas.openxmlformats.org/officeDocument/2006/relationships/tags" Target="../tags/tag431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slideMaster" Target="../slideMasters/slideMaster7.xml"/></Relationships>
</file>

<file path=ppt/slideLayouts/_rels/slideLayout121.xml.rels><?xml version="1.0" encoding="UTF-8" standalone="yes"?>
<Relationships xmlns="http://schemas.openxmlformats.org/package/2006/relationships"><Relationship Id="rId3" Type="http://schemas.openxmlformats.org/officeDocument/2006/relationships/tags" Target="../tags/tag436.xml"/><Relationship Id="rId2" Type="http://schemas.openxmlformats.org/officeDocument/2006/relationships/tags" Target="../tags/tag435.xml"/><Relationship Id="rId1" Type="http://schemas.openxmlformats.org/officeDocument/2006/relationships/tags" Target="../tags/tag434.xml"/><Relationship Id="rId5" Type="http://schemas.openxmlformats.org/officeDocument/2006/relationships/image" Target="../media/image4.png"/><Relationship Id="rId4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封面">
    <p:bg>
      <p:bgPr>
        <a:gradFill>
          <a:gsLst>
            <a:gs pos="0">
              <a:srgbClr val="285382"/>
            </a:gs>
            <a:gs pos="68000">
              <a:srgbClr val="072448"/>
            </a:gs>
          </a:gsLst>
          <a:lin ang="33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838869" y="600356"/>
            <a:ext cx="1603465" cy="3375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68200115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形状 14"/>
          <p:cNvSpPr/>
          <p:nvPr>
            <p:custDataLst>
              <p:tags r:id="rId1"/>
            </p:custDataLst>
          </p:nvPr>
        </p:nvSpPr>
        <p:spPr>
          <a:xfrm>
            <a:off x="1" y="1"/>
            <a:ext cx="4362405" cy="6858000"/>
          </a:xfrm>
          <a:custGeom>
            <a:avLst/>
            <a:gdLst>
              <a:gd name="connsiteX0" fmla="*/ 0 w 8724808"/>
              <a:gd name="connsiteY0" fmla="*/ 0 h 13716000"/>
              <a:gd name="connsiteX1" fmla="*/ 7113954 w 8724808"/>
              <a:gd name="connsiteY1" fmla="*/ 0 h 13716000"/>
              <a:gd name="connsiteX2" fmla="*/ 7228935 w 8724808"/>
              <a:gd name="connsiteY2" fmla="*/ 219261 h 13716000"/>
              <a:gd name="connsiteX3" fmla="*/ 8724808 w 8724808"/>
              <a:gd name="connsiteY3" fmla="*/ 6858000 h 13716000"/>
              <a:gd name="connsiteX4" fmla="*/ 7228935 w 8724808"/>
              <a:gd name="connsiteY4" fmla="*/ 13496738 h 13716000"/>
              <a:gd name="connsiteX5" fmla="*/ 7113953 w 8724808"/>
              <a:gd name="connsiteY5" fmla="*/ 13716000 h 13716000"/>
              <a:gd name="connsiteX6" fmla="*/ 0 w 8724808"/>
              <a:gd name="connsiteY6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724808" h="13716000">
                <a:moveTo>
                  <a:pt x="0" y="0"/>
                </a:moveTo>
                <a:lnTo>
                  <a:pt x="7113954" y="0"/>
                </a:lnTo>
                <a:lnTo>
                  <a:pt x="7228935" y="219261"/>
                </a:lnTo>
                <a:cubicBezTo>
                  <a:pt x="8169676" y="2081760"/>
                  <a:pt x="8724808" y="4376269"/>
                  <a:pt x="8724808" y="6858000"/>
                </a:cubicBezTo>
                <a:cubicBezTo>
                  <a:pt x="8724808" y="9339731"/>
                  <a:pt x="8169676" y="11634239"/>
                  <a:pt x="7228935" y="13496738"/>
                </a:cubicBezTo>
                <a:lnTo>
                  <a:pt x="7113953" y="13716000"/>
                </a:lnTo>
                <a:lnTo>
                  <a:pt x="0" y="13716000"/>
                </a:lnTo>
                <a:close/>
              </a:path>
            </a:pathLst>
          </a:custGeom>
          <a:gradFill>
            <a:gsLst>
              <a:gs pos="0">
                <a:srgbClr val="2D477A"/>
              </a:gs>
              <a:gs pos="99000">
                <a:srgbClr val="042B5C"/>
              </a:gs>
            </a:gsLst>
            <a:lin ang="2700000" scaled="0"/>
          </a:gra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fromWordArt="0" anchor="ctr" anchorCtr="0" forceAA="0" compatLnSpc="1">
            <a:noAutofit/>
          </a:bodyPr>
          <a:lstStyle/>
          <a:p>
            <a:pPr defTabSz="412750"/>
            <a:endParaRPr lang="zh-CN" altLang="en-US" sz="1600" b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  <a:cs typeface="+mn-cs"/>
              <a:sym typeface="Arial" panose="02000503000000020004"/>
            </a:endParaRPr>
          </a:p>
        </p:txBody>
      </p:sp>
      <p:grpSp>
        <p:nvGrpSpPr>
          <p:cNvPr id="22" name="组合 21"/>
          <p:cNvGrpSpPr/>
          <p:nvPr/>
        </p:nvGrpSpPr>
        <p:grpSpPr>
          <a:xfrm>
            <a:off x="1108710" y="2403475"/>
            <a:ext cx="2145030" cy="1264920"/>
            <a:chOff x="1742" y="4076"/>
            <a:chExt cx="3378" cy="1992"/>
          </a:xfrm>
        </p:grpSpPr>
        <p:sp>
          <p:nvSpPr>
            <p:cNvPr id="2" name="îŝ1íḓe"/>
            <p:cNvSpPr/>
            <p:nvPr/>
          </p:nvSpPr>
          <p:spPr>
            <a:xfrm>
              <a:off x="1742" y="4076"/>
              <a:ext cx="3378" cy="1284"/>
            </a:xfrm>
            <a:prstGeom prst="rect">
              <a:avLst/>
            </a:prstGeom>
          </p:spPr>
          <p:txBody>
            <a:bodyPr wrap="square" lIns="91441" tIns="45720" rIns="91441" bIns="45720" anchor="ctr">
              <a:noAutofit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defTabSz="914400">
                <a:defRPr/>
              </a:pPr>
              <a:r>
                <a:rPr lang="zh-CN" altLang="en-US" sz="6000" dirty="0">
                  <a:solidFill>
                    <a:srgbClr val="FFFFFF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黑体" panose="02010609060101010101" pitchFamily="49" charset="-122"/>
                  <a:ea typeface="黑体" panose="02010609060101010101" pitchFamily="49" charset="-122"/>
                  <a:cs typeface="微软雅黑" panose="020B0503020204020204" pitchFamily="34" charset="-122"/>
                </a:rPr>
                <a:t>目录</a:t>
              </a:r>
            </a:p>
          </p:txBody>
        </p:sp>
        <p:sp>
          <p:nvSpPr>
            <p:cNvPr id="24" name="矩形 29"/>
            <p:cNvSpPr txBox="1"/>
            <p:nvPr/>
          </p:nvSpPr>
          <p:spPr>
            <a:xfrm>
              <a:off x="1954" y="5440"/>
              <a:ext cx="2648" cy="628"/>
            </a:xfrm>
            <a:prstGeom prst="rect">
              <a:avLst/>
            </a:prstGeom>
            <a:ln w="12700">
              <a:miter lim="400000"/>
            </a:ln>
          </p:spPr>
          <p:txBody>
            <a:bodyPr wrap="square" lIns="45720" rIns="45720">
              <a:spAutoFit/>
            </a:bodyPr>
            <a:lstStyle>
              <a:lvl1pPr>
                <a:defRPr sz="1600">
                  <a:solidFill>
                    <a:srgbClr val="1B2F48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</a:lstStyle>
            <a:p>
              <a:pPr algn="l"/>
              <a:r>
                <a:rPr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CONTENT</a:t>
              </a:r>
              <a:r>
                <a:rPr lang="en-US"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S</a:t>
              </a:r>
            </a:p>
          </p:txBody>
        </p:sp>
      </p:grpSp>
      <p:pic>
        <p:nvPicPr>
          <p:cNvPr id="8" name="图片 7" descr="组 12"/>
          <p:cNvPicPr>
            <a:picLocks noChangeAspect="1"/>
          </p:cNvPicPr>
          <p:nvPr/>
        </p:nvPicPr>
        <p:blipFill>
          <a:blip r:embed="rId3">
            <a:alphaModFix amt="8000"/>
          </a:blip>
          <a:stretch>
            <a:fillRect/>
          </a:stretch>
        </p:blipFill>
        <p:spPr>
          <a:xfrm>
            <a:off x="336550" y="4083685"/>
            <a:ext cx="3495040" cy="1967230"/>
          </a:xfrm>
          <a:prstGeom prst="rect">
            <a:avLst/>
          </a:prstGeom>
          <a:effectLst>
            <a:reflection blurRad="6350" stA="70000" endA="300" endPos="55000" dist="1143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931667115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无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标题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sp>
        <p:nvSpPr>
          <p:cNvPr id="6" name="文本占位符 5"/>
          <p:cNvSpPr>
            <a:spLocks noGrp="1"/>
          </p:cNvSpPr>
          <p:nvPr>
            <p:ph type="body" idx="10"/>
            <p:custDataLst>
              <p:tags r:id="rId2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85580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01223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7" name="图片 6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841988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白-右上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rgbClr val="203864"/>
                </a:solidFill>
                <a:effectLst/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26730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白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idx="10"/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cxnSp>
        <p:nvCxnSpPr>
          <p:cNvPr id="6" name="直线连接符 1"/>
          <p:cNvCxnSpPr/>
          <p:nvPr>
            <p:custDataLst>
              <p:tags r:id="rId1"/>
            </p:custDataLst>
          </p:nvPr>
        </p:nvCxnSpPr>
        <p:spPr>
          <a:xfrm>
            <a:off x="526431" y="331292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3003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色内页（旧版兼容）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337794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中文标题_纯色内页_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69199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>
          <a:xfrm>
            <a:off x="1363523" y="7885708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  <a:t>2026/4/29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>
          <a:xfrm>
            <a:off x="4867523" y="7885708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>
          <a:xfrm>
            <a:off x="9629123" y="7885708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3191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4" name="图片 3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301680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6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8" name="图片 7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076113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1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71001672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2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70604342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无标题_纯白_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6" name="标题 5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248256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内页深色渐变-Logo右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幻灯片 16_9 25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 userDrawn="1"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cxnSp>
        <p:nvCxnSpPr>
          <p:cNvPr id="8" name="直线连接符 1"/>
          <p:cNvCxnSpPr/>
          <p:nvPr userDrawn="1">
            <p:custDataLst>
              <p:tags r:id="rId2"/>
            </p:custDataLst>
          </p:nvPr>
        </p:nvCxnSpPr>
        <p:spPr>
          <a:xfrm>
            <a:off x="526415" y="31369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华锐研究所LOGO标准组合-横版中英文（文字反白）" hidden="1"/>
          <p:cNvPicPr>
            <a:picLocks noChangeAspect="1"/>
          </p:cNvPicPr>
          <p:nvPr userDrawn="1"/>
        </p:nvPicPr>
        <p:blipFill>
          <a:blip r:embed="rId6" cstate="screen"/>
          <a:stretch>
            <a:fillRect/>
          </a:stretch>
        </p:blipFill>
        <p:spPr>
          <a:xfrm>
            <a:off x="10679464" y="319405"/>
            <a:ext cx="1273703" cy="244800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6641750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内页深色渐变-Logo右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幻灯片 16_9 25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 userDrawn="1"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  <a:prstGeom prst="rect">
            <a:avLst/>
          </a:prstGeo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cxnSp>
        <p:nvCxnSpPr>
          <p:cNvPr id="8" name="直线连接符 1"/>
          <p:cNvCxnSpPr/>
          <p:nvPr userDrawn="1">
            <p:custDataLst>
              <p:tags r:id="rId2"/>
            </p:custDataLst>
          </p:nvPr>
        </p:nvCxnSpPr>
        <p:spPr>
          <a:xfrm>
            <a:off x="526415" y="31369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华锐研究所LOGO标准组合-横版中英文（文字反白）" hidden="1"/>
          <p:cNvPicPr>
            <a:picLocks noChangeAspect="1"/>
          </p:cNvPicPr>
          <p:nvPr userDrawn="1"/>
        </p:nvPicPr>
        <p:blipFill>
          <a:blip r:embed="rId6" cstate="screen"/>
          <a:stretch>
            <a:fillRect/>
          </a:stretch>
        </p:blipFill>
        <p:spPr>
          <a:xfrm>
            <a:off x="10679464" y="319405"/>
            <a:ext cx="1273703" cy="244800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2128586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295483"/>
              </a:gs>
              <a:gs pos="68000">
                <a:srgbClr val="072448"/>
              </a:gs>
            </a:gsLst>
            <a:lin ang="3300000" scaled="0"/>
          </a:gradFill>
          <a:ln w="25400" cap="flat">
            <a:noFill/>
            <a:prstDash val="solid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6800" tIns="45719" rIns="45719" bIns="45719" numCol="1" spcCol="38100" rtlCol="0" anchor="ctr">
            <a:no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  <a:sym typeface="Arial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838869" y="600356"/>
            <a:ext cx="1603465" cy="3375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859743070"/>
      </p:ext>
    </p:extLst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任意形状 14"/>
          <p:cNvSpPr/>
          <p:nvPr/>
        </p:nvSpPr>
        <p:spPr>
          <a:xfrm>
            <a:off x="1" y="1"/>
            <a:ext cx="4362405" cy="6858000"/>
          </a:xfrm>
          <a:custGeom>
            <a:avLst/>
            <a:gdLst>
              <a:gd name="connsiteX0" fmla="*/ 0 w 8724808"/>
              <a:gd name="connsiteY0" fmla="*/ 0 h 13716000"/>
              <a:gd name="connsiteX1" fmla="*/ 7113954 w 8724808"/>
              <a:gd name="connsiteY1" fmla="*/ 0 h 13716000"/>
              <a:gd name="connsiteX2" fmla="*/ 7228935 w 8724808"/>
              <a:gd name="connsiteY2" fmla="*/ 219261 h 13716000"/>
              <a:gd name="connsiteX3" fmla="*/ 8724808 w 8724808"/>
              <a:gd name="connsiteY3" fmla="*/ 6858000 h 13716000"/>
              <a:gd name="connsiteX4" fmla="*/ 7228935 w 8724808"/>
              <a:gd name="connsiteY4" fmla="*/ 13496738 h 13716000"/>
              <a:gd name="connsiteX5" fmla="*/ 7113953 w 8724808"/>
              <a:gd name="connsiteY5" fmla="*/ 13716000 h 13716000"/>
              <a:gd name="connsiteX6" fmla="*/ 0 w 8724808"/>
              <a:gd name="connsiteY6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724808" h="13716000">
                <a:moveTo>
                  <a:pt x="0" y="0"/>
                </a:moveTo>
                <a:lnTo>
                  <a:pt x="7113954" y="0"/>
                </a:lnTo>
                <a:lnTo>
                  <a:pt x="7228935" y="219261"/>
                </a:lnTo>
                <a:cubicBezTo>
                  <a:pt x="8169676" y="2081760"/>
                  <a:pt x="8724808" y="4376269"/>
                  <a:pt x="8724808" y="6858000"/>
                </a:cubicBezTo>
                <a:cubicBezTo>
                  <a:pt x="8724808" y="9339731"/>
                  <a:pt x="8169676" y="11634239"/>
                  <a:pt x="7228935" y="13496738"/>
                </a:cubicBezTo>
                <a:lnTo>
                  <a:pt x="7113953" y="13716000"/>
                </a:lnTo>
                <a:lnTo>
                  <a:pt x="0" y="13716000"/>
                </a:lnTo>
                <a:close/>
              </a:path>
            </a:pathLst>
          </a:custGeom>
          <a:gradFill>
            <a:gsLst>
              <a:gs pos="0">
                <a:srgbClr val="2D477A"/>
              </a:gs>
              <a:gs pos="99000">
                <a:srgbClr val="042B5C"/>
              </a:gs>
            </a:gsLst>
            <a:lin ang="2700000" scaled="0"/>
          </a:gra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fromWordArt="0" anchor="ctr" anchorCtr="0" forceAA="0" compatLnSpc="1">
            <a:noAutofit/>
          </a:bodyPr>
          <a:lstStyle/>
          <a:p>
            <a:pPr defTabSz="412750"/>
            <a:endParaRPr lang="zh-CN" altLang="en-US" sz="1600" b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  <a:cs typeface="+mn-cs"/>
              <a:sym typeface="Arial" panose="02000503000000020004"/>
            </a:endParaRPr>
          </a:p>
        </p:txBody>
      </p:sp>
      <p:grpSp>
        <p:nvGrpSpPr>
          <p:cNvPr id="22" name="组合 21"/>
          <p:cNvGrpSpPr/>
          <p:nvPr/>
        </p:nvGrpSpPr>
        <p:grpSpPr>
          <a:xfrm>
            <a:off x="1108710" y="2403475"/>
            <a:ext cx="2145030" cy="1264920"/>
            <a:chOff x="1742" y="4076"/>
            <a:chExt cx="3378" cy="1992"/>
          </a:xfrm>
        </p:grpSpPr>
        <p:sp>
          <p:nvSpPr>
            <p:cNvPr id="2" name="îŝ1íḓe"/>
            <p:cNvSpPr/>
            <p:nvPr/>
          </p:nvSpPr>
          <p:spPr>
            <a:xfrm>
              <a:off x="1742" y="4076"/>
              <a:ext cx="3378" cy="1284"/>
            </a:xfrm>
            <a:prstGeom prst="rect">
              <a:avLst/>
            </a:prstGeom>
          </p:spPr>
          <p:txBody>
            <a:bodyPr wrap="square" lIns="91441" tIns="45720" rIns="91441" bIns="45720" anchor="ctr">
              <a:noAutofit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defTabSz="914400">
                <a:defRPr/>
              </a:pPr>
              <a:r>
                <a:rPr lang="zh-CN" altLang="en-US" sz="6000" dirty="0">
                  <a:solidFill>
                    <a:srgbClr val="FFFFFF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黑体" panose="02010609060101010101" pitchFamily="49" charset="-122"/>
                  <a:ea typeface="黑体" panose="02010609060101010101" pitchFamily="49" charset="-122"/>
                  <a:cs typeface="微软雅黑" panose="020B0503020204020204" pitchFamily="34" charset="-122"/>
                </a:rPr>
                <a:t>目录</a:t>
              </a:r>
            </a:p>
          </p:txBody>
        </p:sp>
        <p:sp>
          <p:nvSpPr>
            <p:cNvPr id="24" name="矩形 29"/>
            <p:cNvSpPr txBox="1"/>
            <p:nvPr/>
          </p:nvSpPr>
          <p:spPr>
            <a:xfrm>
              <a:off x="1954" y="5440"/>
              <a:ext cx="2648" cy="628"/>
            </a:xfrm>
            <a:prstGeom prst="rect">
              <a:avLst/>
            </a:prstGeom>
            <a:ln w="12700">
              <a:miter lim="400000"/>
            </a:ln>
          </p:spPr>
          <p:txBody>
            <a:bodyPr wrap="square" lIns="45720" rIns="45720">
              <a:spAutoFit/>
            </a:bodyPr>
            <a:lstStyle>
              <a:lvl1pPr>
                <a:defRPr sz="1600">
                  <a:solidFill>
                    <a:srgbClr val="1B2F48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</a:lstStyle>
            <a:p>
              <a:pPr algn="l"/>
              <a:r>
                <a:rPr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Calibri" panose="020B0502030000000004" pitchFamily="34" charset="0"/>
                  <a:ea typeface="Calibri" panose="020B0502030000000004" pitchFamily="34" charset="0"/>
                </a:rPr>
                <a:t>CONTENT</a:t>
              </a:r>
              <a:r>
                <a:rPr lang="en-US"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Calibri" panose="020B0502030000000004" pitchFamily="34" charset="0"/>
                  <a:ea typeface="Calibri" panose="020B0502030000000004" pitchFamily="34" charset="0"/>
                </a:rPr>
                <a:t>S</a:t>
              </a:r>
            </a:p>
          </p:txBody>
        </p:sp>
      </p:grpSp>
      <p:pic>
        <p:nvPicPr>
          <p:cNvPr id="8" name="图片 7" descr="组 12"/>
          <p:cNvPicPr>
            <a:picLocks noChangeAspect="1"/>
          </p:cNvPicPr>
          <p:nvPr/>
        </p:nvPicPr>
        <p:blipFill>
          <a:blip r:embed="rId2" cstate="screen">
            <a:alphaModFix amt="8000"/>
          </a:blip>
          <a:stretch>
            <a:fillRect/>
          </a:stretch>
        </p:blipFill>
        <p:spPr>
          <a:xfrm>
            <a:off x="336550" y="4083685"/>
            <a:ext cx="3495040" cy="1967230"/>
          </a:xfrm>
          <a:prstGeom prst="rect">
            <a:avLst/>
          </a:prstGeom>
          <a:effectLst>
            <a:reflection blurRad="6350" stA="70000" endA="300" endPos="55000" dist="1143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120523324"/>
      </p:ext>
    </p:extLst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色内页（旧版兼容）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8037739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色内页（加深）-右上Logo">
    <p:bg>
      <p:bgPr>
        <a:solidFill>
          <a:srgbClr val="0A2B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4306099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33870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渐变内页-右下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E49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640334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1566903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内页深色渐变-Logo右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幻灯片 16_9 25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160462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蓝黑中央渐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3" descr="图片 3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12700">
            <a:miter lim="400000"/>
            <a:headEnd/>
            <a:tailEnd/>
          </a:ln>
        </p:spPr>
      </p:pic>
      <p:sp>
        <p:nvSpPr>
          <p:cNvPr id="2" name="Rounded Rectangle 20"/>
          <p:cNvSpPr/>
          <p:nvPr>
            <p:custDataLst>
              <p:tags r:id="rId1"/>
            </p:custDataLst>
          </p:nvPr>
        </p:nvSpPr>
        <p:spPr>
          <a:xfrm>
            <a:off x="12332208" y="2000440"/>
            <a:ext cx="1080135" cy="359410"/>
          </a:xfrm>
          <a:prstGeom prst="rect">
            <a:avLst/>
          </a:prstGeom>
          <a:solidFill>
            <a:srgbClr val="2D9D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Rounded Rectangle 21"/>
          <p:cNvSpPr/>
          <p:nvPr>
            <p:custDataLst>
              <p:tags r:id="rId2"/>
            </p:custDataLst>
          </p:nvPr>
        </p:nvSpPr>
        <p:spPr>
          <a:xfrm>
            <a:off x="13527962" y="6500685"/>
            <a:ext cx="1080135" cy="35941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Rounded Rectangle 22"/>
          <p:cNvSpPr/>
          <p:nvPr>
            <p:custDataLst>
              <p:tags r:id="rId3"/>
            </p:custDataLst>
          </p:nvPr>
        </p:nvSpPr>
        <p:spPr>
          <a:xfrm>
            <a:off x="12332208" y="2499550"/>
            <a:ext cx="1080135" cy="359410"/>
          </a:xfrm>
          <a:prstGeom prst="rect">
            <a:avLst/>
          </a:prstGeom>
          <a:solidFill>
            <a:srgbClr val="0B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Rounded Rectangle 23"/>
          <p:cNvSpPr/>
          <p:nvPr>
            <p:custDataLst>
              <p:tags r:id="rId4"/>
            </p:custDataLst>
          </p:nvPr>
        </p:nvSpPr>
        <p:spPr>
          <a:xfrm>
            <a:off x="12332208" y="5003355"/>
            <a:ext cx="1080135" cy="359410"/>
          </a:xfrm>
          <a:prstGeom prst="rect">
            <a:avLst/>
          </a:prstGeom>
          <a:solidFill>
            <a:srgbClr val="2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Rounded Rectangle 21"/>
          <p:cNvSpPr/>
          <p:nvPr>
            <p:custDataLst>
              <p:tags r:id="rId5"/>
            </p:custDataLst>
          </p:nvPr>
        </p:nvSpPr>
        <p:spPr>
          <a:xfrm>
            <a:off x="12332208" y="2998025"/>
            <a:ext cx="1080135" cy="359410"/>
          </a:xfrm>
          <a:prstGeom prst="rect">
            <a:avLst/>
          </a:prstGeom>
          <a:solidFill>
            <a:srgbClr val="FFA20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Rounded Rectangle 21"/>
          <p:cNvSpPr/>
          <p:nvPr>
            <p:custDataLst>
              <p:tags r:id="rId6"/>
            </p:custDataLst>
          </p:nvPr>
        </p:nvSpPr>
        <p:spPr>
          <a:xfrm>
            <a:off x="12332208" y="6500685"/>
            <a:ext cx="1080135" cy="35941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2332208" y="5502465"/>
            <a:ext cx="1080135" cy="359410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2332208" y="6999795"/>
            <a:ext cx="1080135" cy="359410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2332208" y="4504245"/>
            <a:ext cx="1080135" cy="359410"/>
          </a:xfrm>
          <a:prstGeom prst="rect">
            <a:avLst/>
          </a:prstGeom>
          <a:solidFill>
            <a:srgbClr val="53DFB6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2332208" y="3497135"/>
            <a:ext cx="1080135" cy="359410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2332208" y="4000690"/>
            <a:ext cx="1080135" cy="360045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332208" y="6001575"/>
            <a:ext cx="1080135" cy="359410"/>
          </a:xfrm>
          <a:prstGeom prst="rect">
            <a:avLst/>
          </a:prstGeom>
          <a:solidFill>
            <a:srgbClr val="FF89A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3527962" y="6001575"/>
            <a:ext cx="1080135" cy="359410"/>
          </a:xfrm>
          <a:prstGeom prst="rect">
            <a:avLst/>
          </a:prstGeom>
          <a:solidFill>
            <a:srgbClr val="8F7FE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8" name="Rounded Rectangle 22"/>
          <p:cNvSpPr/>
          <p:nvPr>
            <p:custDataLst>
              <p:tags r:id="rId7"/>
            </p:custDataLst>
          </p:nvPr>
        </p:nvSpPr>
        <p:spPr>
          <a:xfrm>
            <a:off x="12332208" y="1496885"/>
            <a:ext cx="1080135" cy="359410"/>
          </a:xfrm>
          <a:prstGeom prst="rect">
            <a:avLst/>
          </a:prstGeom>
          <a:solidFill>
            <a:srgbClr val="16388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Rounded Rectangle 22"/>
          <p:cNvSpPr/>
          <p:nvPr>
            <p:custDataLst>
              <p:tags r:id="rId8"/>
            </p:custDataLst>
          </p:nvPr>
        </p:nvSpPr>
        <p:spPr>
          <a:xfrm>
            <a:off x="12332208" y="1001585"/>
            <a:ext cx="1080135" cy="359410"/>
          </a:xfrm>
          <a:prstGeom prst="rect">
            <a:avLst/>
          </a:prstGeom>
          <a:solidFill>
            <a:srgbClr val="0F255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Rounded Rectangle 22"/>
          <p:cNvSpPr/>
          <p:nvPr>
            <p:custDataLst>
              <p:tags r:id="rId9"/>
            </p:custDataLst>
          </p:nvPr>
        </p:nvSpPr>
        <p:spPr>
          <a:xfrm>
            <a:off x="12332208" y="506285"/>
            <a:ext cx="1080135" cy="359410"/>
          </a:xfrm>
          <a:prstGeom prst="rect">
            <a:avLst/>
          </a:prstGeom>
          <a:solidFill>
            <a:srgbClr val="17365B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00003468"/>
      </p:ext>
    </p:extLst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白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1822724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白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94034" y="309679"/>
            <a:ext cx="1192531" cy="251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48347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白-右下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94034" y="6426660"/>
            <a:ext cx="1192531" cy="251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2480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白-左下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358543" y="6426660"/>
            <a:ext cx="1192531" cy="251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627712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  <a:t>2026/4/29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697911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40333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1_节标题">
    <p:bg>
      <p:bgPr>
        <a:gradFill>
          <a:gsLst>
            <a:gs pos="10000">
              <a:srgbClr val="093676"/>
            </a:gs>
            <a:gs pos="100000">
              <a:srgbClr val="152360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58755" y="98499"/>
            <a:ext cx="12074489" cy="522004"/>
          </a:xfrm>
        </p:spPr>
        <p:txBody>
          <a:bodyPr vert="horz" lIns="91440" tIns="45720" rIns="91440" bIns="45720" rtlCol="0" anchor="ctr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90000"/>
              </a:lnSpc>
              <a:buNone/>
              <a:defRPr kumimoji="0" lang="en-US" sz="2800" b="1" i="0" u="none" strike="noStrike" kern="1200" cap="none" spc="0" normalizeH="0" baseline="0" noProof="1" smtClean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j-cs"/>
                <a:sym typeface="+mn-ea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subtitle style</a:t>
            </a:r>
            <a:endParaRPr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14432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000"/>
    </mc:Choice>
    <mc:Fallback xmlns="">
      <p:transition spd="slow" advTm="15000"/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色内页-右上Logo">
    <p:bg>
      <p:bgPr>
        <a:blipFill rotWithShape="1">
          <a:blip r:embed="rId4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877258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色内页_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pic>
        <p:nvPicPr>
          <p:cNvPr id="6" name="图片 5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0675"/>
            <a:ext cx="1155065" cy="243205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0667741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533D3FF9-6580-481B-BB0F-299469E2D7BA}" type="datetime1">
              <a:rPr lang="zh-TW" altLang="en-US" smtClean="0"/>
              <a:t>2026/4/29</a:t>
            </a:fld>
            <a:endParaRPr lang="zh-TW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D443E713-C768-4BB8-A4CE-C96AFF4B35DA}" type="slidenum">
              <a:rPr lang="zh-TW" altLang="en-US" smtClean="0"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88193395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中文标题_深色内页">
    <p:bg>
      <p:bgPr>
        <a:solidFill>
          <a:srgbClr val="0425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幻灯片 16_9 25"/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49250" y="252000"/>
            <a:ext cx="10076180" cy="521970"/>
          </a:xfrm>
        </p:spPr>
        <p:txBody>
          <a:bodyPr anchor="ctr" anchorCtr="0"/>
          <a:lstStyle>
            <a:lvl1pPr algn="l"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3599" y="215343"/>
            <a:ext cx="1321412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070762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中文标题_纯色内页_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幻灯片 16_9 25"/>
          <p:cNvPicPr>
            <a:picLocks noChangeAspect="1"/>
          </p:cNvPicPr>
          <p:nvPr/>
        </p:nvPicPr>
        <p:blipFill>
          <a:blip r:embed="rId4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417957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内页深色渐变-Logo右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幻灯片 16_9 25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 userDrawn="1"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cxnSp>
        <p:nvCxnSpPr>
          <p:cNvPr id="8" name="直线连接符 1"/>
          <p:cNvCxnSpPr/>
          <p:nvPr userDrawn="1">
            <p:custDataLst>
              <p:tags r:id="rId2"/>
            </p:custDataLst>
          </p:nvPr>
        </p:nvCxnSpPr>
        <p:spPr>
          <a:xfrm>
            <a:off x="526415" y="31369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华锐研究所LOGO标准组合-横版中英文（文字反白）" hidden="1"/>
          <p:cNvPicPr>
            <a:picLocks noChangeAspect="1"/>
          </p:cNvPicPr>
          <p:nvPr userDrawn="1"/>
        </p:nvPicPr>
        <p:blipFill>
          <a:blip r:embed="rId6" cstate="screen"/>
          <a:stretch>
            <a:fillRect/>
          </a:stretch>
        </p:blipFill>
        <p:spPr>
          <a:xfrm>
            <a:off x="10679464" y="319405"/>
            <a:ext cx="1273703" cy="244800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6631871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封面">
    <p:bg>
      <p:bgPr>
        <a:gradFill>
          <a:gsLst>
            <a:gs pos="0">
              <a:srgbClr val="285382"/>
            </a:gs>
            <a:gs pos="68000">
              <a:srgbClr val="072448"/>
            </a:gs>
          </a:gsLst>
          <a:lin ang="33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838869" y="600356"/>
            <a:ext cx="1603465" cy="3375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611655148"/>
      </p:ext>
    </p:extLst>
  </p:cSld>
  <p:clrMapOvr>
    <a:masterClrMapping/>
  </p:clrMapOvr>
  <p:transition spd="med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形状 14"/>
          <p:cNvSpPr/>
          <p:nvPr>
            <p:custDataLst>
              <p:tags r:id="rId1"/>
            </p:custDataLst>
          </p:nvPr>
        </p:nvSpPr>
        <p:spPr>
          <a:xfrm>
            <a:off x="1" y="1"/>
            <a:ext cx="4362405" cy="6858000"/>
          </a:xfrm>
          <a:custGeom>
            <a:avLst/>
            <a:gdLst>
              <a:gd name="connsiteX0" fmla="*/ 0 w 8724808"/>
              <a:gd name="connsiteY0" fmla="*/ 0 h 13716000"/>
              <a:gd name="connsiteX1" fmla="*/ 7113954 w 8724808"/>
              <a:gd name="connsiteY1" fmla="*/ 0 h 13716000"/>
              <a:gd name="connsiteX2" fmla="*/ 7228935 w 8724808"/>
              <a:gd name="connsiteY2" fmla="*/ 219261 h 13716000"/>
              <a:gd name="connsiteX3" fmla="*/ 8724808 w 8724808"/>
              <a:gd name="connsiteY3" fmla="*/ 6858000 h 13716000"/>
              <a:gd name="connsiteX4" fmla="*/ 7228935 w 8724808"/>
              <a:gd name="connsiteY4" fmla="*/ 13496738 h 13716000"/>
              <a:gd name="connsiteX5" fmla="*/ 7113953 w 8724808"/>
              <a:gd name="connsiteY5" fmla="*/ 13716000 h 13716000"/>
              <a:gd name="connsiteX6" fmla="*/ 0 w 8724808"/>
              <a:gd name="connsiteY6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724808" h="13716000">
                <a:moveTo>
                  <a:pt x="0" y="0"/>
                </a:moveTo>
                <a:lnTo>
                  <a:pt x="7113954" y="0"/>
                </a:lnTo>
                <a:lnTo>
                  <a:pt x="7228935" y="219261"/>
                </a:lnTo>
                <a:cubicBezTo>
                  <a:pt x="8169676" y="2081760"/>
                  <a:pt x="8724808" y="4376269"/>
                  <a:pt x="8724808" y="6858000"/>
                </a:cubicBezTo>
                <a:cubicBezTo>
                  <a:pt x="8724808" y="9339731"/>
                  <a:pt x="8169676" y="11634239"/>
                  <a:pt x="7228935" y="13496738"/>
                </a:cubicBezTo>
                <a:lnTo>
                  <a:pt x="7113953" y="13716000"/>
                </a:lnTo>
                <a:lnTo>
                  <a:pt x="0" y="13716000"/>
                </a:lnTo>
                <a:close/>
              </a:path>
            </a:pathLst>
          </a:custGeom>
          <a:gradFill>
            <a:gsLst>
              <a:gs pos="0">
                <a:srgbClr val="2D477A"/>
              </a:gs>
              <a:gs pos="99000">
                <a:srgbClr val="042B5C"/>
              </a:gs>
            </a:gsLst>
            <a:lin ang="2700000" scaled="0"/>
          </a:gra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fromWordArt="0" anchor="ctr" anchorCtr="0" forceAA="0" compatLnSpc="1">
            <a:noAutofit/>
          </a:bodyPr>
          <a:lstStyle/>
          <a:p>
            <a:pPr defTabSz="412750"/>
            <a:endParaRPr lang="zh-CN" altLang="en-US" sz="1600" b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  <a:cs typeface="+mn-cs"/>
              <a:sym typeface="Arial" panose="02000503000000020004"/>
            </a:endParaRPr>
          </a:p>
        </p:txBody>
      </p:sp>
      <p:grpSp>
        <p:nvGrpSpPr>
          <p:cNvPr id="22" name="组合 21"/>
          <p:cNvGrpSpPr/>
          <p:nvPr/>
        </p:nvGrpSpPr>
        <p:grpSpPr>
          <a:xfrm>
            <a:off x="1108710" y="2403475"/>
            <a:ext cx="2145030" cy="1264920"/>
            <a:chOff x="1742" y="4076"/>
            <a:chExt cx="3378" cy="1992"/>
          </a:xfrm>
        </p:grpSpPr>
        <p:sp>
          <p:nvSpPr>
            <p:cNvPr id="2" name="îŝ1íḓe"/>
            <p:cNvSpPr/>
            <p:nvPr/>
          </p:nvSpPr>
          <p:spPr>
            <a:xfrm>
              <a:off x="1742" y="4076"/>
              <a:ext cx="3378" cy="1284"/>
            </a:xfrm>
            <a:prstGeom prst="rect">
              <a:avLst/>
            </a:prstGeom>
          </p:spPr>
          <p:txBody>
            <a:bodyPr wrap="square" lIns="91441" tIns="45720" rIns="91441" bIns="45720" anchor="ctr">
              <a:noAutofit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defTabSz="914400">
                <a:defRPr/>
              </a:pPr>
              <a:r>
                <a:rPr lang="zh-CN" altLang="en-US" sz="6000" dirty="0">
                  <a:solidFill>
                    <a:srgbClr val="FFFFFF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黑体" panose="02010609060101010101" pitchFamily="49" charset="-122"/>
                  <a:ea typeface="黑体" panose="02010609060101010101" pitchFamily="49" charset="-122"/>
                  <a:cs typeface="微软雅黑" panose="020B0503020204020204" pitchFamily="34" charset="-122"/>
                </a:rPr>
                <a:t>目录</a:t>
              </a:r>
            </a:p>
          </p:txBody>
        </p:sp>
        <p:sp>
          <p:nvSpPr>
            <p:cNvPr id="24" name="矩形 29"/>
            <p:cNvSpPr txBox="1"/>
            <p:nvPr/>
          </p:nvSpPr>
          <p:spPr>
            <a:xfrm>
              <a:off x="1954" y="5440"/>
              <a:ext cx="2648" cy="628"/>
            </a:xfrm>
            <a:prstGeom prst="rect">
              <a:avLst/>
            </a:prstGeom>
            <a:ln w="12700">
              <a:miter lim="400000"/>
            </a:ln>
          </p:spPr>
          <p:txBody>
            <a:bodyPr wrap="square" lIns="45720" rIns="45720">
              <a:spAutoFit/>
            </a:bodyPr>
            <a:lstStyle>
              <a:lvl1pPr>
                <a:defRPr sz="1600">
                  <a:solidFill>
                    <a:srgbClr val="1B2F48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</a:lstStyle>
            <a:p>
              <a:pPr algn="l"/>
              <a:r>
                <a:rPr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CONTENT</a:t>
              </a:r>
              <a:r>
                <a:rPr lang="en-US"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S</a:t>
              </a:r>
            </a:p>
          </p:txBody>
        </p:sp>
      </p:grpSp>
      <p:pic>
        <p:nvPicPr>
          <p:cNvPr id="8" name="图片 7" descr="组 12"/>
          <p:cNvPicPr>
            <a:picLocks noChangeAspect="1"/>
          </p:cNvPicPr>
          <p:nvPr/>
        </p:nvPicPr>
        <p:blipFill>
          <a:blip r:embed="rId3">
            <a:alphaModFix amt="8000"/>
          </a:blip>
          <a:stretch>
            <a:fillRect/>
          </a:stretch>
        </p:blipFill>
        <p:spPr>
          <a:xfrm>
            <a:off x="336550" y="4083685"/>
            <a:ext cx="3495040" cy="1967230"/>
          </a:xfrm>
          <a:prstGeom prst="rect">
            <a:avLst/>
          </a:prstGeom>
          <a:effectLst>
            <a:reflection blurRad="6350" stA="70000" endA="300" endPos="55000" dist="1143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802588090"/>
      </p:ext>
    </p:extLst>
  </p:cSld>
  <p:clrMapOvr>
    <a:masterClrMapping/>
  </p:clrMapOvr>
  <p:transition spd="med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无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标题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sp>
        <p:nvSpPr>
          <p:cNvPr id="6" name="文本占位符 5"/>
          <p:cNvSpPr>
            <a:spLocks noGrp="1"/>
          </p:cNvSpPr>
          <p:nvPr>
            <p:ph type="body" idx="10"/>
            <p:custDataLst>
              <p:tags r:id="rId2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2013536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156717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7" name="图片 6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3826600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白-右上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rgbClr val="203864"/>
                </a:solidFill>
                <a:effectLst/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396012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白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idx="10"/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cxnSp>
        <p:nvCxnSpPr>
          <p:cNvPr id="6" name="直线连接符 1"/>
          <p:cNvCxnSpPr/>
          <p:nvPr>
            <p:custDataLst>
              <p:tags r:id="rId1"/>
            </p:custDataLst>
          </p:nvPr>
        </p:nvCxnSpPr>
        <p:spPr>
          <a:xfrm>
            <a:off x="526431" y="331292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43814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色内页（旧版兼容）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0279326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中文标题_纯色内页_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02381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>
          <a:xfrm>
            <a:off x="1363523" y="7885708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  <a:t>2026/4/29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>
          <a:xfrm>
            <a:off x="4867523" y="7885708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>
          <a:xfrm>
            <a:off x="9629123" y="7885708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2720611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4" name="图片 3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6117911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6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8" name="图片 7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57538117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1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76328657"/>
      </p:ext>
    </p:extLst>
  </p:cSld>
  <p:clrMapOvr>
    <a:masterClrMapping/>
  </p:clrMapOvr>
  <p:transition spd="med"/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2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8105779"/>
      </p:ext>
    </p:extLst>
  </p:cSld>
  <p:clrMapOvr>
    <a:masterClrMapping/>
  </p:clrMapOvr>
  <p:transition spd="med"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无标题_纯白_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6" name="标题 5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0378595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内页深色渐变-Logo右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幻灯片 16_9 25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 userDrawn="1"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cxnSp>
        <p:nvCxnSpPr>
          <p:cNvPr id="8" name="直线连接符 1"/>
          <p:cNvCxnSpPr/>
          <p:nvPr userDrawn="1">
            <p:custDataLst>
              <p:tags r:id="rId2"/>
            </p:custDataLst>
          </p:nvPr>
        </p:nvCxnSpPr>
        <p:spPr>
          <a:xfrm>
            <a:off x="526415" y="31369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华锐研究所LOGO标准组合-横版中英文（文字反白）" hidden="1"/>
          <p:cNvPicPr>
            <a:picLocks noChangeAspect="1"/>
          </p:cNvPicPr>
          <p:nvPr userDrawn="1"/>
        </p:nvPicPr>
        <p:blipFill>
          <a:blip r:embed="rId6" cstate="screen"/>
          <a:stretch>
            <a:fillRect/>
          </a:stretch>
        </p:blipFill>
        <p:spPr>
          <a:xfrm>
            <a:off x="10679464" y="319405"/>
            <a:ext cx="1273703" cy="244800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1609843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封面">
    <p:bg>
      <p:bgPr>
        <a:gradFill>
          <a:gsLst>
            <a:gs pos="0">
              <a:srgbClr val="285382"/>
            </a:gs>
            <a:gs pos="68000">
              <a:srgbClr val="072448"/>
            </a:gs>
          </a:gsLst>
          <a:lin ang="33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838869" y="600356"/>
            <a:ext cx="1603465" cy="3375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97622821"/>
      </p:ext>
    </p:extLst>
  </p:cSld>
  <p:clrMapOvr>
    <a:masterClrMapping/>
  </p:clrMapOvr>
  <p:transition spd="med"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形状 14"/>
          <p:cNvSpPr/>
          <p:nvPr>
            <p:custDataLst>
              <p:tags r:id="rId1"/>
            </p:custDataLst>
          </p:nvPr>
        </p:nvSpPr>
        <p:spPr>
          <a:xfrm>
            <a:off x="1" y="1"/>
            <a:ext cx="4362405" cy="6858000"/>
          </a:xfrm>
          <a:custGeom>
            <a:avLst/>
            <a:gdLst>
              <a:gd name="connsiteX0" fmla="*/ 0 w 8724808"/>
              <a:gd name="connsiteY0" fmla="*/ 0 h 13716000"/>
              <a:gd name="connsiteX1" fmla="*/ 7113954 w 8724808"/>
              <a:gd name="connsiteY1" fmla="*/ 0 h 13716000"/>
              <a:gd name="connsiteX2" fmla="*/ 7228935 w 8724808"/>
              <a:gd name="connsiteY2" fmla="*/ 219261 h 13716000"/>
              <a:gd name="connsiteX3" fmla="*/ 8724808 w 8724808"/>
              <a:gd name="connsiteY3" fmla="*/ 6858000 h 13716000"/>
              <a:gd name="connsiteX4" fmla="*/ 7228935 w 8724808"/>
              <a:gd name="connsiteY4" fmla="*/ 13496738 h 13716000"/>
              <a:gd name="connsiteX5" fmla="*/ 7113953 w 8724808"/>
              <a:gd name="connsiteY5" fmla="*/ 13716000 h 13716000"/>
              <a:gd name="connsiteX6" fmla="*/ 0 w 8724808"/>
              <a:gd name="connsiteY6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724808" h="13716000">
                <a:moveTo>
                  <a:pt x="0" y="0"/>
                </a:moveTo>
                <a:lnTo>
                  <a:pt x="7113954" y="0"/>
                </a:lnTo>
                <a:lnTo>
                  <a:pt x="7228935" y="219261"/>
                </a:lnTo>
                <a:cubicBezTo>
                  <a:pt x="8169676" y="2081760"/>
                  <a:pt x="8724808" y="4376269"/>
                  <a:pt x="8724808" y="6858000"/>
                </a:cubicBezTo>
                <a:cubicBezTo>
                  <a:pt x="8724808" y="9339731"/>
                  <a:pt x="8169676" y="11634239"/>
                  <a:pt x="7228935" y="13496738"/>
                </a:cubicBezTo>
                <a:lnTo>
                  <a:pt x="7113953" y="13716000"/>
                </a:lnTo>
                <a:lnTo>
                  <a:pt x="0" y="13716000"/>
                </a:lnTo>
                <a:close/>
              </a:path>
            </a:pathLst>
          </a:custGeom>
          <a:gradFill>
            <a:gsLst>
              <a:gs pos="0">
                <a:srgbClr val="2D477A"/>
              </a:gs>
              <a:gs pos="99000">
                <a:srgbClr val="042B5C"/>
              </a:gs>
            </a:gsLst>
            <a:lin ang="2700000" scaled="0"/>
          </a:gra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fromWordArt="0" anchor="ctr" anchorCtr="0" forceAA="0" compatLnSpc="1">
            <a:noAutofit/>
          </a:bodyPr>
          <a:lstStyle/>
          <a:p>
            <a:pPr defTabSz="412750"/>
            <a:endParaRPr lang="zh-CN" altLang="en-US" sz="1600" b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  <a:cs typeface="+mn-cs"/>
              <a:sym typeface="Arial" panose="02000503000000020004"/>
            </a:endParaRPr>
          </a:p>
        </p:txBody>
      </p:sp>
      <p:grpSp>
        <p:nvGrpSpPr>
          <p:cNvPr id="22" name="组合 21"/>
          <p:cNvGrpSpPr/>
          <p:nvPr/>
        </p:nvGrpSpPr>
        <p:grpSpPr>
          <a:xfrm>
            <a:off x="1108710" y="2403475"/>
            <a:ext cx="2145030" cy="1264920"/>
            <a:chOff x="1742" y="4076"/>
            <a:chExt cx="3378" cy="1992"/>
          </a:xfrm>
        </p:grpSpPr>
        <p:sp>
          <p:nvSpPr>
            <p:cNvPr id="2" name="îŝ1íḓe"/>
            <p:cNvSpPr/>
            <p:nvPr/>
          </p:nvSpPr>
          <p:spPr>
            <a:xfrm>
              <a:off x="1742" y="4076"/>
              <a:ext cx="3378" cy="1284"/>
            </a:xfrm>
            <a:prstGeom prst="rect">
              <a:avLst/>
            </a:prstGeom>
          </p:spPr>
          <p:txBody>
            <a:bodyPr wrap="square" lIns="91441" tIns="45720" rIns="91441" bIns="45720" anchor="ctr">
              <a:noAutofit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defTabSz="914400">
                <a:defRPr/>
              </a:pPr>
              <a:r>
                <a:rPr lang="zh-CN" altLang="en-US" sz="6000" dirty="0">
                  <a:solidFill>
                    <a:srgbClr val="FFFFFF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黑体" panose="02010609060101010101" pitchFamily="49" charset="-122"/>
                  <a:ea typeface="黑体" panose="02010609060101010101" pitchFamily="49" charset="-122"/>
                  <a:cs typeface="微软雅黑" panose="020B0503020204020204" pitchFamily="34" charset="-122"/>
                </a:rPr>
                <a:t>目录</a:t>
              </a:r>
            </a:p>
          </p:txBody>
        </p:sp>
        <p:sp>
          <p:nvSpPr>
            <p:cNvPr id="24" name="矩形 29"/>
            <p:cNvSpPr txBox="1"/>
            <p:nvPr/>
          </p:nvSpPr>
          <p:spPr>
            <a:xfrm>
              <a:off x="1954" y="5440"/>
              <a:ext cx="2648" cy="628"/>
            </a:xfrm>
            <a:prstGeom prst="rect">
              <a:avLst/>
            </a:prstGeom>
            <a:ln w="12700">
              <a:miter lim="400000"/>
            </a:ln>
          </p:spPr>
          <p:txBody>
            <a:bodyPr wrap="square" lIns="45720" rIns="45720">
              <a:spAutoFit/>
            </a:bodyPr>
            <a:lstStyle>
              <a:lvl1pPr>
                <a:defRPr sz="1600">
                  <a:solidFill>
                    <a:srgbClr val="1B2F48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</a:lstStyle>
            <a:p>
              <a:pPr algn="l"/>
              <a:r>
                <a:rPr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CONTENT</a:t>
              </a:r>
              <a:r>
                <a:rPr lang="en-US"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S</a:t>
              </a:r>
            </a:p>
          </p:txBody>
        </p:sp>
      </p:grpSp>
      <p:pic>
        <p:nvPicPr>
          <p:cNvPr id="8" name="图片 7" descr="组 12"/>
          <p:cNvPicPr>
            <a:picLocks noChangeAspect="1"/>
          </p:cNvPicPr>
          <p:nvPr/>
        </p:nvPicPr>
        <p:blipFill>
          <a:blip r:embed="rId3">
            <a:alphaModFix amt="8000"/>
          </a:blip>
          <a:stretch>
            <a:fillRect/>
          </a:stretch>
        </p:blipFill>
        <p:spPr>
          <a:xfrm>
            <a:off x="336550" y="4083685"/>
            <a:ext cx="3495040" cy="1967230"/>
          </a:xfrm>
          <a:prstGeom prst="rect">
            <a:avLst/>
          </a:prstGeom>
          <a:effectLst>
            <a:reflection blurRad="6350" stA="70000" endA="300" endPos="55000" dist="1143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82028757"/>
      </p:ext>
    </p:extLst>
  </p:cSld>
  <p:clrMapOvr>
    <a:masterClrMapping/>
  </p:clrMapOvr>
  <p:transition spd="med"/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无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标题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sp>
        <p:nvSpPr>
          <p:cNvPr id="6" name="文本占位符 5"/>
          <p:cNvSpPr>
            <a:spLocks noGrp="1"/>
          </p:cNvSpPr>
          <p:nvPr>
            <p:ph type="body" idx="10"/>
            <p:custDataLst>
              <p:tags r:id="rId2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294150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3084923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7" name="图片 6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7319298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白-右上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rgbClr val="203864"/>
                </a:solidFill>
                <a:effectLst/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5887643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白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idx="10"/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cxnSp>
        <p:nvCxnSpPr>
          <p:cNvPr id="6" name="直线连接符 1"/>
          <p:cNvCxnSpPr/>
          <p:nvPr>
            <p:custDataLst>
              <p:tags r:id="rId1"/>
            </p:custDataLst>
          </p:nvPr>
        </p:nvCxnSpPr>
        <p:spPr>
          <a:xfrm>
            <a:off x="526431" y="331292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75430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色内页（旧版兼容）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824293550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中文标题_纯色内页_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366153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>
          <a:xfrm>
            <a:off x="1363523" y="7885708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  <a:t>2026/4/29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>
          <a:xfrm>
            <a:off x="4867523" y="7885708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>
          <a:xfrm>
            <a:off x="9629123" y="7885708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5834714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4" name="图片 3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7001773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6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8" name="图片 7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60462081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1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61561857"/>
      </p:ext>
    </p:extLst>
  </p:cSld>
  <p:clrMapOvr>
    <a:masterClrMapping/>
  </p:clrMapOvr>
  <p:transition spd="med"/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2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24752088"/>
      </p:ext>
    </p:extLst>
  </p:cSld>
  <p:clrMapOvr>
    <a:masterClrMapping/>
  </p:clrMapOvr>
  <p:transition spd="med"/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无标题_纯白_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6" name="标题 5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48382897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内页深色渐变-Logo右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幻灯片 16_9 25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 userDrawn="1"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cxnSp>
        <p:nvCxnSpPr>
          <p:cNvPr id="8" name="直线连接符 1"/>
          <p:cNvCxnSpPr/>
          <p:nvPr userDrawn="1">
            <p:custDataLst>
              <p:tags r:id="rId2"/>
            </p:custDataLst>
          </p:nvPr>
        </p:nvCxnSpPr>
        <p:spPr>
          <a:xfrm>
            <a:off x="526415" y="31369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华锐研究所LOGO标准组合-横版中英文（文字反白）" hidden="1"/>
          <p:cNvPicPr>
            <a:picLocks noChangeAspect="1"/>
          </p:cNvPicPr>
          <p:nvPr userDrawn="1"/>
        </p:nvPicPr>
        <p:blipFill>
          <a:blip r:embed="rId6" cstate="screen"/>
          <a:stretch>
            <a:fillRect/>
          </a:stretch>
        </p:blipFill>
        <p:spPr>
          <a:xfrm>
            <a:off x="10679464" y="319405"/>
            <a:ext cx="1273703" cy="244800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3776781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封面">
    <p:bg>
      <p:bgPr>
        <a:gradFill>
          <a:gsLst>
            <a:gs pos="0">
              <a:srgbClr val="285382"/>
            </a:gs>
            <a:gs pos="68000">
              <a:srgbClr val="072448"/>
            </a:gs>
          </a:gsLst>
          <a:lin ang="33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838869" y="600356"/>
            <a:ext cx="1603465" cy="3375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568682669"/>
      </p:ext>
    </p:extLst>
  </p:cSld>
  <p:clrMapOvr>
    <a:masterClrMapping/>
  </p:clrMapOvr>
  <p:transition spd="med"/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形状 14"/>
          <p:cNvSpPr/>
          <p:nvPr>
            <p:custDataLst>
              <p:tags r:id="rId1"/>
            </p:custDataLst>
          </p:nvPr>
        </p:nvSpPr>
        <p:spPr>
          <a:xfrm>
            <a:off x="1" y="1"/>
            <a:ext cx="4362405" cy="6858000"/>
          </a:xfrm>
          <a:custGeom>
            <a:avLst/>
            <a:gdLst>
              <a:gd name="connsiteX0" fmla="*/ 0 w 8724808"/>
              <a:gd name="connsiteY0" fmla="*/ 0 h 13716000"/>
              <a:gd name="connsiteX1" fmla="*/ 7113954 w 8724808"/>
              <a:gd name="connsiteY1" fmla="*/ 0 h 13716000"/>
              <a:gd name="connsiteX2" fmla="*/ 7228935 w 8724808"/>
              <a:gd name="connsiteY2" fmla="*/ 219261 h 13716000"/>
              <a:gd name="connsiteX3" fmla="*/ 8724808 w 8724808"/>
              <a:gd name="connsiteY3" fmla="*/ 6858000 h 13716000"/>
              <a:gd name="connsiteX4" fmla="*/ 7228935 w 8724808"/>
              <a:gd name="connsiteY4" fmla="*/ 13496738 h 13716000"/>
              <a:gd name="connsiteX5" fmla="*/ 7113953 w 8724808"/>
              <a:gd name="connsiteY5" fmla="*/ 13716000 h 13716000"/>
              <a:gd name="connsiteX6" fmla="*/ 0 w 8724808"/>
              <a:gd name="connsiteY6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724808" h="13716000">
                <a:moveTo>
                  <a:pt x="0" y="0"/>
                </a:moveTo>
                <a:lnTo>
                  <a:pt x="7113954" y="0"/>
                </a:lnTo>
                <a:lnTo>
                  <a:pt x="7228935" y="219261"/>
                </a:lnTo>
                <a:cubicBezTo>
                  <a:pt x="8169676" y="2081760"/>
                  <a:pt x="8724808" y="4376269"/>
                  <a:pt x="8724808" y="6858000"/>
                </a:cubicBezTo>
                <a:cubicBezTo>
                  <a:pt x="8724808" y="9339731"/>
                  <a:pt x="8169676" y="11634239"/>
                  <a:pt x="7228935" y="13496738"/>
                </a:cubicBezTo>
                <a:lnTo>
                  <a:pt x="7113953" y="13716000"/>
                </a:lnTo>
                <a:lnTo>
                  <a:pt x="0" y="13716000"/>
                </a:lnTo>
                <a:close/>
              </a:path>
            </a:pathLst>
          </a:custGeom>
          <a:gradFill>
            <a:gsLst>
              <a:gs pos="0">
                <a:srgbClr val="2D477A"/>
              </a:gs>
              <a:gs pos="99000">
                <a:srgbClr val="042B5C"/>
              </a:gs>
            </a:gsLst>
            <a:lin ang="2700000" scaled="0"/>
          </a:gra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fromWordArt="0" anchor="ctr" anchorCtr="0" forceAA="0" compatLnSpc="1">
            <a:noAutofit/>
          </a:bodyPr>
          <a:lstStyle/>
          <a:p>
            <a:pPr defTabSz="412750"/>
            <a:endParaRPr lang="zh-CN" altLang="en-US" sz="1600" b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  <a:cs typeface="+mn-cs"/>
              <a:sym typeface="Arial" panose="02000503000000020004"/>
            </a:endParaRPr>
          </a:p>
        </p:txBody>
      </p:sp>
      <p:grpSp>
        <p:nvGrpSpPr>
          <p:cNvPr id="22" name="组合 21"/>
          <p:cNvGrpSpPr/>
          <p:nvPr/>
        </p:nvGrpSpPr>
        <p:grpSpPr>
          <a:xfrm>
            <a:off x="1108710" y="2403475"/>
            <a:ext cx="2145030" cy="1264920"/>
            <a:chOff x="1742" y="4076"/>
            <a:chExt cx="3378" cy="1992"/>
          </a:xfrm>
        </p:grpSpPr>
        <p:sp>
          <p:nvSpPr>
            <p:cNvPr id="2" name="îŝ1íḓe"/>
            <p:cNvSpPr/>
            <p:nvPr/>
          </p:nvSpPr>
          <p:spPr>
            <a:xfrm>
              <a:off x="1742" y="4076"/>
              <a:ext cx="3378" cy="1284"/>
            </a:xfrm>
            <a:prstGeom prst="rect">
              <a:avLst/>
            </a:prstGeom>
          </p:spPr>
          <p:txBody>
            <a:bodyPr wrap="square" lIns="91441" tIns="45720" rIns="91441" bIns="45720" anchor="ctr">
              <a:noAutofit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defTabSz="914400">
                <a:defRPr/>
              </a:pPr>
              <a:r>
                <a:rPr lang="zh-CN" altLang="en-US" sz="6000" dirty="0">
                  <a:solidFill>
                    <a:srgbClr val="FFFFFF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黑体" panose="02010609060101010101" pitchFamily="49" charset="-122"/>
                  <a:ea typeface="黑体" panose="02010609060101010101" pitchFamily="49" charset="-122"/>
                  <a:cs typeface="微软雅黑" panose="020B0503020204020204" pitchFamily="34" charset="-122"/>
                </a:rPr>
                <a:t>目录</a:t>
              </a:r>
            </a:p>
          </p:txBody>
        </p:sp>
        <p:sp>
          <p:nvSpPr>
            <p:cNvPr id="24" name="矩形 29"/>
            <p:cNvSpPr txBox="1"/>
            <p:nvPr/>
          </p:nvSpPr>
          <p:spPr>
            <a:xfrm>
              <a:off x="1954" y="5440"/>
              <a:ext cx="2648" cy="628"/>
            </a:xfrm>
            <a:prstGeom prst="rect">
              <a:avLst/>
            </a:prstGeom>
            <a:ln w="12700">
              <a:miter lim="400000"/>
            </a:ln>
          </p:spPr>
          <p:txBody>
            <a:bodyPr wrap="square" lIns="45720" rIns="45720">
              <a:spAutoFit/>
            </a:bodyPr>
            <a:lstStyle>
              <a:lvl1pPr>
                <a:defRPr sz="1600">
                  <a:solidFill>
                    <a:srgbClr val="1B2F48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</a:lstStyle>
            <a:p>
              <a:pPr algn="l"/>
              <a:r>
                <a:rPr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CONTENT</a:t>
              </a:r>
              <a:r>
                <a:rPr lang="en-US"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S</a:t>
              </a:r>
            </a:p>
          </p:txBody>
        </p:sp>
      </p:grpSp>
      <p:pic>
        <p:nvPicPr>
          <p:cNvPr id="8" name="图片 7" descr="组 12"/>
          <p:cNvPicPr>
            <a:picLocks noChangeAspect="1"/>
          </p:cNvPicPr>
          <p:nvPr/>
        </p:nvPicPr>
        <p:blipFill>
          <a:blip r:embed="rId3">
            <a:alphaModFix amt="8000"/>
          </a:blip>
          <a:stretch>
            <a:fillRect/>
          </a:stretch>
        </p:blipFill>
        <p:spPr>
          <a:xfrm>
            <a:off x="336550" y="4083685"/>
            <a:ext cx="3495040" cy="1967230"/>
          </a:xfrm>
          <a:prstGeom prst="rect">
            <a:avLst/>
          </a:prstGeom>
          <a:effectLst>
            <a:reflection blurRad="6350" stA="70000" endA="300" endPos="55000" dist="1143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586790935"/>
      </p:ext>
    </p:extLst>
  </p:cSld>
  <p:clrMapOvr>
    <a:masterClrMapping/>
  </p:clrMapOvr>
  <p:transition spd="med"/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无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标题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sp>
        <p:nvSpPr>
          <p:cNvPr id="6" name="文本占位符 5"/>
          <p:cNvSpPr>
            <a:spLocks noGrp="1"/>
          </p:cNvSpPr>
          <p:nvPr>
            <p:ph type="body" idx="10"/>
            <p:custDataLst>
              <p:tags r:id="rId2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12934349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361153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7" name="图片 6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32369995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白-右上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rgbClr val="203864"/>
                </a:solidFill>
                <a:effectLst/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7731233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白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idx="10"/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cxnSp>
        <p:nvCxnSpPr>
          <p:cNvPr id="6" name="直线连接符 1"/>
          <p:cNvCxnSpPr/>
          <p:nvPr>
            <p:custDataLst>
              <p:tags r:id="rId1"/>
            </p:custDataLst>
          </p:nvPr>
        </p:nvCxnSpPr>
        <p:spPr>
          <a:xfrm>
            <a:off x="526431" y="331292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091763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色内页（旧版兼容）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13755092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中文标题_纯色内页_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7163638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>
          <a:xfrm>
            <a:off x="1363523" y="7885708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  <a:t>2026/4/29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>
          <a:xfrm>
            <a:off x="4867523" y="7885708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>
          <a:xfrm>
            <a:off x="9629123" y="7885708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0198414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4" name="图片 3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3382104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6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8" name="图片 7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80912944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1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71612350"/>
      </p:ext>
    </p:extLst>
  </p:cSld>
  <p:clrMapOvr>
    <a:masterClrMapping/>
  </p:clrMapOvr>
  <p:transition spd="med"/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2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0517382"/>
      </p:ext>
    </p:extLst>
  </p:cSld>
  <p:clrMapOvr>
    <a:masterClrMapping/>
  </p:clrMapOvr>
  <p:transition spd="med"/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无标题_纯白_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6" name="标题 5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29753673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295483"/>
              </a:gs>
              <a:gs pos="68000">
                <a:srgbClr val="072448"/>
              </a:gs>
            </a:gsLst>
            <a:lin ang="3300000" scaled="0"/>
          </a:gradFill>
          <a:ln w="25400" cap="flat">
            <a:noFill/>
            <a:prstDash val="solid"/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6800" tIns="45719" rIns="45719" bIns="45719" numCol="1" spcCol="38100" rtlCol="0" anchor="ctr">
            <a:no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黑体" panose="02010609060101010101" pitchFamily="49" charset="-122"/>
              <a:ea typeface="黑体" panose="02010609060101010101" pitchFamily="49" charset="-122"/>
              <a:cs typeface="+mn-cs"/>
              <a:sym typeface="Arial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838869" y="600356"/>
            <a:ext cx="1603465" cy="3375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31440416"/>
      </p:ext>
    </p:extLst>
  </p:cSld>
  <p:clrMapOvr>
    <a:masterClrMapping/>
  </p:clrMapOvr>
  <p:transition spd="med"/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任意形状 14"/>
          <p:cNvSpPr/>
          <p:nvPr/>
        </p:nvSpPr>
        <p:spPr>
          <a:xfrm>
            <a:off x="1" y="1"/>
            <a:ext cx="4362405" cy="6858000"/>
          </a:xfrm>
          <a:custGeom>
            <a:avLst/>
            <a:gdLst>
              <a:gd name="connsiteX0" fmla="*/ 0 w 8724808"/>
              <a:gd name="connsiteY0" fmla="*/ 0 h 13716000"/>
              <a:gd name="connsiteX1" fmla="*/ 7113954 w 8724808"/>
              <a:gd name="connsiteY1" fmla="*/ 0 h 13716000"/>
              <a:gd name="connsiteX2" fmla="*/ 7228935 w 8724808"/>
              <a:gd name="connsiteY2" fmla="*/ 219261 h 13716000"/>
              <a:gd name="connsiteX3" fmla="*/ 8724808 w 8724808"/>
              <a:gd name="connsiteY3" fmla="*/ 6858000 h 13716000"/>
              <a:gd name="connsiteX4" fmla="*/ 7228935 w 8724808"/>
              <a:gd name="connsiteY4" fmla="*/ 13496738 h 13716000"/>
              <a:gd name="connsiteX5" fmla="*/ 7113953 w 8724808"/>
              <a:gd name="connsiteY5" fmla="*/ 13716000 h 13716000"/>
              <a:gd name="connsiteX6" fmla="*/ 0 w 8724808"/>
              <a:gd name="connsiteY6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724808" h="13716000">
                <a:moveTo>
                  <a:pt x="0" y="0"/>
                </a:moveTo>
                <a:lnTo>
                  <a:pt x="7113954" y="0"/>
                </a:lnTo>
                <a:lnTo>
                  <a:pt x="7228935" y="219261"/>
                </a:lnTo>
                <a:cubicBezTo>
                  <a:pt x="8169676" y="2081760"/>
                  <a:pt x="8724808" y="4376269"/>
                  <a:pt x="8724808" y="6858000"/>
                </a:cubicBezTo>
                <a:cubicBezTo>
                  <a:pt x="8724808" y="9339731"/>
                  <a:pt x="8169676" y="11634239"/>
                  <a:pt x="7228935" y="13496738"/>
                </a:cubicBezTo>
                <a:lnTo>
                  <a:pt x="7113953" y="13716000"/>
                </a:lnTo>
                <a:lnTo>
                  <a:pt x="0" y="13716000"/>
                </a:lnTo>
                <a:close/>
              </a:path>
            </a:pathLst>
          </a:custGeom>
          <a:gradFill>
            <a:gsLst>
              <a:gs pos="0">
                <a:srgbClr val="2D477A"/>
              </a:gs>
              <a:gs pos="99000">
                <a:srgbClr val="042B5C"/>
              </a:gs>
            </a:gsLst>
            <a:lin ang="2700000" scaled="0"/>
          </a:gra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fromWordArt="0" anchor="ctr" anchorCtr="0" forceAA="0" compatLnSpc="1">
            <a:noAutofit/>
          </a:bodyPr>
          <a:lstStyle/>
          <a:p>
            <a:pPr defTabSz="412750"/>
            <a:endParaRPr lang="zh-CN" altLang="en-US" sz="1600" b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  <a:cs typeface="+mn-cs"/>
              <a:sym typeface="Arial" panose="02000503000000020004"/>
            </a:endParaRPr>
          </a:p>
        </p:txBody>
      </p:sp>
      <p:grpSp>
        <p:nvGrpSpPr>
          <p:cNvPr id="22" name="组合 21"/>
          <p:cNvGrpSpPr/>
          <p:nvPr/>
        </p:nvGrpSpPr>
        <p:grpSpPr>
          <a:xfrm>
            <a:off x="1108710" y="2403475"/>
            <a:ext cx="2145030" cy="1264920"/>
            <a:chOff x="1742" y="4076"/>
            <a:chExt cx="3378" cy="1992"/>
          </a:xfrm>
        </p:grpSpPr>
        <p:sp>
          <p:nvSpPr>
            <p:cNvPr id="2" name="îŝ1íḓe"/>
            <p:cNvSpPr/>
            <p:nvPr/>
          </p:nvSpPr>
          <p:spPr>
            <a:xfrm>
              <a:off x="1742" y="4076"/>
              <a:ext cx="3378" cy="1284"/>
            </a:xfrm>
            <a:prstGeom prst="rect">
              <a:avLst/>
            </a:prstGeom>
          </p:spPr>
          <p:txBody>
            <a:bodyPr wrap="square" lIns="91441" tIns="45720" rIns="91441" bIns="45720" anchor="ctr">
              <a:noAutofit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defTabSz="914400">
                <a:defRPr/>
              </a:pPr>
              <a:r>
                <a:rPr lang="zh-CN" altLang="en-US" sz="6000" dirty="0">
                  <a:solidFill>
                    <a:srgbClr val="FFFFFF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黑体" panose="02010609060101010101" pitchFamily="49" charset="-122"/>
                  <a:ea typeface="黑体" panose="02010609060101010101" pitchFamily="49" charset="-122"/>
                  <a:cs typeface="微软雅黑" panose="020B0503020204020204" pitchFamily="34" charset="-122"/>
                </a:rPr>
                <a:t>目录</a:t>
              </a:r>
            </a:p>
          </p:txBody>
        </p:sp>
        <p:sp>
          <p:nvSpPr>
            <p:cNvPr id="24" name="矩形 29"/>
            <p:cNvSpPr txBox="1"/>
            <p:nvPr/>
          </p:nvSpPr>
          <p:spPr>
            <a:xfrm>
              <a:off x="1954" y="5440"/>
              <a:ext cx="2648" cy="628"/>
            </a:xfrm>
            <a:prstGeom prst="rect">
              <a:avLst/>
            </a:prstGeom>
            <a:ln w="12700">
              <a:miter lim="400000"/>
            </a:ln>
          </p:spPr>
          <p:txBody>
            <a:bodyPr wrap="square" lIns="45720" rIns="45720">
              <a:spAutoFit/>
            </a:bodyPr>
            <a:lstStyle>
              <a:lvl1pPr>
                <a:defRPr sz="1600">
                  <a:solidFill>
                    <a:srgbClr val="1B2F48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</a:lstStyle>
            <a:p>
              <a:pPr algn="l"/>
              <a:r>
                <a:rPr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Calibri" panose="020B0502030000000004" pitchFamily="34" charset="0"/>
                  <a:ea typeface="Calibri" panose="020B0502030000000004" pitchFamily="34" charset="0"/>
                </a:rPr>
                <a:t>CONTENT</a:t>
              </a:r>
              <a:r>
                <a:rPr lang="en-US"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Calibri" panose="020B0502030000000004" pitchFamily="34" charset="0"/>
                  <a:ea typeface="Calibri" panose="020B0502030000000004" pitchFamily="34" charset="0"/>
                </a:rPr>
                <a:t>S</a:t>
              </a:r>
            </a:p>
          </p:txBody>
        </p:sp>
      </p:grpSp>
      <p:pic>
        <p:nvPicPr>
          <p:cNvPr id="8" name="图片 7" descr="组 12"/>
          <p:cNvPicPr>
            <a:picLocks noChangeAspect="1"/>
          </p:cNvPicPr>
          <p:nvPr/>
        </p:nvPicPr>
        <p:blipFill>
          <a:blip r:embed="rId2" cstate="screen">
            <a:alphaModFix amt="8000"/>
          </a:blip>
          <a:stretch>
            <a:fillRect/>
          </a:stretch>
        </p:blipFill>
        <p:spPr>
          <a:xfrm>
            <a:off x="336550" y="4083685"/>
            <a:ext cx="3495040" cy="1967230"/>
          </a:xfrm>
          <a:prstGeom prst="rect">
            <a:avLst/>
          </a:prstGeom>
          <a:effectLst>
            <a:reflection blurRad="6350" stA="70000" endA="300" endPos="55000" dist="1143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292217392"/>
      </p:ext>
    </p:extLst>
  </p:cSld>
  <p:clrMapOvr>
    <a:masterClrMapping/>
  </p:clrMapOvr>
  <p:transition spd="med"/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色内页（旧版兼容）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10303211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色内页（加深）-右上Logo">
    <p:bg>
      <p:bgPr>
        <a:solidFill>
          <a:srgbClr val="0A2B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58685345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23450288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渐变内页-右下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E49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640334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51891335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内页深色渐变-Logo右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幻灯片 16_9 25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84243143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蓝黑中央渐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3" descr="图片 3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12700">
            <a:miter lim="400000"/>
            <a:headEnd/>
            <a:tailEnd/>
          </a:ln>
        </p:spPr>
      </p:pic>
      <p:sp>
        <p:nvSpPr>
          <p:cNvPr id="2" name="Rounded Rectangle 20"/>
          <p:cNvSpPr/>
          <p:nvPr>
            <p:custDataLst>
              <p:tags r:id="rId1"/>
            </p:custDataLst>
          </p:nvPr>
        </p:nvSpPr>
        <p:spPr>
          <a:xfrm>
            <a:off x="12332208" y="2000440"/>
            <a:ext cx="1080135" cy="359410"/>
          </a:xfrm>
          <a:prstGeom prst="rect">
            <a:avLst/>
          </a:prstGeom>
          <a:solidFill>
            <a:srgbClr val="2D9D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Rounded Rectangle 21"/>
          <p:cNvSpPr/>
          <p:nvPr>
            <p:custDataLst>
              <p:tags r:id="rId2"/>
            </p:custDataLst>
          </p:nvPr>
        </p:nvSpPr>
        <p:spPr>
          <a:xfrm>
            <a:off x="13527962" y="6500685"/>
            <a:ext cx="1080135" cy="35941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Rounded Rectangle 22"/>
          <p:cNvSpPr/>
          <p:nvPr>
            <p:custDataLst>
              <p:tags r:id="rId3"/>
            </p:custDataLst>
          </p:nvPr>
        </p:nvSpPr>
        <p:spPr>
          <a:xfrm>
            <a:off x="12332208" y="2499550"/>
            <a:ext cx="1080135" cy="359410"/>
          </a:xfrm>
          <a:prstGeom prst="rect">
            <a:avLst/>
          </a:prstGeom>
          <a:solidFill>
            <a:srgbClr val="0B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Rounded Rectangle 23"/>
          <p:cNvSpPr/>
          <p:nvPr>
            <p:custDataLst>
              <p:tags r:id="rId4"/>
            </p:custDataLst>
          </p:nvPr>
        </p:nvSpPr>
        <p:spPr>
          <a:xfrm>
            <a:off x="12332208" y="5003355"/>
            <a:ext cx="1080135" cy="359410"/>
          </a:xfrm>
          <a:prstGeom prst="rect">
            <a:avLst/>
          </a:prstGeom>
          <a:solidFill>
            <a:srgbClr val="2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Rounded Rectangle 21"/>
          <p:cNvSpPr/>
          <p:nvPr>
            <p:custDataLst>
              <p:tags r:id="rId5"/>
            </p:custDataLst>
          </p:nvPr>
        </p:nvSpPr>
        <p:spPr>
          <a:xfrm>
            <a:off x="12332208" y="2998025"/>
            <a:ext cx="1080135" cy="359410"/>
          </a:xfrm>
          <a:prstGeom prst="rect">
            <a:avLst/>
          </a:prstGeom>
          <a:solidFill>
            <a:srgbClr val="FFA20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Rounded Rectangle 21"/>
          <p:cNvSpPr/>
          <p:nvPr>
            <p:custDataLst>
              <p:tags r:id="rId6"/>
            </p:custDataLst>
          </p:nvPr>
        </p:nvSpPr>
        <p:spPr>
          <a:xfrm>
            <a:off x="12332208" y="6500685"/>
            <a:ext cx="1080135" cy="35941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2332208" y="5502465"/>
            <a:ext cx="1080135" cy="359410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12332208" y="6999795"/>
            <a:ext cx="1080135" cy="359410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12332208" y="4504245"/>
            <a:ext cx="1080135" cy="359410"/>
          </a:xfrm>
          <a:prstGeom prst="rect">
            <a:avLst/>
          </a:prstGeom>
          <a:solidFill>
            <a:srgbClr val="53DFB6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2332208" y="3497135"/>
            <a:ext cx="1080135" cy="359410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12332208" y="4000690"/>
            <a:ext cx="1080135" cy="360045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332208" y="6001575"/>
            <a:ext cx="1080135" cy="359410"/>
          </a:xfrm>
          <a:prstGeom prst="rect">
            <a:avLst/>
          </a:prstGeom>
          <a:solidFill>
            <a:srgbClr val="FF89A2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3527962" y="6001575"/>
            <a:ext cx="1080135" cy="359410"/>
          </a:xfrm>
          <a:prstGeom prst="rect">
            <a:avLst/>
          </a:prstGeom>
          <a:solidFill>
            <a:srgbClr val="8F7FE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8" name="Rounded Rectangle 22"/>
          <p:cNvSpPr/>
          <p:nvPr>
            <p:custDataLst>
              <p:tags r:id="rId7"/>
            </p:custDataLst>
          </p:nvPr>
        </p:nvSpPr>
        <p:spPr>
          <a:xfrm>
            <a:off x="12332208" y="1496885"/>
            <a:ext cx="1080135" cy="359410"/>
          </a:xfrm>
          <a:prstGeom prst="rect">
            <a:avLst/>
          </a:prstGeom>
          <a:solidFill>
            <a:srgbClr val="16388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Rounded Rectangle 22"/>
          <p:cNvSpPr/>
          <p:nvPr>
            <p:custDataLst>
              <p:tags r:id="rId8"/>
            </p:custDataLst>
          </p:nvPr>
        </p:nvSpPr>
        <p:spPr>
          <a:xfrm>
            <a:off x="12332208" y="1001585"/>
            <a:ext cx="1080135" cy="359410"/>
          </a:xfrm>
          <a:prstGeom prst="rect">
            <a:avLst/>
          </a:prstGeom>
          <a:solidFill>
            <a:srgbClr val="0F255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Rounded Rectangle 22"/>
          <p:cNvSpPr/>
          <p:nvPr>
            <p:custDataLst>
              <p:tags r:id="rId9"/>
            </p:custDataLst>
          </p:nvPr>
        </p:nvSpPr>
        <p:spPr>
          <a:xfrm>
            <a:off x="12332208" y="506285"/>
            <a:ext cx="1080135" cy="359410"/>
          </a:xfrm>
          <a:prstGeom prst="rect">
            <a:avLst/>
          </a:prstGeom>
          <a:solidFill>
            <a:srgbClr val="17365B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990218128"/>
      </p:ext>
    </p:extLst>
  </p:cSld>
  <p:clrMapOvr>
    <a:masterClrMapping/>
  </p:clrMapOvr>
  <p:transition spd="med"/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白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557323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白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94034" y="309679"/>
            <a:ext cx="1192531" cy="251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0026688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白-右下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94034" y="6426660"/>
            <a:ext cx="1192531" cy="251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585999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白-左下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358543" y="6426660"/>
            <a:ext cx="1192531" cy="251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21268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  <a:t>2026/4/29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18911894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43260515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1_节标题">
    <p:bg>
      <p:bgPr>
        <a:gradFill>
          <a:gsLst>
            <a:gs pos="10000">
              <a:srgbClr val="093676"/>
            </a:gs>
            <a:gs pos="100000">
              <a:srgbClr val="152360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ubtitle 2"/>
          <p:cNvSpPr>
            <a:spLocks noGrp="1"/>
          </p:cNvSpPr>
          <p:nvPr>
            <p:ph type="subTitle" idx="1"/>
          </p:nvPr>
        </p:nvSpPr>
        <p:spPr>
          <a:xfrm>
            <a:off x="58755" y="98499"/>
            <a:ext cx="12074489" cy="522004"/>
          </a:xfrm>
        </p:spPr>
        <p:txBody>
          <a:bodyPr vert="horz" lIns="91440" tIns="45720" rIns="91440" bIns="45720" rtlCol="0" anchor="ctr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90000"/>
              </a:lnSpc>
              <a:buNone/>
              <a:defRPr kumimoji="0" lang="en-US" sz="2800" b="1" i="0" u="none" strike="noStrike" kern="1200" cap="none" spc="0" normalizeH="0" baseline="0" noProof="1" smtClean="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j-cs"/>
                <a:sym typeface="+mn-ea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subtitle style</a:t>
            </a:r>
            <a:endParaRPr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01836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000"/>
    </mc:Choice>
    <mc:Fallback xmlns="">
      <p:transition spd="slow" advTm="15000"/>
    </mc:Fallback>
  </mc:AlternateContent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色内页-右上Logo">
    <p:bg>
      <p:bgPr>
        <a:blipFill rotWithShape="1">
          <a:blip r:embed="rId4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2435979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色内页_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pic>
        <p:nvPicPr>
          <p:cNvPr id="6" name="图片 5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0675"/>
            <a:ext cx="1155065" cy="243205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3346683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533D3FF9-6580-481B-BB0F-299469E2D7BA}" type="datetime1">
              <a:rPr lang="zh-TW" altLang="en-US" smtClean="0"/>
              <a:t>2026/4/29</a:t>
            </a:fld>
            <a:endParaRPr lang="zh-TW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D443E713-C768-4BB8-A4CE-C96AFF4B35DA}" type="slidenum">
              <a:rPr lang="zh-TW" altLang="en-US" smtClean="0"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30929660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中文标题_深色内页">
    <p:bg>
      <p:bgPr>
        <a:solidFill>
          <a:srgbClr val="0425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幻灯片 16_9 25"/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349250" y="252000"/>
            <a:ext cx="10076180" cy="521970"/>
          </a:xfrm>
        </p:spPr>
        <p:txBody>
          <a:bodyPr anchor="ctr" anchorCtr="0"/>
          <a:lstStyle>
            <a:lvl1pPr algn="l"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3599" y="215343"/>
            <a:ext cx="1321412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965886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中文标题_纯色内页_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幻灯片 16_9 25"/>
          <p:cNvPicPr>
            <a:picLocks noChangeAspect="1"/>
          </p:cNvPicPr>
          <p:nvPr/>
        </p:nvPicPr>
        <p:blipFill>
          <a:blip r:embed="rId4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117192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内页深色渐变-Logo右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幻灯片 16_9 25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 userDrawn="1"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cxnSp>
        <p:nvCxnSpPr>
          <p:cNvPr id="8" name="直线连接符 1"/>
          <p:cNvCxnSpPr/>
          <p:nvPr userDrawn="1">
            <p:custDataLst>
              <p:tags r:id="rId2"/>
            </p:custDataLst>
          </p:nvPr>
        </p:nvCxnSpPr>
        <p:spPr>
          <a:xfrm>
            <a:off x="526415" y="31369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华锐研究所LOGO标准组合-横版中英文（文字反白）" hidden="1"/>
          <p:cNvPicPr>
            <a:picLocks noChangeAspect="1"/>
          </p:cNvPicPr>
          <p:nvPr userDrawn="1"/>
        </p:nvPicPr>
        <p:blipFill>
          <a:blip r:embed="rId6" cstate="screen"/>
          <a:stretch>
            <a:fillRect/>
          </a:stretch>
        </p:blipFill>
        <p:spPr>
          <a:xfrm>
            <a:off x="10679464" y="319405"/>
            <a:ext cx="1273703" cy="244800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1590184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封面">
    <p:bg>
      <p:bgPr>
        <a:gradFill>
          <a:gsLst>
            <a:gs pos="0">
              <a:srgbClr val="285382"/>
            </a:gs>
            <a:gs pos="68000">
              <a:srgbClr val="072448"/>
            </a:gs>
          </a:gsLst>
          <a:lin ang="33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838869" y="600356"/>
            <a:ext cx="1603465" cy="3375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97523252"/>
      </p:ext>
    </p:extLst>
  </p:cSld>
  <p:clrMapOvr>
    <a:masterClrMapping/>
  </p:clrMapOvr>
  <p:transition spd="med"/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形状 14"/>
          <p:cNvSpPr/>
          <p:nvPr>
            <p:custDataLst>
              <p:tags r:id="rId1"/>
            </p:custDataLst>
          </p:nvPr>
        </p:nvSpPr>
        <p:spPr>
          <a:xfrm>
            <a:off x="1" y="1"/>
            <a:ext cx="4362405" cy="6858000"/>
          </a:xfrm>
          <a:custGeom>
            <a:avLst/>
            <a:gdLst>
              <a:gd name="connsiteX0" fmla="*/ 0 w 8724808"/>
              <a:gd name="connsiteY0" fmla="*/ 0 h 13716000"/>
              <a:gd name="connsiteX1" fmla="*/ 7113954 w 8724808"/>
              <a:gd name="connsiteY1" fmla="*/ 0 h 13716000"/>
              <a:gd name="connsiteX2" fmla="*/ 7228935 w 8724808"/>
              <a:gd name="connsiteY2" fmla="*/ 219261 h 13716000"/>
              <a:gd name="connsiteX3" fmla="*/ 8724808 w 8724808"/>
              <a:gd name="connsiteY3" fmla="*/ 6858000 h 13716000"/>
              <a:gd name="connsiteX4" fmla="*/ 7228935 w 8724808"/>
              <a:gd name="connsiteY4" fmla="*/ 13496738 h 13716000"/>
              <a:gd name="connsiteX5" fmla="*/ 7113953 w 8724808"/>
              <a:gd name="connsiteY5" fmla="*/ 13716000 h 13716000"/>
              <a:gd name="connsiteX6" fmla="*/ 0 w 8724808"/>
              <a:gd name="connsiteY6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724808" h="13716000">
                <a:moveTo>
                  <a:pt x="0" y="0"/>
                </a:moveTo>
                <a:lnTo>
                  <a:pt x="7113954" y="0"/>
                </a:lnTo>
                <a:lnTo>
                  <a:pt x="7228935" y="219261"/>
                </a:lnTo>
                <a:cubicBezTo>
                  <a:pt x="8169676" y="2081760"/>
                  <a:pt x="8724808" y="4376269"/>
                  <a:pt x="8724808" y="6858000"/>
                </a:cubicBezTo>
                <a:cubicBezTo>
                  <a:pt x="8724808" y="9339731"/>
                  <a:pt x="8169676" y="11634239"/>
                  <a:pt x="7228935" y="13496738"/>
                </a:cubicBezTo>
                <a:lnTo>
                  <a:pt x="7113953" y="13716000"/>
                </a:lnTo>
                <a:lnTo>
                  <a:pt x="0" y="13716000"/>
                </a:lnTo>
                <a:close/>
              </a:path>
            </a:pathLst>
          </a:custGeom>
          <a:gradFill>
            <a:gsLst>
              <a:gs pos="0">
                <a:srgbClr val="2D477A"/>
              </a:gs>
              <a:gs pos="99000">
                <a:srgbClr val="042B5C"/>
              </a:gs>
            </a:gsLst>
            <a:lin ang="2700000" scaled="0"/>
          </a:gra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0" tIns="0" rIns="0" bIns="0" numCol="1" spcCol="38100" rtlCol="0" fromWordArt="0" anchor="ctr" anchorCtr="0" forceAA="0" compatLnSpc="1">
            <a:noAutofit/>
          </a:bodyPr>
          <a:lstStyle/>
          <a:p>
            <a:pPr defTabSz="412750"/>
            <a:endParaRPr lang="zh-CN" altLang="en-US" sz="1600" b="0">
              <a:solidFill>
                <a:srgbClr val="FFFFFF"/>
              </a:solidFill>
              <a:latin typeface="黑体" panose="02010609060101010101" pitchFamily="49" charset="-122"/>
              <a:ea typeface="黑体" panose="02010609060101010101" pitchFamily="49" charset="-122"/>
              <a:cs typeface="+mn-cs"/>
              <a:sym typeface="Arial" panose="02000503000000020004"/>
            </a:endParaRPr>
          </a:p>
        </p:txBody>
      </p:sp>
      <p:grpSp>
        <p:nvGrpSpPr>
          <p:cNvPr id="22" name="组合 21"/>
          <p:cNvGrpSpPr/>
          <p:nvPr/>
        </p:nvGrpSpPr>
        <p:grpSpPr>
          <a:xfrm>
            <a:off x="1108710" y="2403475"/>
            <a:ext cx="2145030" cy="1264920"/>
            <a:chOff x="1742" y="4076"/>
            <a:chExt cx="3378" cy="1992"/>
          </a:xfrm>
        </p:grpSpPr>
        <p:sp>
          <p:nvSpPr>
            <p:cNvPr id="2" name="îŝ1íḓe"/>
            <p:cNvSpPr/>
            <p:nvPr/>
          </p:nvSpPr>
          <p:spPr>
            <a:xfrm>
              <a:off x="1742" y="4076"/>
              <a:ext cx="3378" cy="1284"/>
            </a:xfrm>
            <a:prstGeom prst="rect">
              <a:avLst/>
            </a:prstGeom>
          </p:spPr>
          <p:txBody>
            <a:bodyPr wrap="square" lIns="91441" tIns="45720" rIns="91441" bIns="45720" anchor="ctr">
              <a:noAutofit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defTabSz="914400">
                <a:defRPr/>
              </a:pPr>
              <a:r>
                <a:rPr lang="zh-CN" altLang="en-US" sz="6000" dirty="0">
                  <a:solidFill>
                    <a:srgbClr val="FFFFFF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黑体" panose="02010609060101010101" pitchFamily="49" charset="-122"/>
                  <a:ea typeface="黑体" panose="02010609060101010101" pitchFamily="49" charset="-122"/>
                  <a:cs typeface="微软雅黑" panose="020B0503020204020204" pitchFamily="34" charset="-122"/>
                </a:rPr>
                <a:t>目录</a:t>
              </a:r>
            </a:p>
          </p:txBody>
        </p:sp>
        <p:sp>
          <p:nvSpPr>
            <p:cNvPr id="24" name="矩形 29"/>
            <p:cNvSpPr txBox="1"/>
            <p:nvPr/>
          </p:nvSpPr>
          <p:spPr>
            <a:xfrm>
              <a:off x="1954" y="5440"/>
              <a:ext cx="2648" cy="628"/>
            </a:xfrm>
            <a:prstGeom prst="rect">
              <a:avLst/>
            </a:prstGeom>
            <a:ln w="12700">
              <a:miter lim="400000"/>
            </a:ln>
          </p:spPr>
          <p:txBody>
            <a:bodyPr wrap="square" lIns="45720" rIns="45720">
              <a:spAutoFit/>
            </a:bodyPr>
            <a:lstStyle>
              <a:lvl1pPr>
                <a:defRPr sz="1600">
                  <a:solidFill>
                    <a:srgbClr val="1B2F48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defRPr>
              </a:lvl1pPr>
            </a:lstStyle>
            <a:p>
              <a:pPr algn="l"/>
              <a:r>
                <a:rPr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CONTENT</a:t>
              </a:r>
              <a:r>
                <a:rPr lang="en-US" sz="2000" b="0" i="0" dirty="0">
                  <a:solidFill>
                    <a:schemeClr val="bg1">
                      <a:alpha val="30000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Arial" panose="020B0604020202020204" pitchFamily="34" charset="0"/>
                  <a:ea typeface="Arial" panose="020B0604020202020204" pitchFamily="34" charset="0"/>
                </a:rPr>
                <a:t>S</a:t>
              </a:r>
            </a:p>
          </p:txBody>
        </p:sp>
      </p:grpSp>
      <p:pic>
        <p:nvPicPr>
          <p:cNvPr id="8" name="图片 7" descr="组 12"/>
          <p:cNvPicPr>
            <a:picLocks noChangeAspect="1"/>
          </p:cNvPicPr>
          <p:nvPr/>
        </p:nvPicPr>
        <p:blipFill>
          <a:blip r:embed="rId3">
            <a:alphaModFix amt="8000"/>
          </a:blip>
          <a:stretch>
            <a:fillRect/>
          </a:stretch>
        </p:blipFill>
        <p:spPr>
          <a:xfrm>
            <a:off x="336550" y="4083685"/>
            <a:ext cx="3495040" cy="1967230"/>
          </a:xfrm>
          <a:prstGeom prst="rect">
            <a:avLst/>
          </a:prstGeom>
          <a:effectLst>
            <a:reflection blurRad="6350" stA="70000" endA="300" endPos="55000" dist="1143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709207934"/>
      </p:ext>
    </p:extLst>
  </p:cSld>
  <p:clrMapOvr>
    <a:masterClrMapping/>
  </p:clrMapOvr>
  <p:transition spd="med"/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无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标题 4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sp>
        <p:nvSpPr>
          <p:cNvPr id="6" name="文本占位符 5"/>
          <p:cNvSpPr>
            <a:spLocks noGrp="1"/>
          </p:cNvSpPr>
          <p:nvPr>
            <p:ph type="body" idx="10"/>
            <p:custDataLst>
              <p:tags r:id="rId2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72215057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3552834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色内页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7" name="图片 6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0499064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标题_纯白-右上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rgbClr val="203864"/>
                </a:solidFill>
                <a:effectLst/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10209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2909448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英文标题_纯白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idx="10"/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cxnSp>
        <p:nvCxnSpPr>
          <p:cNvPr id="6" name="直线连接符 1"/>
          <p:cNvCxnSpPr/>
          <p:nvPr>
            <p:custDataLst>
              <p:tags r:id="rId1"/>
            </p:custDataLst>
          </p:nvPr>
        </p:nvCxnSpPr>
        <p:spPr>
          <a:xfrm>
            <a:off x="526431" y="331292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263056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纯色内页（旧版兼容）-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screen"/>
          <a:stretch>
            <a:fillRect/>
          </a:stretch>
        </p:blipFill>
        <p:spPr>
          <a:xfrm>
            <a:off x="10679430" y="318135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98188319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中文标题_纯色内页_右上Logo">
    <p:bg>
      <p:bgPr>
        <a:solidFill>
          <a:srgbClr val="0D31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4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895" cy="521970"/>
          </a:xfrm>
        </p:spPr>
        <p:txBody>
          <a:bodyPr anchor="ctr" anchorCtr="0"/>
          <a:lstStyle>
            <a:lvl1pPr>
              <a:lnSpc>
                <a:spcPct val="100000"/>
              </a:lnSpc>
              <a:defRPr sz="28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en-US" altLang="zh-CN"/>
              <a:t>Click to edit Master title style</a:t>
            </a:r>
            <a:endParaRPr lang="zh-CN" altLang="en-US" dirty="0"/>
          </a:p>
        </p:txBody>
      </p:sp>
      <p:cxnSp>
        <p:nvCxnSpPr>
          <p:cNvPr id="8" name="直线连接符 1"/>
          <p:cNvCxnSpPr/>
          <p:nvPr>
            <p:custDataLst>
              <p:tags r:id="rId2"/>
            </p:custDataLst>
          </p:nvPr>
        </p:nvCxnSpPr>
        <p:spPr>
          <a:xfrm>
            <a:off x="526415" y="332740"/>
            <a:ext cx="0" cy="404378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4899303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>
          <a:xfrm>
            <a:off x="1363523" y="7885708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  <a:t>2026/4/29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>
          <a:xfrm>
            <a:off x="4867523" y="7885708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>
          <a:xfrm>
            <a:off x="9629123" y="7885708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6361220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pic>
        <p:nvPicPr>
          <p:cNvPr id="4" name="图片 3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2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01332748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渐变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/>
          <p:cNvSpPr/>
          <p:nvPr/>
        </p:nvSpPr>
        <p:spPr>
          <a:xfrm>
            <a:off x="-635" y="0"/>
            <a:ext cx="12192635" cy="6858000"/>
          </a:xfrm>
          <a:prstGeom prst="rect">
            <a:avLst/>
          </a:prstGeom>
          <a:gradFill>
            <a:gsLst>
              <a:gs pos="0">
                <a:srgbClr val="2D50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034A7C"/>
              </a:gs>
              <a:gs pos="100000">
                <a:srgbClr val="020B31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144778"/>
              </a:gs>
              <a:gs pos="100000">
                <a:srgbClr val="071E47"/>
              </a:gs>
            </a:gsLst>
            <a:lin ang="4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6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pic>
        <p:nvPicPr>
          <p:cNvPr id="8" name="图片 7" descr="D:/华锐技术/01 公司品宣/华锐LOGO/华锐LOGO组合方式/华锐技术LOGO标准组合-横版中英文（文字反白）.png华锐技术LOGO标准组合-横版中英文（文字反白）"/>
          <p:cNvPicPr>
            <a:picLocks noChangeAspect="1"/>
          </p:cNvPicPr>
          <p:nvPr/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21310"/>
            <a:ext cx="1155065" cy="243171"/>
          </a:xfrm>
          <a:prstGeom prst="rect">
            <a:avLst/>
          </a:prstGeom>
          <a:effectLst>
            <a:outerShdw blurRad="50800" dist="127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1922410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1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41717541"/>
      </p:ext>
    </p:extLst>
  </p:cSld>
  <p:clrMapOvr>
    <a:masterClrMapping/>
  </p:clrMapOvr>
  <p:transition spd="med"/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2_无标题_纯色内页-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Rounded Rectangle 22"/>
          <p:cNvSpPr/>
          <p:nvPr/>
        </p:nvSpPr>
        <p:spPr>
          <a:xfrm>
            <a:off x="12323199" y="138429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25" name="文本框 39"/>
          <p:cNvSpPr txBox="1"/>
          <p:nvPr/>
        </p:nvSpPr>
        <p:spPr>
          <a:xfrm>
            <a:off x="13206730" y="13842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标题文字</a:t>
            </a:r>
          </a:p>
        </p:txBody>
      </p:sp>
      <p:sp>
        <p:nvSpPr>
          <p:cNvPr id="1226" name="文本框 75"/>
          <p:cNvSpPr txBox="1"/>
          <p:nvPr/>
        </p:nvSpPr>
        <p:spPr>
          <a:xfrm>
            <a:off x="12270104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深色背景</a:t>
            </a:r>
          </a:p>
        </p:txBody>
      </p:sp>
      <p:sp>
        <p:nvSpPr>
          <p:cNvPr id="1227" name="Rounded Rectangle 22"/>
          <p:cNvSpPr/>
          <p:nvPr/>
        </p:nvSpPr>
        <p:spPr>
          <a:xfrm>
            <a:off x="12837159" y="138429"/>
            <a:ext cx="307976" cy="306071"/>
          </a:xfrm>
          <a:prstGeom prst="rect">
            <a:avLst/>
          </a:prstGeom>
          <a:solidFill>
            <a:srgbClr val="28376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28" name="Rounded Rectangle 22"/>
          <p:cNvSpPr/>
          <p:nvPr/>
        </p:nvSpPr>
        <p:spPr>
          <a:xfrm>
            <a:off x="12323199" y="568325"/>
            <a:ext cx="307976" cy="306071"/>
          </a:xfrm>
          <a:prstGeom prst="rect">
            <a:avLst/>
          </a:prstGeom>
          <a:solidFill>
            <a:srgbClr val="FFFFFF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29" name="Rounded Rectangle 22"/>
          <p:cNvSpPr/>
          <p:nvPr/>
        </p:nvSpPr>
        <p:spPr>
          <a:xfrm>
            <a:off x="12837159" y="568325"/>
            <a:ext cx="307976" cy="306071"/>
          </a:xfrm>
          <a:prstGeom prst="rect">
            <a:avLst/>
          </a:prstGeom>
          <a:solidFill>
            <a:srgbClr val="41507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0" name="文本框 79"/>
          <p:cNvSpPr txBox="1"/>
          <p:nvPr/>
        </p:nvSpPr>
        <p:spPr>
          <a:xfrm>
            <a:off x="13206730" y="583565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正文文字</a:t>
            </a:r>
          </a:p>
        </p:txBody>
      </p:sp>
      <p:sp>
        <p:nvSpPr>
          <p:cNvPr id="1231" name="Rounded Rectangle 22"/>
          <p:cNvSpPr/>
          <p:nvPr/>
        </p:nvSpPr>
        <p:spPr>
          <a:xfrm>
            <a:off x="12323199" y="998219"/>
            <a:ext cx="307976" cy="306071"/>
          </a:xfrm>
          <a:prstGeom prst="rect">
            <a:avLst/>
          </a:prstGeom>
          <a:solidFill>
            <a:srgbClr val="D9D9D9"/>
          </a:solidFill>
          <a:ln w="6350">
            <a:solidFill>
              <a:srgbClr val="595959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2" name="Rounded Rectangle 22"/>
          <p:cNvSpPr/>
          <p:nvPr/>
        </p:nvSpPr>
        <p:spPr>
          <a:xfrm>
            <a:off x="12837159" y="998219"/>
            <a:ext cx="307976" cy="306071"/>
          </a:xfrm>
          <a:prstGeom prst="rect">
            <a:avLst/>
          </a:prstGeom>
          <a:solidFill>
            <a:srgbClr val="80808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3" name="Rounded Rectangle 22"/>
          <p:cNvSpPr/>
          <p:nvPr/>
        </p:nvSpPr>
        <p:spPr>
          <a:xfrm>
            <a:off x="12323199" y="2434845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4" name="Rounded Rectangle 22"/>
          <p:cNvSpPr/>
          <p:nvPr/>
        </p:nvSpPr>
        <p:spPr>
          <a:xfrm>
            <a:off x="12323199" y="2060566"/>
            <a:ext cx="307976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5" name="Rounded Rectangle 22"/>
          <p:cNvSpPr/>
          <p:nvPr/>
        </p:nvSpPr>
        <p:spPr>
          <a:xfrm>
            <a:off x="12323199" y="3183406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6" name="Rounded Rectangle 22"/>
          <p:cNvSpPr/>
          <p:nvPr/>
        </p:nvSpPr>
        <p:spPr>
          <a:xfrm>
            <a:off x="12707078" y="3183406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7" name="Rounded Rectangle 22"/>
          <p:cNvSpPr/>
          <p:nvPr/>
        </p:nvSpPr>
        <p:spPr>
          <a:xfrm>
            <a:off x="12707078" y="3554233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8" name="Rounded Rectangle 22"/>
          <p:cNvSpPr/>
          <p:nvPr/>
        </p:nvSpPr>
        <p:spPr>
          <a:xfrm>
            <a:off x="12323199" y="3931965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39" name="Rounded Rectangle 22"/>
          <p:cNvSpPr/>
          <p:nvPr/>
        </p:nvSpPr>
        <p:spPr>
          <a:xfrm>
            <a:off x="12323199" y="4306246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0" name="Rounded Rectangle 22"/>
          <p:cNvSpPr/>
          <p:nvPr/>
        </p:nvSpPr>
        <p:spPr>
          <a:xfrm>
            <a:off x="12710662" y="5047748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1" name="Rounded Rectangle 22"/>
          <p:cNvSpPr/>
          <p:nvPr/>
        </p:nvSpPr>
        <p:spPr>
          <a:xfrm>
            <a:off x="12323199" y="5429086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2" name="Rounded Rectangle 22"/>
          <p:cNvSpPr/>
          <p:nvPr/>
        </p:nvSpPr>
        <p:spPr>
          <a:xfrm>
            <a:off x="12323199" y="5803365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3" name="Rounded Rectangle 22"/>
          <p:cNvSpPr/>
          <p:nvPr/>
        </p:nvSpPr>
        <p:spPr>
          <a:xfrm>
            <a:off x="12323199" y="6177646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4" name="Rounded Rectangle 22"/>
          <p:cNvSpPr/>
          <p:nvPr/>
        </p:nvSpPr>
        <p:spPr>
          <a:xfrm>
            <a:off x="12323199" y="6551930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5" name="文本框 3"/>
          <p:cNvSpPr txBox="1"/>
          <p:nvPr/>
        </p:nvSpPr>
        <p:spPr>
          <a:xfrm>
            <a:off x="11861564" y="9008232"/>
            <a:ext cx="1480655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/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r>
              <a:t>在这占位</a:t>
            </a:r>
          </a:p>
          <a:p>
            <a: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r>
              <a:t>防止轻易跨页滚动</a:t>
            </a:r>
          </a:p>
        </p:txBody>
      </p:sp>
      <p:sp>
        <p:nvSpPr>
          <p:cNvPr id="1246" name="Rounded Rectangle 21"/>
          <p:cNvSpPr/>
          <p:nvPr/>
        </p:nvSpPr>
        <p:spPr>
          <a:xfrm>
            <a:off x="12707083" y="6551930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47" name="矩形 12"/>
          <p:cNvSpPr/>
          <p:nvPr/>
        </p:nvSpPr>
        <p:spPr>
          <a:xfrm>
            <a:off x="12321702" y="5052467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8" name="矩形 15"/>
          <p:cNvSpPr/>
          <p:nvPr/>
        </p:nvSpPr>
        <p:spPr>
          <a:xfrm>
            <a:off x="12323199" y="2801697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49" name="矩形 16"/>
          <p:cNvSpPr/>
          <p:nvPr/>
        </p:nvSpPr>
        <p:spPr>
          <a:xfrm>
            <a:off x="12323198" y="3560226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50" name="Rounded Rectangle 22"/>
          <p:cNvSpPr/>
          <p:nvPr/>
        </p:nvSpPr>
        <p:spPr>
          <a:xfrm>
            <a:off x="12707080" y="5803365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1" name="Rounded Rectangle 22"/>
          <p:cNvSpPr/>
          <p:nvPr/>
        </p:nvSpPr>
        <p:spPr>
          <a:xfrm>
            <a:off x="12705584" y="4671210"/>
            <a:ext cx="307976" cy="306072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2" name="Rounded Rectangle 22"/>
          <p:cNvSpPr/>
          <p:nvPr/>
        </p:nvSpPr>
        <p:spPr>
          <a:xfrm>
            <a:off x="12321702" y="4671731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3" name="文本框 17"/>
          <p:cNvSpPr txBox="1"/>
          <p:nvPr/>
        </p:nvSpPr>
        <p:spPr>
          <a:xfrm>
            <a:off x="13206730" y="998219"/>
            <a:ext cx="836296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辅助文字</a:t>
            </a:r>
          </a:p>
        </p:txBody>
      </p:sp>
      <p:sp>
        <p:nvSpPr>
          <p:cNvPr id="1254" name="文本框 20"/>
          <p:cNvSpPr txBox="1"/>
          <p:nvPr/>
        </p:nvSpPr>
        <p:spPr>
          <a:xfrm>
            <a:off x="12785911" y="-368321"/>
            <a:ext cx="455296" cy="5232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白色背景</a:t>
            </a:r>
          </a:p>
        </p:txBody>
      </p:sp>
      <p:sp>
        <p:nvSpPr>
          <p:cNvPr id="1255" name="Rounded Rectangle 22"/>
          <p:cNvSpPr/>
          <p:nvPr/>
        </p:nvSpPr>
        <p:spPr>
          <a:xfrm>
            <a:off x="409114" y="6909434"/>
            <a:ext cx="307976" cy="306071"/>
          </a:xfrm>
          <a:prstGeom prst="rect">
            <a:avLst/>
          </a:prstGeom>
          <a:solidFill>
            <a:srgbClr val="F54D6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6" name="Rounded Rectangle 22"/>
          <p:cNvSpPr/>
          <p:nvPr/>
        </p:nvSpPr>
        <p:spPr>
          <a:xfrm>
            <a:off x="0" y="6909434"/>
            <a:ext cx="307975" cy="306071"/>
          </a:xfrm>
          <a:prstGeom prst="rect">
            <a:avLst/>
          </a:prstGeom>
          <a:solidFill>
            <a:srgbClr val="F889A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7" name="Rounded Rectangle 22"/>
          <p:cNvSpPr/>
          <p:nvPr/>
        </p:nvSpPr>
        <p:spPr>
          <a:xfrm>
            <a:off x="1227345" y="6909434"/>
            <a:ext cx="307976" cy="306071"/>
          </a:xfrm>
          <a:prstGeom prst="rect">
            <a:avLst/>
          </a:prstGeom>
          <a:solidFill>
            <a:srgbClr val="F8A21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8" name="Rounded Rectangle 22"/>
          <p:cNvSpPr/>
          <p:nvPr/>
        </p:nvSpPr>
        <p:spPr>
          <a:xfrm>
            <a:off x="1636459" y="6909434"/>
            <a:ext cx="307976" cy="306071"/>
          </a:xfrm>
          <a:prstGeom prst="rect">
            <a:avLst/>
          </a:prstGeom>
          <a:solidFill>
            <a:srgbClr val="E3AB4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59" name="Rounded Rectangle 22"/>
          <p:cNvSpPr/>
          <p:nvPr/>
        </p:nvSpPr>
        <p:spPr>
          <a:xfrm>
            <a:off x="2454690" y="6909434"/>
            <a:ext cx="307976" cy="306071"/>
          </a:xfrm>
          <a:prstGeom prst="rect">
            <a:avLst/>
          </a:prstGeom>
          <a:solidFill>
            <a:srgbClr val="EBD86C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0" name="Rounded Rectangle 22"/>
          <p:cNvSpPr/>
          <p:nvPr/>
        </p:nvSpPr>
        <p:spPr>
          <a:xfrm>
            <a:off x="2863805" y="6909434"/>
            <a:ext cx="307976" cy="306071"/>
          </a:xfrm>
          <a:prstGeom prst="rect">
            <a:avLst/>
          </a:prstGeom>
          <a:solidFill>
            <a:srgbClr val="53E0B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1" name="Rounded Rectangle 22"/>
          <p:cNvSpPr/>
          <p:nvPr/>
        </p:nvSpPr>
        <p:spPr>
          <a:xfrm>
            <a:off x="3272919" y="6909434"/>
            <a:ext cx="307976" cy="306071"/>
          </a:xfrm>
          <a:prstGeom prst="rect">
            <a:avLst/>
          </a:prstGeom>
          <a:solidFill>
            <a:srgbClr val="3EC2A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2" name="Rounded Rectangle 22"/>
          <p:cNvSpPr/>
          <p:nvPr/>
        </p:nvSpPr>
        <p:spPr>
          <a:xfrm>
            <a:off x="4909380" y="6909434"/>
            <a:ext cx="307976" cy="306071"/>
          </a:xfrm>
          <a:prstGeom prst="rect">
            <a:avLst/>
          </a:prstGeom>
          <a:solidFill>
            <a:srgbClr val="46D0F3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3" name="Rounded Rectangle 22"/>
          <p:cNvSpPr/>
          <p:nvPr/>
        </p:nvSpPr>
        <p:spPr>
          <a:xfrm>
            <a:off x="5318495" y="6909434"/>
            <a:ext cx="307976" cy="306071"/>
          </a:xfrm>
          <a:prstGeom prst="rect">
            <a:avLst/>
          </a:prstGeom>
          <a:solidFill>
            <a:srgbClr val="2B5EC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4" name="Rounded Rectangle 22"/>
          <p:cNvSpPr/>
          <p:nvPr/>
        </p:nvSpPr>
        <p:spPr>
          <a:xfrm>
            <a:off x="5727610" y="6909434"/>
            <a:ext cx="307976" cy="306071"/>
          </a:xfrm>
          <a:prstGeom prst="rect">
            <a:avLst/>
          </a:prstGeom>
          <a:solidFill>
            <a:srgbClr val="225FD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5" name="Rounded Rectangle 22"/>
          <p:cNvSpPr/>
          <p:nvPr/>
        </p:nvSpPr>
        <p:spPr>
          <a:xfrm>
            <a:off x="6545839" y="6909434"/>
            <a:ext cx="307976" cy="306071"/>
          </a:xfrm>
          <a:prstGeom prst="rect">
            <a:avLst/>
          </a:prstGeom>
          <a:solidFill>
            <a:srgbClr val="5E7AF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6" name="Rounded Rectangle 22"/>
          <p:cNvSpPr/>
          <p:nvPr/>
        </p:nvSpPr>
        <p:spPr>
          <a:xfrm>
            <a:off x="6954955" y="6909434"/>
            <a:ext cx="307976" cy="306071"/>
          </a:xfrm>
          <a:prstGeom prst="rect">
            <a:avLst/>
          </a:prstGeom>
          <a:solidFill>
            <a:srgbClr val="8F7FE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7" name="Rounded Rectangle 21"/>
          <p:cNvSpPr/>
          <p:nvPr/>
        </p:nvSpPr>
        <p:spPr>
          <a:xfrm>
            <a:off x="7364063" y="6909434"/>
            <a:ext cx="307975" cy="306071"/>
          </a:xfrm>
          <a:prstGeom prst="rect">
            <a:avLst/>
          </a:prstGeom>
          <a:solidFill>
            <a:srgbClr val="5F4FB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68" name="矩形 44"/>
          <p:cNvSpPr/>
          <p:nvPr/>
        </p:nvSpPr>
        <p:spPr>
          <a:xfrm>
            <a:off x="4500264" y="6909434"/>
            <a:ext cx="307976" cy="298736"/>
          </a:xfrm>
          <a:prstGeom prst="rect">
            <a:avLst/>
          </a:prstGeom>
          <a:solidFill>
            <a:srgbClr val="2FE0FF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69" name="矩形 45"/>
          <p:cNvSpPr/>
          <p:nvPr/>
        </p:nvSpPr>
        <p:spPr>
          <a:xfrm>
            <a:off x="818229" y="6909434"/>
            <a:ext cx="307976" cy="304132"/>
          </a:xfrm>
          <a:prstGeom prst="rect">
            <a:avLst/>
          </a:prstGeom>
          <a:solidFill>
            <a:srgbClr val="FF6E17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0" name="矩形 46"/>
          <p:cNvSpPr/>
          <p:nvPr/>
        </p:nvSpPr>
        <p:spPr>
          <a:xfrm>
            <a:off x="2045574" y="6909434"/>
            <a:ext cx="307976" cy="300078"/>
          </a:xfrm>
          <a:prstGeom prst="rect">
            <a:avLst/>
          </a:prstGeom>
          <a:solidFill>
            <a:srgbClr val="E53935"/>
          </a:solidFill>
          <a:ln w="12700">
            <a:miter lim="400000"/>
          </a:ln>
        </p:spPr>
        <p:txBody>
          <a:bodyPr lIns="45719" rIns="45719"/>
          <a:lstStyle/>
          <a:p>
            <a:pPr>
              <a:defRPr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pPr>
            <a:endParaRPr/>
          </a:p>
        </p:txBody>
      </p:sp>
      <p:sp>
        <p:nvSpPr>
          <p:cNvPr id="1271" name="Rounded Rectangle 22"/>
          <p:cNvSpPr/>
          <p:nvPr/>
        </p:nvSpPr>
        <p:spPr>
          <a:xfrm>
            <a:off x="6136725" y="6909434"/>
            <a:ext cx="307976" cy="306071"/>
          </a:xfrm>
          <a:prstGeom prst="rect">
            <a:avLst/>
          </a:prstGeom>
          <a:solidFill>
            <a:srgbClr val="1B3275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72" name="Rounded Rectangle 22"/>
          <p:cNvSpPr/>
          <p:nvPr/>
        </p:nvSpPr>
        <p:spPr>
          <a:xfrm>
            <a:off x="4091149" y="6909434"/>
            <a:ext cx="307976" cy="306071"/>
          </a:xfrm>
          <a:prstGeom prst="rect">
            <a:avLst/>
          </a:prstGeom>
          <a:solidFill>
            <a:srgbClr val="2C88B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73" name="Rounded Rectangle 22"/>
          <p:cNvSpPr/>
          <p:nvPr/>
        </p:nvSpPr>
        <p:spPr>
          <a:xfrm>
            <a:off x="3682034" y="6909434"/>
            <a:ext cx="307976" cy="306071"/>
          </a:xfrm>
          <a:prstGeom prst="rect">
            <a:avLst/>
          </a:prstGeom>
          <a:solidFill>
            <a:srgbClr val="3B7DD8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404040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grpSp>
        <p:nvGrpSpPr>
          <p:cNvPr id="1278" name="圆柱形 24"/>
          <p:cNvGrpSpPr/>
          <p:nvPr/>
        </p:nvGrpSpPr>
        <p:grpSpPr>
          <a:xfrm>
            <a:off x="-10160" y="7511415"/>
            <a:ext cx="1136651" cy="294641"/>
            <a:chOff x="0" y="0"/>
            <a:chExt cx="1136650" cy="294640"/>
          </a:xfrm>
        </p:grpSpPr>
        <p:grpSp>
          <p:nvGrpSpPr>
            <p:cNvPr id="1276" name="成组"/>
            <p:cNvGrpSpPr/>
            <p:nvPr/>
          </p:nvGrpSpPr>
          <p:grpSpPr>
            <a:xfrm>
              <a:off x="0" y="-1"/>
              <a:ext cx="1136651" cy="294642"/>
              <a:chOff x="0" y="0"/>
              <a:chExt cx="1136650" cy="294640"/>
            </a:xfrm>
          </p:grpSpPr>
          <p:sp>
            <p:nvSpPr>
              <p:cNvPr id="1274" name="形状"/>
              <p:cNvSpPr/>
              <p:nvPr/>
            </p:nvSpPr>
            <p:spPr>
              <a:xfrm rot="5400000">
                <a:off x="421005" y="-421006"/>
                <a:ext cx="294641" cy="1136651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600" h="21600" extrusionOk="0">
                    <a:moveTo>
                      <a:pt x="0" y="1286"/>
                    </a:moveTo>
                    <a:cubicBezTo>
                      <a:pt x="0" y="576"/>
                      <a:pt x="4835" y="0"/>
                      <a:pt x="10800" y="0"/>
                    </a:cubicBezTo>
                    <a:cubicBezTo>
                      <a:pt x="16765" y="0"/>
                      <a:pt x="21600" y="576"/>
                      <a:pt x="21600" y="1286"/>
                    </a:cubicBezTo>
                    <a:lnTo>
                      <a:pt x="21600" y="20314"/>
                    </a:lnTo>
                    <a:cubicBezTo>
                      <a:pt x="21600" y="21024"/>
                      <a:pt x="16765" y="21600"/>
                      <a:pt x="10800" y="21600"/>
                    </a:cubicBezTo>
                    <a:cubicBezTo>
                      <a:pt x="4835" y="21600"/>
                      <a:pt x="0" y="21024"/>
                      <a:pt x="0" y="20314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  <p:sp>
            <p:nvSpPr>
              <p:cNvPr id="1275" name="椭圆形"/>
              <p:cNvSpPr/>
              <p:nvPr/>
            </p:nvSpPr>
            <p:spPr>
              <a:xfrm rot="5400000">
                <a:off x="921647" y="79637"/>
                <a:ext cx="294641" cy="135367"/>
              </a:xfrm>
              <a:prstGeom prst="ellipse">
                <a:avLst/>
              </a:prstGeom>
              <a:solidFill>
                <a:srgbClr val="FFFFFF">
                  <a:alpha val="40000"/>
                </a:srgb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300"/>
                </a:pPr>
                <a:endParaRPr/>
              </a:p>
            </p:txBody>
          </p:sp>
        </p:grpSp>
        <p:sp>
          <p:nvSpPr>
            <p:cNvPr id="1277" name="AMI相关"/>
            <p:cNvSpPr txBox="1"/>
            <p:nvPr/>
          </p:nvSpPr>
          <p:spPr>
            <a:xfrm>
              <a:off x="67682" y="20320"/>
              <a:ext cx="933603" cy="254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4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pPr>
              <a:r>
                <a:t>AMI相关</a:t>
              </a:r>
            </a:p>
          </p:txBody>
        </p:sp>
      </p:grpSp>
      <p:grpSp>
        <p:nvGrpSpPr>
          <p:cNvPr id="1281" name="矩形: 圆角 71"/>
          <p:cNvGrpSpPr/>
          <p:nvPr/>
        </p:nvGrpSpPr>
        <p:grpSpPr>
          <a:xfrm>
            <a:off x="7771765" y="7512050"/>
            <a:ext cx="1136651" cy="348616"/>
            <a:chOff x="0" y="0"/>
            <a:chExt cx="1136650" cy="348615"/>
          </a:xfrm>
        </p:grpSpPr>
        <p:sp>
          <p:nvSpPr>
            <p:cNvPr id="1279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907FE2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0" name="周边系统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4" name="矩形: 圆角 71"/>
          <p:cNvGrpSpPr/>
          <p:nvPr/>
        </p:nvGrpSpPr>
        <p:grpSpPr>
          <a:xfrm>
            <a:off x="9111615" y="7512050"/>
            <a:ext cx="1136651" cy="348616"/>
            <a:chOff x="0" y="0"/>
            <a:chExt cx="1136650" cy="348615"/>
          </a:xfrm>
        </p:grpSpPr>
        <p:sp>
          <p:nvSpPr>
            <p:cNvPr id="1282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3" name="周边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周边系统</a:t>
              </a:r>
            </a:p>
          </p:txBody>
        </p:sp>
      </p:grpSp>
      <p:grpSp>
        <p:nvGrpSpPr>
          <p:cNvPr id="1287" name="矩形: 圆角 71"/>
          <p:cNvGrpSpPr/>
          <p:nvPr/>
        </p:nvGrpSpPr>
        <p:grpSpPr>
          <a:xfrm>
            <a:off x="1233169" y="7511415"/>
            <a:ext cx="1136651" cy="348616"/>
            <a:chOff x="0" y="0"/>
            <a:chExt cx="1136650" cy="348615"/>
          </a:xfrm>
        </p:grpSpPr>
        <p:sp>
          <p:nvSpPr>
            <p:cNvPr id="1285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1B3275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6" name="系统边界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系统边界</a:t>
              </a:r>
            </a:p>
          </p:txBody>
        </p:sp>
      </p:grpSp>
      <p:grpSp>
        <p:nvGrpSpPr>
          <p:cNvPr id="1290" name="矩形: 圆角 71"/>
          <p:cNvGrpSpPr/>
          <p:nvPr/>
        </p:nvGrpSpPr>
        <p:grpSpPr>
          <a:xfrm>
            <a:off x="2545079" y="7511415"/>
            <a:ext cx="1136651" cy="348616"/>
            <a:chOff x="0" y="0"/>
            <a:chExt cx="1136650" cy="348615"/>
          </a:xfrm>
        </p:grpSpPr>
        <p:sp>
          <p:nvSpPr>
            <p:cNvPr id="1288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25FD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89" name="内部大类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内部大类</a:t>
              </a:r>
            </a:p>
          </p:txBody>
        </p:sp>
      </p:grpSp>
      <p:grpSp>
        <p:nvGrpSpPr>
          <p:cNvPr id="1293" name="矩形: 圆角 71"/>
          <p:cNvGrpSpPr/>
          <p:nvPr/>
        </p:nvGrpSpPr>
        <p:grpSpPr>
          <a:xfrm>
            <a:off x="3772534" y="7511415"/>
            <a:ext cx="1136651" cy="348616"/>
            <a:chOff x="0" y="0"/>
            <a:chExt cx="1136650" cy="348615"/>
          </a:xfrm>
        </p:grpSpPr>
        <p:sp>
          <p:nvSpPr>
            <p:cNvPr id="1291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69"/>
              </a:avLst>
            </a:prstGeom>
            <a:solidFill>
              <a:srgbClr val="2B5EC7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2" name="模块/组件"/>
            <p:cNvSpPr txBox="1"/>
            <p:nvPr/>
          </p:nvSpPr>
          <p:spPr>
            <a:xfrm>
              <a:off x="10484" y="66357"/>
              <a:ext cx="1115682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pPr>
              <a:r>
                <a:t>模块/组件</a:t>
              </a:r>
            </a:p>
          </p:txBody>
        </p:sp>
      </p:grpSp>
      <p:grpSp>
        <p:nvGrpSpPr>
          <p:cNvPr id="1296" name="矩形: 圆角 71"/>
          <p:cNvGrpSpPr/>
          <p:nvPr/>
        </p:nvGrpSpPr>
        <p:grpSpPr>
          <a:xfrm>
            <a:off x="10381615" y="7510780"/>
            <a:ext cx="1136651" cy="348616"/>
            <a:chOff x="0" y="0"/>
            <a:chExt cx="1136650" cy="348615"/>
          </a:xfrm>
        </p:grpSpPr>
        <p:sp>
          <p:nvSpPr>
            <p:cNvPr id="1294" name="圆角矩形"/>
            <p:cNvSpPr/>
            <p:nvPr/>
          </p:nvSpPr>
          <p:spPr>
            <a:xfrm>
              <a:off x="0" y="0"/>
              <a:ext cx="1136650" cy="348616"/>
            </a:xfrm>
            <a:prstGeom prst="roundRect">
              <a:avLst>
                <a:gd name="adj" fmla="val 10270"/>
              </a:avLst>
            </a:prstGeom>
            <a:solidFill>
              <a:srgbClr val="73839D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95" name="外部系统"/>
            <p:cNvSpPr txBox="1"/>
            <p:nvPr/>
          </p:nvSpPr>
          <p:spPr>
            <a:xfrm>
              <a:off x="10485" y="66357"/>
              <a:ext cx="1115680" cy="215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sz="1200">
                  <a:solidFill>
                    <a:srgbClr val="FFFFFF"/>
                  </a:solidFill>
                  <a:effectLst>
                    <a:outerShdw blurRad="50800" dist="38100" dir="2700000" rotWithShape="0">
                      <a:srgbClr val="000000">
                        <a:alpha val="40000"/>
                      </a:srgbClr>
                    </a:outerShdw>
                  </a:effectLst>
                  <a:latin typeface="+mn-lt"/>
                  <a:ea typeface="+mn-ea"/>
                  <a:cs typeface="+mn-cs"/>
                  <a:sym typeface="微软雅黑" panose="020B0400000000000000" charset="-122"/>
                </a:defRPr>
              </a:lvl1pPr>
            </a:lstStyle>
            <a:p>
              <a:r>
                <a:t>外部系统</a:t>
              </a:r>
            </a:p>
          </p:txBody>
        </p:sp>
      </p:grpSp>
      <p:sp>
        <p:nvSpPr>
          <p:cNvPr id="1297" name="上箭头 52"/>
          <p:cNvSpPr/>
          <p:nvPr/>
        </p:nvSpPr>
        <p:spPr>
          <a:xfrm rot="5400000">
            <a:off x="5931534" y="7519034"/>
            <a:ext cx="24892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1297"/>
                </a:moveTo>
                <a:lnTo>
                  <a:pt x="10800" y="0"/>
                </a:lnTo>
                <a:lnTo>
                  <a:pt x="21600" y="11297"/>
                </a:lnTo>
                <a:lnTo>
                  <a:pt x="15243" y="11297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1297"/>
                </a:lnTo>
                <a:close/>
              </a:path>
            </a:pathLst>
          </a:custGeom>
          <a:solidFill>
            <a:srgbClr val="2FE0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298" name="文本框 53"/>
          <p:cNvSpPr txBox="1"/>
          <p:nvPr/>
        </p:nvSpPr>
        <p:spPr>
          <a:xfrm>
            <a:off x="5028565" y="7547609"/>
            <a:ext cx="824231" cy="307341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内部连接</a:t>
            </a:r>
          </a:p>
        </p:txBody>
      </p:sp>
      <p:sp>
        <p:nvSpPr>
          <p:cNvPr id="1299" name="上箭头 128"/>
          <p:cNvSpPr/>
          <p:nvPr/>
        </p:nvSpPr>
        <p:spPr>
          <a:xfrm rot="5400000">
            <a:off x="7377430" y="7503794"/>
            <a:ext cx="276861" cy="3644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2565"/>
                </a:moveTo>
                <a:lnTo>
                  <a:pt x="10800" y="0"/>
                </a:lnTo>
                <a:lnTo>
                  <a:pt x="21600" y="12565"/>
                </a:lnTo>
                <a:lnTo>
                  <a:pt x="15243" y="12565"/>
                </a:lnTo>
                <a:lnTo>
                  <a:pt x="15243" y="21600"/>
                </a:lnTo>
                <a:lnTo>
                  <a:pt x="6357" y="21600"/>
                </a:lnTo>
                <a:lnTo>
                  <a:pt x="6357" y="12565"/>
                </a:lnTo>
                <a:close/>
              </a:path>
            </a:pathLst>
          </a:custGeom>
          <a:solidFill>
            <a:srgbClr val="3D5A8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>
                    <a:alpha val="50000"/>
                  </a:srgbClr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微软雅黑" panose="020B0400000000000000" charset="-122"/>
              </a:defRPr>
            </a:pPr>
            <a:endParaRPr/>
          </a:p>
        </p:txBody>
      </p:sp>
      <p:sp>
        <p:nvSpPr>
          <p:cNvPr id="1300" name="文本框 55"/>
          <p:cNvSpPr txBox="1"/>
          <p:nvPr/>
        </p:nvSpPr>
        <p:spPr>
          <a:xfrm>
            <a:off x="6488429" y="7546975"/>
            <a:ext cx="824231" cy="30734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spAutoFit/>
          </a:bodyPr>
          <a:lstStyle>
            <a:lvl1pPr algn="ctr">
              <a:defRPr sz="1200" spc="100">
                <a:solidFill>
                  <a:srgbClr val="FFFFFF"/>
                </a:solidFill>
                <a:effectLst>
                  <a:outerShdw blurRad="50800" dist="38100" dir="2700000" rotWithShape="0">
                    <a:srgbClr val="000000">
                      <a:alpha val="40000"/>
                    </a:srgbClr>
                  </a:outerShdw>
                </a:effectLst>
                <a:latin typeface="+mn-lt"/>
                <a:ea typeface="+mn-ea"/>
                <a:cs typeface="+mn-cs"/>
                <a:sym typeface="微软雅黑" panose="020B0400000000000000" charset="-122"/>
              </a:defRPr>
            </a:lvl1pPr>
          </a:lstStyle>
          <a:p>
            <a:r>
              <a:t>外部连接</a:t>
            </a:r>
          </a:p>
        </p:txBody>
      </p:sp>
      <p:pic>
        <p:nvPicPr>
          <p:cNvPr id="1301" name="图片 6" descr="图片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 w="12700">
            <a:miter lim="400000"/>
            <a:headEnd/>
            <a:tailEnd/>
          </a:ln>
        </p:spPr>
      </p:pic>
      <p:pic>
        <p:nvPicPr>
          <p:cNvPr id="1302" name="图片 2" descr="图片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79430" y="321309"/>
            <a:ext cx="1155066" cy="243173"/>
          </a:xfrm>
          <a:prstGeom prst="rect">
            <a:avLst/>
          </a:prstGeom>
          <a:ln w="12700">
            <a:miter lim="400000"/>
            <a:headEnd/>
            <a:tailEnd/>
          </a:ln>
          <a:effectLst>
            <a:outerShdw blurRad="50800" dist="12700" dir="2700000" rotWithShape="0">
              <a:srgbClr val="000000">
                <a:alpha val="40000"/>
              </a:srgbClr>
            </a:outerShdw>
          </a:effectLst>
        </p:spPr>
      </p:pic>
      <p:sp>
        <p:nvSpPr>
          <p:cNvPr id="1303" name="幻灯片编号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3" name="标题 2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63880" y="253505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 dirty="0">
              <a:sym typeface="+mn-ea"/>
            </a:endParaRPr>
          </a:p>
        </p:txBody>
      </p:sp>
      <p:cxnSp>
        <p:nvCxnSpPr>
          <p:cNvPr id="4" name="直线连接符 1"/>
          <p:cNvCxnSpPr/>
          <p:nvPr>
            <p:custDataLst>
              <p:tags r:id="rId2"/>
            </p:custDataLst>
          </p:nvPr>
        </p:nvCxnSpPr>
        <p:spPr>
          <a:xfrm>
            <a:off x="526431" y="333197"/>
            <a:ext cx="0" cy="576000"/>
          </a:xfrm>
          <a:prstGeom prst="line">
            <a:avLst/>
          </a:prstGeom>
          <a:ln w="635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占位符 1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6208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41659590"/>
      </p:ext>
    </p:extLst>
  </p:cSld>
  <p:clrMapOvr>
    <a:masterClrMapping/>
  </p:clrMapOvr>
  <p:transition spd="med"/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无标题_纯白_右上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D:/华锐技术/01 公司品宣/华锐LOGO/华锐LOGO组合方式/华锐技术LOGO标准组合-横版中英文.png华锐技术LOGO标准组合-横版中英文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 cstate="screen"/>
          <a:srcRect/>
          <a:stretch>
            <a:fillRect/>
          </a:stretch>
        </p:blipFill>
        <p:spPr>
          <a:xfrm>
            <a:off x="10679430" y="319772"/>
            <a:ext cx="1155600" cy="243284"/>
          </a:xfrm>
          <a:prstGeom prst="rect">
            <a:avLst/>
          </a:prstGeom>
        </p:spPr>
      </p:pic>
      <p:sp>
        <p:nvSpPr>
          <p:cNvPr id="6" name="标题 5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563880" y="252730"/>
            <a:ext cx="9954000" cy="522000"/>
          </a:xfrm>
        </p:spPr>
        <p:txBody>
          <a:bodyPr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ClrTx/>
              <a:buSzTx/>
              <a:buFontTx/>
              <a:buNone/>
              <a:defRPr kumimoji="0" lang="zh-CN" altLang="en-US" sz="2800" b="1" i="0" u="none" strike="noStrike" kern="1200" cap="none" spc="0" normalizeH="0" baseline="0" noProof="1" smtClean="0">
                <a:solidFill>
                  <a:srgbClr val="203864"/>
                </a:solidFill>
                <a:latin typeface="黑体" panose="02010609060101010101" pitchFamily="49" charset="-122"/>
                <a:ea typeface="黑体" panose="02010609060101010101" pitchFamily="49" charset="-122"/>
                <a:cs typeface="+mn-cs"/>
              </a:defRPr>
            </a:lvl1pPr>
          </a:lstStyle>
          <a:p>
            <a:pPr lvl="0"/>
            <a:r>
              <a:rPr lang="en-US">
                <a:sym typeface="+mn-ea"/>
              </a:rPr>
              <a:t>Click to edit Master title style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0"/>
            <p:custDataLst>
              <p:tags r:id="rId3"/>
            </p:custDataLst>
          </p:nvPr>
        </p:nvSpPr>
        <p:spPr>
          <a:xfrm>
            <a:off x="563880" y="715645"/>
            <a:ext cx="9954260" cy="255600"/>
          </a:xfrm>
          <a:prstGeom prst="rect">
            <a:avLst/>
          </a:prstGeom>
        </p:spPr>
        <p:txBody>
          <a:bodyPr anchor="ctr" anchorCtr="0"/>
          <a:lstStyle>
            <a:lvl1pPr marL="0" indent="0">
              <a:lnSpc>
                <a:spcPct val="100000"/>
              </a:lnSpc>
              <a:buNone/>
              <a:defRPr kumimoji="0" lang="zh-CN" altLang="en-US" sz="1200" b="0" i="0" u="none" strike="noStrike" kern="1200" cap="none" spc="0" normalizeH="0" baseline="0" noProof="1" smtClean="0">
                <a:solidFill>
                  <a:srgbClr val="939AB1"/>
                </a:solidFill>
                <a:latin typeface="Arial" panose="020B0604020202020204" pitchFamily="34" charset="0"/>
                <a:ea typeface="黑体" panose="02010609060101010101" pitchFamily="49" charset="-122"/>
                <a:cs typeface="+mn-cs"/>
                <a:sym typeface="+mn-ea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 altLang="zh-CN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679854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26" Type="http://schemas.openxmlformats.org/officeDocument/2006/relationships/tags" Target="../tags/tag8.xml"/><Relationship Id="rId39" Type="http://schemas.openxmlformats.org/officeDocument/2006/relationships/tags" Target="../tags/tag21.xml"/><Relationship Id="rId21" Type="http://schemas.openxmlformats.org/officeDocument/2006/relationships/tags" Target="../tags/tag3.xml"/><Relationship Id="rId34" Type="http://schemas.openxmlformats.org/officeDocument/2006/relationships/tags" Target="../tags/tag16.xml"/><Relationship Id="rId42" Type="http://schemas.openxmlformats.org/officeDocument/2006/relationships/tags" Target="../tags/tag24.xml"/><Relationship Id="rId47" Type="http://schemas.openxmlformats.org/officeDocument/2006/relationships/tags" Target="../tags/tag29.xml"/><Relationship Id="rId50" Type="http://schemas.openxmlformats.org/officeDocument/2006/relationships/tags" Target="../tags/tag32.xml"/><Relationship Id="rId55" Type="http://schemas.openxmlformats.org/officeDocument/2006/relationships/tags" Target="../tags/tag37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tags" Target="../tags/tag11.xml"/><Relationship Id="rId11" Type="http://schemas.openxmlformats.org/officeDocument/2006/relationships/slideLayout" Target="../slideLayouts/slideLayout11.xml"/><Relationship Id="rId24" Type="http://schemas.openxmlformats.org/officeDocument/2006/relationships/tags" Target="../tags/tag6.xml"/><Relationship Id="rId32" Type="http://schemas.openxmlformats.org/officeDocument/2006/relationships/tags" Target="../tags/tag14.xml"/><Relationship Id="rId37" Type="http://schemas.openxmlformats.org/officeDocument/2006/relationships/tags" Target="../tags/tag19.xml"/><Relationship Id="rId40" Type="http://schemas.openxmlformats.org/officeDocument/2006/relationships/tags" Target="../tags/tag22.xml"/><Relationship Id="rId45" Type="http://schemas.openxmlformats.org/officeDocument/2006/relationships/tags" Target="../tags/tag27.xml"/><Relationship Id="rId53" Type="http://schemas.openxmlformats.org/officeDocument/2006/relationships/tags" Target="../tags/tag35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tags" Target="../tags/tag1.xml"/><Relationship Id="rId31" Type="http://schemas.openxmlformats.org/officeDocument/2006/relationships/tags" Target="../tags/tag13.xml"/><Relationship Id="rId44" Type="http://schemas.openxmlformats.org/officeDocument/2006/relationships/tags" Target="../tags/tag26.xml"/><Relationship Id="rId52" Type="http://schemas.openxmlformats.org/officeDocument/2006/relationships/tags" Target="../tags/tag3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ags" Target="../tags/tag4.xml"/><Relationship Id="rId27" Type="http://schemas.openxmlformats.org/officeDocument/2006/relationships/tags" Target="../tags/tag9.xml"/><Relationship Id="rId30" Type="http://schemas.openxmlformats.org/officeDocument/2006/relationships/tags" Target="../tags/tag12.xml"/><Relationship Id="rId35" Type="http://schemas.openxmlformats.org/officeDocument/2006/relationships/tags" Target="../tags/tag17.xml"/><Relationship Id="rId43" Type="http://schemas.openxmlformats.org/officeDocument/2006/relationships/tags" Target="../tags/tag25.xml"/><Relationship Id="rId48" Type="http://schemas.openxmlformats.org/officeDocument/2006/relationships/tags" Target="../tags/tag30.xml"/><Relationship Id="rId56" Type="http://schemas.openxmlformats.org/officeDocument/2006/relationships/tags" Target="../tags/tag38.xml"/><Relationship Id="rId8" Type="http://schemas.openxmlformats.org/officeDocument/2006/relationships/slideLayout" Target="../slideLayouts/slideLayout8.xml"/><Relationship Id="rId51" Type="http://schemas.openxmlformats.org/officeDocument/2006/relationships/tags" Target="../tags/tag33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ags" Target="../tags/tag7.xml"/><Relationship Id="rId33" Type="http://schemas.openxmlformats.org/officeDocument/2006/relationships/tags" Target="../tags/tag15.xml"/><Relationship Id="rId38" Type="http://schemas.openxmlformats.org/officeDocument/2006/relationships/tags" Target="../tags/tag20.xml"/><Relationship Id="rId46" Type="http://schemas.openxmlformats.org/officeDocument/2006/relationships/tags" Target="../tags/tag28.xml"/><Relationship Id="rId20" Type="http://schemas.openxmlformats.org/officeDocument/2006/relationships/tags" Target="../tags/tag2.xml"/><Relationship Id="rId41" Type="http://schemas.openxmlformats.org/officeDocument/2006/relationships/tags" Target="../tags/tag23.xml"/><Relationship Id="rId54" Type="http://schemas.openxmlformats.org/officeDocument/2006/relationships/tags" Target="../tags/tag3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tags" Target="../tags/tag5.xml"/><Relationship Id="rId28" Type="http://schemas.openxmlformats.org/officeDocument/2006/relationships/tags" Target="../tags/tag10.xml"/><Relationship Id="rId36" Type="http://schemas.openxmlformats.org/officeDocument/2006/relationships/tags" Target="../tags/tag18.xml"/><Relationship Id="rId49" Type="http://schemas.openxmlformats.org/officeDocument/2006/relationships/tags" Target="../tags/tag31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30.xml"/><Relationship Id="rId18" Type="http://schemas.openxmlformats.org/officeDocument/2006/relationships/slideLayout" Target="../slideLayouts/slideLayout35.xml"/><Relationship Id="rId26" Type="http://schemas.openxmlformats.org/officeDocument/2006/relationships/tags" Target="../tags/tag72.xml"/><Relationship Id="rId39" Type="http://schemas.openxmlformats.org/officeDocument/2006/relationships/tags" Target="../tags/tag85.xml"/><Relationship Id="rId21" Type="http://schemas.openxmlformats.org/officeDocument/2006/relationships/slideLayout" Target="../slideLayouts/slideLayout38.xml"/><Relationship Id="rId34" Type="http://schemas.openxmlformats.org/officeDocument/2006/relationships/tags" Target="../tags/tag80.xml"/><Relationship Id="rId42" Type="http://schemas.openxmlformats.org/officeDocument/2006/relationships/tags" Target="../tags/tag88.xml"/><Relationship Id="rId47" Type="http://schemas.openxmlformats.org/officeDocument/2006/relationships/tags" Target="../tags/tag93.xml"/><Relationship Id="rId50" Type="http://schemas.openxmlformats.org/officeDocument/2006/relationships/tags" Target="../tags/tag96.xml"/><Relationship Id="rId55" Type="http://schemas.openxmlformats.org/officeDocument/2006/relationships/tags" Target="../tags/tag101.xml"/><Relationship Id="rId7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9.xml"/><Relationship Id="rId16" Type="http://schemas.openxmlformats.org/officeDocument/2006/relationships/slideLayout" Target="../slideLayouts/slideLayout33.xml"/><Relationship Id="rId29" Type="http://schemas.openxmlformats.org/officeDocument/2006/relationships/tags" Target="../tags/tag75.xml"/><Relationship Id="rId11" Type="http://schemas.openxmlformats.org/officeDocument/2006/relationships/slideLayout" Target="../slideLayouts/slideLayout28.xml"/><Relationship Id="rId24" Type="http://schemas.openxmlformats.org/officeDocument/2006/relationships/tags" Target="../tags/tag70.xml"/><Relationship Id="rId32" Type="http://schemas.openxmlformats.org/officeDocument/2006/relationships/tags" Target="../tags/tag78.xml"/><Relationship Id="rId37" Type="http://schemas.openxmlformats.org/officeDocument/2006/relationships/tags" Target="../tags/tag83.xml"/><Relationship Id="rId40" Type="http://schemas.openxmlformats.org/officeDocument/2006/relationships/tags" Target="../tags/tag86.xml"/><Relationship Id="rId45" Type="http://schemas.openxmlformats.org/officeDocument/2006/relationships/tags" Target="../tags/tag91.xml"/><Relationship Id="rId53" Type="http://schemas.openxmlformats.org/officeDocument/2006/relationships/tags" Target="../tags/tag99.xml"/><Relationship Id="rId5" Type="http://schemas.openxmlformats.org/officeDocument/2006/relationships/slideLayout" Target="../slideLayouts/slideLayout22.xml"/><Relationship Id="rId19" Type="http://schemas.openxmlformats.org/officeDocument/2006/relationships/slideLayout" Target="../slideLayouts/slideLayout36.xml"/><Relationship Id="rId4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31.xml"/><Relationship Id="rId22" Type="http://schemas.openxmlformats.org/officeDocument/2006/relationships/theme" Target="../theme/theme2.xml"/><Relationship Id="rId27" Type="http://schemas.openxmlformats.org/officeDocument/2006/relationships/tags" Target="../tags/tag73.xml"/><Relationship Id="rId30" Type="http://schemas.openxmlformats.org/officeDocument/2006/relationships/tags" Target="../tags/tag76.xml"/><Relationship Id="rId35" Type="http://schemas.openxmlformats.org/officeDocument/2006/relationships/tags" Target="../tags/tag81.xml"/><Relationship Id="rId43" Type="http://schemas.openxmlformats.org/officeDocument/2006/relationships/tags" Target="../tags/tag89.xml"/><Relationship Id="rId48" Type="http://schemas.openxmlformats.org/officeDocument/2006/relationships/tags" Target="../tags/tag94.xml"/><Relationship Id="rId56" Type="http://schemas.openxmlformats.org/officeDocument/2006/relationships/tags" Target="../tags/tag102.xml"/><Relationship Id="rId8" Type="http://schemas.openxmlformats.org/officeDocument/2006/relationships/slideLayout" Target="../slideLayouts/slideLayout25.xml"/><Relationship Id="rId51" Type="http://schemas.openxmlformats.org/officeDocument/2006/relationships/tags" Target="../tags/tag97.xml"/><Relationship Id="rId3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9.xml"/><Relationship Id="rId17" Type="http://schemas.openxmlformats.org/officeDocument/2006/relationships/slideLayout" Target="../slideLayouts/slideLayout34.xml"/><Relationship Id="rId25" Type="http://schemas.openxmlformats.org/officeDocument/2006/relationships/tags" Target="../tags/tag71.xml"/><Relationship Id="rId33" Type="http://schemas.openxmlformats.org/officeDocument/2006/relationships/tags" Target="../tags/tag79.xml"/><Relationship Id="rId38" Type="http://schemas.openxmlformats.org/officeDocument/2006/relationships/tags" Target="../tags/tag84.xml"/><Relationship Id="rId46" Type="http://schemas.openxmlformats.org/officeDocument/2006/relationships/tags" Target="../tags/tag92.xml"/><Relationship Id="rId20" Type="http://schemas.openxmlformats.org/officeDocument/2006/relationships/slideLayout" Target="../slideLayouts/slideLayout37.xml"/><Relationship Id="rId41" Type="http://schemas.openxmlformats.org/officeDocument/2006/relationships/tags" Target="../tags/tag87.xml"/><Relationship Id="rId54" Type="http://schemas.openxmlformats.org/officeDocument/2006/relationships/tags" Target="../tags/tag100.xml"/><Relationship Id="rId1" Type="http://schemas.openxmlformats.org/officeDocument/2006/relationships/slideLayout" Target="../slideLayouts/slideLayout18.xml"/><Relationship Id="rId6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32.xml"/><Relationship Id="rId23" Type="http://schemas.openxmlformats.org/officeDocument/2006/relationships/tags" Target="../tags/tag69.xml"/><Relationship Id="rId28" Type="http://schemas.openxmlformats.org/officeDocument/2006/relationships/tags" Target="../tags/tag74.xml"/><Relationship Id="rId36" Type="http://schemas.openxmlformats.org/officeDocument/2006/relationships/tags" Target="../tags/tag82.xml"/><Relationship Id="rId49" Type="http://schemas.openxmlformats.org/officeDocument/2006/relationships/tags" Target="../tags/tag95.xml"/><Relationship Id="rId57" Type="http://schemas.openxmlformats.org/officeDocument/2006/relationships/tags" Target="../tags/tag103.xml"/><Relationship Id="rId10" Type="http://schemas.openxmlformats.org/officeDocument/2006/relationships/slideLayout" Target="../slideLayouts/slideLayout27.xml"/><Relationship Id="rId31" Type="http://schemas.openxmlformats.org/officeDocument/2006/relationships/tags" Target="../tags/tag77.xml"/><Relationship Id="rId44" Type="http://schemas.openxmlformats.org/officeDocument/2006/relationships/tags" Target="../tags/tag90.xml"/><Relationship Id="rId52" Type="http://schemas.openxmlformats.org/officeDocument/2006/relationships/tags" Target="../tags/tag98.xml"/></Relationships>
</file>

<file path=ppt/slideMasters/_rels/slideMaster3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51.xml"/><Relationship Id="rId18" Type="http://schemas.openxmlformats.org/officeDocument/2006/relationships/tags" Target="../tags/tag123.xml"/><Relationship Id="rId26" Type="http://schemas.openxmlformats.org/officeDocument/2006/relationships/tags" Target="../tags/tag131.xml"/><Relationship Id="rId39" Type="http://schemas.openxmlformats.org/officeDocument/2006/relationships/tags" Target="../tags/tag144.xml"/><Relationship Id="rId21" Type="http://schemas.openxmlformats.org/officeDocument/2006/relationships/tags" Target="../tags/tag126.xml"/><Relationship Id="rId34" Type="http://schemas.openxmlformats.org/officeDocument/2006/relationships/tags" Target="../tags/tag139.xml"/><Relationship Id="rId42" Type="http://schemas.openxmlformats.org/officeDocument/2006/relationships/tags" Target="../tags/tag147.xml"/><Relationship Id="rId47" Type="http://schemas.openxmlformats.org/officeDocument/2006/relationships/tags" Target="../tags/tag152.xml"/><Relationship Id="rId50" Type="http://schemas.openxmlformats.org/officeDocument/2006/relationships/tags" Target="../tags/tag155.xml"/><Relationship Id="rId55" Type="http://schemas.openxmlformats.org/officeDocument/2006/relationships/tags" Target="../tags/tag160.xml"/><Relationship Id="rId7" Type="http://schemas.openxmlformats.org/officeDocument/2006/relationships/slideLayout" Target="../slideLayouts/slideLayout45.xml"/><Relationship Id="rId2" Type="http://schemas.openxmlformats.org/officeDocument/2006/relationships/slideLayout" Target="../slideLayouts/slideLayout40.xml"/><Relationship Id="rId16" Type="http://schemas.openxmlformats.org/officeDocument/2006/relationships/slideLayout" Target="../slideLayouts/slideLayout54.xml"/><Relationship Id="rId29" Type="http://schemas.openxmlformats.org/officeDocument/2006/relationships/tags" Target="../tags/tag134.xml"/><Relationship Id="rId11" Type="http://schemas.openxmlformats.org/officeDocument/2006/relationships/slideLayout" Target="../slideLayouts/slideLayout49.xml"/><Relationship Id="rId24" Type="http://schemas.openxmlformats.org/officeDocument/2006/relationships/tags" Target="../tags/tag129.xml"/><Relationship Id="rId32" Type="http://schemas.openxmlformats.org/officeDocument/2006/relationships/tags" Target="../tags/tag137.xml"/><Relationship Id="rId37" Type="http://schemas.openxmlformats.org/officeDocument/2006/relationships/tags" Target="../tags/tag142.xml"/><Relationship Id="rId40" Type="http://schemas.openxmlformats.org/officeDocument/2006/relationships/tags" Target="../tags/tag145.xml"/><Relationship Id="rId45" Type="http://schemas.openxmlformats.org/officeDocument/2006/relationships/tags" Target="../tags/tag150.xml"/><Relationship Id="rId53" Type="http://schemas.openxmlformats.org/officeDocument/2006/relationships/tags" Target="../tags/tag158.xml"/><Relationship Id="rId5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8.xml"/><Relationship Id="rId19" Type="http://schemas.openxmlformats.org/officeDocument/2006/relationships/tags" Target="../tags/tag124.xml"/><Relationship Id="rId31" Type="http://schemas.openxmlformats.org/officeDocument/2006/relationships/tags" Target="../tags/tag136.xml"/><Relationship Id="rId44" Type="http://schemas.openxmlformats.org/officeDocument/2006/relationships/tags" Target="../tags/tag149.xml"/><Relationship Id="rId52" Type="http://schemas.openxmlformats.org/officeDocument/2006/relationships/tags" Target="../tags/tag157.xml"/><Relationship Id="rId4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52.xml"/><Relationship Id="rId22" Type="http://schemas.openxmlformats.org/officeDocument/2006/relationships/tags" Target="../tags/tag127.xml"/><Relationship Id="rId27" Type="http://schemas.openxmlformats.org/officeDocument/2006/relationships/tags" Target="../tags/tag132.xml"/><Relationship Id="rId30" Type="http://schemas.openxmlformats.org/officeDocument/2006/relationships/tags" Target="../tags/tag135.xml"/><Relationship Id="rId35" Type="http://schemas.openxmlformats.org/officeDocument/2006/relationships/tags" Target="../tags/tag140.xml"/><Relationship Id="rId43" Type="http://schemas.openxmlformats.org/officeDocument/2006/relationships/tags" Target="../tags/tag148.xml"/><Relationship Id="rId48" Type="http://schemas.openxmlformats.org/officeDocument/2006/relationships/tags" Target="../tags/tag153.xml"/><Relationship Id="rId8" Type="http://schemas.openxmlformats.org/officeDocument/2006/relationships/slideLayout" Target="../slideLayouts/slideLayout46.xml"/><Relationship Id="rId51" Type="http://schemas.openxmlformats.org/officeDocument/2006/relationships/tags" Target="../tags/tag156.xml"/><Relationship Id="rId3" Type="http://schemas.openxmlformats.org/officeDocument/2006/relationships/slideLayout" Target="../slideLayouts/slideLayout41.xml"/><Relationship Id="rId12" Type="http://schemas.openxmlformats.org/officeDocument/2006/relationships/slideLayout" Target="../slideLayouts/slideLayout50.xml"/><Relationship Id="rId17" Type="http://schemas.openxmlformats.org/officeDocument/2006/relationships/theme" Target="../theme/theme3.xml"/><Relationship Id="rId25" Type="http://schemas.openxmlformats.org/officeDocument/2006/relationships/tags" Target="../tags/tag130.xml"/><Relationship Id="rId33" Type="http://schemas.openxmlformats.org/officeDocument/2006/relationships/tags" Target="../tags/tag138.xml"/><Relationship Id="rId38" Type="http://schemas.openxmlformats.org/officeDocument/2006/relationships/tags" Target="../tags/tag143.xml"/><Relationship Id="rId46" Type="http://schemas.openxmlformats.org/officeDocument/2006/relationships/tags" Target="../tags/tag151.xml"/><Relationship Id="rId20" Type="http://schemas.openxmlformats.org/officeDocument/2006/relationships/tags" Target="../tags/tag125.xml"/><Relationship Id="rId41" Type="http://schemas.openxmlformats.org/officeDocument/2006/relationships/tags" Target="../tags/tag146.xml"/><Relationship Id="rId54" Type="http://schemas.openxmlformats.org/officeDocument/2006/relationships/tags" Target="../tags/tag159.xml"/><Relationship Id="rId1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4.xml"/><Relationship Id="rId15" Type="http://schemas.openxmlformats.org/officeDocument/2006/relationships/slideLayout" Target="../slideLayouts/slideLayout53.xml"/><Relationship Id="rId23" Type="http://schemas.openxmlformats.org/officeDocument/2006/relationships/tags" Target="../tags/tag128.xml"/><Relationship Id="rId28" Type="http://schemas.openxmlformats.org/officeDocument/2006/relationships/tags" Target="../tags/tag133.xml"/><Relationship Id="rId36" Type="http://schemas.openxmlformats.org/officeDocument/2006/relationships/tags" Target="../tags/tag141.xml"/><Relationship Id="rId49" Type="http://schemas.openxmlformats.org/officeDocument/2006/relationships/tags" Target="../tags/tag154.xml"/></Relationships>
</file>

<file path=ppt/slideMasters/_rels/slideMaster4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67.xml"/><Relationship Id="rId18" Type="http://schemas.openxmlformats.org/officeDocument/2006/relationships/tags" Target="../tags/tag189.xml"/><Relationship Id="rId26" Type="http://schemas.openxmlformats.org/officeDocument/2006/relationships/tags" Target="../tags/tag197.xml"/><Relationship Id="rId39" Type="http://schemas.openxmlformats.org/officeDocument/2006/relationships/tags" Target="../tags/tag210.xml"/><Relationship Id="rId21" Type="http://schemas.openxmlformats.org/officeDocument/2006/relationships/tags" Target="../tags/tag192.xml"/><Relationship Id="rId34" Type="http://schemas.openxmlformats.org/officeDocument/2006/relationships/tags" Target="../tags/tag205.xml"/><Relationship Id="rId42" Type="http://schemas.openxmlformats.org/officeDocument/2006/relationships/tags" Target="../tags/tag213.xml"/><Relationship Id="rId47" Type="http://schemas.openxmlformats.org/officeDocument/2006/relationships/tags" Target="../tags/tag218.xml"/><Relationship Id="rId50" Type="http://schemas.openxmlformats.org/officeDocument/2006/relationships/tags" Target="../tags/tag221.xml"/><Relationship Id="rId55" Type="http://schemas.openxmlformats.org/officeDocument/2006/relationships/tags" Target="../tags/tag226.xml"/><Relationship Id="rId7" Type="http://schemas.openxmlformats.org/officeDocument/2006/relationships/slideLayout" Target="../slideLayouts/slideLayout61.xml"/><Relationship Id="rId2" Type="http://schemas.openxmlformats.org/officeDocument/2006/relationships/slideLayout" Target="../slideLayouts/slideLayout56.xml"/><Relationship Id="rId16" Type="http://schemas.openxmlformats.org/officeDocument/2006/relationships/slideLayout" Target="../slideLayouts/slideLayout70.xml"/><Relationship Id="rId29" Type="http://schemas.openxmlformats.org/officeDocument/2006/relationships/tags" Target="../tags/tag200.xml"/><Relationship Id="rId11" Type="http://schemas.openxmlformats.org/officeDocument/2006/relationships/slideLayout" Target="../slideLayouts/slideLayout65.xml"/><Relationship Id="rId24" Type="http://schemas.openxmlformats.org/officeDocument/2006/relationships/tags" Target="../tags/tag195.xml"/><Relationship Id="rId32" Type="http://schemas.openxmlformats.org/officeDocument/2006/relationships/tags" Target="../tags/tag203.xml"/><Relationship Id="rId37" Type="http://schemas.openxmlformats.org/officeDocument/2006/relationships/tags" Target="../tags/tag208.xml"/><Relationship Id="rId40" Type="http://schemas.openxmlformats.org/officeDocument/2006/relationships/tags" Target="../tags/tag211.xml"/><Relationship Id="rId45" Type="http://schemas.openxmlformats.org/officeDocument/2006/relationships/tags" Target="../tags/tag216.xml"/><Relationship Id="rId53" Type="http://schemas.openxmlformats.org/officeDocument/2006/relationships/tags" Target="../tags/tag224.xml"/><Relationship Id="rId5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4.xml"/><Relationship Id="rId19" Type="http://schemas.openxmlformats.org/officeDocument/2006/relationships/tags" Target="../tags/tag190.xml"/><Relationship Id="rId31" Type="http://schemas.openxmlformats.org/officeDocument/2006/relationships/tags" Target="../tags/tag202.xml"/><Relationship Id="rId44" Type="http://schemas.openxmlformats.org/officeDocument/2006/relationships/tags" Target="../tags/tag215.xml"/><Relationship Id="rId52" Type="http://schemas.openxmlformats.org/officeDocument/2006/relationships/tags" Target="../tags/tag223.xml"/><Relationship Id="rId4" Type="http://schemas.openxmlformats.org/officeDocument/2006/relationships/slideLayout" Target="../slideLayouts/slideLayout58.xml"/><Relationship Id="rId9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8.xml"/><Relationship Id="rId22" Type="http://schemas.openxmlformats.org/officeDocument/2006/relationships/tags" Target="../tags/tag193.xml"/><Relationship Id="rId27" Type="http://schemas.openxmlformats.org/officeDocument/2006/relationships/tags" Target="../tags/tag198.xml"/><Relationship Id="rId30" Type="http://schemas.openxmlformats.org/officeDocument/2006/relationships/tags" Target="../tags/tag201.xml"/><Relationship Id="rId35" Type="http://schemas.openxmlformats.org/officeDocument/2006/relationships/tags" Target="../tags/tag206.xml"/><Relationship Id="rId43" Type="http://schemas.openxmlformats.org/officeDocument/2006/relationships/tags" Target="../tags/tag214.xml"/><Relationship Id="rId48" Type="http://schemas.openxmlformats.org/officeDocument/2006/relationships/tags" Target="../tags/tag219.xml"/><Relationship Id="rId8" Type="http://schemas.openxmlformats.org/officeDocument/2006/relationships/slideLayout" Target="../slideLayouts/slideLayout62.xml"/><Relationship Id="rId51" Type="http://schemas.openxmlformats.org/officeDocument/2006/relationships/tags" Target="../tags/tag222.xml"/><Relationship Id="rId3" Type="http://schemas.openxmlformats.org/officeDocument/2006/relationships/slideLayout" Target="../slideLayouts/slideLayout57.xml"/><Relationship Id="rId12" Type="http://schemas.openxmlformats.org/officeDocument/2006/relationships/slideLayout" Target="../slideLayouts/slideLayout66.xml"/><Relationship Id="rId17" Type="http://schemas.openxmlformats.org/officeDocument/2006/relationships/theme" Target="../theme/theme4.xml"/><Relationship Id="rId25" Type="http://schemas.openxmlformats.org/officeDocument/2006/relationships/tags" Target="../tags/tag196.xml"/><Relationship Id="rId33" Type="http://schemas.openxmlformats.org/officeDocument/2006/relationships/tags" Target="../tags/tag204.xml"/><Relationship Id="rId38" Type="http://schemas.openxmlformats.org/officeDocument/2006/relationships/tags" Target="../tags/tag209.xml"/><Relationship Id="rId46" Type="http://schemas.openxmlformats.org/officeDocument/2006/relationships/tags" Target="../tags/tag217.xml"/><Relationship Id="rId20" Type="http://schemas.openxmlformats.org/officeDocument/2006/relationships/tags" Target="../tags/tag191.xml"/><Relationship Id="rId41" Type="http://schemas.openxmlformats.org/officeDocument/2006/relationships/tags" Target="../tags/tag212.xml"/><Relationship Id="rId54" Type="http://schemas.openxmlformats.org/officeDocument/2006/relationships/tags" Target="../tags/tag225.xml"/><Relationship Id="rId1" Type="http://schemas.openxmlformats.org/officeDocument/2006/relationships/slideLayout" Target="../slideLayouts/slideLayout55.xml"/><Relationship Id="rId6" Type="http://schemas.openxmlformats.org/officeDocument/2006/relationships/slideLayout" Target="../slideLayouts/slideLayout60.xml"/><Relationship Id="rId15" Type="http://schemas.openxmlformats.org/officeDocument/2006/relationships/slideLayout" Target="../slideLayouts/slideLayout69.xml"/><Relationship Id="rId23" Type="http://schemas.openxmlformats.org/officeDocument/2006/relationships/tags" Target="../tags/tag194.xml"/><Relationship Id="rId28" Type="http://schemas.openxmlformats.org/officeDocument/2006/relationships/tags" Target="../tags/tag199.xml"/><Relationship Id="rId36" Type="http://schemas.openxmlformats.org/officeDocument/2006/relationships/tags" Target="../tags/tag207.xml"/><Relationship Id="rId49" Type="http://schemas.openxmlformats.org/officeDocument/2006/relationships/tags" Target="../tags/tag220.xml"/></Relationships>
</file>

<file path=ppt/slideMasters/_rels/slideMaster5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83.xml"/><Relationship Id="rId18" Type="http://schemas.openxmlformats.org/officeDocument/2006/relationships/tags" Target="../tags/tag256.xml"/><Relationship Id="rId26" Type="http://schemas.openxmlformats.org/officeDocument/2006/relationships/tags" Target="../tags/tag264.xml"/><Relationship Id="rId39" Type="http://schemas.openxmlformats.org/officeDocument/2006/relationships/tags" Target="../tags/tag277.xml"/><Relationship Id="rId21" Type="http://schemas.openxmlformats.org/officeDocument/2006/relationships/tags" Target="../tags/tag259.xml"/><Relationship Id="rId34" Type="http://schemas.openxmlformats.org/officeDocument/2006/relationships/tags" Target="../tags/tag272.xml"/><Relationship Id="rId42" Type="http://schemas.openxmlformats.org/officeDocument/2006/relationships/tags" Target="../tags/tag280.xml"/><Relationship Id="rId47" Type="http://schemas.openxmlformats.org/officeDocument/2006/relationships/tags" Target="../tags/tag285.xml"/><Relationship Id="rId50" Type="http://schemas.openxmlformats.org/officeDocument/2006/relationships/tags" Target="../tags/tag288.xml"/><Relationship Id="rId7" Type="http://schemas.openxmlformats.org/officeDocument/2006/relationships/slideLayout" Target="../slideLayouts/slideLayout77.xml"/><Relationship Id="rId2" Type="http://schemas.openxmlformats.org/officeDocument/2006/relationships/slideLayout" Target="../slideLayouts/slideLayout72.xml"/><Relationship Id="rId16" Type="http://schemas.openxmlformats.org/officeDocument/2006/relationships/theme" Target="../theme/theme5.xml"/><Relationship Id="rId29" Type="http://schemas.openxmlformats.org/officeDocument/2006/relationships/tags" Target="../tags/tag267.xml"/><Relationship Id="rId11" Type="http://schemas.openxmlformats.org/officeDocument/2006/relationships/slideLayout" Target="../slideLayouts/slideLayout81.xml"/><Relationship Id="rId24" Type="http://schemas.openxmlformats.org/officeDocument/2006/relationships/tags" Target="../tags/tag262.xml"/><Relationship Id="rId32" Type="http://schemas.openxmlformats.org/officeDocument/2006/relationships/tags" Target="../tags/tag270.xml"/><Relationship Id="rId37" Type="http://schemas.openxmlformats.org/officeDocument/2006/relationships/tags" Target="../tags/tag275.xml"/><Relationship Id="rId40" Type="http://schemas.openxmlformats.org/officeDocument/2006/relationships/tags" Target="../tags/tag278.xml"/><Relationship Id="rId45" Type="http://schemas.openxmlformats.org/officeDocument/2006/relationships/tags" Target="../tags/tag283.xml"/><Relationship Id="rId53" Type="http://schemas.openxmlformats.org/officeDocument/2006/relationships/tags" Target="../tags/tag291.xml"/><Relationship Id="rId5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80.xml"/><Relationship Id="rId19" Type="http://schemas.openxmlformats.org/officeDocument/2006/relationships/tags" Target="../tags/tag257.xml"/><Relationship Id="rId31" Type="http://schemas.openxmlformats.org/officeDocument/2006/relationships/tags" Target="../tags/tag269.xml"/><Relationship Id="rId44" Type="http://schemas.openxmlformats.org/officeDocument/2006/relationships/tags" Target="../tags/tag282.xml"/><Relationship Id="rId52" Type="http://schemas.openxmlformats.org/officeDocument/2006/relationships/tags" Target="../tags/tag290.xml"/><Relationship Id="rId4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4.xml"/><Relationship Id="rId22" Type="http://schemas.openxmlformats.org/officeDocument/2006/relationships/tags" Target="../tags/tag260.xml"/><Relationship Id="rId27" Type="http://schemas.openxmlformats.org/officeDocument/2006/relationships/tags" Target="../tags/tag265.xml"/><Relationship Id="rId30" Type="http://schemas.openxmlformats.org/officeDocument/2006/relationships/tags" Target="../tags/tag268.xml"/><Relationship Id="rId35" Type="http://schemas.openxmlformats.org/officeDocument/2006/relationships/tags" Target="../tags/tag273.xml"/><Relationship Id="rId43" Type="http://schemas.openxmlformats.org/officeDocument/2006/relationships/tags" Target="../tags/tag281.xml"/><Relationship Id="rId48" Type="http://schemas.openxmlformats.org/officeDocument/2006/relationships/tags" Target="../tags/tag286.xml"/><Relationship Id="rId8" Type="http://schemas.openxmlformats.org/officeDocument/2006/relationships/slideLayout" Target="../slideLayouts/slideLayout78.xml"/><Relationship Id="rId51" Type="http://schemas.openxmlformats.org/officeDocument/2006/relationships/tags" Target="../tags/tag289.xml"/><Relationship Id="rId3" Type="http://schemas.openxmlformats.org/officeDocument/2006/relationships/slideLayout" Target="../slideLayouts/slideLayout73.xml"/><Relationship Id="rId12" Type="http://schemas.openxmlformats.org/officeDocument/2006/relationships/slideLayout" Target="../slideLayouts/slideLayout82.xml"/><Relationship Id="rId17" Type="http://schemas.openxmlformats.org/officeDocument/2006/relationships/tags" Target="../tags/tag255.xml"/><Relationship Id="rId25" Type="http://schemas.openxmlformats.org/officeDocument/2006/relationships/tags" Target="../tags/tag263.xml"/><Relationship Id="rId33" Type="http://schemas.openxmlformats.org/officeDocument/2006/relationships/tags" Target="../tags/tag271.xml"/><Relationship Id="rId38" Type="http://schemas.openxmlformats.org/officeDocument/2006/relationships/tags" Target="../tags/tag276.xml"/><Relationship Id="rId46" Type="http://schemas.openxmlformats.org/officeDocument/2006/relationships/tags" Target="../tags/tag284.xml"/><Relationship Id="rId20" Type="http://schemas.openxmlformats.org/officeDocument/2006/relationships/tags" Target="../tags/tag258.xml"/><Relationship Id="rId41" Type="http://schemas.openxmlformats.org/officeDocument/2006/relationships/tags" Target="../tags/tag279.xml"/><Relationship Id="rId54" Type="http://schemas.openxmlformats.org/officeDocument/2006/relationships/tags" Target="../tags/tag292.xml"/><Relationship Id="rId1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6.xml"/><Relationship Id="rId15" Type="http://schemas.openxmlformats.org/officeDocument/2006/relationships/slideLayout" Target="../slideLayouts/slideLayout85.xml"/><Relationship Id="rId23" Type="http://schemas.openxmlformats.org/officeDocument/2006/relationships/tags" Target="../tags/tag261.xml"/><Relationship Id="rId28" Type="http://schemas.openxmlformats.org/officeDocument/2006/relationships/tags" Target="../tags/tag266.xml"/><Relationship Id="rId36" Type="http://schemas.openxmlformats.org/officeDocument/2006/relationships/tags" Target="../tags/tag274.xml"/><Relationship Id="rId49" Type="http://schemas.openxmlformats.org/officeDocument/2006/relationships/tags" Target="../tags/tag287.xml"/></Relationships>
</file>

<file path=ppt/slideMasters/_rels/slideMaster6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98.xml"/><Relationship Id="rId18" Type="http://schemas.openxmlformats.org/officeDocument/2006/relationships/slideLayout" Target="../slideLayouts/slideLayout103.xml"/><Relationship Id="rId26" Type="http://schemas.openxmlformats.org/officeDocument/2006/relationships/tags" Target="../tags/tag322.xml"/><Relationship Id="rId39" Type="http://schemas.openxmlformats.org/officeDocument/2006/relationships/tags" Target="../tags/tag335.xml"/><Relationship Id="rId21" Type="http://schemas.openxmlformats.org/officeDocument/2006/relationships/slideLayout" Target="../slideLayouts/slideLayout106.xml"/><Relationship Id="rId34" Type="http://schemas.openxmlformats.org/officeDocument/2006/relationships/tags" Target="../tags/tag330.xml"/><Relationship Id="rId42" Type="http://schemas.openxmlformats.org/officeDocument/2006/relationships/tags" Target="../tags/tag338.xml"/><Relationship Id="rId47" Type="http://schemas.openxmlformats.org/officeDocument/2006/relationships/tags" Target="../tags/tag343.xml"/><Relationship Id="rId50" Type="http://schemas.openxmlformats.org/officeDocument/2006/relationships/tags" Target="../tags/tag346.xml"/><Relationship Id="rId55" Type="http://schemas.openxmlformats.org/officeDocument/2006/relationships/tags" Target="../tags/tag351.xml"/><Relationship Id="rId7" Type="http://schemas.openxmlformats.org/officeDocument/2006/relationships/slideLayout" Target="../slideLayouts/slideLayout92.xml"/><Relationship Id="rId2" Type="http://schemas.openxmlformats.org/officeDocument/2006/relationships/slideLayout" Target="../slideLayouts/slideLayout87.xml"/><Relationship Id="rId16" Type="http://schemas.openxmlformats.org/officeDocument/2006/relationships/slideLayout" Target="../slideLayouts/slideLayout101.xml"/><Relationship Id="rId29" Type="http://schemas.openxmlformats.org/officeDocument/2006/relationships/tags" Target="../tags/tag325.xml"/><Relationship Id="rId11" Type="http://schemas.openxmlformats.org/officeDocument/2006/relationships/slideLayout" Target="../slideLayouts/slideLayout96.xml"/><Relationship Id="rId24" Type="http://schemas.openxmlformats.org/officeDocument/2006/relationships/tags" Target="../tags/tag320.xml"/><Relationship Id="rId32" Type="http://schemas.openxmlformats.org/officeDocument/2006/relationships/tags" Target="../tags/tag328.xml"/><Relationship Id="rId37" Type="http://schemas.openxmlformats.org/officeDocument/2006/relationships/tags" Target="../tags/tag333.xml"/><Relationship Id="rId40" Type="http://schemas.openxmlformats.org/officeDocument/2006/relationships/tags" Target="../tags/tag336.xml"/><Relationship Id="rId45" Type="http://schemas.openxmlformats.org/officeDocument/2006/relationships/tags" Target="../tags/tag341.xml"/><Relationship Id="rId53" Type="http://schemas.openxmlformats.org/officeDocument/2006/relationships/tags" Target="../tags/tag349.xml"/><Relationship Id="rId5" Type="http://schemas.openxmlformats.org/officeDocument/2006/relationships/slideLayout" Target="../slideLayouts/slideLayout90.xml"/><Relationship Id="rId19" Type="http://schemas.openxmlformats.org/officeDocument/2006/relationships/slideLayout" Target="../slideLayouts/slideLayout104.xml"/><Relationship Id="rId4" Type="http://schemas.openxmlformats.org/officeDocument/2006/relationships/slideLayout" Target="../slideLayouts/slideLayout89.xml"/><Relationship Id="rId9" Type="http://schemas.openxmlformats.org/officeDocument/2006/relationships/slideLayout" Target="../slideLayouts/slideLayout94.xml"/><Relationship Id="rId14" Type="http://schemas.openxmlformats.org/officeDocument/2006/relationships/slideLayout" Target="../slideLayouts/slideLayout99.xml"/><Relationship Id="rId22" Type="http://schemas.openxmlformats.org/officeDocument/2006/relationships/theme" Target="../theme/theme6.xml"/><Relationship Id="rId27" Type="http://schemas.openxmlformats.org/officeDocument/2006/relationships/tags" Target="../tags/tag323.xml"/><Relationship Id="rId30" Type="http://schemas.openxmlformats.org/officeDocument/2006/relationships/tags" Target="../tags/tag326.xml"/><Relationship Id="rId35" Type="http://schemas.openxmlformats.org/officeDocument/2006/relationships/tags" Target="../tags/tag331.xml"/><Relationship Id="rId43" Type="http://schemas.openxmlformats.org/officeDocument/2006/relationships/tags" Target="../tags/tag339.xml"/><Relationship Id="rId48" Type="http://schemas.openxmlformats.org/officeDocument/2006/relationships/tags" Target="../tags/tag344.xml"/><Relationship Id="rId56" Type="http://schemas.openxmlformats.org/officeDocument/2006/relationships/tags" Target="../tags/tag352.xml"/><Relationship Id="rId8" Type="http://schemas.openxmlformats.org/officeDocument/2006/relationships/slideLayout" Target="../slideLayouts/slideLayout93.xml"/><Relationship Id="rId51" Type="http://schemas.openxmlformats.org/officeDocument/2006/relationships/tags" Target="../tags/tag347.xml"/><Relationship Id="rId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97.xml"/><Relationship Id="rId17" Type="http://schemas.openxmlformats.org/officeDocument/2006/relationships/slideLayout" Target="../slideLayouts/slideLayout102.xml"/><Relationship Id="rId25" Type="http://schemas.openxmlformats.org/officeDocument/2006/relationships/tags" Target="../tags/tag321.xml"/><Relationship Id="rId33" Type="http://schemas.openxmlformats.org/officeDocument/2006/relationships/tags" Target="../tags/tag329.xml"/><Relationship Id="rId38" Type="http://schemas.openxmlformats.org/officeDocument/2006/relationships/tags" Target="../tags/tag334.xml"/><Relationship Id="rId46" Type="http://schemas.openxmlformats.org/officeDocument/2006/relationships/tags" Target="../tags/tag342.xml"/><Relationship Id="rId20" Type="http://schemas.openxmlformats.org/officeDocument/2006/relationships/slideLayout" Target="../slideLayouts/slideLayout105.xml"/><Relationship Id="rId41" Type="http://schemas.openxmlformats.org/officeDocument/2006/relationships/tags" Target="../tags/tag337.xml"/><Relationship Id="rId54" Type="http://schemas.openxmlformats.org/officeDocument/2006/relationships/tags" Target="../tags/tag350.xml"/><Relationship Id="rId1" Type="http://schemas.openxmlformats.org/officeDocument/2006/relationships/slideLayout" Target="../slideLayouts/slideLayout86.xml"/><Relationship Id="rId6" Type="http://schemas.openxmlformats.org/officeDocument/2006/relationships/slideLayout" Target="../slideLayouts/slideLayout91.xml"/><Relationship Id="rId15" Type="http://schemas.openxmlformats.org/officeDocument/2006/relationships/slideLayout" Target="../slideLayouts/slideLayout100.xml"/><Relationship Id="rId23" Type="http://schemas.openxmlformats.org/officeDocument/2006/relationships/tags" Target="../tags/tag319.xml"/><Relationship Id="rId28" Type="http://schemas.openxmlformats.org/officeDocument/2006/relationships/tags" Target="../tags/tag324.xml"/><Relationship Id="rId36" Type="http://schemas.openxmlformats.org/officeDocument/2006/relationships/tags" Target="../tags/tag332.xml"/><Relationship Id="rId49" Type="http://schemas.openxmlformats.org/officeDocument/2006/relationships/tags" Target="../tags/tag345.xml"/><Relationship Id="rId57" Type="http://schemas.openxmlformats.org/officeDocument/2006/relationships/tags" Target="../tags/tag353.xml"/><Relationship Id="rId10" Type="http://schemas.openxmlformats.org/officeDocument/2006/relationships/slideLayout" Target="../slideLayouts/slideLayout95.xml"/><Relationship Id="rId31" Type="http://schemas.openxmlformats.org/officeDocument/2006/relationships/tags" Target="../tags/tag327.xml"/><Relationship Id="rId44" Type="http://schemas.openxmlformats.org/officeDocument/2006/relationships/tags" Target="../tags/tag340.xml"/><Relationship Id="rId52" Type="http://schemas.openxmlformats.org/officeDocument/2006/relationships/tags" Target="../tags/tag348.xml"/></Relationships>
</file>

<file path=ppt/slideMasters/_rels/slideMaster7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19.xml"/><Relationship Id="rId18" Type="http://schemas.openxmlformats.org/officeDocument/2006/relationships/tags" Target="../tags/tag374.xml"/><Relationship Id="rId26" Type="http://schemas.openxmlformats.org/officeDocument/2006/relationships/tags" Target="../tags/tag382.xml"/><Relationship Id="rId39" Type="http://schemas.openxmlformats.org/officeDocument/2006/relationships/tags" Target="../tags/tag395.xml"/><Relationship Id="rId21" Type="http://schemas.openxmlformats.org/officeDocument/2006/relationships/tags" Target="../tags/tag377.xml"/><Relationship Id="rId34" Type="http://schemas.openxmlformats.org/officeDocument/2006/relationships/tags" Target="../tags/tag390.xml"/><Relationship Id="rId42" Type="http://schemas.openxmlformats.org/officeDocument/2006/relationships/tags" Target="../tags/tag398.xml"/><Relationship Id="rId47" Type="http://schemas.openxmlformats.org/officeDocument/2006/relationships/tags" Target="../tags/tag403.xml"/><Relationship Id="rId50" Type="http://schemas.openxmlformats.org/officeDocument/2006/relationships/tags" Target="../tags/tag406.xml"/><Relationship Id="rId7" Type="http://schemas.openxmlformats.org/officeDocument/2006/relationships/slideLayout" Target="../slideLayouts/slideLayout113.xml"/><Relationship Id="rId2" Type="http://schemas.openxmlformats.org/officeDocument/2006/relationships/slideLayout" Target="../slideLayouts/slideLayout108.xml"/><Relationship Id="rId16" Type="http://schemas.openxmlformats.org/officeDocument/2006/relationships/theme" Target="../theme/theme7.xml"/><Relationship Id="rId29" Type="http://schemas.openxmlformats.org/officeDocument/2006/relationships/tags" Target="../tags/tag385.xml"/><Relationship Id="rId11" Type="http://schemas.openxmlformats.org/officeDocument/2006/relationships/slideLayout" Target="../slideLayouts/slideLayout117.xml"/><Relationship Id="rId24" Type="http://schemas.openxmlformats.org/officeDocument/2006/relationships/tags" Target="../tags/tag380.xml"/><Relationship Id="rId32" Type="http://schemas.openxmlformats.org/officeDocument/2006/relationships/tags" Target="../tags/tag388.xml"/><Relationship Id="rId37" Type="http://schemas.openxmlformats.org/officeDocument/2006/relationships/tags" Target="../tags/tag393.xml"/><Relationship Id="rId40" Type="http://schemas.openxmlformats.org/officeDocument/2006/relationships/tags" Target="../tags/tag396.xml"/><Relationship Id="rId45" Type="http://schemas.openxmlformats.org/officeDocument/2006/relationships/tags" Target="../tags/tag401.xml"/><Relationship Id="rId53" Type="http://schemas.openxmlformats.org/officeDocument/2006/relationships/tags" Target="../tags/tag409.xml"/><Relationship Id="rId5" Type="http://schemas.openxmlformats.org/officeDocument/2006/relationships/slideLayout" Target="../slideLayouts/slideLayout111.xml"/><Relationship Id="rId10" Type="http://schemas.openxmlformats.org/officeDocument/2006/relationships/slideLayout" Target="../slideLayouts/slideLayout116.xml"/><Relationship Id="rId19" Type="http://schemas.openxmlformats.org/officeDocument/2006/relationships/tags" Target="../tags/tag375.xml"/><Relationship Id="rId31" Type="http://schemas.openxmlformats.org/officeDocument/2006/relationships/tags" Target="../tags/tag387.xml"/><Relationship Id="rId44" Type="http://schemas.openxmlformats.org/officeDocument/2006/relationships/tags" Target="../tags/tag400.xml"/><Relationship Id="rId52" Type="http://schemas.openxmlformats.org/officeDocument/2006/relationships/tags" Target="../tags/tag408.xml"/><Relationship Id="rId4" Type="http://schemas.openxmlformats.org/officeDocument/2006/relationships/slideLayout" Target="../slideLayouts/slideLayout110.xml"/><Relationship Id="rId9" Type="http://schemas.openxmlformats.org/officeDocument/2006/relationships/slideLayout" Target="../slideLayouts/slideLayout115.xml"/><Relationship Id="rId14" Type="http://schemas.openxmlformats.org/officeDocument/2006/relationships/slideLayout" Target="../slideLayouts/slideLayout120.xml"/><Relationship Id="rId22" Type="http://schemas.openxmlformats.org/officeDocument/2006/relationships/tags" Target="../tags/tag378.xml"/><Relationship Id="rId27" Type="http://schemas.openxmlformats.org/officeDocument/2006/relationships/tags" Target="../tags/tag383.xml"/><Relationship Id="rId30" Type="http://schemas.openxmlformats.org/officeDocument/2006/relationships/tags" Target="../tags/tag386.xml"/><Relationship Id="rId35" Type="http://schemas.openxmlformats.org/officeDocument/2006/relationships/tags" Target="../tags/tag391.xml"/><Relationship Id="rId43" Type="http://schemas.openxmlformats.org/officeDocument/2006/relationships/tags" Target="../tags/tag399.xml"/><Relationship Id="rId48" Type="http://schemas.openxmlformats.org/officeDocument/2006/relationships/tags" Target="../tags/tag404.xml"/><Relationship Id="rId8" Type="http://schemas.openxmlformats.org/officeDocument/2006/relationships/slideLayout" Target="../slideLayouts/slideLayout114.xml"/><Relationship Id="rId51" Type="http://schemas.openxmlformats.org/officeDocument/2006/relationships/tags" Target="../tags/tag407.xml"/><Relationship Id="rId3" Type="http://schemas.openxmlformats.org/officeDocument/2006/relationships/slideLayout" Target="../slideLayouts/slideLayout109.xml"/><Relationship Id="rId12" Type="http://schemas.openxmlformats.org/officeDocument/2006/relationships/slideLayout" Target="../slideLayouts/slideLayout118.xml"/><Relationship Id="rId17" Type="http://schemas.openxmlformats.org/officeDocument/2006/relationships/tags" Target="../tags/tag373.xml"/><Relationship Id="rId25" Type="http://schemas.openxmlformats.org/officeDocument/2006/relationships/tags" Target="../tags/tag381.xml"/><Relationship Id="rId33" Type="http://schemas.openxmlformats.org/officeDocument/2006/relationships/tags" Target="../tags/tag389.xml"/><Relationship Id="rId38" Type="http://schemas.openxmlformats.org/officeDocument/2006/relationships/tags" Target="../tags/tag394.xml"/><Relationship Id="rId46" Type="http://schemas.openxmlformats.org/officeDocument/2006/relationships/tags" Target="../tags/tag402.xml"/><Relationship Id="rId20" Type="http://schemas.openxmlformats.org/officeDocument/2006/relationships/tags" Target="../tags/tag376.xml"/><Relationship Id="rId41" Type="http://schemas.openxmlformats.org/officeDocument/2006/relationships/tags" Target="../tags/tag397.xml"/><Relationship Id="rId54" Type="http://schemas.openxmlformats.org/officeDocument/2006/relationships/tags" Target="../tags/tag410.xml"/><Relationship Id="rId1" Type="http://schemas.openxmlformats.org/officeDocument/2006/relationships/slideLayout" Target="../slideLayouts/slideLayout107.xml"/><Relationship Id="rId6" Type="http://schemas.openxmlformats.org/officeDocument/2006/relationships/slideLayout" Target="../slideLayouts/slideLayout112.xml"/><Relationship Id="rId15" Type="http://schemas.openxmlformats.org/officeDocument/2006/relationships/slideLayout" Target="../slideLayouts/slideLayout121.xml"/><Relationship Id="rId23" Type="http://schemas.openxmlformats.org/officeDocument/2006/relationships/tags" Target="../tags/tag379.xml"/><Relationship Id="rId28" Type="http://schemas.openxmlformats.org/officeDocument/2006/relationships/tags" Target="../tags/tag384.xml"/><Relationship Id="rId36" Type="http://schemas.openxmlformats.org/officeDocument/2006/relationships/tags" Target="../tags/tag392.xml"/><Relationship Id="rId49" Type="http://schemas.openxmlformats.org/officeDocument/2006/relationships/tags" Target="../tags/tag40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22"/>
          <p:cNvSpPr/>
          <p:nvPr>
            <p:custDataLst>
              <p:tags r:id="rId19"/>
            </p:custDataLst>
          </p:nvPr>
        </p:nvSpPr>
        <p:spPr>
          <a:xfrm>
            <a:off x="12323200" y="138430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3161010" y="138430"/>
            <a:ext cx="9277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标题文字</a:t>
            </a:r>
          </a:p>
        </p:txBody>
      </p:sp>
      <p:sp>
        <p:nvSpPr>
          <p:cNvPr id="76" name="文本框 75"/>
          <p:cNvSpPr txBox="1"/>
          <p:nvPr/>
        </p:nvSpPr>
        <p:spPr>
          <a:xfrm>
            <a:off x="12224385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深色背景</a:t>
            </a:r>
          </a:p>
        </p:txBody>
      </p:sp>
      <p:sp>
        <p:nvSpPr>
          <p:cNvPr id="77" name="Rounded Rectangle 22"/>
          <p:cNvSpPr/>
          <p:nvPr>
            <p:custDataLst>
              <p:tags r:id="rId20"/>
            </p:custDataLst>
          </p:nvPr>
        </p:nvSpPr>
        <p:spPr>
          <a:xfrm>
            <a:off x="12837160" y="138430"/>
            <a:ext cx="307975" cy="306070"/>
          </a:xfrm>
          <a:prstGeom prst="rect">
            <a:avLst/>
          </a:prstGeom>
          <a:solidFill>
            <a:srgbClr val="28376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8" name="Rounded Rectangle 22"/>
          <p:cNvSpPr/>
          <p:nvPr>
            <p:custDataLst>
              <p:tags r:id="rId21"/>
            </p:custDataLst>
          </p:nvPr>
        </p:nvSpPr>
        <p:spPr>
          <a:xfrm>
            <a:off x="12323200" y="568325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79" name="Rounded Rectangle 22"/>
          <p:cNvSpPr/>
          <p:nvPr>
            <p:custDataLst>
              <p:tags r:id="rId22"/>
            </p:custDataLst>
          </p:nvPr>
        </p:nvSpPr>
        <p:spPr>
          <a:xfrm>
            <a:off x="12837160" y="568325"/>
            <a:ext cx="307975" cy="306070"/>
          </a:xfrm>
          <a:prstGeom prst="rect">
            <a:avLst/>
          </a:prstGeom>
          <a:solidFill>
            <a:srgbClr val="41507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3161010" y="583565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正文文字</a:t>
            </a:r>
          </a:p>
        </p:txBody>
      </p:sp>
      <p:sp>
        <p:nvSpPr>
          <p:cNvPr id="81" name="Rounded Rectangle 22"/>
          <p:cNvSpPr/>
          <p:nvPr>
            <p:custDataLst>
              <p:tags r:id="rId23"/>
            </p:custDataLst>
          </p:nvPr>
        </p:nvSpPr>
        <p:spPr>
          <a:xfrm>
            <a:off x="12323200" y="998220"/>
            <a:ext cx="307975" cy="306070"/>
          </a:xfrm>
          <a:prstGeom prst="rect">
            <a:avLst/>
          </a:prstGeom>
          <a:solidFill>
            <a:srgbClr val="D9D9D9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5" name="Rounded Rectangle 22"/>
          <p:cNvSpPr/>
          <p:nvPr>
            <p:custDataLst>
              <p:tags r:id="rId24"/>
            </p:custDataLst>
          </p:nvPr>
        </p:nvSpPr>
        <p:spPr>
          <a:xfrm>
            <a:off x="12837160" y="998220"/>
            <a:ext cx="307975" cy="306070"/>
          </a:xfrm>
          <a:prstGeom prst="rect">
            <a:avLst/>
          </a:prstGeom>
          <a:solidFill>
            <a:srgbClr val="80808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Rounded Rectangle 22"/>
          <p:cNvSpPr/>
          <p:nvPr>
            <p:custDataLst>
              <p:tags r:id="rId25"/>
            </p:custDataLst>
          </p:nvPr>
        </p:nvSpPr>
        <p:spPr>
          <a:xfrm>
            <a:off x="12323200" y="2434846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0" name="Rounded Rectangle 22"/>
          <p:cNvSpPr/>
          <p:nvPr>
            <p:custDataLst>
              <p:tags r:id="rId26"/>
            </p:custDataLst>
          </p:nvPr>
        </p:nvSpPr>
        <p:spPr>
          <a:xfrm>
            <a:off x="12323200" y="2060566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1" name="Rounded Rectangle 22"/>
          <p:cNvSpPr/>
          <p:nvPr>
            <p:custDataLst>
              <p:tags r:id="rId27"/>
            </p:custDataLst>
          </p:nvPr>
        </p:nvSpPr>
        <p:spPr>
          <a:xfrm>
            <a:off x="12323200" y="3183406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2" name="Rounded Rectangle 22"/>
          <p:cNvSpPr/>
          <p:nvPr>
            <p:custDataLst>
              <p:tags r:id="rId28"/>
            </p:custDataLst>
          </p:nvPr>
        </p:nvSpPr>
        <p:spPr>
          <a:xfrm>
            <a:off x="12707079" y="3183406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3" name="Rounded Rectangle 22"/>
          <p:cNvSpPr/>
          <p:nvPr>
            <p:custDataLst>
              <p:tags r:id="rId29"/>
            </p:custDataLst>
          </p:nvPr>
        </p:nvSpPr>
        <p:spPr>
          <a:xfrm>
            <a:off x="12707079" y="3554233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4" name="Rounded Rectangle 22"/>
          <p:cNvSpPr/>
          <p:nvPr>
            <p:custDataLst>
              <p:tags r:id="rId30"/>
            </p:custDataLst>
          </p:nvPr>
        </p:nvSpPr>
        <p:spPr>
          <a:xfrm>
            <a:off x="12323200" y="3931966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5" name="Rounded Rectangle 22"/>
          <p:cNvSpPr/>
          <p:nvPr>
            <p:custDataLst>
              <p:tags r:id="rId31"/>
            </p:custDataLst>
          </p:nvPr>
        </p:nvSpPr>
        <p:spPr>
          <a:xfrm>
            <a:off x="12323200" y="4306246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6" name="Rounded Rectangle 22"/>
          <p:cNvSpPr/>
          <p:nvPr>
            <p:custDataLst>
              <p:tags r:id="rId32"/>
            </p:custDataLst>
          </p:nvPr>
        </p:nvSpPr>
        <p:spPr>
          <a:xfrm>
            <a:off x="12710663" y="5047748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8" name="Rounded Rectangle 22"/>
          <p:cNvSpPr/>
          <p:nvPr>
            <p:custDataLst>
              <p:tags r:id="rId33"/>
            </p:custDataLst>
          </p:nvPr>
        </p:nvSpPr>
        <p:spPr>
          <a:xfrm>
            <a:off x="12323200" y="5429086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9" name="Rounded Rectangle 22"/>
          <p:cNvSpPr/>
          <p:nvPr>
            <p:custDataLst>
              <p:tags r:id="rId34"/>
            </p:custDataLst>
          </p:nvPr>
        </p:nvSpPr>
        <p:spPr>
          <a:xfrm>
            <a:off x="12323200" y="5803366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Rounded Rectangle 22"/>
          <p:cNvSpPr/>
          <p:nvPr>
            <p:custDataLst>
              <p:tags r:id="rId35"/>
            </p:custDataLst>
          </p:nvPr>
        </p:nvSpPr>
        <p:spPr>
          <a:xfrm>
            <a:off x="12323200" y="6177646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" name="Rounded Rectangle 22"/>
          <p:cNvSpPr/>
          <p:nvPr>
            <p:custDataLst>
              <p:tags r:id="rId36"/>
            </p:custDataLst>
          </p:nvPr>
        </p:nvSpPr>
        <p:spPr>
          <a:xfrm>
            <a:off x="12323200" y="6551930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815845" y="9008232"/>
            <a:ext cx="15720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在这占位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防止轻易跨页滚动</a:t>
            </a:r>
          </a:p>
        </p:txBody>
      </p:sp>
      <p:sp>
        <p:nvSpPr>
          <p:cNvPr id="7" name="Rounded Rectangle 21"/>
          <p:cNvSpPr/>
          <p:nvPr>
            <p:custDataLst>
              <p:tags r:id="rId37"/>
            </p:custDataLst>
          </p:nvPr>
        </p:nvSpPr>
        <p:spPr>
          <a:xfrm>
            <a:off x="12707083" y="6551930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2321703" y="5052467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323200" y="2801697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2323199" y="3560226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6" name="Rounded Rectangle 22"/>
          <p:cNvSpPr/>
          <p:nvPr>
            <p:custDataLst>
              <p:tags r:id="rId38"/>
            </p:custDataLst>
          </p:nvPr>
        </p:nvSpPr>
        <p:spPr>
          <a:xfrm>
            <a:off x="12707080" y="5803366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1" name="Rounded Rectangle 22"/>
          <p:cNvSpPr/>
          <p:nvPr>
            <p:custDataLst>
              <p:tags r:id="rId39"/>
            </p:custDataLst>
          </p:nvPr>
        </p:nvSpPr>
        <p:spPr>
          <a:xfrm>
            <a:off x="12705584" y="4671211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4" name="Rounded Rectangle 22"/>
          <p:cNvSpPr/>
          <p:nvPr>
            <p:custDataLst>
              <p:tags r:id="rId40"/>
            </p:custDataLst>
          </p:nvPr>
        </p:nvSpPr>
        <p:spPr>
          <a:xfrm>
            <a:off x="12321703" y="4671731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13161010" y="998220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辅助文字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12740191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白色背景</a:t>
            </a:r>
          </a:p>
        </p:txBody>
      </p:sp>
      <p:sp>
        <p:nvSpPr>
          <p:cNvPr id="22" name="Rounded Rectangle 22"/>
          <p:cNvSpPr/>
          <p:nvPr>
            <p:custDataLst>
              <p:tags r:id="rId41"/>
            </p:custDataLst>
          </p:nvPr>
        </p:nvSpPr>
        <p:spPr>
          <a:xfrm>
            <a:off x="409115" y="6909435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3" name="Rounded Rectangle 22"/>
          <p:cNvSpPr/>
          <p:nvPr>
            <p:custDataLst>
              <p:tags r:id="rId42"/>
            </p:custDataLst>
          </p:nvPr>
        </p:nvSpPr>
        <p:spPr>
          <a:xfrm>
            <a:off x="0" y="6909435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4" name="Rounded Rectangle 22"/>
          <p:cNvSpPr/>
          <p:nvPr>
            <p:custDataLst>
              <p:tags r:id="rId43"/>
            </p:custDataLst>
          </p:nvPr>
        </p:nvSpPr>
        <p:spPr>
          <a:xfrm>
            <a:off x="1227345" y="6909435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Rounded Rectangle 22"/>
          <p:cNvSpPr/>
          <p:nvPr>
            <p:custDataLst>
              <p:tags r:id="rId44"/>
            </p:custDataLst>
          </p:nvPr>
        </p:nvSpPr>
        <p:spPr>
          <a:xfrm>
            <a:off x="1636460" y="6909435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6" name="Rounded Rectangle 22"/>
          <p:cNvSpPr/>
          <p:nvPr>
            <p:custDataLst>
              <p:tags r:id="rId45"/>
            </p:custDataLst>
          </p:nvPr>
        </p:nvSpPr>
        <p:spPr>
          <a:xfrm>
            <a:off x="2454690" y="6909435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7" name="Rounded Rectangle 22"/>
          <p:cNvSpPr/>
          <p:nvPr>
            <p:custDataLst>
              <p:tags r:id="rId46"/>
            </p:custDataLst>
          </p:nvPr>
        </p:nvSpPr>
        <p:spPr>
          <a:xfrm>
            <a:off x="2863805" y="6909435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8" name="Rounded Rectangle 22"/>
          <p:cNvSpPr/>
          <p:nvPr>
            <p:custDataLst>
              <p:tags r:id="rId47"/>
            </p:custDataLst>
          </p:nvPr>
        </p:nvSpPr>
        <p:spPr>
          <a:xfrm>
            <a:off x="3272920" y="6909435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9" name="Rounded Rectangle 22"/>
          <p:cNvSpPr/>
          <p:nvPr>
            <p:custDataLst>
              <p:tags r:id="rId48"/>
            </p:custDataLst>
          </p:nvPr>
        </p:nvSpPr>
        <p:spPr>
          <a:xfrm>
            <a:off x="4909380" y="6909435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0" name="Rounded Rectangle 22"/>
          <p:cNvSpPr/>
          <p:nvPr>
            <p:custDataLst>
              <p:tags r:id="rId49"/>
            </p:custDataLst>
          </p:nvPr>
        </p:nvSpPr>
        <p:spPr>
          <a:xfrm>
            <a:off x="5318495" y="6909435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1" name="Rounded Rectangle 22"/>
          <p:cNvSpPr/>
          <p:nvPr>
            <p:custDataLst>
              <p:tags r:id="rId50"/>
            </p:custDataLst>
          </p:nvPr>
        </p:nvSpPr>
        <p:spPr>
          <a:xfrm>
            <a:off x="5727610" y="6909435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2" name="Rounded Rectangle 22"/>
          <p:cNvSpPr/>
          <p:nvPr>
            <p:custDataLst>
              <p:tags r:id="rId51"/>
            </p:custDataLst>
          </p:nvPr>
        </p:nvSpPr>
        <p:spPr>
          <a:xfrm>
            <a:off x="6545840" y="6909435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3" name="Rounded Rectangle 22"/>
          <p:cNvSpPr/>
          <p:nvPr>
            <p:custDataLst>
              <p:tags r:id="rId52"/>
            </p:custDataLst>
          </p:nvPr>
        </p:nvSpPr>
        <p:spPr>
          <a:xfrm>
            <a:off x="6954955" y="6909435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4" name="Rounded Rectangle 21"/>
          <p:cNvSpPr/>
          <p:nvPr>
            <p:custDataLst>
              <p:tags r:id="rId53"/>
            </p:custDataLst>
          </p:nvPr>
        </p:nvSpPr>
        <p:spPr>
          <a:xfrm>
            <a:off x="7364064" y="6909435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4500265" y="6909435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818230" y="6909435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2045575" y="6909435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8" name="Rounded Rectangle 22"/>
          <p:cNvSpPr/>
          <p:nvPr>
            <p:custDataLst>
              <p:tags r:id="rId54"/>
            </p:custDataLst>
          </p:nvPr>
        </p:nvSpPr>
        <p:spPr>
          <a:xfrm>
            <a:off x="6136725" y="6909435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9" name="Rounded Rectangle 22"/>
          <p:cNvSpPr/>
          <p:nvPr>
            <p:custDataLst>
              <p:tags r:id="rId55"/>
            </p:custDataLst>
          </p:nvPr>
        </p:nvSpPr>
        <p:spPr>
          <a:xfrm>
            <a:off x="4091150" y="6909435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0" name="Rounded Rectangle 22"/>
          <p:cNvSpPr/>
          <p:nvPr>
            <p:custDataLst>
              <p:tags r:id="rId56"/>
            </p:custDataLst>
          </p:nvPr>
        </p:nvSpPr>
        <p:spPr>
          <a:xfrm>
            <a:off x="3682035" y="6909435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6" name="圆柱形 24"/>
          <p:cNvSpPr/>
          <p:nvPr/>
        </p:nvSpPr>
        <p:spPr bwMode="auto">
          <a:xfrm rot="5400000">
            <a:off x="410845" y="7090410"/>
            <a:ext cx="294640" cy="1136650"/>
          </a:xfrm>
          <a:prstGeom prst="can">
            <a:avLst>
              <a:gd name="adj" fmla="val 45943"/>
            </a:avLst>
          </a:prstGeom>
          <a:solidFill>
            <a:schemeClr val="accent2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vert270" wrap="square" lIns="0" tIns="0" rIns="0" bIns="0" numCol="1" rtlCol="0" anchor="ctr" anchorCtr="0" compatLnSpc="1">
            <a:noAutofit/>
          </a:bodyPr>
          <a:lstStyle>
            <a:defPPr>
              <a:defRPr lang="zh-CN"/>
            </a:defPPr>
            <a:lvl1pPr marL="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914400">
              <a:spcBef>
                <a:spcPts val="0"/>
              </a:spcBef>
              <a:spcAft>
                <a:spcPts val="0"/>
              </a:spcAft>
              <a:buClrTx/>
              <a:buSzTx/>
              <a:buFontTx/>
              <a:defRPr/>
            </a:pPr>
            <a:r>
              <a:rPr lang="en-US" altLang="zh-CN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AMI</a:t>
            </a:r>
            <a:r>
              <a:rPr lang="zh-CN" altLang="en-US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相关</a:t>
            </a:r>
          </a:p>
        </p:txBody>
      </p:sp>
      <p:sp>
        <p:nvSpPr>
          <p:cNvPr id="38" name="矩形: 圆角 71"/>
          <p:cNvSpPr/>
          <p:nvPr/>
        </p:nvSpPr>
        <p:spPr bwMode="auto">
          <a:xfrm>
            <a:off x="7771765" y="7512050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907FE2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周边系统</a:t>
            </a:r>
          </a:p>
        </p:txBody>
      </p:sp>
      <p:sp>
        <p:nvSpPr>
          <p:cNvPr id="5" name="矩形: 圆角 71"/>
          <p:cNvSpPr/>
          <p:nvPr/>
        </p:nvSpPr>
        <p:spPr bwMode="auto">
          <a:xfrm>
            <a:off x="9111615" y="751205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225FD1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周边系统</a:t>
            </a:r>
          </a:p>
        </p:txBody>
      </p:sp>
      <p:sp>
        <p:nvSpPr>
          <p:cNvPr id="41" name="矩形: 圆角 71"/>
          <p:cNvSpPr/>
          <p:nvPr/>
        </p:nvSpPr>
        <p:spPr bwMode="auto">
          <a:xfrm>
            <a:off x="123317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系统边界</a:t>
            </a:r>
          </a:p>
        </p:txBody>
      </p:sp>
      <p:sp>
        <p:nvSpPr>
          <p:cNvPr id="42" name="矩形: 圆角 71"/>
          <p:cNvSpPr/>
          <p:nvPr/>
        </p:nvSpPr>
        <p:spPr bwMode="auto">
          <a:xfrm>
            <a:off x="254508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内部大类</a:t>
            </a:r>
          </a:p>
        </p:txBody>
      </p:sp>
      <p:sp>
        <p:nvSpPr>
          <p:cNvPr id="8" name="矩形: 圆角 71"/>
          <p:cNvSpPr/>
          <p:nvPr/>
        </p:nvSpPr>
        <p:spPr bwMode="auto">
          <a:xfrm>
            <a:off x="3772535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模块</a:t>
            </a:r>
            <a:r>
              <a:rPr kumimoji="0" lang="en-US" altLang="zh-CN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/</a:t>
            </a: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组件</a:t>
            </a:r>
          </a:p>
        </p:txBody>
      </p:sp>
      <p:sp>
        <p:nvSpPr>
          <p:cNvPr id="9" name="矩形: 圆角 71"/>
          <p:cNvSpPr/>
          <p:nvPr/>
        </p:nvSpPr>
        <p:spPr bwMode="auto">
          <a:xfrm>
            <a:off x="10381615" y="751078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73839D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外部系统</a:t>
            </a:r>
          </a:p>
        </p:txBody>
      </p:sp>
      <p:sp>
        <p:nvSpPr>
          <p:cNvPr id="53" name="上箭头 52"/>
          <p:cNvSpPr/>
          <p:nvPr/>
        </p:nvSpPr>
        <p:spPr>
          <a:xfrm rot="5400000">
            <a:off x="5931535" y="7519035"/>
            <a:ext cx="24892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2FE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16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4982845" y="7547610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微软雅黑" panose="00000600000000000000" charset="-122"/>
                <a:sym typeface="+mn-ea"/>
              </a:rPr>
              <a:t>内部连接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Calibri" panose="020B0502030000000004" pitchFamily="34" charset="0"/>
              <a:ea typeface="黑体" panose="02010609060101010101" pitchFamily="49" charset="-122"/>
              <a:cs typeface="微软雅黑" panose="00000600000000000000" charset="-122"/>
              <a:sym typeface="+mn-ea"/>
            </a:endParaRPr>
          </a:p>
        </p:txBody>
      </p:sp>
      <p:sp>
        <p:nvSpPr>
          <p:cNvPr id="55" name="上箭头 128"/>
          <p:cNvSpPr/>
          <p:nvPr/>
        </p:nvSpPr>
        <p:spPr>
          <a:xfrm rot="5400000">
            <a:off x="7377430" y="7503795"/>
            <a:ext cx="27686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3D5A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>
                  <a:alpha val="50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6442710" y="7546975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微软雅黑" panose="00000600000000000000" charset="-122"/>
                <a:sym typeface="+mn-ea"/>
              </a:rPr>
              <a:t>外部连接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Calibri" panose="020B0502030000000004" pitchFamily="34" charset="0"/>
              <a:ea typeface="黑体" panose="02010609060101010101" pitchFamily="49" charset="-122"/>
              <a:cs typeface="微软雅黑" panose="00000600000000000000" charset="-122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7206481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  <p:sldLayoutId id="2147483702" r:id="rId13"/>
    <p:sldLayoutId id="2147483703" r:id="rId14"/>
    <p:sldLayoutId id="2147483704" r:id="rId15"/>
    <p:sldLayoutId id="2147483706" r:id="rId16"/>
    <p:sldLayoutId id="2147483736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22"/>
          <p:cNvSpPr/>
          <p:nvPr>
            <p:custDataLst>
              <p:tags r:id="rId23"/>
            </p:custDataLst>
          </p:nvPr>
        </p:nvSpPr>
        <p:spPr>
          <a:xfrm>
            <a:off x="12323200" y="138430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3218160" y="138430"/>
            <a:ext cx="10494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标题文字色</a:t>
            </a:r>
          </a:p>
        </p:txBody>
      </p:sp>
      <p:sp>
        <p:nvSpPr>
          <p:cNvPr id="76" name="文本框 75"/>
          <p:cNvSpPr txBox="1"/>
          <p:nvPr/>
        </p:nvSpPr>
        <p:spPr>
          <a:xfrm>
            <a:off x="12224385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深色背景</a:t>
            </a:r>
          </a:p>
        </p:txBody>
      </p:sp>
      <p:sp>
        <p:nvSpPr>
          <p:cNvPr id="77" name="Rounded Rectangle 22"/>
          <p:cNvSpPr/>
          <p:nvPr>
            <p:custDataLst>
              <p:tags r:id="rId24"/>
            </p:custDataLst>
          </p:nvPr>
        </p:nvSpPr>
        <p:spPr>
          <a:xfrm>
            <a:off x="12837160" y="138430"/>
            <a:ext cx="307975" cy="306070"/>
          </a:xfrm>
          <a:prstGeom prst="rect">
            <a:avLst/>
          </a:prstGeom>
          <a:solidFill>
            <a:srgbClr val="28366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78" name="Rounded Rectangle 22"/>
          <p:cNvSpPr/>
          <p:nvPr>
            <p:custDataLst>
              <p:tags r:id="rId25"/>
            </p:custDataLst>
          </p:nvPr>
        </p:nvSpPr>
        <p:spPr>
          <a:xfrm>
            <a:off x="12323200" y="568325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9" name="Rounded Rectangle 22"/>
          <p:cNvSpPr/>
          <p:nvPr>
            <p:custDataLst>
              <p:tags r:id="rId26"/>
            </p:custDataLst>
          </p:nvPr>
        </p:nvSpPr>
        <p:spPr>
          <a:xfrm>
            <a:off x="12837160" y="568325"/>
            <a:ext cx="307975" cy="306070"/>
          </a:xfrm>
          <a:prstGeom prst="rect">
            <a:avLst/>
          </a:prstGeom>
          <a:solidFill>
            <a:srgbClr val="28366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lvl="0"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3218160" y="583565"/>
            <a:ext cx="11176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正文文字色</a:t>
            </a:r>
          </a:p>
        </p:txBody>
      </p:sp>
      <p:sp>
        <p:nvSpPr>
          <p:cNvPr id="81" name="Rounded Rectangle 22"/>
          <p:cNvSpPr/>
          <p:nvPr>
            <p:custDataLst>
              <p:tags r:id="rId27"/>
            </p:custDataLst>
          </p:nvPr>
        </p:nvSpPr>
        <p:spPr>
          <a:xfrm>
            <a:off x="12323200" y="998220"/>
            <a:ext cx="307975" cy="306070"/>
          </a:xfrm>
          <a:prstGeom prst="rect">
            <a:avLst/>
          </a:prstGeom>
          <a:solidFill>
            <a:srgbClr val="D9D9D9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85" name="Rounded Rectangle 22"/>
          <p:cNvSpPr/>
          <p:nvPr>
            <p:custDataLst>
              <p:tags r:id="rId28"/>
            </p:custDataLst>
          </p:nvPr>
        </p:nvSpPr>
        <p:spPr>
          <a:xfrm>
            <a:off x="12837160" y="998220"/>
            <a:ext cx="307975" cy="306070"/>
          </a:xfrm>
          <a:prstGeom prst="rect">
            <a:avLst/>
          </a:prstGeom>
          <a:solidFill>
            <a:srgbClr val="41507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lvl="0"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2321332" y="9008232"/>
            <a:ext cx="15720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在这占位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防止轻易跨页滚动</a:t>
            </a:r>
          </a:p>
        </p:txBody>
      </p:sp>
      <p:sp>
        <p:nvSpPr>
          <p:cNvPr id="88" name="Rounded Rectangle 22"/>
          <p:cNvSpPr/>
          <p:nvPr>
            <p:custDataLst>
              <p:tags r:id="rId29"/>
            </p:custDataLst>
          </p:nvPr>
        </p:nvSpPr>
        <p:spPr>
          <a:xfrm>
            <a:off x="12321332" y="2274094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0" name="Rounded Rectangle 22"/>
          <p:cNvSpPr/>
          <p:nvPr>
            <p:custDataLst>
              <p:tags r:id="rId30"/>
            </p:custDataLst>
          </p:nvPr>
        </p:nvSpPr>
        <p:spPr>
          <a:xfrm>
            <a:off x="12321332" y="1864525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1" name="Rounded Rectangle 22"/>
          <p:cNvSpPr/>
          <p:nvPr>
            <p:custDataLst>
              <p:tags r:id="rId31"/>
            </p:custDataLst>
          </p:nvPr>
        </p:nvSpPr>
        <p:spPr>
          <a:xfrm>
            <a:off x="12321332" y="3091293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4" name="Rounded Rectangle 22"/>
          <p:cNvSpPr/>
          <p:nvPr>
            <p:custDataLst>
              <p:tags r:id="rId32"/>
            </p:custDataLst>
          </p:nvPr>
        </p:nvSpPr>
        <p:spPr>
          <a:xfrm>
            <a:off x="12321332" y="3904438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5" name="Rounded Rectangle 22"/>
          <p:cNvSpPr/>
          <p:nvPr>
            <p:custDataLst>
              <p:tags r:id="rId33"/>
            </p:custDataLst>
          </p:nvPr>
        </p:nvSpPr>
        <p:spPr>
          <a:xfrm>
            <a:off x="12321332" y="4314007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6" name="Rounded Rectangle 22"/>
          <p:cNvSpPr/>
          <p:nvPr>
            <p:custDataLst>
              <p:tags r:id="rId34"/>
            </p:custDataLst>
          </p:nvPr>
        </p:nvSpPr>
        <p:spPr>
          <a:xfrm>
            <a:off x="12705582" y="4721349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8" name="Rounded Rectangle 22"/>
          <p:cNvSpPr/>
          <p:nvPr>
            <p:custDataLst>
              <p:tags r:id="rId35"/>
            </p:custDataLst>
          </p:nvPr>
        </p:nvSpPr>
        <p:spPr>
          <a:xfrm>
            <a:off x="12321332" y="5125810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9" name="Rounded Rectangle 22"/>
          <p:cNvSpPr/>
          <p:nvPr>
            <p:custDataLst>
              <p:tags r:id="rId36"/>
            </p:custDataLst>
          </p:nvPr>
        </p:nvSpPr>
        <p:spPr>
          <a:xfrm>
            <a:off x="12321332" y="5535379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2" name="Rounded Rectangle 22"/>
          <p:cNvSpPr/>
          <p:nvPr>
            <p:custDataLst>
              <p:tags r:id="rId37"/>
            </p:custDataLst>
          </p:nvPr>
        </p:nvSpPr>
        <p:spPr>
          <a:xfrm>
            <a:off x="12705582" y="5944948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3" name="Rounded Rectangle 22"/>
          <p:cNvSpPr/>
          <p:nvPr>
            <p:custDataLst>
              <p:tags r:id="rId38"/>
            </p:custDataLst>
          </p:nvPr>
        </p:nvSpPr>
        <p:spPr>
          <a:xfrm>
            <a:off x="12321332" y="5944948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" name="Rounded Rectangle 21"/>
          <p:cNvSpPr/>
          <p:nvPr>
            <p:custDataLst>
              <p:tags r:id="rId39"/>
            </p:custDataLst>
          </p:nvPr>
        </p:nvSpPr>
        <p:spPr>
          <a:xfrm>
            <a:off x="12321332" y="6354519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2321332" y="4723576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321332" y="2683663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2321332" y="3500862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" name="Rounded Rectangle 22"/>
          <p:cNvSpPr/>
          <p:nvPr>
            <p:custDataLst>
              <p:tags r:id="rId40"/>
            </p:custDataLst>
          </p:nvPr>
        </p:nvSpPr>
        <p:spPr>
          <a:xfrm>
            <a:off x="12705582" y="5537083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11" name="Rounded Rectangle 22"/>
          <p:cNvSpPr/>
          <p:nvPr>
            <p:custDataLst>
              <p:tags r:id="rId41"/>
            </p:custDataLst>
          </p:nvPr>
        </p:nvSpPr>
        <p:spPr>
          <a:xfrm>
            <a:off x="12705582" y="5129216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14" name="Rounded Rectangle 22"/>
          <p:cNvSpPr/>
          <p:nvPr>
            <p:custDataLst>
              <p:tags r:id="rId42"/>
            </p:custDataLst>
          </p:nvPr>
        </p:nvSpPr>
        <p:spPr>
          <a:xfrm>
            <a:off x="12705582" y="4313482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13218160" y="998220"/>
            <a:ext cx="11176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辅助文字色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12740191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白色背景</a:t>
            </a:r>
          </a:p>
        </p:txBody>
      </p:sp>
      <p:sp>
        <p:nvSpPr>
          <p:cNvPr id="61" name="文本框 60"/>
          <p:cNvSpPr txBox="1"/>
          <p:nvPr/>
        </p:nvSpPr>
        <p:spPr>
          <a:xfrm>
            <a:off x="12235863" y="6740476"/>
            <a:ext cx="19746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“</a:t>
            </a:r>
            <a:r>
              <a:rPr lang="en-US" altLang="zh-CN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N</a:t>
            </a:r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”为新增色值，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用于相近色的搭配选择</a:t>
            </a:r>
          </a:p>
        </p:txBody>
      </p:sp>
      <p:sp>
        <p:nvSpPr>
          <p:cNvPr id="64" name="Rounded Rectangle 22"/>
          <p:cNvSpPr/>
          <p:nvPr>
            <p:custDataLst>
              <p:tags r:id="rId43"/>
            </p:custDataLst>
          </p:nvPr>
        </p:nvSpPr>
        <p:spPr>
          <a:xfrm rot="16200000">
            <a:off x="408617" y="7010398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5" name="Rounded Rectangle 22"/>
          <p:cNvSpPr/>
          <p:nvPr>
            <p:custDataLst>
              <p:tags r:id="rId44"/>
            </p:custDataLst>
          </p:nvPr>
        </p:nvSpPr>
        <p:spPr>
          <a:xfrm rot="16200000">
            <a:off x="-952" y="7010398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6" name="Rounded Rectangle 22"/>
          <p:cNvSpPr/>
          <p:nvPr>
            <p:custDataLst>
              <p:tags r:id="rId45"/>
            </p:custDataLst>
          </p:nvPr>
        </p:nvSpPr>
        <p:spPr>
          <a:xfrm rot="16200000">
            <a:off x="1225816" y="7010398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7" name="Rounded Rectangle 22"/>
          <p:cNvSpPr/>
          <p:nvPr>
            <p:custDataLst>
              <p:tags r:id="rId46"/>
            </p:custDataLst>
          </p:nvPr>
        </p:nvSpPr>
        <p:spPr>
          <a:xfrm rot="16200000">
            <a:off x="2038961" y="7010398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8" name="Rounded Rectangle 22"/>
          <p:cNvSpPr/>
          <p:nvPr>
            <p:custDataLst>
              <p:tags r:id="rId47"/>
            </p:custDataLst>
          </p:nvPr>
        </p:nvSpPr>
        <p:spPr>
          <a:xfrm rot="16200000">
            <a:off x="2448530" y="7010398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9" name="Rounded Rectangle 22"/>
          <p:cNvSpPr/>
          <p:nvPr>
            <p:custDataLst>
              <p:tags r:id="rId48"/>
            </p:custDataLst>
          </p:nvPr>
        </p:nvSpPr>
        <p:spPr>
          <a:xfrm>
            <a:off x="2855873" y="7408573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0" name="Rounded Rectangle 22"/>
          <p:cNvSpPr/>
          <p:nvPr>
            <p:custDataLst>
              <p:tags r:id="rId49"/>
            </p:custDataLst>
          </p:nvPr>
        </p:nvSpPr>
        <p:spPr>
          <a:xfrm rot="16200000">
            <a:off x="3260333" y="7010398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1" name="Rounded Rectangle 22"/>
          <p:cNvSpPr/>
          <p:nvPr>
            <p:custDataLst>
              <p:tags r:id="rId50"/>
            </p:custDataLst>
          </p:nvPr>
        </p:nvSpPr>
        <p:spPr>
          <a:xfrm rot="16200000">
            <a:off x="3669902" y="7010398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2" name="Rounded Rectangle 22"/>
          <p:cNvSpPr/>
          <p:nvPr>
            <p:custDataLst>
              <p:tags r:id="rId51"/>
            </p:custDataLst>
          </p:nvPr>
        </p:nvSpPr>
        <p:spPr>
          <a:xfrm>
            <a:off x="4079472" y="7408573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3" name="Rounded Rectangle 22"/>
          <p:cNvSpPr/>
          <p:nvPr>
            <p:custDataLst>
              <p:tags r:id="rId52"/>
            </p:custDataLst>
          </p:nvPr>
        </p:nvSpPr>
        <p:spPr>
          <a:xfrm rot="16200000">
            <a:off x="4079471" y="7010398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4" name="Rounded Rectangle 21"/>
          <p:cNvSpPr/>
          <p:nvPr>
            <p:custDataLst>
              <p:tags r:id="rId53"/>
            </p:custDataLst>
          </p:nvPr>
        </p:nvSpPr>
        <p:spPr>
          <a:xfrm rot="16200000">
            <a:off x="4489043" y="7010398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75" name="矩形 74"/>
          <p:cNvSpPr/>
          <p:nvPr/>
        </p:nvSpPr>
        <p:spPr>
          <a:xfrm rot="16200000">
            <a:off x="2854432" y="7014066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2" name="矩形 81"/>
          <p:cNvSpPr/>
          <p:nvPr/>
        </p:nvSpPr>
        <p:spPr>
          <a:xfrm rot="16200000">
            <a:off x="817216" y="7011368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3" name="矩形 82"/>
          <p:cNvSpPr/>
          <p:nvPr/>
        </p:nvSpPr>
        <p:spPr>
          <a:xfrm rot="16200000">
            <a:off x="1632388" y="7013395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4" name="Rounded Rectangle 22"/>
          <p:cNvSpPr/>
          <p:nvPr>
            <p:custDataLst>
              <p:tags r:id="rId54"/>
            </p:custDataLst>
          </p:nvPr>
        </p:nvSpPr>
        <p:spPr>
          <a:xfrm>
            <a:off x="3671607" y="7408573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86" name="Rounded Rectangle 22"/>
          <p:cNvSpPr/>
          <p:nvPr>
            <p:custDataLst>
              <p:tags r:id="rId55"/>
            </p:custDataLst>
          </p:nvPr>
        </p:nvSpPr>
        <p:spPr>
          <a:xfrm>
            <a:off x="3263740" y="7408573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87" name="Rounded Rectangle 22"/>
          <p:cNvSpPr/>
          <p:nvPr>
            <p:custDataLst>
              <p:tags r:id="rId56"/>
            </p:custDataLst>
          </p:nvPr>
        </p:nvSpPr>
        <p:spPr>
          <a:xfrm>
            <a:off x="2448006" y="7408573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3218160" y="338528"/>
            <a:ext cx="119682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900">
                <a:solidFill>
                  <a:srgbClr val="283563">
                    <a:alpha val="50000"/>
                  </a:srgb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英文透明度</a:t>
            </a:r>
            <a:r>
              <a:rPr lang="en-US" altLang="zh-CN" sz="900">
                <a:solidFill>
                  <a:srgbClr val="283563">
                    <a:alpha val="50000"/>
                  </a:srgb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50%</a:t>
            </a:r>
            <a:endParaRPr lang="zh-CN" altLang="en-US" sz="900">
              <a:solidFill>
                <a:srgbClr val="283563">
                  <a:alpha val="50000"/>
                </a:srgb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文本框 4"/>
          <p:cNvSpPr txBox="1"/>
          <p:nvPr>
            <p:custDataLst>
              <p:tags r:id="rId57"/>
            </p:custDataLst>
          </p:nvPr>
        </p:nvSpPr>
        <p:spPr>
          <a:xfrm>
            <a:off x="9846945" y="6528435"/>
            <a:ext cx="753110" cy="121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">
                <a:solidFill>
                  <a:srgbClr val="FF0000">
                    <a:alpha val="0"/>
                  </a:srgbClr>
                </a:solidFill>
              </a:rPr>
              <a:t>仅供君联资本内部使用</a:t>
            </a:r>
            <a:r>
              <a:rPr lang="en-US" altLang="zh-CN" sz="200">
                <a:solidFill>
                  <a:srgbClr val="FF0000">
                    <a:alpha val="0"/>
                  </a:srgbClr>
                </a:solidFill>
              </a:rPr>
              <a:t>20221217</a:t>
            </a:r>
          </a:p>
        </p:txBody>
      </p:sp>
    </p:spTree>
    <p:extLst>
      <p:ext uri="{BB962C8B-B14F-4D97-AF65-F5344CB8AC3E}">
        <p14:creationId xmlns:p14="http://schemas.microsoft.com/office/powerpoint/2010/main" val="2502068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  <p:sldLayoutId id="2147483740" r:id="rId3"/>
    <p:sldLayoutId id="2147483741" r:id="rId4"/>
    <p:sldLayoutId id="2147483742" r:id="rId5"/>
    <p:sldLayoutId id="2147483743" r:id="rId6"/>
    <p:sldLayoutId id="2147483744" r:id="rId7"/>
    <p:sldLayoutId id="2147483745" r:id="rId8"/>
    <p:sldLayoutId id="2147483746" r:id="rId9"/>
    <p:sldLayoutId id="2147483747" r:id="rId10"/>
    <p:sldLayoutId id="2147483748" r:id="rId11"/>
    <p:sldLayoutId id="2147483749" r:id="rId12"/>
    <p:sldLayoutId id="2147483750" r:id="rId13"/>
    <p:sldLayoutId id="2147483751" r:id="rId14"/>
    <p:sldLayoutId id="2147483752" r:id="rId15"/>
    <p:sldLayoutId id="2147483753" r:id="rId16"/>
    <p:sldLayoutId id="2147483754" r:id="rId17"/>
    <p:sldLayoutId id="2147483755" r:id="rId18"/>
    <p:sldLayoutId id="2147483756" r:id="rId19"/>
    <p:sldLayoutId id="2147483757" r:id="rId20"/>
    <p:sldLayoutId id="2147483758" r:id="rId2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22"/>
          <p:cNvSpPr/>
          <p:nvPr>
            <p:custDataLst>
              <p:tags r:id="rId18"/>
            </p:custDataLst>
          </p:nvPr>
        </p:nvSpPr>
        <p:spPr>
          <a:xfrm>
            <a:off x="12323200" y="138430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3161010" y="138430"/>
            <a:ext cx="9277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标题文字</a:t>
            </a:r>
          </a:p>
        </p:txBody>
      </p:sp>
      <p:sp>
        <p:nvSpPr>
          <p:cNvPr id="76" name="文本框 75"/>
          <p:cNvSpPr txBox="1"/>
          <p:nvPr/>
        </p:nvSpPr>
        <p:spPr>
          <a:xfrm>
            <a:off x="12224385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深色背景</a:t>
            </a:r>
          </a:p>
        </p:txBody>
      </p:sp>
      <p:sp>
        <p:nvSpPr>
          <p:cNvPr id="77" name="Rounded Rectangle 22"/>
          <p:cNvSpPr/>
          <p:nvPr>
            <p:custDataLst>
              <p:tags r:id="rId19"/>
            </p:custDataLst>
          </p:nvPr>
        </p:nvSpPr>
        <p:spPr>
          <a:xfrm>
            <a:off x="12837160" y="138430"/>
            <a:ext cx="307975" cy="306070"/>
          </a:xfrm>
          <a:prstGeom prst="rect">
            <a:avLst/>
          </a:prstGeom>
          <a:solidFill>
            <a:srgbClr val="28376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8" name="Rounded Rectangle 22"/>
          <p:cNvSpPr/>
          <p:nvPr>
            <p:custDataLst>
              <p:tags r:id="rId20"/>
            </p:custDataLst>
          </p:nvPr>
        </p:nvSpPr>
        <p:spPr>
          <a:xfrm>
            <a:off x="12323200" y="568325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79" name="Rounded Rectangle 22"/>
          <p:cNvSpPr/>
          <p:nvPr>
            <p:custDataLst>
              <p:tags r:id="rId21"/>
            </p:custDataLst>
          </p:nvPr>
        </p:nvSpPr>
        <p:spPr>
          <a:xfrm>
            <a:off x="12837160" y="568325"/>
            <a:ext cx="307975" cy="306070"/>
          </a:xfrm>
          <a:prstGeom prst="rect">
            <a:avLst/>
          </a:prstGeom>
          <a:solidFill>
            <a:srgbClr val="41507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3161010" y="583565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正文文字</a:t>
            </a:r>
          </a:p>
        </p:txBody>
      </p:sp>
      <p:sp>
        <p:nvSpPr>
          <p:cNvPr id="81" name="Rounded Rectangle 22"/>
          <p:cNvSpPr/>
          <p:nvPr>
            <p:custDataLst>
              <p:tags r:id="rId22"/>
            </p:custDataLst>
          </p:nvPr>
        </p:nvSpPr>
        <p:spPr>
          <a:xfrm>
            <a:off x="12323200" y="998220"/>
            <a:ext cx="307975" cy="306070"/>
          </a:xfrm>
          <a:prstGeom prst="rect">
            <a:avLst/>
          </a:prstGeom>
          <a:solidFill>
            <a:srgbClr val="D9D9D9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5" name="Rounded Rectangle 22"/>
          <p:cNvSpPr/>
          <p:nvPr>
            <p:custDataLst>
              <p:tags r:id="rId23"/>
            </p:custDataLst>
          </p:nvPr>
        </p:nvSpPr>
        <p:spPr>
          <a:xfrm>
            <a:off x="12837160" y="998220"/>
            <a:ext cx="307975" cy="306070"/>
          </a:xfrm>
          <a:prstGeom prst="rect">
            <a:avLst/>
          </a:prstGeom>
          <a:solidFill>
            <a:srgbClr val="80808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Rounded Rectangle 22"/>
          <p:cNvSpPr/>
          <p:nvPr>
            <p:custDataLst>
              <p:tags r:id="rId24"/>
            </p:custDataLst>
          </p:nvPr>
        </p:nvSpPr>
        <p:spPr>
          <a:xfrm>
            <a:off x="12323200" y="2434846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0" name="Rounded Rectangle 22"/>
          <p:cNvSpPr/>
          <p:nvPr>
            <p:custDataLst>
              <p:tags r:id="rId25"/>
            </p:custDataLst>
          </p:nvPr>
        </p:nvSpPr>
        <p:spPr>
          <a:xfrm>
            <a:off x="12323200" y="2060566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1" name="Rounded Rectangle 22"/>
          <p:cNvSpPr/>
          <p:nvPr>
            <p:custDataLst>
              <p:tags r:id="rId26"/>
            </p:custDataLst>
          </p:nvPr>
        </p:nvSpPr>
        <p:spPr>
          <a:xfrm>
            <a:off x="12323200" y="3183406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2" name="Rounded Rectangle 22"/>
          <p:cNvSpPr/>
          <p:nvPr>
            <p:custDataLst>
              <p:tags r:id="rId27"/>
            </p:custDataLst>
          </p:nvPr>
        </p:nvSpPr>
        <p:spPr>
          <a:xfrm>
            <a:off x="12707079" y="3183406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3" name="Rounded Rectangle 22"/>
          <p:cNvSpPr/>
          <p:nvPr>
            <p:custDataLst>
              <p:tags r:id="rId28"/>
            </p:custDataLst>
          </p:nvPr>
        </p:nvSpPr>
        <p:spPr>
          <a:xfrm>
            <a:off x="12707079" y="3554233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4" name="Rounded Rectangle 22"/>
          <p:cNvSpPr/>
          <p:nvPr>
            <p:custDataLst>
              <p:tags r:id="rId29"/>
            </p:custDataLst>
          </p:nvPr>
        </p:nvSpPr>
        <p:spPr>
          <a:xfrm>
            <a:off x="12323200" y="3931966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5" name="Rounded Rectangle 22"/>
          <p:cNvSpPr/>
          <p:nvPr>
            <p:custDataLst>
              <p:tags r:id="rId30"/>
            </p:custDataLst>
          </p:nvPr>
        </p:nvSpPr>
        <p:spPr>
          <a:xfrm>
            <a:off x="12323200" y="4306246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6" name="Rounded Rectangle 22"/>
          <p:cNvSpPr/>
          <p:nvPr>
            <p:custDataLst>
              <p:tags r:id="rId31"/>
            </p:custDataLst>
          </p:nvPr>
        </p:nvSpPr>
        <p:spPr>
          <a:xfrm>
            <a:off x="12710663" y="5047748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8" name="Rounded Rectangle 22"/>
          <p:cNvSpPr/>
          <p:nvPr>
            <p:custDataLst>
              <p:tags r:id="rId32"/>
            </p:custDataLst>
          </p:nvPr>
        </p:nvSpPr>
        <p:spPr>
          <a:xfrm>
            <a:off x="12323200" y="5429086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9" name="Rounded Rectangle 22"/>
          <p:cNvSpPr/>
          <p:nvPr>
            <p:custDataLst>
              <p:tags r:id="rId33"/>
            </p:custDataLst>
          </p:nvPr>
        </p:nvSpPr>
        <p:spPr>
          <a:xfrm>
            <a:off x="12323200" y="5803366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Rounded Rectangle 22"/>
          <p:cNvSpPr/>
          <p:nvPr>
            <p:custDataLst>
              <p:tags r:id="rId34"/>
            </p:custDataLst>
          </p:nvPr>
        </p:nvSpPr>
        <p:spPr>
          <a:xfrm>
            <a:off x="12323200" y="6177646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" name="Rounded Rectangle 22"/>
          <p:cNvSpPr/>
          <p:nvPr>
            <p:custDataLst>
              <p:tags r:id="rId35"/>
            </p:custDataLst>
          </p:nvPr>
        </p:nvSpPr>
        <p:spPr>
          <a:xfrm>
            <a:off x="12323200" y="6551930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815845" y="9008232"/>
            <a:ext cx="15720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在这占位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防止轻易跨页滚动</a:t>
            </a:r>
          </a:p>
        </p:txBody>
      </p:sp>
      <p:sp>
        <p:nvSpPr>
          <p:cNvPr id="7" name="Rounded Rectangle 21"/>
          <p:cNvSpPr/>
          <p:nvPr>
            <p:custDataLst>
              <p:tags r:id="rId36"/>
            </p:custDataLst>
          </p:nvPr>
        </p:nvSpPr>
        <p:spPr>
          <a:xfrm>
            <a:off x="12707083" y="6551930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2321703" y="5052467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323200" y="2801697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2323199" y="3560226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6" name="Rounded Rectangle 22"/>
          <p:cNvSpPr/>
          <p:nvPr>
            <p:custDataLst>
              <p:tags r:id="rId37"/>
            </p:custDataLst>
          </p:nvPr>
        </p:nvSpPr>
        <p:spPr>
          <a:xfrm>
            <a:off x="12707080" y="5803366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1" name="Rounded Rectangle 22"/>
          <p:cNvSpPr/>
          <p:nvPr>
            <p:custDataLst>
              <p:tags r:id="rId38"/>
            </p:custDataLst>
          </p:nvPr>
        </p:nvSpPr>
        <p:spPr>
          <a:xfrm>
            <a:off x="12705584" y="4671211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4" name="Rounded Rectangle 22"/>
          <p:cNvSpPr/>
          <p:nvPr>
            <p:custDataLst>
              <p:tags r:id="rId39"/>
            </p:custDataLst>
          </p:nvPr>
        </p:nvSpPr>
        <p:spPr>
          <a:xfrm>
            <a:off x="12321703" y="4671731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13161010" y="998220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辅助文字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12740191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白色背景</a:t>
            </a:r>
          </a:p>
        </p:txBody>
      </p:sp>
      <p:sp>
        <p:nvSpPr>
          <p:cNvPr id="22" name="Rounded Rectangle 22"/>
          <p:cNvSpPr/>
          <p:nvPr>
            <p:custDataLst>
              <p:tags r:id="rId40"/>
            </p:custDataLst>
          </p:nvPr>
        </p:nvSpPr>
        <p:spPr>
          <a:xfrm>
            <a:off x="409115" y="6909435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3" name="Rounded Rectangle 22"/>
          <p:cNvSpPr/>
          <p:nvPr>
            <p:custDataLst>
              <p:tags r:id="rId41"/>
            </p:custDataLst>
          </p:nvPr>
        </p:nvSpPr>
        <p:spPr>
          <a:xfrm>
            <a:off x="0" y="6909435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4" name="Rounded Rectangle 22"/>
          <p:cNvSpPr/>
          <p:nvPr>
            <p:custDataLst>
              <p:tags r:id="rId42"/>
            </p:custDataLst>
          </p:nvPr>
        </p:nvSpPr>
        <p:spPr>
          <a:xfrm>
            <a:off x="1227345" y="6909435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Rounded Rectangle 22"/>
          <p:cNvSpPr/>
          <p:nvPr>
            <p:custDataLst>
              <p:tags r:id="rId43"/>
            </p:custDataLst>
          </p:nvPr>
        </p:nvSpPr>
        <p:spPr>
          <a:xfrm>
            <a:off x="1636460" y="6909435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6" name="Rounded Rectangle 22"/>
          <p:cNvSpPr/>
          <p:nvPr>
            <p:custDataLst>
              <p:tags r:id="rId44"/>
            </p:custDataLst>
          </p:nvPr>
        </p:nvSpPr>
        <p:spPr>
          <a:xfrm>
            <a:off x="2454690" y="6909435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7" name="Rounded Rectangle 22"/>
          <p:cNvSpPr/>
          <p:nvPr>
            <p:custDataLst>
              <p:tags r:id="rId45"/>
            </p:custDataLst>
          </p:nvPr>
        </p:nvSpPr>
        <p:spPr>
          <a:xfrm>
            <a:off x="2863805" y="6909435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8" name="Rounded Rectangle 22"/>
          <p:cNvSpPr/>
          <p:nvPr>
            <p:custDataLst>
              <p:tags r:id="rId46"/>
            </p:custDataLst>
          </p:nvPr>
        </p:nvSpPr>
        <p:spPr>
          <a:xfrm>
            <a:off x="3272920" y="6909435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9" name="Rounded Rectangle 22"/>
          <p:cNvSpPr/>
          <p:nvPr>
            <p:custDataLst>
              <p:tags r:id="rId47"/>
            </p:custDataLst>
          </p:nvPr>
        </p:nvSpPr>
        <p:spPr>
          <a:xfrm>
            <a:off x="4909380" y="6909435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0" name="Rounded Rectangle 22"/>
          <p:cNvSpPr/>
          <p:nvPr>
            <p:custDataLst>
              <p:tags r:id="rId48"/>
            </p:custDataLst>
          </p:nvPr>
        </p:nvSpPr>
        <p:spPr>
          <a:xfrm>
            <a:off x="5318495" y="6909435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1" name="Rounded Rectangle 22"/>
          <p:cNvSpPr/>
          <p:nvPr>
            <p:custDataLst>
              <p:tags r:id="rId49"/>
            </p:custDataLst>
          </p:nvPr>
        </p:nvSpPr>
        <p:spPr>
          <a:xfrm>
            <a:off x="5727610" y="6909435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2" name="Rounded Rectangle 22"/>
          <p:cNvSpPr/>
          <p:nvPr>
            <p:custDataLst>
              <p:tags r:id="rId50"/>
            </p:custDataLst>
          </p:nvPr>
        </p:nvSpPr>
        <p:spPr>
          <a:xfrm>
            <a:off x="6545840" y="6909435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3" name="Rounded Rectangle 22"/>
          <p:cNvSpPr/>
          <p:nvPr>
            <p:custDataLst>
              <p:tags r:id="rId51"/>
            </p:custDataLst>
          </p:nvPr>
        </p:nvSpPr>
        <p:spPr>
          <a:xfrm>
            <a:off x="6954955" y="6909435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4" name="Rounded Rectangle 21"/>
          <p:cNvSpPr/>
          <p:nvPr>
            <p:custDataLst>
              <p:tags r:id="rId52"/>
            </p:custDataLst>
          </p:nvPr>
        </p:nvSpPr>
        <p:spPr>
          <a:xfrm>
            <a:off x="7364064" y="6909435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4500265" y="6909435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818230" y="6909435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2045575" y="6909435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8" name="Rounded Rectangle 22"/>
          <p:cNvSpPr/>
          <p:nvPr>
            <p:custDataLst>
              <p:tags r:id="rId53"/>
            </p:custDataLst>
          </p:nvPr>
        </p:nvSpPr>
        <p:spPr>
          <a:xfrm>
            <a:off x="6136725" y="6909435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9" name="Rounded Rectangle 22"/>
          <p:cNvSpPr/>
          <p:nvPr>
            <p:custDataLst>
              <p:tags r:id="rId54"/>
            </p:custDataLst>
          </p:nvPr>
        </p:nvSpPr>
        <p:spPr>
          <a:xfrm>
            <a:off x="4091150" y="6909435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0" name="Rounded Rectangle 22"/>
          <p:cNvSpPr/>
          <p:nvPr>
            <p:custDataLst>
              <p:tags r:id="rId55"/>
            </p:custDataLst>
          </p:nvPr>
        </p:nvSpPr>
        <p:spPr>
          <a:xfrm>
            <a:off x="3682035" y="6909435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6" name="圆柱形 24"/>
          <p:cNvSpPr/>
          <p:nvPr/>
        </p:nvSpPr>
        <p:spPr bwMode="auto">
          <a:xfrm rot="5400000">
            <a:off x="410845" y="7090410"/>
            <a:ext cx="294640" cy="1136650"/>
          </a:xfrm>
          <a:prstGeom prst="can">
            <a:avLst>
              <a:gd name="adj" fmla="val 45943"/>
            </a:avLst>
          </a:prstGeom>
          <a:solidFill>
            <a:schemeClr val="accent2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vert270" wrap="square" lIns="0" tIns="0" rIns="0" bIns="0" numCol="1" rtlCol="0" anchor="ctr" anchorCtr="0" compatLnSpc="1">
            <a:noAutofit/>
          </a:bodyPr>
          <a:lstStyle>
            <a:defPPr>
              <a:defRPr lang="zh-CN"/>
            </a:defPPr>
            <a:lvl1pPr marL="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914400">
              <a:spcBef>
                <a:spcPts val="0"/>
              </a:spcBef>
              <a:spcAft>
                <a:spcPts val="0"/>
              </a:spcAft>
              <a:buClrTx/>
              <a:buSzTx/>
              <a:buFontTx/>
              <a:defRPr/>
            </a:pPr>
            <a:r>
              <a:rPr lang="en-US" altLang="zh-CN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AMI</a:t>
            </a:r>
            <a:r>
              <a:rPr lang="zh-CN" altLang="en-US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相关</a:t>
            </a:r>
          </a:p>
        </p:txBody>
      </p:sp>
      <p:sp>
        <p:nvSpPr>
          <p:cNvPr id="38" name="矩形: 圆角 71"/>
          <p:cNvSpPr/>
          <p:nvPr/>
        </p:nvSpPr>
        <p:spPr bwMode="auto">
          <a:xfrm>
            <a:off x="7771765" y="7512050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907FE2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周边系统</a:t>
            </a:r>
          </a:p>
        </p:txBody>
      </p:sp>
      <p:sp>
        <p:nvSpPr>
          <p:cNvPr id="5" name="矩形: 圆角 71"/>
          <p:cNvSpPr/>
          <p:nvPr/>
        </p:nvSpPr>
        <p:spPr bwMode="auto">
          <a:xfrm>
            <a:off x="9111615" y="751205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225FD1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周边系统</a:t>
            </a:r>
          </a:p>
        </p:txBody>
      </p:sp>
      <p:sp>
        <p:nvSpPr>
          <p:cNvPr id="41" name="矩形: 圆角 71"/>
          <p:cNvSpPr/>
          <p:nvPr/>
        </p:nvSpPr>
        <p:spPr bwMode="auto">
          <a:xfrm>
            <a:off x="123317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系统边界</a:t>
            </a:r>
          </a:p>
        </p:txBody>
      </p:sp>
      <p:sp>
        <p:nvSpPr>
          <p:cNvPr id="42" name="矩形: 圆角 71"/>
          <p:cNvSpPr/>
          <p:nvPr/>
        </p:nvSpPr>
        <p:spPr bwMode="auto">
          <a:xfrm>
            <a:off x="254508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内部大类</a:t>
            </a:r>
          </a:p>
        </p:txBody>
      </p:sp>
      <p:sp>
        <p:nvSpPr>
          <p:cNvPr id="8" name="矩形: 圆角 71"/>
          <p:cNvSpPr/>
          <p:nvPr/>
        </p:nvSpPr>
        <p:spPr bwMode="auto">
          <a:xfrm>
            <a:off x="3772535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模块</a:t>
            </a:r>
            <a:r>
              <a:rPr kumimoji="0" lang="en-US" altLang="zh-CN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/</a:t>
            </a: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组件</a:t>
            </a:r>
          </a:p>
        </p:txBody>
      </p:sp>
      <p:sp>
        <p:nvSpPr>
          <p:cNvPr id="9" name="矩形: 圆角 71"/>
          <p:cNvSpPr/>
          <p:nvPr/>
        </p:nvSpPr>
        <p:spPr bwMode="auto">
          <a:xfrm>
            <a:off x="10381615" y="751078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73839D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外部系统</a:t>
            </a:r>
          </a:p>
        </p:txBody>
      </p:sp>
      <p:sp>
        <p:nvSpPr>
          <p:cNvPr id="53" name="上箭头 52"/>
          <p:cNvSpPr/>
          <p:nvPr/>
        </p:nvSpPr>
        <p:spPr>
          <a:xfrm rot="5400000">
            <a:off x="5931535" y="7519035"/>
            <a:ext cx="24892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2FE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16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4982845" y="7547610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微软雅黑" panose="00000600000000000000" charset="-122"/>
                <a:sym typeface="+mn-ea"/>
              </a:rPr>
              <a:t>内部连接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Calibri" panose="020B0502030000000004" pitchFamily="34" charset="0"/>
              <a:ea typeface="黑体" panose="02010609060101010101" pitchFamily="49" charset="-122"/>
              <a:cs typeface="微软雅黑" panose="00000600000000000000" charset="-122"/>
              <a:sym typeface="+mn-ea"/>
            </a:endParaRPr>
          </a:p>
        </p:txBody>
      </p:sp>
      <p:sp>
        <p:nvSpPr>
          <p:cNvPr id="55" name="上箭头 128"/>
          <p:cNvSpPr/>
          <p:nvPr/>
        </p:nvSpPr>
        <p:spPr>
          <a:xfrm rot="5400000">
            <a:off x="7377430" y="7503795"/>
            <a:ext cx="27686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3D5A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>
                  <a:alpha val="50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6442710" y="7546975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微软雅黑" panose="00000600000000000000" charset="-122"/>
                <a:sym typeface="+mn-ea"/>
              </a:rPr>
              <a:t>外部连接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Calibri" panose="020B0502030000000004" pitchFamily="34" charset="0"/>
              <a:ea typeface="黑体" panose="02010609060101010101" pitchFamily="49" charset="-122"/>
              <a:cs typeface="微软雅黑" panose="00000600000000000000" charset="-122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564286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  <p:sldLayoutId id="2147483773" r:id="rId14"/>
    <p:sldLayoutId id="2147483774" r:id="rId15"/>
    <p:sldLayoutId id="2147483775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22"/>
          <p:cNvSpPr/>
          <p:nvPr>
            <p:custDataLst>
              <p:tags r:id="rId18"/>
            </p:custDataLst>
          </p:nvPr>
        </p:nvSpPr>
        <p:spPr>
          <a:xfrm>
            <a:off x="12323200" y="138430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3161010" y="138430"/>
            <a:ext cx="9277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标题文字</a:t>
            </a:r>
          </a:p>
        </p:txBody>
      </p:sp>
      <p:sp>
        <p:nvSpPr>
          <p:cNvPr id="76" name="文本框 75"/>
          <p:cNvSpPr txBox="1"/>
          <p:nvPr/>
        </p:nvSpPr>
        <p:spPr>
          <a:xfrm>
            <a:off x="12224385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深色背景</a:t>
            </a:r>
          </a:p>
        </p:txBody>
      </p:sp>
      <p:sp>
        <p:nvSpPr>
          <p:cNvPr id="77" name="Rounded Rectangle 22"/>
          <p:cNvSpPr/>
          <p:nvPr>
            <p:custDataLst>
              <p:tags r:id="rId19"/>
            </p:custDataLst>
          </p:nvPr>
        </p:nvSpPr>
        <p:spPr>
          <a:xfrm>
            <a:off x="12837160" y="138430"/>
            <a:ext cx="307975" cy="306070"/>
          </a:xfrm>
          <a:prstGeom prst="rect">
            <a:avLst/>
          </a:prstGeom>
          <a:solidFill>
            <a:srgbClr val="28376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8" name="Rounded Rectangle 22"/>
          <p:cNvSpPr/>
          <p:nvPr>
            <p:custDataLst>
              <p:tags r:id="rId20"/>
            </p:custDataLst>
          </p:nvPr>
        </p:nvSpPr>
        <p:spPr>
          <a:xfrm>
            <a:off x="12323200" y="568325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79" name="Rounded Rectangle 22"/>
          <p:cNvSpPr/>
          <p:nvPr>
            <p:custDataLst>
              <p:tags r:id="rId21"/>
            </p:custDataLst>
          </p:nvPr>
        </p:nvSpPr>
        <p:spPr>
          <a:xfrm>
            <a:off x="12837160" y="568325"/>
            <a:ext cx="307975" cy="306070"/>
          </a:xfrm>
          <a:prstGeom prst="rect">
            <a:avLst/>
          </a:prstGeom>
          <a:solidFill>
            <a:srgbClr val="41507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3161010" y="583565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正文文字</a:t>
            </a:r>
          </a:p>
        </p:txBody>
      </p:sp>
      <p:sp>
        <p:nvSpPr>
          <p:cNvPr id="81" name="Rounded Rectangle 22"/>
          <p:cNvSpPr/>
          <p:nvPr>
            <p:custDataLst>
              <p:tags r:id="rId22"/>
            </p:custDataLst>
          </p:nvPr>
        </p:nvSpPr>
        <p:spPr>
          <a:xfrm>
            <a:off x="12323200" y="998220"/>
            <a:ext cx="307975" cy="306070"/>
          </a:xfrm>
          <a:prstGeom prst="rect">
            <a:avLst/>
          </a:prstGeom>
          <a:solidFill>
            <a:srgbClr val="D9D9D9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5" name="Rounded Rectangle 22"/>
          <p:cNvSpPr/>
          <p:nvPr>
            <p:custDataLst>
              <p:tags r:id="rId23"/>
            </p:custDataLst>
          </p:nvPr>
        </p:nvSpPr>
        <p:spPr>
          <a:xfrm>
            <a:off x="12837160" y="998220"/>
            <a:ext cx="307975" cy="306070"/>
          </a:xfrm>
          <a:prstGeom prst="rect">
            <a:avLst/>
          </a:prstGeom>
          <a:solidFill>
            <a:srgbClr val="80808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Rounded Rectangle 22"/>
          <p:cNvSpPr/>
          <p:nvPr>
            <p:custDataLst>
              <p:tags r:id="rId24"/>
            </p:custDataLst>
          </p:nvPr>
        </p:nvSpPr>
        <p:spPr>
          <a:xfrm>
            <a:off x="12323200" y="2434846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0" name="Rounded Rectangle 22"/>
          <p:cNvSpPr/>
          <p:nvPr>
            <p:custDataLst>
              <p:tags r:id="rId25"/>
            </p:custDataLst>
          </p:nvPr>
        </p:nvSpPr>
        <p:spPr>
          <a:xfrm>
            <a:off x="12323200" y="2060566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1" name="Rounded Rectangle 22"/>
          <p:cNvSpPr/>
          <p:nvPr>
            <p:custDataLst>
              <p:tags r:id="rId26"/>
            </p:custDataLst>
          </p:nvPr>
        </p:nvSpPr>
        <p:spPr>
          <a:xfrm>
            <a:off x="12323200" y="3183406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2" name="Rounded Rectangle 22"/>
          <p:cNvSpPr/>
          <p:nvPr>
            <p:custDataLst>
              <p:tags r:id="rId27"/>
            </p:custDataLst>
          </p:nvPr>
        </p:nvSpPr>
        <p:spPr>
          <a:xfrm>
            <a:off x="12707079" y="3183406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3" name="Rounded Rectangle 22"/>
          <p:cNvSpPr/>
          <p:nvPr>
            <p:custDataLst>
              <p:tags r:id="rId28"/>
            </p:custDataLst>
          </p:nvPr>
        </p:nvSpPr>
        <p:spPr>
          <a:xfrm>
            <a:off x="12707079" y="3554233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4" name="Rounded Rectangle 22"/>
          <p:cNvSpPr/>
          <p:nvPr>
            <p:custDataLst>
              <p:tags r:id="rId29"/>
            </p:custDataLst>
          </p:nvPr>
        </p:nvSpPr>
        <p:spPr>
          <a:xfrm>
            <a:off x="12323200" y="3931966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5" name="Rounded Rectangle 22"/>
          <p:cNvSpPr/>
          <p:nvPr>
            <p:custDataLst>
              <p:tags r:id="rId30"/>
            </p:custDataLst>
          </p:nvPr>
        </p:nvSpPr>
        <p:spPr>
          <a:xfrm>
            <a:off x="12323200" y="4306246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6" name="Rounded Rectangle 22"/>
          <p:cNvSpPr/>
          <p:nvPr>
            <p:custDataLst>
              <p:tags r:id="rId31"/>
            </p:custDataLst>
          </p:nvPr>
        </p:nvSpPr>
        <p:spPr>
          <a:xfrm>
            <a:off x="12710663" y="5047748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8" name="Rounded Rectangle 22"/>
          <p:cNvSpPr/>
          <p:nvPr>
            <p:custDataLst>
              <p:tags r:id="rId32"/>
            </p:custDataLst>
          </p:nvPr>
        </p:nvSpPr>
        <p:spPr>
          <a:xfrm>
            <a:off x="12323200" y="5429086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9" name="Rounded Rectangle 22"/>
          <p:cNvSpPr/>
          <p:nvPr>
            <p:custDataLst>
              <p:tags r:id="rId33"/>
            </p:custDataLst>
          </p:nvPr>
        </p:nvSpPr>
        <p:spPr>
          <a:xfrm>
            <a:off x="12323200" y="5803366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Rounded Rectangle 22"/>
          <p:cNvSpPr/>
          <p:nvPr>
            <p:custDataLst>
              <p:tags r:id="rId34"/>
            </p:custDataLst>
          </p:nvPr>
        </p:nvSpPr>
        <p:spPr>
          <a:xfrm>
            <a:off x="12323200" y="6177646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" name="Rounded Rectangle 22"/>
          <p:cNvSpPr/>
          <p:nvPr>
            <p:custDataLst>
              <p:tags r:id="rId35"/>
            </p:custDataLst>
          </p:nvPr>
        </p:nvSpPr>
        <p:spPr>
          <a:xfrm>
            <a:off x="12323200" y="6551930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815845" y="9008232"/>
            <a:ext cx="15720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在这占位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防止轻易跨页滚动</a:t>
            </a:r>
          </a:p>
        </p:txBody>
      </p:sp>
      <p:sp>
        <p:nvSpPr>
          <p:cNvPr id="7" name="Rounded Rectangle 21"/>
          <p:cNvSpPr/>
          <p:nvPr>
            <p:custDataLst>
              <p:tags r:id="rId36"/>
            </p:custDataLst>
          </p:nvPr>
        </p:nvSpPr>
        <p:spPr>
          <a:xfrm>
            <a:off x="12707083" y="6551930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2321703" y="5052467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323200" y="2801697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2323199" y="3560226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6" name="Rounded Rectangle 22"/>
          <p:cNvSpPr/>
          <p:nvPr>
            <p:custDataLst>
              <p:tags r:id="rId37"/>
            </p:custDataLst>
          </p:nvPr>
        </p:nvSpPr>
        <p:spPr>
          <a:xfrm>
            <a:off x="12707080" y="5803366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1" name="Rounded Rectangle 22"/>
          <p:cNvSpPr/>
          <p:nvPr>
            <p:custDataLst>
              <p:tags r:id="rId38"/>
            </p:custDataLst>
          </p:nvPr>
        </p:nvSpPr>
        <p:spPr>
          <a:xfrm>
            <a:off x="12705584" y="4671211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4" name="Rounded Rectangle 22"/>
          <p:cNvSpPr/>
          <p:nvPr>
            <p:custDataLst>
              <p:tags r:id="rId39"/>
            </p:custDataLst>
          </p:nvPr>
        </p:nvSpPr>
        <p:spPr>
          <a:xfrm>
            <a:off x="12321703" y="4671731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13161010" y="998220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辅助文字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12740191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白色背景</a:t>
            </a:r>
          </a:p>
        </p:txBody>
      </p:sp>
      <p:sp>
        <p:nvSpPr>
          <p:cNvPr id="22" name="Rounded Rectangle 22"/>
          <p:cNvSpPr/>
          <p:nvPr>
            <p:custDataLst>
              <p:tags r:id="rId40"/>
            </p:custDataLst>
          </p:nvPr>
        </p:nvSpPr>
        <p:spPr>
          <a:xfrm>
            <a:off x="409115" y="6909435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3" name="Rounded Rectangle 22"/>
          <p:cNvSpPr/>
          <p:nvPr>
            <p:custDataLst>
              <p:tags r:id="rId41"/>
            </p:custDataLst>
          </p:nvPr>
        </p:nvSpPr>
        <p:spPr>
          <a:xfrm>
            <a:off x="0" y="6909435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4" name="Rounded Rectangle 22"/>
          <p:cNvSpPr/>
          <p:nvPr>
            <p:custDataLst>
              <p:tags r:id="rId42"/>
            </p:custDataLst>
          </p:nvPr>
        </p:nvSpPr>
        <p:spPr>
          <a:xfrm>
            <a:off x="1227345" y="6909435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Rounded Rectangle 22"/>
          <p:cNvSpPr/>
          <p:nvPr>
            <p:custDataLst>
              <p:tags r:id="rId43"/>
            </p:custDataLst>
          </p:nvPr>
        </p:nvSpPr>
        <p:spPr>
          <a:xfrm>
            <a:off x="1636460" y="6909435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6" name="Rounded Rectangle 22"/>
          <p:cNvSpPr/>
          <p:nvPr>
            <p:custDataLst>
              <p:tags r:id="rId44"/>
            </p:custDataLst>
          </p:nvPr>
        </p:nvSpPr>
        <p:spPr>
          <a:xfrm>
            <a:off x="2454690" y="6909435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7" name="Rounded Rectangle 22"/>
          <p:cNvSpPr/>
          <p:nvPr>
            <p:custDataLst>
              <p:tags r:id="rId45"/>
            </p:custDataLst>
          </p:nvPr>
        </p:nvSpPr>
        <p:spPr>
          <a:xfrm>
            <a:off x="2863805" y="6909435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8" name="Rounded Rectangle 22"/>
          <p:cNvSpPr/>
          <p:nvPr>
            <p:custDataLst>
              <p:tags r:id="rId46"/>
            </p:custDataLst>
          </p:nvPr>
        </p:nvSpPr>
        <p:spPr>
          <a:xfrm>
            <a:off x="3272920" y="6909435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9" name="Rounded Rectangle 22"/>
          <p:cNvSpPr/>
          <p:nvPr>
            <p:custDataLst>
              <p:tags r:id="rId47"/>
            </p:custDataLst>
          </p:nvPr>
        </p:nvSpPr>
        <p:spPr>
          <a:xfrm>
            <a:off x="4909380" y="6909435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0" name="Rounded Rectangle 22"/>
          <p:cNvSpPr/>
          <p:nvPr>
            <p:custDataLst>
              <p:tags r:id="rId48"/>
            </p:custDataLst>
          </p:nvPr>
        </p:nvSpPr>
        <p:spPr>
          <a:xfrm>
            <a:off x="5318495" y="6909435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1" name="Rounded Rectangle 22"/>
          <p:cNvSpPr/>
          <p:nvPr>
            <p:custDataLst>
              <p:tags r:id="rId49"/>
            </p:custDataLst>
          </p:nvPr>
        </p:nvSpPr>
        <p:spPr>
          <a:xfrm>
            <a:off x="5727610" y="6909435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2" name="Rounded Rectangle 22"/>
          <p:cNvSpPr/>
          <p:nvPr>
            <p:custDataLst>
              <p:tags r:id="rId50"/>
            </p:custDataLst>
          </p:nvPr>
        </p:nvSpPr>
        <p:spPr>
          <a:xfrm>
            <a:off x="6545840" y="6909435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3" name="Rounded Rectangle 22"/>
          <p:cNvSpPr/>
          <p:nvPr>
            <p:custDataLst>
              <p:tags r:id="rId51"/>
            </p:custDataLst>
          </p:nvPr>
        </p:nvSpPr>
        <p:spPr>
          <a:xfrm>
            <a:off x="6954955" y="6909435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4" name="Rounded Rectangle 21"/>
          <p:cNvSpPr/>
          <p:nvPr>
            <p:custDataLst>
              <p:tags r:id="rId52"/>
            </p:custDataLst>
          </p:nvPr>
        </p:nvSpPr>
        <p:spPr>
          <a:xfrm>
            <a:off x="7364064" y="6909435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4500265" y="6909435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818230" y="6909435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2045575" y="6909435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8" name="Rounded Rectangle 22"/>
          <p:cNvSpPr/>
          <p:nvPr>
            <p:custDataLst>
              <p:tags r:id="rId53"/>
            </p:custDataLst>
          </p:nvPr>
        </p:nvSpPr>
        <p:spPr>
          <a:xfrm>
            <a:off x="6136725" y="6909435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9" name="Rounded Rectangle 22"/>
          <p:cNvSpPr/>
          <p:nvPr>
            <p:custDataLst>
              <p:tags r:id="rId54"/>
            </p:custDataLst>
          </p:nvPr>
        </p:nvSpPr>
        <p:spPr>
          <a:xfrm>
            <a:off x="4091150" y="6909435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0" name="Rounded Rectangle 22"/>
          <p:cNvSpPr/>
          <p:nvPr>
            <p:custDataLst>
              <p:tags r:id="rId55"/>
            </p:custDataLst>
          </p:nvPr>
        </p:nvSpPr>
        <p:spPr>
          <a:xfrm>
            <a:off x="3682035" y="6909435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6" name="圆柱形 24"/>
          <p:cNvSpPr/>
          <p:nvPr/>
        </p:nvSpPr>
        <p:spPr bwMode="auto">
          <a:xfrm rot="5400000">
            <a:off x="410845" y="7090410"/>
            <a:ext cx="294640" cy="1136650"/>
          </a:xfrm>
          <a:prstGeom prst="can">
            <a:avLst>
              <a:gd name="adj" fmla="val 45943"/>
            </a:avLst>
          </a:prstGeom>
          <a:solidFill>
            <a:schemeClr val="accent2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vert270" wrap="square" lIns="0" tIns="0" rIns="0" bIns="0" numCol="1" rtlCol="0" anchor="ctr" anchorCtr="0" compatLnSpc="1">
            <a:noAutofit/>
          </a:bodyPr>
          <a:lstStyle>
            <a:defPPr>
              <a:defRPr lang="zh-CN"/>
            </a:defPPr>
            <a:lvl1pPr marL="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914400">
              <a:spcBef>
                <a:spcPts val="0"/>
              </a:spcBef>
              <a:spcAft>
                <a:spcPts val="0"/>
              </a:spcAft>
              <a:buClrTx/>
              <a:buSzTx/>
              <a:buFontTx/>
              <a:defRPr/>
            </a:pPr>
            <a:r>
              <a:rPr lang="en-US" altLang="zh-CN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AMI</a:t>
            </a:r>
            <a:r>
              <a:rPr lang="zh-CN" altLang="en-US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相关</a:t>
            </a:r>
          </a:p>
        </p:txBody>
      </p:sp>
      <p:sp>
        <p:nvSpPr>
          <p:cNvPr id="38" name="矩形: 圆角 71"/>
          <p:cNvSpPr/>
          <p:nvPr/>
        </p:nvSpPr>
        <p:spPr bwMode="auto">
          <a:xfrm>
            <a:off x="7771765" y="7512050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907FE2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周边系统</a:t>
            </a:r>
          </a:p>
        </p:txBody>
      </p:sp>
      <p:sp>
        <p:nvSpPr>
          <p:cNvPr id="5" name="矩形: 圆角 71"/>
          <p:cNvSpPr/>
          <p:nvPr/>
        </p:nvSpPr>
        <p:spPr bwMode="auto">
          <a:xfrm>
            <a:off x="9111615" y="751205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225FD1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周边系统</a:t>
            </a:r>
          </a:p>
        </p:txBody>
      </p:sp>
      <p:sp>
        <p:nvSpPr>
          <p:cNvPr id="41" name="矩形: 圆角 71"/>
          <p:cNvSpPr/>
          <p:nvPr/>
        </p:nvSpPr>
        <p:spPr bwMode="auto">
          <a:xfrm>
            <a:off x="123317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系统边界</a:t>
            </a:r>
          </a:p>
        </p:txBody>
      </p:sp>
      <p:sp>
        <p:nvSpPr>
          <p:cNvPr id="42" name="矩形: 圆角 71"/>
          <p:cNvSpPr/>
          <p:nvPr/>
        </p:nvSpPr>
        <p:spPr bwMode="auto">
          <a:xfrm>
            <a:off x="254508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内部大类</a:t>
            </a:r>
          </a:p>
        </p:txBody>
      </p:sp>
      <p:sp>
        <p:nvSpPr>
          <p:cNvPr id="8" name="矩形: 圆角 71"/>
          <p:cNvSpPr/>
          <p:nvPr/>
        </p:nvSpPr>
        <p:spPr bwMode="auto">
          <a:xfrm>
            <a:off x="3772535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模块</a:t>
            </a:r>
            <a:r>
              <a:rPr kumimoji="0" lang="en-US" altLang="zh-CN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/</a:t>
            </a: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组件</a:t>
            </a:r>
          </a:p>
        </p:txBody>
      </p:sp>
      <p:sp>
        <p:nvSpPr>
          <p:cNvPr id="9" name="矩形: 圆角 71"/>
          <p:cNvSpPr/>
          <p:nvPr/>
        </p:nvSpPr>
        <p:spPr bwMode="auto">
          <a:xfrm>
            <a:off x="10381615" y="751078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73839D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外部系统</a:t>
            </a:r>
          </a:p>
        </p:txBody>
      </p:sp>
      <p:sp>
        <p:nvSpPr>
          <p:cNvPr id="53" name="上箭头 52"/>
          <p:cNvSpPr/>
          <p:nvPr/>
        </p:nvSpPr>
        <p:spPr>
          <a:xfrm rot="5400000">
            <a:off x="5931535" y="7519035"/>
            <a:ext cx="24892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2FE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16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4982845" y="7547610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微软雅黑" panose="00000600000000000000" charset="-122"/>
                <a:sym typeface="+mn-ea"/>
              </a:rPr>
              <a:t>内部连接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Calibri" panose="020B0502030000000004" pitchFamily="34" charset="0"/>
              <a:ea typeface="黑体" panose="02010609060101010101" pitchFamily="49" charset="-122"/>
              <a:cs typeface="微软雅黑" panose="00000600000000000000" charset="-122"/>
              <a:sym typeface="+mn-ea"/>
            </a:endParaRPr>
          </a:p>
        </p:txBody>
      </p:sp>
      <p:sp>
        <p:nvSpPr>
          <p:cNvPr id="55" name="上箭头 128"/>
          <p:cNvSpPr/>
          <p:nvPr/>
        </p:nvSpPr>
        <p:spPr>
          <a:xfrm rot="5400000">
            <a:off x="7377430" y="7503795"/>
            <a:ext cx="27686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3D5A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>
                  <a:alpha val="50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6442710" y="7546975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微软雅黑" panose="00000600000000000000" charset="-122"/>
                <a:sym typeface="+mn-ea"/>
              </a:rPr>
              <a:t>外部连接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Calibri" panose="020B0502030000000004" pitchFamily="34" charset="0"/>
              <a:ea typeface="黑体" panose="02010609060101010101" pitchFamily="49" charset="-122"/>
              <a:cs typeface="微软雅黑" panose="00000600000000000000" charset="-122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12225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7" r:id="rId1"/>
    <p:sldLayoutId id="2147483778" r:id="rId2"/>
    <p:sldLayoutId id="2147483779" r:id="rId3"/>
    <p:sldLayoutId id="2147483780" r:id="rId4"/>
    <p:sldLayoutId id="2147483781" r:id="rId5"/>
    <p:sldLayoutId id="2147483782" r:id="rId6"/>
    <p:sldLayoutId id="2147483783" r:id="rId7"/>
    <p:sldLayoutId id="2147483784" r:id="rId8"/>
    <p:sldLayoutId id="2147483785" r:id="rId9"/>
    <p:sldLayoutId id="2147483786" r:id="rId10"/>
    <p:sldLayoutId id="2147483787" r:id="rId11"/>
    <p:sldLayoutId id="2147483788" r:id="rId12"/>
    <p:sldLayoutId id="2147483789" r:id="rId13"/>
    <p:sldLayoutId id="2147483790" r:id="rId14"/>
    <p:sldLayoutId id="2147483791" r:id="rId15"/>
    <p:sldLayoutId id="2147483808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22"/>
          <p:cNvSpPr/>
          <p:nvPr>
            <p:custDataLst>
              <p:tags r:id="rId17"/>
            </p:custDataLst>
          </p:nvPr>
        </p:nvSpPr>
        <p:spPr>
          <a:xfrm>
            <a:off x="12323200" y="138430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3161010" y="138430"/>
            <a:ext cx="9277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标题文字</a:t>
            </a:r>
          </a:p>
        </p:txBody>
      </p:sp>
      <p:sp>
        <p:nvSpPr>
          <p:cNvPr id="76" name="文本框 75"/>
          <p:cNvSpPr txBox="1"/>
          <p:nvPr/>
        </p:nvSpPr>
        <p:spPr>
          <a:xfrm>
            <a:off x="12224385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深色背景</a:t>
            </a:r>
          </a:p>
        </p:txBody>
      </p:sp>
      <p:sp>
        <p:nvSpPr>
          <p:cNvPr id="77" name="Rounded Rectangle 22"/>
          <p:cNvSpPr/>
          <p:nvPr>
            <p:custDataLst>
              <p:tags r:id="rId18"/>
            </p:custDataLst>
          </p:nvPr>
        </p:nvSpPr>
        <p:spPr>
          <a:xfrm>
            <a:off x="12837160" y="138430"/>
            <a:ext cx="307975" cy="306070"/>
          </a:xfrm>
          <a:prstGeom prst="rect">
            <a:avLst/>
          </a:prstGeom>
          <a:solidFill>
            <a:srgbClr val="28376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8" name="Rounded Rectangle 22"/>
          <p:cNvSpPr/>
          <p:nvPr>
            <p:custDataLst>
              <p:tags r:id="rId19"/>
            </p:custDataLst>
          </p:nvPr>
        </p:nvSpPr>
        <p:spPr>
          <a:xfrm>
            <a:off x="12323200" y="568325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79" name="Rounded Rectangle 22"/>
          <p:cNvSpPr/>
          <p:nvPr>
            <p:custDataLst>
              <p:tags r:id="rId20"/>
            </p:custDataLst>
          </p:nvPr>
        </p:nvSpPr>
        <p:spPr>
          <a:xfrm>
            <a:off x="12837160" y="568325"/>
            <a:ext cx="307975" cy="306070"/>
          </a:xfrm>
          <a:prstGeom prst="rect">
            <a:avLst/>
          </a:prstGeom>
          <a:solidFill>
            <a:srgbClr val="41507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3161010" y="583565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正文文字</a:t>
            </a:r>
          </a:p>
        </p:txBody>
      </p:sp>
      <p:sp>
        <p:nvSpPr>
          <p:cNvPr id="81" name="Rounded Rectangle 22"/>
          <p:cNvSpPr/>
          <p:nvPr>
            <p:custDataLst>
              <p:tags r:id="rId21"/>
            </p:custDataLst>
          </p:nvPr>
        </p:nvSpPr>
        <p:spPr>
          <a:xfrm>
            <a:off x="12323200" y="998220"/>
            <a:ext cx="307975" cy="306070"/>
          </a:xfrm>
          <a:prstGeom prst="rect">
            <a:avLst/>
          </a:prstGeom>
          <a:solidFill>
            <a:srgbClr val="D9D9D9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5" name="Rounded Rectangle 22"/>
          <p:cNvSpPr/>
          <p:nvPr>
            <p:custDataLst>
              <p:tags r:id="rId22"/>
            </p:custDataLst>
          </p:nvPr>
        </p:nvSpPr>
        <p:spPr>
          <a:xfrm>
            <a:off x="12837160" y="998220"/>
            <a:ext cx="307975" cy="306070"/>
          </a:xfrm>
          <a:prstGeom prst="rect">
            <a:avLst/>
          </a:prstGeom>
          <a:solidFill>
            <a:srgbClr val="80808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Rounded Rectangle 22"/>
          <p:cNvSpPr/>
          <p:nvPr>
            <p:custDataLst>
              <p:tags r:id="rId23"/>
            </p:custDataLst>
          </p:nvPr>
        </p:nvSpPr>
        <p:spPr>
          <a:xfrm>
            <a:off x="12323200" y="2434846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0" name="Rounded Rectangle 22"/>
          <p:cNvSpPr/>
          <p:nvPr>
            <p:custDataLst>
              <p:tags r:id="rId24"/>
            </p:custDataLst>
          </p:nvPr>
        </p:nvSpPr>
        <p:spPr>
          <a:xfrm>
            <a:off x="12323200" y="2060566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1" name="Rounded Rectangle 22"/>
          <p:cNvSpPr/>
          <p:nvPr>
            <p:custDataLst>
              <p:tags r:id="rId25"/>
            </p:custDataLst>
          </p:nvPr>
        </p:nvSpPr>
        <p:spPr>
          <a:xfrm>
            <a:off x="12323200" y="3183406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2" name="Rounded Rectangle 22"/>
          <p:cNvSpPr/>
          <p:nvPr>
            <p:custDataLst>
              <p:tags r:id="rId26"/>
            </p:custDataLst>
          </p:nvPr>
        </p:nvSpPr>
        <p:spPr>
          <a:xfrm>
            <a:off x="12707079" y="3183406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3" name="Rounded Rectangle 22"/>
          <p:cNvSpPr/>
          <p:nvPr>
            <p:custDataLst>
              <p:tags r:id="rId27"/>
            </p:custDataLst>
          </p:nvPr>
        </p:nvSpPr>
        <p:spPr>
          <a:xfrm>
            <a:off x="12707079" y="3554233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4" name="Rounded Rectangle 22"/>
          <p:cNvSpPr/>
          <p:nvPr>
            <p:custDataLst>
              <p:tags r:id="rId28"/>
            </p:custDataLst>
          </p:nvPr>
        </p:nvSpPr>
        <p:spPr>
          <a:xfrm>
            <a:off x="12323200" y="3931966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5" name="Rounded Rectangle 22"/>
          <p:cNvSpPr/>
          <p:nvPr>
            <p:custDataLst>
              <p:tags r:id="rId29"/>
            </p:custDataLst>
          </p:nvPr>
        </p:nvSpPr>
        <p:spPr>
          <a:xfrm>
            <a:off x="12323200" y="4306246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6" name="Rounded Rectangle 22"/>
          <p:cNvSpPr/>
          <p:nvPr>
            <p:custDataLst>
              <p:tags r:id="rId30"/>
            </p:custDataLst>
          </p:nvPr>
        </p:nvSpPr>
        <p:spPr>
          <a:xfrm>
            <a:off x="12710663" y="5047748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8" name="Rounded Rectangle 22"/>
          <p:cNvSpPr/>
          <p:nvPr>
            <p:custDataLst>
              <p:tags r:id="rId31"/>
            </p:custDataLst>
          </p:nvPr>
        </p:nvSpPr>
        <p:spPr>
          <a:xfrm>
            <a:off x="12323200" y="5429086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9" name="Rounded Rectangle 22"/>
          <p:cNvSpPr/>
          <p:nvPr>
            <p:custDataLst>
              <p:tags r:id="rId32"/>
            </p:custDataLst>
          </p:nvPr>
        </p:nvSpPr>
        <p:spPr>
          <a:xfrm>
            <a:off x="12323200" y="5803366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Rounded Rectangle 22"/>
          <p:cNvSpPr/>
          <p:nvPr>
            <p:custDataLst>
              <p:tags r:id="rId33"/>
            </p:custDataLst>
          </p:nvPr>
        </p:nvSpPr>
        <p:spPr>
          <a:xfrm>
            <a:off x="12323200" y="6177646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" name="Rounded Rectangle 22"/>
          <p:cNvSpPr/>
          <p:nvPr>
            <p:custDataLst>
              <p:tags r:id="rId34"/>
            </p:custDataLst>
          </p:nvPr>
        </p:nvSpPr>
        <p:spPr>
          <a:xfrm>
            <a:off x="12323200" y="6551930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815845" y="9008232"/>
            <a:ext cx="15720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在这占位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防止轻易跨页滚动</a:t>
            </a:r>
          </a:p>
        </p:txBody>
      </p:sp>
      <p:sp>
        <p:nvSpPr>
          <p:cNvPr id="7" name="Rounded Rectangle 21"/>
          <p:cNvSpPr/>
          <p:nvPr>
            <p:custDataLst>
              <p:tags r:id="rId35"/>
            </p:custDataLst>
          </p:nvPr>
        </p:nvSpPr>
        <p:spPr>
          <a:xfrm>
            <a:off x="12707083" y="6551930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2321703" y="5052467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323200" y="2801697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2323199" y="3560226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6" name="Rounded Rectangle 22"/>
          <p:cNvSpPr/>
          <p:nvPr>
            <p:custDataLst>
              <p:tags r:id="rId36"/>
            </p:custDataLst>
          </p:nvPr>
        </p:nvSpPr>
        <p:spPr>
          <a:xfrm>
            <a:off x="12707080" y="5803366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1" name="Rounded Rectangle 22"/>
          <p:cNvSpPr/>
          <p:nvPr>
            <p:custDataLst>
              <p:tags r:id="rId37"/>
            </p:custDataLst>
          </p:nvPr>
        </p:nvSpPr>
        <p:spPr>
          <a:xfrm>
            <a:off x="12705584" y="4671211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4" name="Rounded Rectangle 22"/>
          <p:cNvSpPr/>
          <p:nvPr>
            <p:custDataLst>
              <p:tags r:id="rId38"/>
            </p:custDataLst>
          </p:nvPr>
        </p:nvSpPr>
        <p:spPr>
          <a:xfrm>
            <a:off x="12321703" y="4671731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13161010" y="998220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辅助文字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12740191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白色背景</a:t>
            </a:r>
          </a:p>
        </p:txBody>
      </p:sp>
      <p:sp>
        <p:nvSpPr>
          <p:cNvPr id="22" name="Rounded Rectangle 22"/>
          <p:cNvSpPr/>
          <p:nvPr>
            <p:custDataLst>
              <p:tags r:id="rId39"/>
            </p:custDataLst>
          </p:nvPr>
        </p:nvSpPr>
        <p:spPr>
          <a:xfrm>
            <a:off x="409115" y="6909435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3" name="Rounded Rectangle 22"/>
          <p:cNvSpPr/>
          <p:nvPr>
            <p:custDataLst>
              <p:tags r:id="rId40"/>
            </p:custDataLst>
          </p:nvPr>
        </p:nvSpPr>
        <p:spPr>
          <a:xfrm>
            <a:off x="0" y="6909435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4" name="Rounded Rectangle 22"/>
          <p:cNvSpPr/>
          <p:nvPr>
            <p:custDataLst>
              <p:tags r:id="rId41"/>
            </p:custDataLst>
          </p:nvPr>
        </p:nvSpPr>
        <p:spPr>
          <a:xfrm>
            <a:off x="1227345" y="6909435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Rounded Rectangle 22"/>
          <p:cNvSpPr/>
          <p:nvPr>
            <p:custDataLst>
              <p:tags r:id="rId42"/>
            </p:custDataLst>
          </p:nvPr>
        </p:nvSpPr>
        <p:spPr>
          <a:xfrm>
            <a:off x="1636460" y="6909435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6" name="Rounded Rectangle 22"/>
          <p:cNvSpPr/>
          <p:nvPr>
            <p:custDataLst>
              <p:tags r:id="rId43"/>
            </p:custDataLst>
          </p:nvPr>
        </p:nvSpPr>
        <p:spPr>
          <a:xfrm>
            <a:off x="2454690" y="6909435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7" name="Rounded Rectangle 22"/>
          <p:cNvSpPr/>
          <p:nvPr>
            <p:custDataLst>
              <p:tags r:id="rId44"/>
            </p:custDataLst>
          </p:nvPr>
        </p:nvSpPr>
        <p:spPr>
          <a:xfrm>
            <a:off x="2863805" y="6909435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8" name="Rounded Rectangle 22"/>
          <p:cNvSpPr/>
          <p:nvPr>
            <p:custDataLst>
              <p:tags r:id="rId45"/>
            </p:custDataLst>
          </p:nvPr>
        </p:nvSpPr>
        <p:spPr>
          <a:xfrm>
            <a:off x="3272920" y="6909435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9" name="Rounded Rectangle 22"/>
          <p:cNvSpPr/>
          <p:nvPr>
            <p:custDataLst>
              <p:tags r:id="rId46"/>
            </p:custDataLst>
          </p:nvPr>
        </p:nvSpPr>
        <p:spPr>
          <a:xfrm>
            <a:off x="4909380" y="6909435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0" name="Rounded Rectangle 22"/>
          <p:cNvSpPr/>
          <p:nvPr>
            <p:custDataLst>
              <p:tags r:id="rId47"/>
            </p:custDataLst>
          </p:nvPr>
        </p:nvSpPr>
        <p:spPr>
          <a:xfrm>
            <a:off x="5318495" y="6909435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1" name="Rounded Rectangle 22"/>
          <p:cNvSpPr/>
          <p:nvPr>
            <p:custDataLst>
              <p:tags r:id="rId48"/>
            </p:custDataLst>
          </p:nvPr>
        </p:nvSpPr>
        <p:spPr>
          <a:xfrm>
            <a:off x="5727610" y="6909435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2" name="Rounded Rectangle 22"/>
          <p:cNvSpPr/>
          <p:nvPr>
            <p:custDataLst>
              <p:tags r:id="rId49"/>
            </p:custDataLst>
          </p:nvPr>
        </p:nvSpPr>
        <p:spPr>
          <a:xfrm>
            <a:off x="6545840" y="6909435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3" name="Rounded Rectangle 22"/>
          <p:cNvSpPr/>
          <p:nvPr>
            <p:custDataLst>
              <p:tags r:id="rId50"/>
            </p:custDataLst>
          </p:nvPr>
        </p:nvSpPr>
        <p:spPr>
          <a:xfrm>
            <a:off x="6954955" y="6909435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4" name="Rounded Rectangle 21"/>
          <p:cNvSpPr/>
          <p:nvPr>
            <p:custDataLst>
              <p:tags r:id="rId51"/>
            </p:custDataLst>
          </p:nvPr>
        </p:nvSpPr>
        <p:spPr>
          <a:xfrm>
            <a:off x="7364064" y="6909435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4500265" y="6909435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818230" y="6909435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2045575" y="6909435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8" name="Rounded Rectangle 22"/>
          <p:cNvSpPr/>
          <p:nvPr>
            <p:custDataLst>
              <p:tags r:id="rId52"/>
            </p:custDataLst>
          </p:nvPr>
        </p:nvSpPr>
        <p:spPr>
          <a:xfrm>
            <a:off x="6136725" y="6909435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9" name="Rounded Rectangle 22"/>
          <p:cNvSpPr/>
          <p:nvPr>
            <p:custDataLst>
              <p:tags r:id="rId53"/>
            </p:custDataLst>
          </p:nvPr>
        </p:nvSpPr>
        <p:spPr>
          <a:xfrm>
            <a:off x="4091150" y="6909435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0" name="Rounded Rectangle 22"/>
          <p:cNvSpPr/>
          <p:nvPr>
            <p:custDataLst>
              <p:tags r:id="rId54"/>
            </p:custDataLst>
          </p:nvPr>
        </p:nvSpPr>
        <p:spPr>
          <a:xfrm>
            <a:off x="3682035" y="6909435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6" name="圆柱形 24"/>
          <p:cNvSpPr/>
          <p:nvPr/>
        </p:nvSpPr>
        <p:spPr bwMode="auto">
          <a:xfrm rot="5400000">
            <a:off x="410845" y="7090410"/>
            <a:ext cx="294640" cy="1136650"/>
          </a:xfrm>
          <a:prstGeom prst="can">
            <a:avLst>
              <a:gd name="adj" fmla="val 45943"/>
            </a:avLst>
          </a:prstGeom>
          <a:solidFill>
            <a:schemeClr val="accent2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vert270" wrap="square" lIns="0" tIns="0" rIns="0" bIns="0" numCol="1" rtlCol="0" anchor="ctr" anchorCtr="0" compatLnSpc="1">
            <a:noAutofit/>
          </a:bodyPr>
          <a:lstStyle>
            <a:defPPr>
              <a:defRPr lang="zh-CN"/>
            </a:defPPr>
            <a:lvl1pPr marL="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914400">
              <a:spcBef>
                <a:spcPts val="0"/>
              </a:spcBef>
              <a:spcAft>
                <a:spcPts val="0"/>
              </a:spcAft>
              <a:buClrTx/>
              <a:buSzTx/>
              <a:buFontTx/>
              <a:defRPr/>
            </a:pPr>
            <a:r>
              <a:rPr lang="en-US" altLang="zh-CN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AMI</a:t>
            </a:r>
            <a:r>
              <a:rPr lang="zh-CN" altLang="en-US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相关</a:t>
            </a:r>
          </a:p>
        </p:txBody>
      </p:sp>
      <p:sp>
        <p:nvSpPr>
          <p:cNvPr id="38" name="矩形: 圆角 71"/>
          <p:cNvSpPr/>
          <p:nvPr/>
        </p:nvSpPr>
        <p:spPr bwMode="auto">
          <a:xfrm>
            <a:off x="7771765" y="7512050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907FE2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周边系统</a:t>
            </a:r>
          </a:p>
        </p:txBody>
      </p:sp>
      <p:sp>
        <p:nvSpPr>
          <p:cNvPr id="5" name="矩形: 圆角 71"/>
          <p:cNvSpPr/>
          <p:nvPr/>
        </p:nvSpPr>
        <p:spPr bwMode="auto">
          <a:xfrm>
            <a:off x="9111615" y="751205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225FD1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周边系统</a:t>
            </a:r>
          </a:p>
        </p:txBody>
      </p:sp>
      <p:sp>
        <p:nvSpPr>
          <p:cNvPr id="41" name="矩形: 圆角 71"/>
          <p:cNvSpPr/>
          <p:nvPr/>
        </p:nvSpPr>
        <p:spPr bwMode="auto">
          <a:xfrm>
            <a:off x="123317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系统边界</a:t>
            </a:r>
          </a:p>
        </p:txBody>
      </p:sp>
      <p:sp>
        <p:nvSpPr>
          <p:cNvPr id="42" name="矩形: 圆角 71"/>
          <p:cNvSpPr/>
          <p:nvPr/>
        </p:nvSpPr>
        <p:spPr bwMode="auto">
          <a:xfrm>
            <a:off x="254508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内部大类</a:t>
            </a:r>
          </a:p>
        </p:txBody>
      </p:sp>
      <p:sp>
        <p:nvSpPr>
          <p:cNvPr id="8" name="矩形: 圆角 71"/>
          <p:cNvSpPr/>
          <p:nvPr/>
        </p:nvSpPr>
        <p:spPr bwMode="auto">
          <a:xfrm>
            <a:off x="3772535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模块</a:t>
            </a:r>
            <a:r>
              <a:rPr kumimoji="0" lang="en-US" altLang="zh-CN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/</a:t>
            </a: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组件</a:t>
            </a:r>
          </a:p>
        </p:txBody>
      </p:sp>
      <p:sp>
        <p:nvSpPr>
          <p:cNvPr id="9" name="矩形: 圆角 71"/>
          <p:cNvSpPr/>
          <p:nvPr/>
        </p:nvSpPr>
        <p:spPr bwMode="auto">
          <a:xfrm>
            <a:off x="10381615" y="751078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73839D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外部系统</a:t>
            </a:r>
          </a:p>
        </p:txBody>
      </p:sp>
      <p:sp>
        <p:nvSpPr>
          <p:cNvPr id="53" name="上箭头 52"/>
          <p:cNvSpPr/>
          <p:nvPr/>
        </p:nvSpPr>
        <p:spPr>
          <a:xfrm rot="5400000">
            <a:off x="5931535" y="7519035"/>
            <a:ext cx="24892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2FE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16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4982845" y="7547610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微软雅黑" panose="00000600000000000000" charset="-122"/>
                <a:sym typeface="+mn-ea"/>
              </a:rPr>
              <a:t>内部连接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Calibri" panose="020B0502030000000004" pitchFamily="34" charset="0"/>
              <a:ea typeface="黑体" panose="02010609060101010101" pitchFamily="49" charset="-122"/>
              <a:cs typeface="微软雅黑" panose="00000600000000000000" charset="-122"/>
              <a:sym typeface="+mn-ea"/>
            </a:endParaRPr>
          </a:p>
        </p:txBody>
      </p:sp>
      <p:sp>
        <p:nvSpPr>
          <p:cNvPr id="55" name="上箭头 128"/>
          <p:cNvSpPr/>
          <p:nvPr/>
        </p:nvSpPr>
        <p:spPr>
          <a:xfrm rot="5400000">
            <a:off x="7377430" y="7503795"/>
            <a:ext cx="27686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3D5A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>
                  <a:alpha val="50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6442710" y="7546975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微软雅黑" panose="00000600000000000000" charset="-122"/>
                <a:sym typeface="+mn-ea"/>
              </a:rPr>
              <a:t>外部连接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Calibri" panose="020B0502030000000004" pitchFamily="34" charset="0"/>
              <a:ea typeface="黑体" panose="02010609060101010101" pitchFamily="49" charset="-122"/>
              <a:cs typeface="微软雅黑" panose="00000600000000000000" charset="-122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386320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  <p:sldLayoutId id="2147483804" r:id="rId12"/>
    <p:sldLayoutId id="2147483805" r:id="rId13"/>
    <p:sldLayoutId id="2147483806" r:id="rId14"/>
    <p:sldLayoutId id="2147483807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22"/>
          <p:cNvSpPr/>
          <p:nvPr>
            <p:custDataLst>
              <p:tags r:id="rId23"/>
            </p:custDataLst>
          </p:nvPr>
        </p:nvSpPr>
        <p:spPr>
          <a:xfrm>
            <a:off x="12323200" y="138430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3218160" y="138430"/>
            <a:ext cx="10494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标题文字色</a:t>
            </a:r>
          </a:p>
        </p:txBody>
      </p:sp>
      <p:sp>
        <p:nvSpPr>
          <p:cNvPr id="76" name="文本框 75"/>
          <p:cNvSpPr txBox="1"/>
          <p:nvPr/>
        </p:nvSpPr>
        <p:spPr>
          <a:xfrm>
            <a:off x="12224385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深色背景</a:t>
            </a:r>
          </a:p>
        </p:txBody>
      </p:sp>
      <p:sp>
        <p:nvSpPr>
          <p:cNvPr id="77" name="Rounded Rectangle 22"/>
          <p:cNvSpPr/>
          <p:nvPr>
            <p:custDataLst>
              <p:tags r:id="rId24"/>
            </p:custDataLst>
          </p:nvPr>
        </p:nvSpPr>
        <p:spPr>
          <a:xfrm>
            <a:off x="12837160" y="138430"/>
            <a:ext cx="307975" cy="306070"/>
          </a:xfrm>
          <a:prstGeom prst="rect">
            <a:avLst/>
          </a:prstGeom>
          <a:solidFill>
            <a:srgbClr val="28366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78" name="Rounded Rectangle 22"/>
          <p:cNvSpPr/>
          <p:nvPr>
            <p:custDataLst>
              <p:tags r:id="rId25"/>
            </p:custDataLst>
          </p:nvPr>
        </p:nvSpPr>
        <p:spPr>
          <a:xfrm>
            <a:off x="12323200" y="568325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9" name="Rounded Rectangle 22"/>
          <p:cNvSpPr/>
          <p:nvPr>
            <p:custDataLst>
              <p:tags r:id="rId26"/>
            </p:custDataLst>
          </p:nvPr>
        </p:nvSpPr>
        <p:spPr>
          <a:xfrm>
            <a:off x="12837160" y="568325"/>
            <a:ext cx="307975" cy="306070"/>
          </a:xfrm>
          <a:prstGeom prst="rect">
            <a:avLst/>
          </a:prstGeom>
          <a:solidFill>
            <a:srgbClr val="28366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lvl="0"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3218160" y="583565"/>
            <a:ext cx="11176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正文文字色</a:t>
            </a:r>
          </a:p>
        </p:txBody>
      </p:sp>
      <p:sp>
        <p:nvSpPr>
          <p:cNvPr id="81" name="Rounded Rectangle 22"/>
          <p:cNvSpPr/>
          <p:nvPr>
            <p:custDataLst>
              <p:tags r:id="rId27"/>
            </p:custDataLst>
          </p:nvPr>
        </p:nvSpPr>
        <p:spPr>
          <a:xfrm>
            <a:off x="12323200" y="998220"/>
            <a:ext cx="307975" cy="306070"/>
          </a:xfrm>
          <a:prstGeom prst="rect">
            <a:avLst/>
          </a:prstGeom>
          <a:solidFill>
            <a:srgbClr val="D9D9D9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85" name="Rounded Rectangle 22"/>
          <p:cNvSpPr/>
          <p:nvPr>
            <p:custDataLst>
              <p:tags r:id="rId28"/>
            </p:custDataLst>
          </p:nvPr>
        </p:nvSpPr>
        <p:spPr>
          <a:xfrm>
            <a:off x="12837160" y="998220"/>
            <a:ext cx="307975" cy="306070"/>
          </a:xfrm>
          <a:prstGeom prst="rect">
            <a:avLst/>
          </a:prstGeom>
          <a:solidFill>
            <a:srgbClr val="41507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lvl="0"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2321332" y="9008232"/>
            <a:ext cx="15720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在这占位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防止轻易跨页滚动</a:t>
            </a:r>
          </a:p>
        </p:txBody>
      </p:sp>
      <p:sp>
        <p:nvSpPr>
          <p:cNvPr id="88" name="Rounded Rectangle 22"/>
          <p:cNvSpPr/>
          <p:nvPr>
            <p:custDataLst>
              <p:tags r:id="rId29"/>
            </p:custDataLst>
          </p:nvPr>
        </p:nvSpPr>
        <p:spPr>
          <a:xfrm>
            <a:off x="12321332" y="2274094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0" name="Rounded Rectangle 22"/>
          <p:cNvSpPr/>
          <p:nvPr>
            <p:custDataLst>
              <p:tags r:id="rId30"/>
            </p:custDataLst>
          </p:nvPr>
        </p:nvSpPr>
        <p:spPr>
          <a:xfrm>
            <a:off x="12321332" y="1864525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1" name="Rounded Rectangle 22"/>
          <p:cNvSpPr/>
          <p:nvPr>
            <p:custDataLst>
              <p:tags r:id="rId31"/>
            </p:custDataLst>
          </p:nvPr>
        </p:nvSpPr>
        <p:spPr>
          <a:xfrm>
            <a:off x="12321332" y="3091293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4" name="Rounded Rectangle 22"/>
          <p:cNvSpPr/>
          <p:nvPr>
            <p:custDataLst>
              <p:tags r:id="rId32"/>
            </p:custDataLst>
          </p:nvPr>
        </p:nvSpPr>
        <p:spPr>
          <a:xfrm>
            <a:off x="12321332" y="3904438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5" name="Rounded Rectangle 22"/>
          <p:cNvSpPr/>
          <p:nvPr>
            <p:custDataLst>
              <p:tags r:id="rId33"/>
            </p:custDataLst>
          </p:nvPr>
        </p:nvSpPr>
        <p:spPr>
          <a:xfrm>
            <a:off x="12321332" y="4314007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6" name="Rounded Rectangle 22"/>
          <p:cNvSpPr/>
          <p:nvPr>
            <p:custDataLst>
              <p:tags r:id="rId34"/>
            </p:custDataLst>
          </p:nvPr>
        </p:nvSpPr>
        <p:spPr>
          <a:xfrm>
            <a:off x="12705582" y="4721349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8" name="Rounded Rectangle 22"/>
          <p:cNvSpPr/>
          <p:nvPr>
            <p:custDataLst>
              <p:tags r:id="rId35"/>
            </p:custDataLst>
          </p:nvPr>
        </p:nvSpPr>
        <p:spPr>
          <a:xfrm>
            <a:off x="12321332" y="5125810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99" name="Rounded Rectangle 22"/>
          <p:cNvSpPr/>
          <p:nvPr>
            <p:custDataLst>
              <p:tags r:id="rId36"/>
            </p:custDataLst>
          </p:nvPr>
        </p:nvSpPr>
        <p:spPr>
          <a:xfrm>
            <a:off x="12321332" y="5535379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2" name="Rounded Rectangle 22"/>
          <p:cNvSpPr/>
          <p:nvPr>
            <p:custDataLst>
              <p:tags r:id="rId37"/>
            </p:custDataLst>
          </p:nvPr>
        </p:nvSpPr>
        <p:spPr>
          <a:xfrm>
            <a:off x="12705582" y="5944948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3" name="Rounded Rectangle 22"/>
          <p:cNvSpPr/>
          <p:nvPr>
            <p:custDataLst>
              <p:tags r:id="rId38"/>
            </p:custDataLst>
          </p:nvPr>
        </p:nvSpPr>
        <p:spPr>
          <a:xfrm>
            <a:off x="12321332" y="5944948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" name="Rounded Rectangle 21"/>
          <p:cNvSpPr/>
          <p:nvPr>
            <p:custDataLst>
              <p:tags r:id="rId39"/>
            </p:custDataLst>
          </p:nvPr>
        </p:nvSpPr>
        <p:spPr>
          <a:xfrm>
            <a:off x="12321332" y="6354519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2321332" y="4723576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321332" y="2683663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2321332" y="3500862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6" name="Rounded Rectangle 22"/>
          <p:cNvSpPr/>
          <p:nvPr>
            <p:custDataLst>
              <p:tags r:id="rId40"/>
            </p:custDataLst>
          </p:nvPr>
        </p:nvSpPr>
        <p:spPr>
          <a:xfrm>
            <a:off x="12705582" y="5537083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11" name="Rounded Rectangle 22"/>
          <p:cNvSpPr/>
          <p:nvPr>
            <p:custDataLst>
              <p:tags r:id="rId41"/>
            </p:custDataLst>
          </p:nvPr>
        </p:nvSpPr>
        <p:spPr>
          <a:xfrm>
            <a:off x="12705582" y="5129216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14" name="Rounded Rectangle 22"/>
          <p:cNvSpPr/>
          <p:nvPr>
            <p:custDataLst>
              <p:tags r:id="rId42"/>
            </p:custDataLst>
          </p:nvPr>
        </p:nvSpPr>
        <p:spPr>
          <a:xfrm>
            <a:off x="12705582" y="4313482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36000" bIns="0" rtlCol="0" anchor="ctr">
            <a:noAutofit/>
          </a:bodyPr>
          <a:lstStyle/>
          <a:p>
            <a:pPr lvl="0" algn="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13218160" y="998220"/>
            <a:ext cx="11176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辅助文字色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12740191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白色背景</a:t>
            </a:r>
          </a:p>
        </p:txBody>
      </p:sp>
      <p:sp>
        <p:nvSpPr>
          <p:cNvPr id="61" name="文本框 60"/>
          <p:cNvSpPr txBox="1"/>
          <p:nvPr/>
        </p:nvSpPr>
        <p:spPr>
          <a:xfrm>
            <a:off x="12235863" y="6740476"/>
            <a:ext cx="19746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“</a:t>
            </a:r>
            <a:r>
              <a:rPr lang="en-US" altLang="zh-CN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N</a:t>
            </a:r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”为新增色值，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l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用于相近色的搭配选择</a:t>
            </a:r>
          </a:p>
        </p:txBody>
      </p:sp>
      <p:sp>
        <p:nvSpPr>
          <p:cNvPr id="64" name="Rounded Rectangle 22"/>
          <p:cNvSpPr/>
          <p:nvPr>
            <p:custDataLst>
              <p:tags r:id="rId43"/>
            </p:custDataLst>
          </p:nvPr>
        </p:nvSpPr>
        <p:spPr>
          <a:xfrm rot="16200000">
            <a:off x="408617" y="7010398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5" name="Rounded Rectangle 22"/>
          <p:cNvSpPr/>
          <p:nvPr>
            <p:custDataLst>
              <p:tags r:id="rId44"/>
            </p:custDataLst>
          </p:nvPr>
        </p:nvSpPr>
        <p:spPr>
          <a:xfrm rot="16200000">
            <a:off x="-952" y="7010398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6" name="Rounded Rectangle 22"/>
          <p:cNvSpPr/>
          <p:nvPr>
            <p:custDataLst>
              <p:tags r:id="rId45"/>
            </p:custDataLst>
          </p:nvPr>
        </p:nvSpPr>
        <p:spPr>
          <a:xfrm rot="16200000">
            <a:off x="1225816" y="7010398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7" name="Rounded Rectangle 22"/>
          <p:cNvSpPr/>
          <p:nvPr>
            <p:custDataLst>
              <p:tags r:id="rId46"/>
            </p:custDataLst>
          </p:nvPr>
        </p:nvSpPr>
        <p:spPr>
          <a:xfrm rot="16200000">
            <a:off x="2038961" y="7010398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8" name="Rounded Rectangle 22"/>
          <p:cNvSpPr/>
          <p:nvPr>
            <p:custDataLst>
              <p:tags r:id="rId47"/>
            </p:custDataLst>
          </p:nvPr>
        </p:nvSpPr>
        <p:spPr>
          <a:xfrm rot="16200000">
            <a:off x="2448530" y="7010398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69" name="Rounded Rectangle 22"/>
          <p:cNvSpPr/>
          <p:nvPr>
            <p:custDataLst>
              <p:tags r:id="rId48"/>
            </p:custDataLst>
          </p:nvPr>
        </p:nvSpPr>
        <p:spPr>
          <a:xfrm>
            <a:off x="2855873" y="7408573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0" name="Rounded Rectangle 22"/>
          <p:cNvSpPr/>
          <p:nvPr>
            <p:custDataLst>
              <p:tags r:id="rId49"/>
            </p:custDataLst>
          </p:nvPr>
        </p:nvSpPr>
        <p:spPr>
          <a:xfrm rot="16200000">
            <a:off x="3260333" y="7010398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1" name="Rounded Rectangle 22"/>
          <p:cNvSpPr/>
          <p:nvPr>
            <p:custDataLst>
              <p:tags r:id="rId50"/>
            </p:custDataLst>
          </p:nvPr>
        </p:nvSpPr>
        <p:spPr>
          <a:xfrm rot="16200000">
            <a:off x="3669902" y="7010398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2" name="Rounded Rectangle 22"/>
          <p:cNvSpPr/>
          <p:nvPr>
            <p:custDataLst>
              <p:tags r:id="rId51"/>
            </p:custDataLst>
          </p:nvPr>
        </p:nvSpPr>
        <p:spPr>
          <a:xfrm>
            <a:off x="4079472" y="7408573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3" name="Rounded Rectangle 22"/>
          <p:cNvSpPr/>
          <p:nvPr>
            <p:custDataLst>
              <p:tags r:id="rId52"/>
            </p:custDataLst>
          </p:nvPr>
        </p:nvSpPr>
        <p:spPr>
          <a:xfrm rot="16200000">
            <a:off x="4079471" y="7010398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74" name="Rounded Rectangle 21"/>
          <p:cNvSpPr/>
          <p:nvPr>
            <p:custDataLst>
              <p:tags r:id="rId53"/>
            </p:custDataLst>
          </p:nvPr>
        </p:nvSpPr>
        <p:spPr>
          <a:xfrm rot="16200000">
            <a:off x="4489043" y="7010398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75" name="矩形 74"/>
          <p:cNvSpPr/>
          <p:nvPr/>
        </p:nvSpPr>
        <p:spPr>
          <a:xfrm rot="16200000">
            <a:off x="2854432" y="7014066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2" name="矩形 81"/>
          <p:cNvSpPr/>
          <p:nvPr/>
        </p:nvSpPr>
        <p:spPr>
          <a:xfrm rot="16200000">
            <a:off x="817216" y="7011368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3" name="矩形 82"/>
          <p:cNvSpPr/>
          <p:nvPr/>
        </p:nvSpPr>
        <p:spPr>
          <a:xfrm rot="16200000">
            <a:off x="1632388" y="7013395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84" name="Rounded Rectangle 22"/>
          <p:cNvSpPr/>
          <p:nvPr>
            <p:custDataLst>
              <p:tags r:id="rId54"/>
            </p:custDataLst>
          </p:nvPr>
        </p:nvSpPr>
        <p:spPr>
          <a:xfrm>
            <a:off x="3671607" y="7408573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86" name="Rounded Rectangle 22"/>
          <p:cNvSpPr/>
          <p:nvPr>
            <p:custDataLst>
              <p:tags r:id="rId55"/>
            </p:custDataLst>
          </p:nvPr>
        </p:nvSpPr>
        <p:spPr>
          <a:xfrm>
            <a:off x="3263740" y="7408573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87" name="Rounded Rectangle 22"/>
          <p:cNvSpPr/>
          <p:nvPr>
            <p:custDataLst>
              <p:tags r:id="rId56"/>
            </p:custDataLst>
          </p:nvPr>
        </p:nvSpPr>
        <p:spPr>
          <a:xfrm>
            <a:off x="2448006" y="7408573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0" tIns="0" rIns="0" bIns="36000" rtlCol="0" anchor="b" anchorCtr="0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altLang="zh-CN" sz="1000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N</a:t>
            </a:r>
            <a:endParaRPr lang="zh-CN" altLang="id-ID" sz="1000">
              <a:solidFill>
                <a:schemeClr val="bg1"/>
              </a:solidFill>
              <a:latin typeface="黑体" panose="02010609060101010101" pitchFamily="49" charset="-122"/>
              <a:ea typeface="黑体" panose="02010609060101010101" pitchFamily="49" charset="-122"/>
              <a:sym typeface="+mn-ea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3218160" y="338528"/>
            <a:ext cx="119682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900">
                <a:solidFill>
                  <a:srgbClr val="283563">
                    <a:alpha val="50000"/>
                  </a:srgb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英文透明度</a:t>
            </a:r>
            <a:r>
              <a:rPr lang="en-US" altLang="zh-CN" sz="900">
                <a:solidFill>
                  <a:srgbClr val="283563">
                    <a:alpha val="50000"/>
                  </a:srgb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50%</a:t>
            </a:r>
            <a:endParaRPr lang="zh-CN" altLang="en-US" sz="900">
              <a:solidFill>
                <a:srgbClr val="283563">
                  <a:alpha val="50000"/>
                </a:srgb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" name="文本框 4"/>
          <p:cNvSpPr txBox="1"/>
          <p:nvPr>
            <p:custDataLst>
              <p:tags r:id="rId57"/>
            </p:custDataLst>
          </p:nvPr>
        </p:nvSpPr>
        <p:spPr>
          <a:xfrm>
            <a:off x="9846945" y="6528435"/>
            <a:ext cx="753110" cy="121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">
                <a:solidFill>
                  <a:srgbClr val="FF0000">
                    <a:alpha val="0"/>
                  </a:srgbClr>
                </a:solidFill>
              </a:rPr>
              <a:t>仅供君联资本内部使用</a:t>
            </a:r>
            <a:r>
              <a:rPr lang="en-US" altLang="zh-CN" sz="200">
                <a:solidFill>
                  <a:srgbClr val="FF0000">
                    <a:alpha val="0"/>
                  </a:srgbClr>
                </a:solidFill>
              </a:rPr>
              <a:t>20221217</a:t>
            </a:r>
          </a:p>
        </p:txBody>
      </p:sp>
    </p:spTree>
    <p:extLst>
      <p:ext uri="{BB962C8B-B14F-4D97-AF65-F5344CB8AC3E}">
        <p14:creationId xmlns:p14="http://schemas.microsoft.com/office/powerpoint/2010/main" val="2435667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0" r:id="rId1"/>
    <p:sldLayoutId id="2147483811" r:id="rId2"/>
    <p:sldLayoutId id="2147483812" r:id="rId3"/>
    <p:sldLayoutId id="2147483813" r:id="rId4"/>
    <p:sldLayoutId id="2147483814" r:id="rId5"/>
    <p:sldLayoutId id="2147483815" r:id="rId6"/>
    <p:sldLayoutId id="2147483816" r:id="rId7"/>
    <p:sldLayoutId id="2147483817" r:id="rId8"/>
    <p:sldLayoutId id="2147483818" r:id="rId9"/>
    <p:sldLayoutId id="2147483819" r:id="rId10"/>
    <p:sldLayoutId id="2147483820" r:id="rId11"/>
    <p:sldLayoutId id="2147483821" r:id="rId12"/>
    <p:sldLayoutId id="2147483822" r:id="rId13"/>
    <p:sldLayoutId id="2147483823" r:id="rId14"/>
    <p:sldLayoutId id="2147483824" r:id="rId15"/>
    <p:sldLayoutId id="2147483825" r:id="rId16"/>
    <p:sldLayoutId id="2147483826" r:id="rId17"/>
    <p:sldLayoutId id="2147483827" r:id="rId18"/>
    <p:sldLayoutId id="2147483828" r:id="rId19"/>
    <p:sldLayoutId id="2147483829" r:id="rId20"/>
    <p:sldLayoutId id="2147483830" r:id="rId2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22"/>
          <p:cNvSpPr/>
          <p:nvPr>
            <p:custDataLst>
              <p:tags r:id="rId17"/>
            </p:custDataLst>
          </p:nvPr>
        </p:nvSpPr>
        <p:spPr>
          <a:xfrm>
            <a:off x="12323200" y="138430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3161010" y="138430"/>
            <a:ext cx="92773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标题文字</a:t>
            </a:r>
          </a:p>
        </p:txBody>
      </p:sp>
      <p:sp>
        <p:nvSpPr>
          <p:cNvPr id="76" name="文本框 75"/>
          <p:cNvSpPr txBox="1"/>
          <p:nvPr/>
        </p:nvSpPr>
        <p:spPr>
          <a:xfrm>
            <a:off x="12224385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深色背景</a:t>
            </a:r>
          </a:p>
        </p:txBody>
      </p:sp>
      <p:sp>
        <p:nvSpPr>
          <p:cNvPr id="77" name="Rounded Rectangle 22"/>
          <p:cNvSpPr/>
          <p:nvPr>
            <p:custDataLst>
              <p:tags r:id="rId18"/>
            </p:custDataLst>
          </p:nvPr>
        </p:nvSpPr>
        <p:spPr>
          <a:xfrm>
            <a:off x="12837160" y="138430"/>
            <a:ext cx="307975" cy="306070"/>
          </a:xfrm>
          <a:prstGeom prst="rect">
            <a:avLst/>
          </a:prstGeom>
          <a:solidFill>
            <a:srgbClr val="28376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8" name="Rounded Rectangle 22"/>
          <p:cNvSpPr/>
          <p:nvPr>
            <p:custDataLst>
              <p:tags r:id="rId19"/>
            </p:custDataLst>
          </p:nvPr>
        </p:nvSpPr>
        <p:spPr>
          <a:xfrm>
            <a:off x="12323200" y="568325"/>
            <a:ext cx="307975" cy="30607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79" name="Rounded Rectangle 22"/>
          <p:cNvSpPr/>
          <p:nvPr>
            <p:custDataLst>
              <p:tags r:id="rId20"/>
            </p:custDataLst>
          </p:nvPr>
        </p:nvSpPr>
        <p:spPr>
          <a:xfrm>
            <a:off x="12837160" y="568325"/>
            <a:ext cx="307975" cy="306070"/>
          </a:xfrm>
          <a:prstGeom prst="rect">
            <a:avLst/>
          </a:prstGeom>
          <a:solidFill>
            <a:srgbClr val="41507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3161010" y="583565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正文文字</a:t>
            </a:r>
          </a:p>
        </p:txBody>
      </p:sp>
      <p:sp>
        <p:nvSpPr>
          <p:cNvPr id="81" name="Rounded Rectangle 22"/>
          <p:cNvSpPr/>
          <p:nvPr>
            <p:custDataLst>
              <p:tags r:id="rId21"/>
            </p:custDataLst>
          </p:nvPr>
        </p:nvSpPr>
        <p:spPr>
          <a:xfrm>
            <a:off x="12323200" y="998220"/>
            <a:ext cx="307975" cy="306070"/>
          </a:xfrm>
          <a:prstGeom prst="rect">
            <a:avLst/>
          </a:prstGeom>
          <a:solidFill>
            <a:srgbClr val="D9D9D9"/>
          </a:solidFill>
          <a:ln w="6350" cap="flat" cmpd="sng" algn="ctr">
            <a:solidFill>
              <a:schemeClr val="tx1">
                <a:lumMod val="65000"/>
                <a:lumOff val="3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85" name="Rounded Rectangle 22"/>
          <p:cNvSpPr/>
          <p:nvPr>
            <p:custDataLst>
              <p:tags r:id="rId22"/>
            </p:custDataLst>
          </p:nvPr>
        </p:nvSpPr>
        <p:spPr>
          <a:xfrm>
            <a:off x="12837160" y="998220"/>
            <a:ext cx="307975" cy="306070"/>
          </a:xfrm>
          <a:prstGeom prst="rect">
            <a:avLst/>
          </a:prstGeom>
          <a:solidFill>
            <a:srgbClr val="80808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8" name="Rounded Rectangle 22"/>
          <p:cNvSpPr/>
          <p:nvPr>
            <p:custDataLst>
              <p:tags r:id="rId23"/>
            </p:custDataLst>
          </p:nvPr>
        </p:nvSpPr>
        <p:spPr>
          <a:xfrm>
            <a:off x="12323200" y="2434846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0" name="Rounded Rectangle 22"/>
          <p:cNvSpPr/>
          <p:nvPr>
            <p:custDataLst>
              <p:tags r:id="rId24"/>
            </p:custDataLst>
          </p:nvPr>
        </p:nvSpPr>
        <p:spPr>
          <a:xfrm>
            <a:off x="12323200" y="2060566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1" name="Rounded Rectangle 22"/>
          <p:cNvSpPr/>
          <p:nvPr>
            <p:custDataLst>
              <p:tags r:id="rId25"/>
            </p:custDataLst>
          </p:nvPr>
        </p:nvSpPr>
        <p:spPr>
          <a:xfrm>
            <a:off x="12323200" y="3183406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2" name="Rounded Rectangle 22"/>
          <p:cNvSpPr/>
          <p:nvPr>
            <p:custDataLst>
              <p:tags r:id="rId26"/>
            </p:custDataLst>
          </p:nvPr>
        </p:nvSpPr>
        <p:spPr>
          <a:xfrm>
            <a:off x="12707079" y="3183406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3" name="Rounded Rectangle 22"/>
          <p:cNvSpPr/>
          <p:nvPr>
            <p:custDataLst>
              <p:tags r:id="rId27"/>
            </p:custDataLst>
          </p:nvPr>
        </p:nvSpPr>
        <p:spPr>
          <a:xfrm>
            <a:off x="12707079" y="3554233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4" name="Rounded Rectangle 22"/>
          <p:cNvSpPr/>
          <p:nvPr>
            <p:custDataLst>
              <p:tags r:id="rId28"/>
            </p:custDataLst>
          </p:nvPr>
        </p:nvSpPr>
        <p:spPr>
          <a:xfrm>
            <a:off x="12323200" y="3931966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5" name="Rounded Rectangle 22"/>
          <p:cNvSpPr/>
          <p:nvPr>
            <p:custDataLst>
              <p:tags r:id="rId29"/>
            </p:custDataLst>
          </p:nvPr>
        </p:nvSpPr>
        <p:spPr>
          <a:xfrm>
            <a:off x="12323200" y="4306246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6" name="Rounded Rectangle 22"/>
          <p:cNvSpPr/>
          <p:nvPr>
            <p:custDataLst>
              <p:tags r:id="rId30"/>
            </p:custDataLst>
          </p:nvPr>
        </p:nvSpPr>
        <p:spPr>
          <a:xfrm>
            <a:off x="12710663" y="5047748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8" name="Rounded Rectangle 22"/>
          <p:cNvSpPr/>
          <p:nvPr>
            <p:custDataLst>
              <p:tags r:id="rId31"/>
            </p:custDataLst>
          </p:nvPr>
        </p:nvSpPr>
        <p:spPr>
          <a:xfrm>
            <a:off x="12323200" y="5429086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99" name="Rounded Rectangle 22"/>
          <p:cNvSpPr/>
          <p:nvPr>
            <p:custDataLst>
              <p:tags r:id="rId32"/>
            </p:custDataLst>
          </p:nvPr>
        </p:nvSpPr>
        <p:spPr>
          <a:xfrm>
            <a:off x="12323200" y="5803366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" name="Rounded Rectangle 22"/>
          <p:cNvSpPr/>
          <p:nvPr>
            <p:custDataLst>
              <p:tags r:id="rId33"/>
            </p:custDataLst>
          </p:nvPr>
        </p:nvSpPr>
        <p:spPr>
          <a:xfrm>
            <a:off x="12323200" y="6177646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" name="Rounded Rectangle 22"/>
          <p:cNvSpPr/>
          <p:nvPr>
            <p:custDataLst>
              <p:tags r:id="rId34"/>
            </p:custDataLst>
          </p:nvPr>
        </p:nvSpPr>
        <p:spPr>
          <a:xfrm>
            <a:off x="12323200" y="6551930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815845" y="9008232"/>
            <a:ext cx="15720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在这占位</a:t>
            </a:r>
            <a:endParaRPr lang="en-US" altLang="zh-CN" sz="1200">
              <a:solidFill>
                <a:schemeClr val="tx1">
                  <a:lumMod val="75000"/>
                  <a:lumOff val="25000"/>
                </a:schemeClr>
              </a:solidFill>
              <a:latin typeface="黑体" panose="02010609060101010101" pitchFamily="49" charset="-122"/>
              <a:ea typeface="黑体" panose="02010609060101010101" pitchFamily="49" charset="-122"/>
            </a:endParaRPr>
          </a:p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防止轻易跨页滚动</a:t>
            </a:r>
          </a:p>
        </p:txBody>
      </p:sp>
      <p:sp>
        <p:nvSpPr>
          <p:cNvPr id="7" name="Rounded Rectangle 21"/>
          <p:cNvSpPr/>
          <p:nvPr>
            <p:custDataLst>
              <p:tags r:id="rId35"/>
            </p:custDataLst>
          </p:nvPr>
        </p:nvSpPr>
        <p:spPr>
          <a:xfrm>
            <a:off x="12707083" y="6551930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2321703" y="5052467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12323200" y="2801697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12323199" y="3560226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6" name="Rounded Rectangle 22"/>
          <p:cNvSpPr/>
          <p:nvPr>
            <p:custDataLst>
              <p:tags r:id="rId36"/>
            </p:custDataLst>
          </p:nvPr>
        </p:nvSpPr>
        <p:spPr>
          <a:xfrm>
            <a:off x="12707080" y="5803366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1" name="Rounded Rectangle 22"/>
          <p:cNvSpPr/>
          <p:nvPr>
            <p:custDataLst>
              <p:tags r:id="rId37"/>
            </p:custDataLst>
          </p:nvPr>
        </p:nvSpPr>
        <p:spPr>
          <a:xfrm>
            <a:off x="12705584" y="4671211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4" name="Rounded Rectangle 22"/>
          <p:cNvSpPr/>
          <p:nvPr>
            <p:custDataLst>
              <p:tags r:id="rId38"/>
            </p:custDataLst>
          </p:nvPr>
        </p:nvSpPr>
        <p:spPr>
          <a:xfrm>
            <a:off x="12321703" y="4671731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13161010" y="998220"/>
            <a:ext cx="927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</a:rPr>
              <a:t>辅助文字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12740191" y="-368320"/>
            <a:ext cx="5467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</a:rPr>
              <a:t>白色背景</a:t>
            </a:r>
          </a:p>
        </p:txBody>
      </p:sp>
      <p:sp>
        <p:nvSpPr>
          <p:cNvPr id="22" name="Rounded Rectangle 22"/>
          <p:cNvSpPr/>
          <p:nvPr>
            <p:custDataLst>
              <p:tags r:id="rId39"/>
            </p:custDataLst>
          </p:nvPr>
        </p:nvSpPr>
        <p:spPr>
          <a:xfrm>
            <a:off x="409115" y="6909435"/>
            <a:ext cx="307975" cy="306070"/>
          </a:xfrm>
          <a:prstGeom prst="rect">
            <a:avLst/>
          </a:prstGeom>
          <a:solidFill>
            <a:srgbClr val="F54D6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3" name="Rounded Rectangle 22"/>
          <p:cNvSpPr/>
          <p:nvPr>
            <p:custDataLst>
              <p:tags r:id="rId40"/>
            </p:custDataLst>
          </p:nvPr>
        </p:nvSpPr>
        <p:spPr>
          <a:xfrm>
            <a:off x="0" y="6909435"/>
            <a:ext cx="307975" cy="306070"/>
          </a:xfrm>
          <a:prstGeom prst="rect">
            <a:avLst/>
          </a:prstGeom>
          <a:solidFill>
            <a:srgbClr val="F889A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4" name="Rounded Rectangle 22"/>
          <p:cNvSpPr/>
          <p:nvPr>
            <p:custDataLst>
              <p:tags r:id="rId41"/>
            </p:custDataLst>
          </p:nvPr>
        </p:nvSpPr>
        <p:spPr>
          <a:xfrm>
            <a:off x="1227345" y="6909435"/>
            <a:ext cx="307975" cy="306070"/>
          </a:xfrm>
          <a:prstGeom prst="rect">
            <a:avLst/>
          </a:prstGeom>
          <a:solidFill>
            <a:srgbClr val="F8A21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5" name="Rounded Rectangle 22"/>
          <p:cNvSpPr/>
          <p:nvPr>
            <p:custDataLst>
              <p:tags r:id="rId42"/>
            </p:custDataLst>
          </p:nvPr>
        </p:nvSpPr>
        <p:spPr>
          <a:xfrm>
            <a:off x="1636460" y="6909435"/>
            <a:ext cx="307975" cy="306070"/>
          </a:xfrm>
          <a:prstGeom prst="rect">
            <a:avLst/>
          </a:prstGeom>
          <a:solidFill>
            <a:srgbClr val="E3AB4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6" name="Rounded Rectangle 22"/>
          <p:cNvSpPr/>
          <p:nvPr>
            <p:custDataLst>
              <p:tags r:id="rId43"/>
            </p:custDataLst>
          </p:nvPr>
        </p:nvSpPr>
        <p:spPr>
          <a:xfrm>
            <a:off x="2454690" y="6909435"/>
            <a:ext cx="307975" cy="306070"/>
          </a:xfrm>
          <a:prstGeom prst="rect">
            <a:avLst/>
          </a:prstGeom>
          <a:solidFill>
            <a:srgbClr val="EBD86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7" name="Rounded Rectangle 22"/>
          <p:cNvSpPr/>
          <p:nvPr>
            <p:custDataLst>
              <p:tags r:id="rId44"/>
            </p:custDataLst>
          </p:nvPr>
        </p:nvSpPr>
        <p:spPr>
          <a:xfrm>
            <a:off x="2863805" y="6909435"/>
            <a:ext cx="307975" cy="306070"/>
          </a:xfrm>
          <a:prstGeom prst="rect">
            <a:avLst/>
          </a:prstGeom>
          <a:solidFill>
            <a:srgbClr val="53E0B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8" name="Rounded Rectangle 22"/>
          <p:cNvSpPr/>
          <p:nvPr>
            <p:custDataLst>
              <p:tags r:id="rId45"/>
            </p:custDataLst>
          </p:nvPr>
        </p:nvSpPr>
        <p:spPr>
          <a:xfrm>
            <a:off x="3272920" y="6909435"/>
            <a:ext cx="307975" cy="306070"/>
          </a:xfrm>
          <a:prstGeom prst="rect">
            <a:avLst/>
          </a:prstGeom>
          <a:solidFill>
            <a:srgbClr val="3EC2A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29" name="Rounded Rectangle 22"/>
          <p:cNvSpPr/>
          <p:nvPr>
            <p:custDataLst>
              <p:tags r:id="rId46"/>
            </p:custDataLst>
          </p:nvPr>
        </p:nvSpPr>
        <p:spPr>
          <a:xfrm>
            <a:off x="4909380" y="6909435"/>
            <a:ext cx="307975" cy="306070"/>
          </a:xfrm>
          <a:prstGeom prst="rect">
            <a:avLst/>
          </a:prstGeom>
          <a:solidFill>
            <a:srgbClr val="46D0F3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0" name="Rounded Rectangle 22"/>
          <p:cNvSpPr/>
          <p:nvPr>
            <p:custDataLst>
              <p:tags r:id="rId47"/>
            </p:custDataLst>
          </p:nvPr>
        </p:nvSpPr>
        <p:spPr>
          <a:xfrm>
            <a:off x="5318495" y="6909435"/>
            <a:ext cx="307975" cy="306070"/>
          </a:xfrm>
          <a:prstGeom prst="rect">
            <a:avLst/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1" name="Rounded Rectangle 22"/>
          <p:cNvSpPr/>
          <p:nvPr>
            <p:custDataLst>
              <p:tags r:id="rId48"/>
            </p:custDataLst>
          </p:nvPr>
        </p:nvSpPr>
        <p:spPr>
          <a:xfrm>
            <a:off x="5727610" y="6909435"/>
            <a:ext cx="307975" cy="306070"/>
          </a:xfrm>
          <a:prstGeom prst="rect">
            <a:avLst/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2" name="Rounded Rectangle 22"/>
          <p:cNvSpPr/>
          <p:nvPr>
            <p:custDataLst>
              <p:tags r:id="rId49"/>
            </p:custDataLst>
          </p:nvPr>
        </p:nvSpPr>
        <p:spPr>
          <a:xfrm>
            <a:off x="6545840" y="6909435"/>
            <a:ext cx="307975" cy="306070"/>
          </a:xfrm>
          <a:prstGeom prst="rect">
            <a:avLst/>
          </a:prstGeom>
          <a:solidFill>
            <a:srgbClr val="5E7AF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3" name="Rounded Rectangle 22"/>
          <p:cNvSpPr/>
          <p:nvPr>
            <p:custDataLst>
              <p:tags r:id="rId50"/>
            </p:custDataLst>
          </p:nvPr>
        </p:nvSpPr>
        <p:spPr>
          <a:xfrm>
            <a:off x="6954955" y="6909435"/>
            <a:ext cx="307975" cy="306070"/>
          </a:xfrm>
          <a:prstGeom prst="rect">
            <a:avLst/>
          </a:prstGeom>
          <a:solidFill>
            <a:srgbClr val="8F7FE1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4" name="Rounded Rectangle 21"/>
          <p:cNvSpPr/>
          <p:nvPr>
            <p:custDataLst>
              <p:tags r:id="rId51"/>
            </p:custDataLst>
          </p:nvPr>
        </p:nvSpPr>
        <p:spPr>
          <a:xfrm>
            <a:off x="7364064" y="6909435"/>
            <a:ext cx="307974" cy="306070"/>
          </a:xfrm>
          <a:prstGeom prst="rect">
            <a:avLst/>
          </a:prstGeom>
          <a:solidFill>
            <a:srgbClr val="5F4FBD"/>
          </a:solidFill>
          <a:ln w="28575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/>
            <a:endParaRPr lang="id-ID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4500265" y="6909435"/>
            <a:ext cx="307975" cy="298735"/>
          </a:xfrm>
          <a:prstGeom prst="rect">
            <a:avLst/>
          </a:prstGeom>
          <a:solidFill>
            <a:srgbClr val="2FE0FF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818230" y="6909435"/>
            <a:ext cx="307975" cy="304131"/>
          </a:xfrm>
          <a:prstGeom prst="rect">
            <a:avLst/>
          </a:prstGeom>
          <a:solidFill>
            <a:srgbClr val="FF6E17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2045575" y="6909435"/>
            <a:ext cx="307975" cy="300077"/>
          </a:xfrm>
          <a:prstGeom prst="rect">
            <a:avLst/>
          </a:prstGeom>
          <a:solidFill>
            <a:srgbClr val="E53935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</a:pPr>
            <a:endParaRPr kumimoji="0" lang="zh-CN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alibri" panose="020F0502020204030204" charset="0"/>
              <a:ea typeface="宋体" panose="02010600030101010101" pitchFamily="2" charset="-122"/>
            </a:endParaRPr>
          </a:p>
        </p:txBody>
      </p:sp>
      <p:sp>
        <p:nvSpPr>
          <p:cNvPr id="48" name="Rounded Rectangle 22"/>
          <p:cNvSpPr/>
          <p:nvPr>
            <p:custDataLst>
              <p:tags r:id="rId52"/>
            </p:custDataLst>
          </p:nvPr>
        </p:nvSpPr>
        <p:spPr>
          <a:xfrm>
            <a:off x="6136725" y="6909435"/>
            <a:ext cx="307975" cy="306070"/>
          </a:xfrm>
          <a:prstGeom prst="rect">
            <a:avLst/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9" name="Rounded Rectangle 22"/>
          <p:cNvSpPr/>
          <p:nvPr>
            <p:custDataLst>
              <p:tags r:id="rId53"/>
            </p:custDataLst>
          </p:nvPr>
        </p:nvSpPr>
        <p:spPr>
          <a:xfrm>
            <a:off x="4091150" y="6909435"/>
            <a:ext cx="307975" cy="306070"/>
          </a:xfrm>
          <a:prstGeom prst="rect">
            <a:avLst/>
          </a:prstGeom>
          <a:solidFill>
            <a:srgbClr val="2C88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50" name="Rounded Rectangle 22"/>
          <p:cNvSpPr/>
          <p:nvPr>
            <p:custDataLst>
              <p:tags r:id="rId54"/>
            </p:custDataLst>
          </p:nvPr>
        </p:nvSpPr>
        <p:spPr>
          <a:xfrm>
            <a:off x="3682035" y="6909435"/>
            <a:ext cx="307975" cy="306070"/>
          </a:xfrm>
          <a:prstGeom prst="rect">
            <a:avLst/>
          </a:prstGeom>
          <a:solidFill>
            <a:srgbClr val="3B7DD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id-ID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6" name="圆柱形 24"/>
          <p:cNvSpPr/>
          <p:nvPr/>
        </p:nvSpPr>
        <p:spPr bwMode="auto">
          <a:xfrm rot="5400000">
            <a:off x="410845" y="7090410"/>
            <a:ext cx="294640" cy="1136650"/>
          </a:xfrm>
          <a:prstGeom prst="can">
            <a:avLst>
              <a:gd name="adj" fmla="val 45943"/>
            </a:avLst>
          </a:prstGeom>
          <a:solidFill>
            <a:schemeClr val="accent2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vert270" wrap="square" lIns="0" tIns="0" rIns="0" bIns="0" numCol="1" rtlCol="0" anchor="ctr" anchorCtr="0" compatLnSpc="1">
            <a:noAutofit/>
          </a:bodyPr>
          <a:lstStyle>
            <a:defPPr>
              <a:defRPr lang="zh-CN"/>
            </a:defPPr>
            <a:lvl1pPr marL="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165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 defTabSz="914400">
              <a:spcBef>
                <a:spcPts val="0"/>
              </a:spcBef>
              <a:spcAft>
                <a:spcPts val="0"/>
              </a:spcAft>
              <a:buClrTx/>
              <a:buSzTx/>
              <a:buFontTx/>
              <a:defRPr/>
            </a:pPr>
            <a:r>
              <a:rPr lang="en-US" altLang="zh-CN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AMI</a:t>
            </a:r>
            <a:r>
              <a:rPr lang="zh-CN" altLang="en-US" sz="1400" noProof="0" dirty="0">
                <a:ln>
                  <a:noFill/>
                </a:ln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相关</a:t>
            </a:r>
          </a:p>
        </p:txBody>
      </p:sp>
      <p:sp>
        <p:nvSpPr>
          <p:cNvPr id="38" name="矩形: 圆角 71"/>
          <p:cNvSpPr/>
          <p:nvPr/>
        </p:nvSpPr>
        <p:spPr bwMode="auto">
          <a:xfrm>
            <a:off x="7771765" y="7512050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907FE2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周边系统</a:t>
            </a:r>
          </a:p>
        </p:txBody>
      </p:sp>
      <p:sp>
        <p:nvSpPr>
          <p:cNvPr id="5" name="矩形: 圆角 71"/>
          <p:cNvSpPr/>
          <p:nvPr/>
        </p:nvSpPr>
        <p:spPr bwMode="auto">
          <a:xfrm>
            <a:off x="9111615" y="751205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225FD1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周边系统</a:t>
            </a:r>
          </a:p>
        </p:txBody>
      </p:sp>
      <p:sp>
        <p:nvSpPr>
          <p:cNvPr id="41" name="矩形: 圆角 71"/>
          <p:cNvSpPr/>
          <p:nvPr/>
        </p:nvSpPr>
        <p:spPr bwMode="auto">
          <a:xfrm>
            <a:off x="123317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1B3275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系统边界</a:t>
            </a:r>
          </a:p>
        </p:txBody>
      </p:sp>
      <p:sp>
        <p:nvSpPr>
          <p:cNvPr id="42" name="矩形: 圆角 71"/>
          <p:cNvSpPr/>
          <p:nvPr/>
        </p:nvSpPr>
        <p:spPr bwMode="auto">
          <a:xfrm>
            <a:off x="2545080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25FD1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内部大类</a:t>
            </a:r>
          </a:p>
        </p:txBody>
      </p:sp>
      <p:sp>
        <p:nvSpPr>
          <p:cNvPr id="8" name="矩形: 圆角 71"/>
          <p:cNvSpPr/>
          <p:nvPr/>
        </p:nvSpPr>
        <p:spPr bwMode="auto">
          <a:xfrm>
            <a:off x="3772535" y="7511415"/>
            <a:ext cx="1136650" cy="348615"/>
          </a:xfrm>
          <a:prstGeom prst="roundRect">
            <a:avLst>
              <a:gd name="adj" fmla="val 10269"/>
            </a:avLst>
          </a:prstGeom>
          <a:solidFill>
            <a:srgbClr val="2B5EC7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Overflow="overflow" horzOverflow="overflow" vert="horz" wrap="square" lIns="0" tIns="0" rIns="0" bIns="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模块</a:t>
            </a:r>
            <a:r>
              <a:rPr kumimoji="0" lang="en-US" altLang="zh-CN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/</a:t>
            </a:r>
            <a:r>
              <a:rPr kumimoji="0" lang="zh-CN" altLang="en-US" sz="120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微软雅黑" panose="020B0503020204020204" pitchFamily="34" charset="-122"/>
                <a:sym typeface="+mn-ea"/>
              </a:rPr>
              <a:t>组件</a:t>
            </a:r>
          </a:p>
        </p:txBody>
      </p:sp>
      <p:sp>
        <p:nvSpPr>
          <p:cNvPr id="9" name="矩形: 圆角 71"/>
          <p:cNvSpPr/>
          <p:nvPr/>
        </p:nvSpPr>
        <p:spPr bwMode="auto">
          <a:xfrm>
            <a:off x="10381615" y="7510780"/>
            <a:ext cx="1136650" cy="348615"/>
          </a:xfrm>
          <a:prstGeom prst="roundRect">
            <a:avLst>
              <a:gd name="adj" fmla="val 10270"/>
            </a:avLst>
          </a:prstGeom>
          <a:solidFill>
            <a:srgbClr val="73839D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sym typeface="+mn-ea"/>
              </a:rPr>
              <a:t>外部系统</a:t>
            </a:r>
          </a:p>
        </p:txBody>
      </p:sp>
      <p:sp>
        <p:nvSpPr>
          <p:cNvPr id="53" name="上箭头 52"/>
          <p:cNvSpPr/>
          <p:nvPr/>
        </p:nvSpPr>
        <p:spPr>
          <a:xfrm rot="5400000">
            <a:off x="5931535" y="7519035"/>
            <a:ext cx="24892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2FE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sz="1600"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4982845" y="7547610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微软雅黑" panose="00000600000000000000" charset="-122"/>
                <a:sym typeface="+mn-ea"/>
              </a:rPr>
              <a:t>内部连接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Calibri" panose="020B0502030000000004" pitchFamily="34" charset="0"/>
              <a:ea typeface="黑体" panose="02010609060101010101" pitchFamily="49" charset="-122"/>
              <a:cs typeface="微软雅黑" panose="00000600000000000000" charset="-122"/>
              <a:sym typeface="+mn-ea"/>
            </a:endParaRPr>
          </a:p>
        </p:txBody>
      </p:sp>
      <p:sp>
        <p:nvSpPr>
          <p:cNvPr id="55" name="上箭头 128"/>
          <p:cNvSpPr/>
          <p:nvPr/>
        </p:nvSpPr>
        <p:spPr>
          <a:xfrm rot="5400000">
            <a:off x="7377430" y="7503795"/>
            <a:ext cx="276860" cy="364490"/>
          </a:xfrm>
          <a:prstGeom prst="upArrow">
            <a:avLst>
              <a:gd name="adj1" fmla="val 41140"/>
              <a:gd name="adj2" fmla="val 76582"/>
            </a:avLst>
          </a:prstGeom>
          <a:solidFill>
            <a:srgbClr val="3D5A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lt1">
                  <a:alpha val="50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黑体" panose="02010609060101010101" pitchFamily="49" charset="-122"/>
              <a:ea typeface="黑体" panose="02010609060101010101" pitchFamily="49" charset="-122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6442710" y="7546975"/>
            <a:ext cx="915670" cy="2768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spc="1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黑体" panose="02010609060101010101" pitchFamily="49" charset="-122"/>
                <a:ea typeface="黑体" panose="02010609060101010101" pitchFamily="49" charset="-122"/>
                <a:cs typeface="微软雅黑" panose="00000600000000000000" charset="-122"/>
                <a:sym typeface="+mn-ea"/>
              </a:rPr>
              <a:t>外部连接</a:t>
            </a:r>
            <a:endParaRPr lang="zh-CN" altLang="en-US" sz="1200" spc="1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uFillTx/>
              <a:latin typeface="Calibri" panose="020B0502030000000004" pitchFamily="34" charset="0"/>
              <a:ea typeface="黑体" panose="02010609060101010101" pitchFamily="49" charset="-122"/>
              <a:cs typeface="微软雅黑" panose="00000600000000000000" charset="-122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411506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3" r:id="rId2"/>
    <p:sldLayoutId id="2147483834" r:id="rId3"/>
    <p:sldLayoutId id="2147483835" r:id="rId4"/>
    <p:sldLayoutId id="2147483836" r:id="rId5"/>
    <p:sldLayoutId id="2147483837" r:id="rId6"/>
    <p:sldLayoutId id="2147483838" r:id="rId7"/>
    <p:sldLayoutId id="2147483839" r:id="rId8"/>
    <p:sldLayoutId id="2147483840" r:id="rId9"/>
    <p:sldLayoutId id="2147483841" r:id="rId10"/>
    <p:sldLayoutId id="2147483842" r:id="rId11"/>
    <p:sldLayoutId id="2147483843" r:id="rId12"/>
    <p:sldLayoutId id="2147483844" r:id="rId13"/>
    <p:sldLayoutId id="2147483845" r:id="rId14"/>
    <p:sldLayoutId id="2147483846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8.xml"/><Relationship Id="rId4" Type="http://schemas.openxmlformats.org/officeDocument/2006/relationships/image" Target="../media/image15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8.xml"/><Relationship Id="rId6" Type="http://schemas.openxmlformats.org/officeDocument/2006/relationships/image" Target="../media/image19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8.xml"/><Relationship Id="rId6" Type="http://schemas.openxmlformats.org/officeDocument/2006/relationships/image" Target="../media/image23.svg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8.xml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tags" Target="../tags/tag449.xml"/><Relationship Id="rId18" Type="http://schemas.openxmlformats.org/officeDocument/2006/relationships/tags" Target="../tags/tag454.xml"/><Relationship Id="rId26" Type="http://schemas.openxmlformats.org/officeDocument/2006/relationships/tags" Target="../tags/tag462.xml"/><Relationship Id="rId39" Type="http://schemas.openxmlformats.org/officeDocument/2006/relationships/image" Target="../media/image27.svg"/><Relationship Id="rId21" Type="http://schemas.openxmlformats.org/officeDocument/2006/relationships/tags" Target="../tags/tag457.xml"/><Relationship Id="rId34" Type="http://schemas.openxmlformats.org/officeDocument/2006/relationships/tags" Target="../tags/tag470.xml"/><Relationship Id="rId42" Type="http://schemas.openxmlformats.org/officeDocument/2006/relationships/image" Target="../media/image30.svg"/><Relationship Id="rId7" Type="http://schemas.openxmlformats.org/officeDocument/2006/relationships/tags" Target="../tags/tag443.xml"/><Relationship Id="rId2" Type="http://schemas.openxmlformats.org/officeDocument/2006/relationships/tags" Target="../tags/tag438.xml"/><Relationship Id="rId16" Type="http://schemas.openxmlformats.org/officeDocument/2006/relationships/tags" Target="../tags/tag452.xml"/><Relationship Id="rId20" Type="http://schemas.openxmlformats.org/officeDocument/2006/relationships/tags" Target="../tags/tag456.xml"/><Relationship Id="rId29" Type="http://schemas.openxmlformats.org/officeDocument/2006/relationships/tags" Target="../tags/tag465.xml"/><Relationship Id="rId41" Type="http://schemas.openxmlformats.org/officeDocument/2006/relationships/image" Target="../media/image29.svg"/><Relationship Id="rId1" Type="http://schemas.openxmlformats.org/officeDocument/2006/relationships/tags" Target="../tags/tag437.xml"/><Relationship Id="rId6" Type="http://schemas.openxmlformats.org/officeDocument/2006/relationships/tags" Target="../tags/tag442.xml"/><Relationship Id="rId11" Type="http://schemas.openxmlformats.org/officeDocument/2006/relationships/tags" Target="../tags/tag447.xml"/><Relationship Id="rId24" Type="http://schemas.openxmlformats.org/officeDocument/2006/relationships/tags" Target="../tags/tag460.xml"/><Relationship Id="rId32" Type="http://schemas.openxmlformats.org/officeDocument/2006/relationships/tags" Target="../tags/tag468.xml"/><Relationship Id="rId37" Type="http://schemas.openxmlformats.org/officeDocument/2006/relationships/tags" Target="../tags/tag473.xml"/><Relationship Id="rId40" Type="http://schemas.openxmlformats.org/officeDocument/2006/relationships/image" Target="../media/image28.svg"/><Relationship Id="rId5" Type="http://schemas.openxmlformats.org/officeDocument/2006/relationships/tags" Target="../tags/tag441.xml"/><Relationship Id="rId15" Type="http://schemas.openxmlformats.org/officeDocument/2006/relationships/tags" Target="../tags/tag451.xml"/><Relationship Id="rId23" Type="http://schemas.openxmlformats.org/officeDocument/2006/relationships/tags" Target="../tags/tag459.xml"/><Relationship Id="rId28" Type="http://schemas.openxmlformats.org/officeDocument/2006/relationships/tags" Target="../tags/tag464.xml"/><Relationship Id="rId36" Type="http://schemas.openxmlformats.org/officeDocument/2006/relationships/tags" Target="../tags/tag472.xml"/><Relationship Id="rId10" Type="http://schemas.openxmlformats.org/officeDocument/2006/relationships/tags" Target="../tags/tag446.xml"/><Relationship Id="rId19" Type="http://schemas.openxmlformats.org/officeDocument/2006/relationships/tags" Target="../tags/tag455.xml"/><Relationship Id="rId31" Type="http://schemas.openxmlformats.org/officeDocument/2006/relationships/tags" Target="../tags/tag467.xml"/><Relationship Id="rId4" Type="http://schemas.openxmlformats.org/officeDocument/2006/relationships/tags" Target="../tags/tag440.xml"/><Relationship Id="rId9" Type="http://schemas.openxmlformats.org/officeDocument/2006/relationships/tags" Target="../tags/tag445.xml"/><Relationship Id="rId14" Type="http://schemas.openxmlformats.org/officeDocument/2006/relationships/tags" Target="../tags/tag450.xml"/><Relationship Id="rId22" Type="http://schemas.openxmlformats.org/officeDocument/2006/relationships/tags" Target="../tags/tag458.xml"/><Relationship Id="rId27" Type="http://schemas.openxmlformats.org/officeDocument/2006/relationships/tags" Target="../tags/tag463.xml"/><Relationship Id="rId30" Type="http://schemas.openxmlformats.org/officeDocument/2006/relationships/tags" Target="../tags/tag466.xml"/><Relationship Id="rId35" Type="http://schemas.openxmlformats.org/officeDocument/2006/relationships/tags" Target="../tags/tag471.xml"/><Relationship Id="rId8" Type="http://schemas.openxmlformats.org/officeDocument/2006/relationships/tags" Target="../tags/tag444.xml"/><Relationship Id="rId3" Type="http://schemas.openxmlformats.org/officeDocument/2006/relationships/tags" Target="../tags/tag439.xml"/><Relationship Id="rId12" Type="http://schemas.openxmlformats.org/officeDocument/2006/relationships/tags" Target="../tags/tag448.xml"/><Relationship Id="rId17" Type="http://schemas.openxmlformats.org/officeDocument/2006/relationships/tags" Target="../tags/tag453.xml"/><Relationship Id="rId25" Type="http://schemas.openxmlformats.org/officeDocument/2006/relationships/tags" Target="../tags/tag461.xml"/><Relationship Id="rId33" Type="http://schemas.openxmlformats.org/officeDocument/2006/relationships/tags" Target="../tags/tag469.xml"/><Relationship Id="rId38" Type="http://schemas.openxmlformats.org/officeDocument/2006/relationships/slideLayout" Target="../slideLayouts/slideLayout8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8.xml"/><Relationship Id="rId2" Type="http://schemas.openxmlformats.org/officeDocument/2006/relationships/tags" Target="../tags/tag475.xml"/><Relationship Id="rId1" Type="http://schemas.openxmlformats.org/officeDocument/2006/relationships/tags" Target="../tags/tag474.xml"/><Relationship Id="rId4" Type="http://schemas.openxmlformats.org/officeDocument/2006/relationships/notesSlide" Target="../notesSlides/notesSlide14.xml"/></Relationships>
</file>

<file path=ppt/slides/_rels/slide19.xml.rels><?xml version="1.0" encoding="UTF-8" standalone="yes"?>
<Relationships xmlns="http://schemas.openxmlformats.org/package/2006/relationships"><Relationship Id="rId13" Type="http://schemas.openxmlformats.org/officeDocument/2006/relationships/tags" Target="../tags/tag488.xml"/><Relationship Id="rId18" Type="http://schemas.openxmlformats.org/officeDocument/2006/relationships/tags" Target="../tags/tag493.xml"/><Relationship Id="rId26" Type="http://schemas.openxmlformats.org/officeDocument/2006/relationships/tags" Target="../tags/tag501.xml"/><Relationship Id="rId39" Type="http://schemas.openxmlformats.org/officeDocument/2006/relationships/tags" Target="../tags/tag514.xml"/><Relationship Id="rId21" Type="http://schemas.openxmlformats.org/officeDocument/2006/relationships/tags" Target="../tags/tag496.xml"/><Relationship Id="rId34" Type="http://schemas.openxmlformats.org/officeDocument/2006/relationships/tags" Target="../tags/tag509.xml"/><Relationship Id="rId42" Type="http://schemas.openxmlformats.org/officeDocument/2006/relationships/tags" Target="../tags/tag517.xml"/><Relationship Id="rId47" Type="http://schemas.openxmlformats.org/officeDocument/2006/relationships/tags" Target="../tags/tag522.xml"/><Relationship Id="rId50" Type="http://schemas.openxmlformats.org/officeDocument/2006/relationships/tags" Target="../tags/tag525.xml"/><Relationship Id="rId55" Type="http://schemas.openxmlformats.org/officeDocument/2006/relationships/tags" Target="../tags/tag530.xml"/><Relationship Id="rId7" Type="http://schemas.openxmlformats.org/officeDocument/2006/relationships/tags" Target="../tags/tag482.xml"/><Relationship Id="rId2" Type="http://schemas.openxmlformats.org/officeDocument/2006/relationships/tags" Target="../tags/tag477.xml"/><Relationship Id="rId16" Type="http://schemas.openxmlformats.org/officeDocument/2006/relationships/tags" Target="../tags/tag491.xml"/><Relationship Id="rId29" Type="http://schemas.openxmlformats.org/officeDocument/2006/relationships/tags" Target="../tags/tag504.xml"/><Relationship Id="rId11" Type="http://schemas.openxmlformats.org/officeDocument/2006/relationships/tags" Target="../tags/tag486.xml"/><Relationship Id="rId24" Type="http://schemas.openxmlformats.org/officeDocument/2006/relationships/tags" Target="../tags/tag499.xml"/><Relationship Id="rId32" Type="http://schemas.openxmlformats.org/officeDocument/2006/relationships/tags" Target="../tags/tag507.xml"/><Relationship Id="rId37" Type="http://schemas.openxmlformats.org/officeDocument/2006/relationships/tags" Target="../tags/tag512.xml"/><Relationship Id="rId40" Type="http://schemas.openxmlformats.org/officeDocument/2006/relationships/tags" Target="../tags/tag515.xml"/><Relationship Id="rId45" Type="http://schemas.openxmlformats.org/officeDocument/2006/relationships/tags" Target="../tags/tag520.xml"/><Relationship Id="rId53" Type="http://schemas.openxmlformats.org/officeDocument/2006/relationships/tags" Target="../tags/tag528.xml"/><Relationship Id="rId58" Type="http://schemas.openxmlformats.org/officeDocument/2006/relationships/tags" Target="../tags/tag533.xml"/><Relationship Id="rId5" Type="http://schemas.openxmlformats.org/officeDocument/2006/relationships/tags" Target="../tags/tag480.xml"/><Relationship Id="rId19" Type="http://schemas.openxmlformats.org/officeDocument/2006/relationships/tags" Target="../tags/tag494.xml"/><Relationship Id="rId4" Type="http://schemas.openxmlformats.org/officeDocument/2006/relationships/tags" Target="../tags/tag479.xml"/><Relationship Id="rId9" Type="http://schemas.openxmlformats.org/officeDocument/2006/relationships/tags" Target="../tags/tag484.xml"/><Relationship Id="rId14" Type="http://schemas.openxmlformats.org/officeDocument/2006/relationships/tags" Target="../tags/tag489.xml"/><Relationship Id="rId22" Type="http://schemas.openxmlformats.org/officeDocument/2006/relationships/tags" Target="../tags/tag497.xml"/><Relationship Id="rId27" Type="http://schemas.openxmlformats.org/officeDocument/2006/relationships/tags" Target="../tags/tag502.xml"/><Relationship Id="rId30" Type="http://schemas.openxmlformats.org/officeDocument/2006/relationships/tags" Target="../tags/tag505.xml"/><Relationship Id="rId35" Type="http://schemas.openxmlformats.org/officeDocument/2006/relationships/tags" Target="../tags/tag510.xml"/><Relationship Id="rId43" Type="http://schemas.openxmlformats.org/officeDocument/2006/relationships/tags" Target="../tags/tag518.xml"/><Relationship Id="rId48" Type="http://schemas.openxmlformats.org/officeDocument/2006/relationships/tags" Target="../tags/tag523.xml"/><Relationship Id="rId56" Type="http://schemas.openxmlformats.org/officeDocument/2006/relationships/tags" Target="../tags/tag531.xml"/><Relationship Id="rId8" Type="http://schemas.openxmlformats.org/officeDocument/2006/relationships/tags" Target="../tags/tag483.xml"/><Relationship Id="rId51" Type="http://schemas.openxmlformats.org/officeDocument/2006/relationships/tags" Target="../tags/tag526.xml"/><Relationship Id="rId3" Type="http://schemas.openxmlformats.org/officeDocument/2006/relationships/tags" Target="../tags/tag478.xml"/><Relationship Id="rId12" Type="http://schemas.openxmlformats.org/officeDocument/2006/relationships/tags" Target="../tags/tag487.xml"/><Relationship Id="rId17" Type="http://schemas.openxmlformats.org/officeDocument/2006/relationships/tags" Target="../tags/tag492.xml"/><Relationship Id="rId25" Type="http://schemas.openxmlformats.org/officeDocument/2006/relationships/tags" Target="../tags/tag500.xml"/><Relationship Id="rId33" Type="http://schemas.openxmlformats.org/officeDocument/2006/relationships/tags" Target="../tags/tag508.xml"/><Relationship Id="rId38" Type="http://schemas.openxmlformats.org/officeDocument/2006/relationships/tags" Target="../tags/tag513.xml"/><Relationship Id="rId46" Type="http://schemas.openxmlformats.org/officeDocument/2006/relationships/tags" Target="../tags/tag521.xml"/><Relationship Id="rId59" Type="http://schemas.openxmlformats.org/officeDocument/2006/relationships/slideLayout" Target="../slideLayouts/slideLayout88.xml"/><Relationship Id="rId20" Type="http://schemas.openxmlformats.org/officeDocument/2006/relationships/tags" Target="../tags/tag495.xml"/><Relationship Id="rId41" Type="http://schemas.openxmlformats.org/officeDocument/2006/relationships/tags" Target="../tags/tag516.xml"/><Relationship Id="rId54" Type="http://schemas.openxmlformats.org/officeDocument/2006/relationships/tags" Target="../tags/tag529.xml"/><Relationship Id="rId1" Type="http://schemas.openxmlformats.org/officeDocument/2006/relationships/tags" Target="../tags/tag476.xml"/><Relationship Id="rId6" Type="http://schemas.openxmlformats.org/officeDocument/2006/relationships/tags" Target="../tags/tag481.xml"/><Relationship Id="rId15" Type="http://schemas.openxmlformats.org/officeDocument/2006/relationships/tags" Target="../tags/tag490.xml"/><Relationship Id="rId23" Type="http://schemas.openxmlformats.org/officeDocument/2006/relationships/tags" Target="../tags/tag498.xml"/><Relationship Id="rId28" Type="http://schemas.openxmlformats.org/officeDocument/2006/relationships/tags" Target="../tags/tag503.xml"/><Relationship Id="rId36" Type="http://schemas.openxmlformats.org/officeDocument/2006/relationships/tags" Target="../tags/tag511.xml"/><Relationship Id="rId49" Type="http://schemas.openxmlformats.org/officeDocument/2006/relationships/tags" Target="../tags/tag524.xml"/><Relationship Id="rId57" Type="http://schemas.openxmlformats.org/officeDocument/2006/relationships/tags" Target="../tags/tag532.xml"/><Relationship Id="rId10" Type="http://schemas.openxmlformats.org/officeDocument/2006/relationships/tags" Target="../tags/tag485.xml"/><Relationship Id="rId31" Type="http://schemas.openxmlformats.org/officeDocument/2006/relationships/tags" Target="../tags/tag506.xml"/><Relationship Id="rId44" Type="http://schemas.openxmlformats.org/officeDocument/2006/relationships/tags" Target="../tags/tag519.xml"/><Relationship Id="rId52" Type="http://schemas.openxmlformats.org/officeDocument/2006/relationships/tags" Target="../tags/tag52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8.xml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tags" Target="../tags/tag546.xml"/><Relationship Id="rId18" Type="http://schemas.openxmlformats.org/officeDocument/2006/relationships/tags" Target="../tags/tag551.xml"/><Relationship Id="rId26" Type="http://schemas.openxmlformats.org/officeDocument/2006/relationships/tags" Target="../tags/tag559.xml"/><Relationship Id="rId39" Type="http://schemas.openxmlformats.org/officeDocument/2006/relationships/tags" Target="../tags/tag572.xml"/><Relationship Id="rId21" Type="http://schemas.openxmlformats.org/officeDocument/2006/relationships/tags" Target="../tags/tag554.xml"/><Relationship Id="rId34" Type="http://schemas.openxmlformats.org/officeDocument/2006/relationships/tags" Target="../tags/tag567.xml"/><Relationship Id="rId42" Type="http://schemas.openxmlformats.org/officeDocument/2006/relationships/tags" Target="../tags/tag575.xml"/><Relationship Id="rId47" Type="http://schemas.openxmlformats.org/officeDocument/2006/relationships/tags" Target="../tags/tag580.xml"/><Relationship Id="rId50" Type="http://schemas.openxmlformats.org/officeDocument/2006/relationships/tags" Target="../tags/tag583.xml"/><Relationship Id="rId7" Type="http://schemas.openxmlformats.org/officeDocument/2006/relationships/tags" Target="../tags/tag540.xml"/><Relationship Id="rId2" Type="http://schemas.openxmlformats.org/officeDocument/2006/relationships/tags" Target="../tags/tag535.xml"/><Relationship Id="rId16" Type="http://schemas.openxmlformats.org/officeDocument/2006/relationships/tags" Target="../tags/tag549.xml"/><Relationship Id="rId29" Type="http://schemas.openxmlformats.org/officeDocument/2006/relationships/tags" Target="../tags/tag562.xml"/><Relationship Id="rId11" Type="http://schemas.openxmlformats.org/officeDocument/2006/relationships/tags" Target="../tags/tag544.xml"/><Relationship Id="rId24" Type="http://schemas.openxmlformats.org/officeDocument/2006/relationships/tags" Target="../tags/tag557.xml"/><Relationship Id="rId32" Type="http://schemas.openxmlformats.org/officeDocument/2006/relationships/tags" Target="../tags/tag565.xml"/><Relationship Id="rId37" Type="http://schemas.openxmlformats.org/officeDocument/2006/relationships/tags" Target="../tags/tag570.xml"/><Relationship Id="rId40" Type="http://schemas.openxmlformats.org/officeDocument/2006/relationships/tags" Target="../tags/tag573.xml"/><Relationship Id="rId45" Type="http://schemas.openxmlformats.org/officeDocument/2006/relationships/tags" Target="../tags/tag578.xml"/><Relationship Id="rId5" Type="http://schemas.openxmlformats.org/officeDocument/2006/relationships/tags" Target="../tags/tag538.xml"/><Relationship Id="rId15" Type="http://schemas.openxmlformats.org/officeDocument/2006/relationships/tags" Target="../tags/tag548.xml"/><Relationship Id="rId23" Type="http://schemas.openxmlformats.org/officeDocument/2006/relationships/tags" Target="../tags/tag556.xml"/><Relationship Id="rId28" Type="http://schemas.openxmlformats.org/officeDocument/2006/relationships/tags" Target="../tags/tag561.xml"/><Relationship Id="rId36" Type="http://schemas.openxmlformats.org/officeDocument/2006/relationships/tags" Target="../tags/tag569.xml"/><Relationship Id="rId49" Type="http://schemas.openxmlformats.org/officeDocument/2006/relationships/tags" Target="../tags/tag582.xml"/><Relationship Id="rId10" Type="http://schemas.openxmlformats.org/officeDocument/2006/relationships/tags" Target="../tags/tag543.xml"/><Relationship Id="rId19" Type="http://schemas.openxmlformats.org/officeDocument/2006/relationships/tags" Target="../tags/tag552.xml"/><Relationship Id="rId31" Type="http://schemas.openxmlformats.org/officeDocument/2006/relationships/tags" Target="../tags/tag564.xml"/><Relationship Id="rId44" Type="http://schemas.openxmlformats.org/officeDocument/2006/relationships/tags" Target="../tags/tag577.xml"/><Relationship Id="rId52" Type="http://schemas.openxmlformats.org/officeDocument/2006/relationships/slideLayout" Target="../slideLayouts/slideLayout88.xml"/><Relationship Id="rId4" Type="http://schemas.openxmlformats.org/officeDocument/2006/relationships/tags" Target="../tags/tag537.xml"/><Relationship Id="rId9" Type="http://schemas.openxmlformats.org/officeDocument/2006/relationships/tags" Target="../tags/tag542.xml"/><Relationship Id="rId14" Type="http://schemas.openxmlformats.org/officeDocument/2006/relationships/tags" Target="../tags/tag547.xml"/><Relationship Id="rId22" Type="http://schemas.openxmlformats.org/officeDocument/2006/relationships/tags" Target="../tags/tag555.xml"/><Relationship Id="rId27" Type="http://schemas.openxmlformats.org/officeDocument/2006/relationships/tags" Target="../tags/tag560.xml"/><Relationship Id="rId30" Type="http://schemas.openxmlformats.org/officeDocument/2006/relationships/tags" Target="../tags/tag563.xml"/><Relationship Id="rId35" Type="http://schemas.openxmlformats.org/officeDocument/2006/relationships/tags" Target="../tags/tag568.xml"/><Relationship Id="rId43" Type="http://schemas.openxmlformats.org/officeDocument/2006/relationships/tags" Target="../tags/tag576.xml"/><Relationship Id="rId48" Type="http://schemas.openxmlformats.org/officeDocument/2006/relationships/tags" Target="../tags/tag581.xml"/><Relationship Id="rId8" Type="http://schemas.openxmlformats.org/officeDocument/2006/relationships/tags" Target="../tags/tag541.xml"/><Relationship Id="rId51" Type="http://schemas.openxmlformats.org/officeDocument/2006/relationships/tags" Target="../tags/tag584.xml"/><Relationship Id="rId3" Type="http://schemas.openxmlformats.org/officeDocument/2006/relationships/tags" Target="../tags/tag536.xml"/><Relationship Id="rId12" Type="http://schemas.openxmlformats.org/officeDocument/2006/relationships/tags" Target="../tags/tag545.xml"/><Relationship Id="rId17" Type="http://schemas.openxmlformats.org/officeDocument/2006/relationships/tags" Target="../tags/tag550.xml"/><Relationship Id="rId25" Type="http://schemas.openxmlformats.org/officeDocument/2006/relationships/tags" Target="../tags/tag558.xml"/><Relationship Id="rId33" Type="http://schemas.openxmlformats.org/officeDocument/2006/relationships/tags" Target="../tags/tag566.xml"/><Relationship Id="rId38" Type="http://schemas.openxmlformats.org/officeDocument/2006/relationships/tags" Target="../tags/tag571.xml"/><Relationship Id="rId46" Type="http://schemas.openxmlformats.org/officeDocument/2006/relationships/tags" Target="../tags/tag579.xml"/><Relationship Id="rId20" Type="http://schemas.openxmlformats.org/officeDocument/2006/relationships/tags" Target="../tags/tag553.xml"/><Relationship Id="rId41" Type="http://schemas.openxmlformats.org/officeDocument/2006/relationships/tags" Target="../tags/tag574.xml"/><Relationship Id="rId1" Type="http://schemas.openxmlformats.org/officeDocument/2006/relationships/tags" Target="../tags/tag534.xml"/><Relationship Id="rId6" Type="http://schemas.openxmlformats.org/officeDocument/2006/relationships/tags" Target="../tags/tag539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8.xml"/><Relationship Id="rId13" Type="http://schemas.openxmlformats.org/officeDocument/2006/relationships/image" Target="../media/image35.png"/><Relationship Id="rId3" Type="http://schemas.openxmlformats.org/officeDocument/2006/relationships/tags" Target="../tags/tag587.xml"/><Relationship Id="rId7" Type="http://schemas.openxmlformats.org/officeDocument/2006/relationships/tags" Target="../tags/tag591.xml"/><Relationship Id="rId12" Type="http://schemas.openxmlformats.org/officeDocument/2006/relationships/image" Target="../media/image34.png"/><Relationship Id="rId2" Type="http://schemas.openxmlformats.org/officeDocument/2006/relationships/tags" Target="../tags/tag586.xml"/><Relationship Id="rId16" Type="http://schemas.openxmlformats.org/officeDocument/2006/relationships/image" Target="../media/image38.png"/><Relationship Id="rId1" Type="http://schemas.openxmlformats.org/officeDocument/2006/relationships/tags" Target="../tags/tag585.xml"/><Relationship Id="rId6" Type="http://schemas.openxmlformats.org/officeDocument/2006/relationships/tags" Target="../tags/tag590.xml"/><Relationship Id="rId11" Type="http://schemas.openxmlformats.org/officeDocument/2006/relationships/image" Target="../media/image33.png"/><Relationship Id="rId5" Type="http://schemas.openxmlformats.org/officeDocument/2006/relationships/tags" Target="../tags/tag589.xml"/><Relationship Id="rId15" Type="http://schemas.openxmlformats.org/officeDocument/2006/relationships/image" Target="../media/image37.png"/><Relationship Id="rId10" Type="http://schemas.openxmlformats.org/officeDocument/2006/relationships/image" Target="../media/image32.png"/><Relationship Id="rId4" Type="http://schemas.openxmlformats.org/officeDocument/2006/relationships/tags" Target="../tags/tag588.xml"/><Relationship Id="rId9" Type="http://schemas.openxmlformats.org/officeDocument/2006/relationships/image" Target="../media/image31.png"/><Relationship Id="rId14" Type="http://schemas.openxmlformats.org/officeDocument/2006/relationships/image" Target="../media/image3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tags" Target="../tags/tag599.xml"/><Relationship Id="rId13" Type="http://schemas.openxmlformats.org/officeDocument/2006/relationships/tags" Target="../tags/tag604.xml"/><Relationship Id="rId3" Type="http://schemas.openxmlformats.org/officeDocument/2006/relationships/tags" Target="../tags/tag594.xml"/><Relationship Id="rId7" Type="http://schemas.openxmlformats.org/officeDocument/2006/relationships/tags" Target="../tags/tag598.xml"/><Relationship Id="rId12" Type="http://schemas.openxmlformats.org/officeDocument/2006/relationships/tags" Target="../tags/tag603.xml"/><Relationship Id="rId2" Type="http://schemas.openxmlformats.org/officeDocument/2006/relationships/tags" Target="../tags/tag593.xml"/><Relationship Id="rId1" Type="http://schemas.openxmlformats.org/officeDocument/2006/relationships/tags" Target="../tags/tag592.xml"/><Relationship Id="rId6" Type="http://schemas.openxmlformats.org/officeDocument/2006/relationships/tags" Target="../tags/tag597.xml"/><Relationship Id="rId11" Type="http://schemas.openxmlformats.org/officeDocument/2006/relationships/tags" Target="../tags/tag602.xml"/><Relationship Id="rId5" Type="http://schemas.openxmlformats.org/officeDocument/2006/relationships/tags" Target="../tags/tag596.xml"/><Relationship Id="rId10" Type="http://schemas.openxmlformats.org/officeDocument/2006/relationships/tags" Target="../tags/tag601.xml"/><Relationship Id="rId4" Type="http://schemas.openxmlformats.org/officeDocument/2006/relationships/tags" Target="../tags/tag595.xml"/><Relationship Id="rId9" Type="http://schemas.openxmlformats.org/officeDocument/2006/relationships/tags" Target="../tags/tag600.xml"/><Relationship Id="rId14" Type="http://schemas.openxmlformats.org/officeDocument/2006/relationships/slideLayout" Target="../slideLayouts/slideLayout8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88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svg"/><Relationship Id="rId7" Type="http://schemas.openxmlformats.org/officeDocument/2006/relationships/image" Target="../media/image49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8.xml"/><Relationship Id="rId6" Type="http://schemas.openxmlformats.org/officeDocument/2006/relationships/image" Target="../media/image48.svg"/><Relationship Id="rId5" Type="http://schemas.openxmlformats.org/officeDocument/2006/relationships/image" Target="../media/image47.svg"/><Relationship Id="rId4" Type="http://schemas.openxmlformats.org/officeDocument/2006/relationships/image" Target="../media/image46.sv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8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8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8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8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8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8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88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88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88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88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88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88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8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88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88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88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88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0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ightAccent"/>
          <p:cNvSpPr/>
          <p:nvPr/>
        </p:nvSpPr>
        <p:spPr>
          <a:xfrm>
            <a:off x="9525000" y="1270000"/>
            <a:ext cx="2286000" cy="2286000"/>
          </a:xfrm>
          <a:prstGeom prst="ellipse">
            <a:avLst/>
          </a:prstGeom>
          <a:solidFill>
            <a:srgbClr val="E53935">
              <a:alpha val="6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RightAccent2"/>
          <p:cNvSpPr/>
          <p:nvPr/>
        </p:nvSpPr>
        <p:spPr>
          <a:xfrm>
            <a:off x="10541000" y="3302000"/>
            <a:ext cx="1270000" cy="1270000"/>
          </a:xfrm>
          <a:prstGeom prst="ellipse">
            <a:avLst/>
          </a:prstGeom>
          <a:solidFill>
            <a:srgbClr val="2B5EC7">
              <a:alpha val="8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" name="AccentBar"/>
          <p:cNvSpPr/>
          <p:nvPr/>
        </p:nvSpPr>
        <p:spPr>
          <a:xfrm>
            <a:off x="457200" y="1968500"/>
            <a:ext cx="63500" cy="26670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736600" y="1905000"/>
            <a:ext cx="1066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  <a:latin typeface="微软雅黑"/>
              </a:defRPr>
            </a:pPr>
            <a:r>
              <a:t>国元证券全资产POMS平台解决方案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6600" y="2438400"/>
            <a:ext cx="1079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>
                <a:solidFill>
                  <a:srgbClr val="FFFFFF"/>
                </a:solidFill>
                <a:latin typeface="微软雅黑"/>
              </a:defRPr>
            </a:pPr>
            <a:r>
              <a:rPr dirty="0" err="1"/>
              <a:t>华锐POMS：千亿资金的智慧管理引擎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736600" y="3454400"/>
            <a:ext cx="1066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微软雅黑"/>
              </a:defRPr>
            </a:pPr>
            <a:r>
              <a:t>中国版Mini-Aladdin  ·  配得优·算得快·控得稳·连得通·领得先</a:t>
            </a:r>
          </a:p>
        </p:txBody>
      </p:sp>
      <p:sp>
        <p:nvSpPr>
          <p:cNvPr id="5" name="Rectangle 4"/>
          <p:cNvSpPr/>
          <p:nvPr/>
        </p:nvSpPr>
        <p:spPr>
          <a:xfrm>
            <a:off x="774700" y="4089400"/>
            <a:ext cx="2032000" cy="3810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6600" y="4292600"/>
            <a:ext cx="635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微软雅黑"/>
              </a:defRPr>
            </a:pPr>
            <a:r>
              <a:t>华锐科技  ·  2026年Q2</a:t>
            </a:r>
          </a:p>
        </p:txBody>
      </p:sp>
      <p:sp>
        <p:nvSpPr>
          <p:cNvPr id="21" name="BottomStrip"/>
          <p:cNvSpPr/>
          <p:nvPr/>
        </p:nvSpPr>
        <p:spPr>
          <a:xfrm>
            <a:off x="0" y="5943600"/>
            <a:ext cx="12192000" cy="914400"/>
          </a:xfrm>
          <a:prstGeom prst="rect">
            <a:avLst/>
          </a:prstGeom>
          <a:solidFill>
            <a:srgbClr val="0F2060">
              <a:alpha val="40000"/>
            </a:srgb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BottomText"/>
          <p:cNvSpPr/>
          <p:nvPr/>
        </p:nvSpPr>
        <p:spPr>
          <a:xfrm>
            <a:off x="736600" y="5994400"/>
            <a:ext cx="107188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zh-CN" sz="2400" b="1" dirty="0">
                <a:solidFill>
                  <a:srgbClr val="FFFFFF"/>
                </a:solidFill>
                <a:latin typeface="微软雅黑"/>
                <a:ea typeface="微软雅黑"/>
              </a:rPr>
              <a:t>FICC全品种覆盖</a:t>
            </a:r>
            <a:r>
              <a:rPr lang="zh-CN" sz="1600" dirty="0">
                <a:solidFill>
                  <a:srgbClr val="FFFFFF">
                    <a:alpha val="60000"/>
                  </a:srgbClr>
                </a:solidFill>
                <a:latin typeface="微软雅黑"/>
                <a:ea typeface="微软雅黑"/>
              </a:rPr>
              <a:t>     |    </a:t>
            </a:r>
            <a:r>
              <a:rPr lang="zh-CN" sz="2400" b="1" dirty="0">
                <a:solidFill>
                  <a:srgbClr val="FFFFFF"/>
                </a:solidFill>
                <a:latin typeface="微软雅黑"/>
                <a:ea typeface="微软雅黑"/>
              </a:rPr>
              <a:t>100%信创合规</a:t>
            </a:r>
            <a:r>
              <a:rPr lang="zh-CN" sz="1600" dirty="0">
                <a:solidFill>
                  <a:srgbClr val="FFFFFF">
                    <a:alpha val="60000"/>
                  </a:srgbClr>
                </a:solidFill>
                <a:latin typeface="微软雅黑"/>
                <a:ea typeface="微软雅黑"/>
              </a:rPr>
              <a:t>    |    </a:t>
            </a:r>
            <a:r>
              <a:rPr lang="zh-CN" sz="2400" b="1" dirty="0">
                <a:solidFill>
                  <a:srgbClr val="FFFFFF"/>
                </a:solidFill>
                <a:latin typeface="微软雅黑"/>
                <a:ea typeface="微软雅黑"/>
              </a:rPr>
              <a:t>毫秒级计算</a:t>
            </a:r>
          </a:p>
        </p:txBody>
      </p:sp>
    </p:spTree>
    <p:extLst>
      <p:ext uri="{BB962C8B-B14F-4D97-AF65-F5344CB8AC3E}">
        <p14:creationId xmlns:p14="http://schemas.microsoft.com/office/powerpoint/2010/main" val="20937014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118000"/>
          </a:xfrm>
          <a:prstGeom prst="rect">
            <a:avLst/>
          </a:prstGeom>
          <a:gradFill>
            <a:gsLst>
              <a:gs pos="0">
                <a:srgbClr val="030E42"/>
              </a:gs>
              <a:gs pos="100000">
                <a:srgbClr val="0A1E5C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cs typeface="微软雅黑" panose="00000500000000000000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09492" y="38034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spc="15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lang="zh-CN" altLang="en-US" dirty="0">
                <a:latin typeface="微软雅黑" panose="00000500000000000000" charset="-122"/>
                <a:cs typeface="微软雅黑" panose="00000500000000000000" charset="-122"/>
              </a:rPr>
              <a:t>内容目录</a:t>
            </a:r>
            <a:endParaRPr dirty="0">
              <a:latin typeface="微软雅黑" panose="00000500000000000000" charset="-122"/>
              <a:cs typeface="微软雅黑" panose="00000500000000000000" charset="-122"/>
            </a:endParaRPr>
          </a:p>
        </p:txBody>
      </p:sp>
      <p:sp>
        <p:nvSpPr>
          <p:cNvPr id="4" name="AutoShape 2"/>
          <p:cNvSpPr/>
          <p:nvPr/>
        </p:nvSpPr>
        <p:spPr>
          <a:xfrm>
            <a:off x="0" y="0"/>
            <a:ext cx="3048000" cy="6858000"/>
          </a:xfrm>
          <a:prstGeom prst="roundRect">
            <a:avLst>
              <a:gd name="adj" fmla="val 0"/>
            </a:avLst>
          </a:prstGeom>
          <a:solidFill>
            <a:srgbClr val="1E5BA8"/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8" name="AutoShape 3"/>
          <p:cNvSpPr/>
          <p:nvPr/>
        </p:nvSpPr>
        <p:spPr>
          <a:xfrm>
            <a:off x="254000" y="2286000"/>
            <a:ext cx="2540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内容目录</a:t>
            </a:r>
          </a:p>
        </p:txBody>
      </p:sp>
      <p:sp>
        <p:nvSpPr>
          <p:cNvPr id="9" name="AutoShape 4"/>
          <p:cNvSpPr/>
          <p:nvPr/>
        </p:nvSpPr>
        <p:spPr>
          <a:xfrm>
            <a:off x="254000" y="3429000"/>
            <a:ext cx="254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0" i="0" u="none" strike="noStrike" spc="400">
                <a:solidFill>
                  <a:srgbClr val="FFFFFF">
                    <a:alpha val="70196"/>
                  </a:srgbClr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CONTENTS</a:t>
            </a:r>
          </a:p>
        </p:txBody>
      </p:sp>
      <p:sp>
        <p:nvSpPr>
          <p:cNvPr id="10" name="AutoShape 5"/>
          <p:cNvSpPr/>
          <p:nvPr/>
        </p:nvSpPr>
        <p:spPr>
          <a:xfrm>
            <a:off x="254000" y="4445000"/>
            <a:ext cx="254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rgbClr val="FFFFFF">
                    <a:alpha val="60000"/>
                  </a:srgbClr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FINTECH</a:t>
            </a:r>
            <a:br>
              <a:rPr lang="en-US" sz="1200" b="0" i="0" u="none" strike="noStrike">
                <a:solidFill>
                  <a:srgbClr val="FFFFFF">
                    <a:alpha val="60000"/>
                  </a:srgbClr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</a:br>
            <a:r>
              <a:rPr lang="en-US" sz="1200" b="0" i="0" u="none" strike="noStrike">
                <a:solidFill>
                  <a:srgbClr val="FFFFFF">
                    <a:alpha val="60000"/>
                  </a:srgbClr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INFRASTRUCTURE</a:t>
            </a:r>
            <a:endParaRPr lang="en-US" sz="1100"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11" name="AutoShape 6"/>
          <p:cNvSpPr/>
          <p:nvPr/>
        </p:nvSpPr>
        <p:spPr>
          <a:xfrm>
            <a:off x="3429000" y="419100"/>
            <a:ext cx="3937000" cy="1720850"/>
          </a:xfrm>
          <a:prstGeom prst="roundRect">
            <a:avLst>
              <a:gd name="adj" fmla="val 8000"/>
            </a:avLst>
          </a:prstGeom>
          <a:solidFill>
            <a:srgbClr val="1E5BA8"/>
          </a:solidFill>
          <a:ln w="25400" cap="flat" cmpd="sng">
            <a:noFill/>
            <a:prstDash val="solid"/>
            <a:round/>
          </a:ln>
          <a:effectLst>
            <a:outerShdw blurRad="1905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12" name="AutoShape 7"/>
          <p:cNvSpPr/>
          <p:nvPr/>
        </p:nvSpPr>
        <p:spPr>
          <a:xfrm>
            <a:off x="3429000" y="571500"/>
            <a:ext cx="76200" cy="381000"/>
          </a:xfrm>
          <a:prstGeom prst="roundRect">
            <a:avLst>
              <a:gd name="adj" fmla="val 0"/>
            </a:avLst>
          </a:prstGeom>
          <a:solidFill>
            <a:srgbClr val="FF7D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13" name="AutoShape 8"/>
          <p:cNvSpPr/>
          <p:nvPr/>
        </p:nvSpPr>
        <p:spPr>
          <a:xfrm>
            <a:off x="3683000" y="546100"/>
            <a:ext cx="3302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01 / 国元自营</a:t>
            </a:r>
          </a:p>
        </p:txBody>
      </p:sp>
      <p:sp>
        <p:nvSpPr>
          <p:cNvPr id="14" name="AutoShape 9"/>
          <p:cNvSpPr/>
          <p:nvPr/>
        </p:nvSpPr>
        <p:spPr>
          <a:xfrm>
            <a:off x="3683000" y="1206500"/>
            <a:ext cx="3429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自营业务已成第一大收入来源（2025H1占比达43%），管理规模近千亿AUM，战略转型方向清晰。</a:t>
            </a:r>
          </a:p>
        </p:txBody>
      </p:sp>
      <p:sp>
        <p:nvSpPr>
          <p:cNvPr id="15" name="AutoShape 10"/>
          <p:cNvSpPr/>
          <p:nvPr/>
        </p:nvSpPr>
        <p:spPr>
          <a:xfrm>
            <a:off x="7620000" y="419100"/>
            <a:ext cx="3937000" cy="1720850"/>
          </a:xfrm>
          <a:prstGeom prst="roundRect">
            <a:avLst>
              <a:gd name="adj" fmla="val 8000"/>
            </a:avLst>
          </a:prstGeom>
          <a:solidFill>
            <a:srgbClr val="1E5BA8"/>
          </a:solidFill>
          <a:ln w="25400" cap="flat" cmpd="sng">
            <a:noFill/>
            <a:prstDash val="solid"/>
            <a:round/>
          </a:ln>
          <a:effectLst>
            <a:outerShdw blurRad="1905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16" name="AutoShape 11"/>
          <p:cNvSpPr/>
          <p:nvPr/>
        </p:nvSpPr>
        <p:spPr>
          <a:xfrm>
            <a:off x="7620000" y="571500"/>
            <a:ext cx="76200" cy="381000"/>
          </a:xfrm>
          <a:prstGeom prst="roundRect">
            <a:avLst>
              <a:gd name="adj" fmla="val 0"/>
            </a:avLst>
          </a:prstGeom>
          <a:solidFill>
            <a:srgbClr val="FF7D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17" name="AutoShape 12"/>
          <p:cNvSpPr/>
          <p:nvPr/>
        </p:nvSpPr>
        <p:spPr>
          <a:xfrm>
            <a:off x="7874000" y="546100"/>
            <a:ext cx="3302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02 / </a:t>
            </a:r>
            <a:r>
              <a:rPr lang="en-US" sz="2000" b="1" i="0" u="none" strike="noStrike" dirty="0" err="1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项目</a:t>
            </a:r>
            <a:r>
              <a:rPr lang="zh-CN" altLang="en-US" sz="2000" b="1" i="0" u="none" strike="noStrike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价值</a:t>
            </a:r>
            <a:endParaRPr lang="en-US" sz="2000" b="1" i="0" u="none" strike="noStrike" dirty="0">
              <a:solidFill>
                <a:srgbClr val="FFFFFF"/>
              </a:solidFill>
              <a:latin typeface="微软雅黑" panose="00000500000000000000" charset="-122"/>
              <a:ea typeface="微软雅黑" panose="00000500000000000000" charset="-122"/>
              <a:cs typeface="微软雅黑" panose="00000500000000000000" charset="-122"/>
              <a:sym typeface="微软雅黑" panose="020B0200000000000000" charset="-122"/>
            </a:endParaRPr>
          </a:p>
        </p:txBody>
      </p:sp>
      <p:sp>
        <p:nvSpPr>
          <p:cNvPr id="18" name="AutoShape 13"/>
          <p:cNvSpPr/>
          <p:nvPr/>
        </p:nvSpPr>
        <p:spPr>
          <a:xfrm>
            <a:off x="7874000" y="1206500"/>
            <a:ext cx="3429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en-US" sz="1200" b="0" i="0" u="none" strike="noStrike" dirty="0" err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聚焦</a:t>
            </a:r>
            <a:r>
              <a:rPr lang="zh-CN" altLang="en-US" sz="1200" b="0" i="0" u="none" strike="noStrike" dirty="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五</a:t>
            </a:r>
            <a:r>
              <a:rPr lang="en-US" sz="1200" b="0" i="0" u="none" strike="noStrike" dirty="0" err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大核心能力建设</a:t>
            </a:r>
            <a:r>
              <a:rPr lang="en-US" sz="1200" b="0" i="0" u="none" strike="noStrike" dirty="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：</a:t>
            </a:r>
            <a:br>
              <a:rPr lang="en-US" sz="1200" b="0" i="0" u="none" strike="noStrike" dirty="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</a:br>
            <a:r>
              <a:rPr lang="zh-CN" altLang="en-US" sz="1200" dirty="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</a:rPr>
              <a:t>配得优 · 算得快 · 控得稳 · 连得通，领得先</a:t>
            </a:r>
          </a:p>
        </p:txBody>
      </p:sp>
      <p:sp>
        <p:nvSpPr>
          <p:cNvPr id="19" name="AutoShape 14"/>
          <p:cNvSpPr/>
          <p:nvPr/>
        </p:nvSpPr>
        <p:spPr>
          <a:xfrm>
            <a:off x="3429000" y="2387600"/>
            <a:ext cx="3937000" cy="1720850"/>
          </a:xfrm>
          <a:prstGeom prst="roundRect">
            <a:avLst>
              <a:gd name="adj" fmla="val 8000"/>
            </a:avLst>
          </a:prstGeom>
          <a:solidFill>
            <a:srgbClr val="1E5BA8"/>
          </a:solidFill>
          <a:ln w="25400" cap="flat" cmpd="sng">
            <a:noFill/>
            <a:prstDash val="solid"/>
            <a:round/>
          </a:ln>
          <a:effectLst>
            <a:outerShdw blurRad="1905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22" name="AutoShape 15"/>
          <p:cNvSpPr/>
          <p:nvPr/>
        </p:nvSpPr>
        <p:spPr>
          <a:xfrm>
            <a:off x="3429000" y="2552700"/>
            <a:ext cx="76200" cy="381000"/>
          </a:xfrm>
          <a:prstGeom prst="roundRect">
            <a:avLst>
              <a:gd name="adj" fmla="val 0"/>
            </a:avLst>
          </a:prstGeom>
          <a:solidFill>
            <a:srgbClr val="FF7D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23" name="AutoShape 16"/>
          <p:cNvSpPr/>
          <p:nvPr/>
        </p:nvSpPr>
        <p:spPr>
          <a:xfrm>
            <a:off x="3683000" y="2527300"/>
            <a:ext cx="3302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en-US" sz="2000" b="1" i="0" u="none" strike="noStrike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03 /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华锐</a:t>
            </a:r>
            <a:r>
              <a:rPr lang="en-US" sz="2000" b="1" i="0" u="none" strike="noStrike" dirty="0" err="1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介绍</a:t>
            </a:r>
            <a:endParaRPr lang="en-US" sz="2000" b="1" i="0" u="none" strike="noStrike" dirty="0">
              <a:solidFill>
                <a:srgbClr val="FFFFFF"/>
              </a:solidFill>
              <a:latin typeface="微软雅黑" panose="00000500000000000000" charset="-122"/>
              <a:ea typeface="微软雅黑" panose="00000500000000000000" charset="-122"/>
              <a:cs typeface="微软雅黑" panose="00000500000000000000" charset="-122"/>
              <a:sym typeface="微软雅黑" panose="020B0200000000000000" charset="-122"/>
            </a:endParaRPr>
          </a:p>
        </p:txBody>
      </p:sp>
      <p:sp>
        <p:nvSpPr>
          <p:cNvPr id="24" name="AutoShape 17"/>
          <p:cNvSpPr/>
          <p:nvPr/>
        </p:nvSpPr>
        <p:spPr>
          <a:xfrm>
            <a:off x="3683000" y="3175000"/>
            <a:ext cx="3429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17000"/>
              </a:lnSpc>
              <a:defRPr/>
            </a:pPr>
            <a:r>
              <a:rPr lang="zh-CN" altLang="en-US" sz="1200" dirty="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核心能力建设者</a:t>
            </a:r>
            <a:endParaRPr lang="en-US" altLang="zh-CN" sz="1200" dirty="0">
              <a:solidFill>
                <a:schemeClr val="bg1"/>
              </a:solidFill>
              <a:latin typeface="微软雅黑" panose="00000500000000000000" charset="-122"/>
              <a:ea typeface="微软雅黑" panose="00000500000000000000" charset="-122"/>
              <a:cs typeface="微软雅黑" panose="00000500000000000000" charset="-122"/>
              <a:sym typeface="微软雅黑" panose="020B0200000000000000" charset="-122"/>
            </a:endParaRPr>
          </a:p>
        </p:txBody>
      </p:sp>
      <p:sp>
        <p:nvSpPr>
          <p:cNvPr id="25" name="AutoShape 18"/>
          <p:cNvSpPr/>
          <p:nvPr/>
        </p:nvSpPr>
        <p:spPr>
          <a:xfrm>
            <a:off x="7620000" y="2387600"/>
            <a:ext cx="3937000" cy="1720850"/>
          </a:xfrm>
          <a:prstGeom prst="roundRect">
            <a:avLst>
              <a:gd name="adj" fmla="val 8000"/>
            </a:avLst>
          </a:prstGeom>
          <a:solidFill>
            <a:srgbClr val="1E5BA8"/>
          </a:solidFill>
          <a:ln w="25400" cap="flat" cmpd="sng">
            <a:noFill/>
            <a:prstDash val="solid"/>
            <a:round/>
          </a:ln>
          <a:effectLst>
            <a:outerShdw blurRad="1905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26" name="AutoShape 19"/>
          <p:cNvSpPr/>
          <p:nvPr/>
        </p:nvSpPr>
        <p:spPr>
          <a:xfrm>
            <a:off x="7620000" y="2552700"/>
            <a:ext cx="76200" cy="381000"/>
          </a:xfrm>
          <a:prstGeom prst="roundRect">
            <a:avLst>
              <a:gd name="adj" fmla="val 0"/>
            </a:avLst>
          </a:prstGeom>
          <a:solidFill>
            <a:srgbClr val="FF7D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27" name="AutoShape 20"/>
          <p:cNvSpPr/>
          <p:nvPr/>
        </p:nvSpPr>
        <p:spPr>
          <a:xfrm>
            <a:off x="7874000" y="2527300"/>
            <a:ext cx="3302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04 / </a:t>
            </a:r>
            <a:r>
              <a:rPr lang="zh-CN" altLang="en-US" sz="20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系统</a:t>
            </a:r>
            <a:r>
              <a:rPr lang="zh-CN" altLang="en-US" sz="2000" b="1" i="0" u="none" strike="noStrike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介绍</a:t>
            </a:r>
          </a:p>
        </p:txBody>
      </p:sp>
      <p:sp>
        <p:nvSpPr>
          <p:cNvPr id="28" name="AutoShape 21"/>
          <p:cNvSpPr/>
          <p:nvPr/>
        </p:nvSpPr>
        <p:spPr>
          <a:xfrm>
            <a:off x="7874000" y="3175000"/>
            <a:ext cx="3429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17000"/>
              </a:lnSpc>
              <a:defRPr/>
            </a:pPr>
            <a:r>
              <a:rPr lang="en-US" sz="1200" dirty="0" err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华锐POMS平台</a:t>
            </a:r>
            <a:r>
              <a:rPr lang="en-US" sz="1200" dirty="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：</a:t>
            </a:r>
          </a:p>
          <a:p>
            <a:pPr>
              <a:lnSpc>
                <a:spcPct val="117000"/>
              </a:lnSpc>
              <a:defRPr/>
            </a:pPr>
            <a:r>
              <a:rPr lang="zh-CN" altLang="en-US" sz="1200" dirty="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全资产组合管理 + 量化策略 + 实时风控 + 指令闭环 + 精确成本核算</a:t>
            </a:r>
          </a:p>
          <a:p>
            <a:pPr indent="0" algn="l">
              <a:lnSpc>
                <a:spcPct val="117000"/>
              </a:lnSpc>
              <a:defRPr/>
            </a:pPr>
            <a:endParaRPr lang="zh-CN" altLang="en-US" sz="1200" b="0" i="0" u="none" strike="noStrike" dirty="0">
              <a:solidFill>
                <a:schemeClr val="bg1"/>
              </a:solidFill>
              <a:latin typeface="微软雅黑" panose="00000500000000000000" charset="-122"/>
              <a:ea typeface="微软雅黑" panose="00000500000000000000" charset="-122"/>
              <a:cs typeface="微软雅黑" panose="00000500000000000000" charset="-122"/>
              <a:sym typeface="微软雅黑" panose="020B0200000000000000" charset="-122"/>
            </a:endParaRPr>
          </a:p>
        </p:txBody>
      </p:sp>
      <p:sp>
        <p:nvSpPr>
          <p:cNvPr id="29" name="AutoShape 22"/>
          <p:cNvSpPr/>
          <p:nvPr/>
        </p:nvSpPr>
        <p:spPr>
          <a:xfrm>
            <a:off x="3429000" y="6133465"/>
            <a:ext cx="8128000" cy="457200"/>
          </a:xfrm>
          <a:prstGeom prst="roundRect">
            <a:avLst>
              <a:gd name="adj" fmla="val 20000"/>
            </a:avLst>
          </a:prstGeom>
          <a:solidFill>
            <a:srgbClr val="1E5BA8"/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30" name="AutoShape 23"/>
          <p:cNvSpPr/>
          <p:nvPr/>
        </p:nvSpPr>
        <p:spPr>
          <a:xfrm>
            <a:off x="3683000" y="6045200"/>
            <a:ext cx="7620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8000"/>
              </a:lnSpc>
              <a:defRPr/>
            </a:pPr>
            <a:r>
              <a:rPr lang="en-US" sz="14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核心价值：POMS 不是一个简单的 IT 系统，而是支撑未来发展的</a:t>
            </a:r>
            <a:r>
              <a:rPr lang="en-US" sz="1600" b="1" i="0" u="none" strike="noStrike">
                <a:solidFill>
                  <a:srgbClr val="FF7D00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投资能力基础设施</a:t>
            </a:r>
            <a:endParaRPr lang="en-US" sz="1100">
              <a:latin typeface="微软雅黑" panose="00000500000000000000" charset="-122"/>
              <a:ea typeface="微软雅黑" panose="00000500000000000000" charset="-122"/>
              <a:cs typeface="微软雅黑" panose="00000500000000000000" charset="-122"/>
            </a:endParaRPr>
          </a:p>
        </p:txBody>
      </p:sp>
      <p:sp>
        <p:nvSpPr>
          <p:cNvPr id="32" name="AutoShape 18"/>
          <p:cNvSpPr/>
          <p:nvPr/>
        </p:nvSpPr>
        <p:spPr>
          <a:xfrm>
            <a:off x="3429000" y="4203700"/>
            <a:ext cx="8128635" cy="1720850"/>
          </a:xfrm>
          <a:prstGeom prst="roundRect">
            <a:avLst>
              <a:gd name="adj" fmla="val 8000"/>
            </a:avLst>
          </a:prstGeom>
          <a:solidFill>
            <a:srgbClr val="1E5BA8"/>
          </a:solidFill>
          <a:ln w="25400" cap="flat" cmpd="sng">
            <a:noFill/>
            <a:prstDash val="solid"/>
            <a:round/>
          </a:ln>
          <a:effectLst>
            <a:outerShdw blurRad="190500" dist="508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33" name="AutoShape 19"/>
          <p:cNvSpPr/>
          <p:nvPr/>
        </p:nvSpPr>
        <p:spPr>
          <a:xfrm>
            <a:off x="3429000" y="4413250"/>
            <a:ext cx="76200" cy="381000"/>
          </a:xfrm>
          <a:prstGeom prst="roundRect">
            <a:avLst>
              <a:gd name="adj" fmla="val 0"/>
            </a:avLst>
          </a:prstGeom>
          <a:solidFill>
            <a:srgbClr val="FF7D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34" name="AutoShape 20"/>
          <p:cNvSpPr/>
          <p:nvPr/>
        </p:nvSpPr>
        <p:spPr>
          <a:xfrm>
            <a:off x="3683000" y="4387850"/>
            <a:ext cx="3302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05 / 项目建议</a:t>
            </a:r>
          </a:p>
        </p:txBody>
      </p:sp>
      <p:sp>
        <p:nvSpPr>
          <p:cNvPr id="35" name="AutoShape 21"/>
          <p:cNvSpPr/>
          <p:nvPr/>
        </p:nvSpPr>
        <p:spPr>
          <a:xfrm>
            <a:off x="3683000" y="5035550"/>
            <a:ext cx="3429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7000"/>
              </a:lnSpc>
              <a:defRPr/>
            </a:pPr>
            <a:r>
              <a:rPr lang="zh-CN" altLang="en-US" sz="12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以需求为核心</a:t>
            </a:r>
            <a:r>
              <a:rPr lang="en-US" altLang="zh-CN" sz="12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，</a:t>
            </a:r>
            <a:r>
              <a:rPr lang="zh-CN" altLang="en-US" sz="12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分阶段实施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国元自营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5029200" y="2560320"/>
            <a:ext cx="2103120" cy="45720"/>
          </a:xfrm>
          <a:prstGeom prst="rect">
            <a:avLst/>
          </a:prstGeom>
          <a:solidFill>
            <a:srgbClr val="F54D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cs typeface="微软雅黑" panose="000005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3600" dirty="0">
                <a:latin typeface="微软雅黑" panose="00000500000000000000" charset="-122"/>
                <a:cs typeface="微软雅黑" panose="00000500000000000000" charset="-122"/>
              </a:rPr>
              <a:t>国</a:t>
            </a:r>
            <a:r>
              <a:rPr lang="zh-TW" altLang="en-US" sz="3600" dirty="0">
                <a:latin typeface="微软雅黑" panose="00000500000000000000" charset="-122"/>
                <a:cs typeface="微软雅黑" panose="00000500000000000000" charset="-122"/>
              </a:rPr>
              <a:t>元</a:t>
            </a:r>
            <a:r>
              <a:rPr lang="zh-CN" altLang="en-US" sz="3600" dirty="0">
                <a:latin typeface="微软雅黑" panose="00000500000000000000" charset="-122"/>
                <a:cs typeface="微软雅黑" panose="00000500000000000000" charset="-122"/>
              </a:rPr>
              <a:t>自营业务发展和规划分析</a:t>
            </a:r>
          </a:p>
        </p:txBody>
      </p:sp>
      <p:sp>
        <p:nvSpPr>
          <p:cNvPr id="5" name="AutoShape 3"/>
          <p:cNvSpPr/>
          <p:nvPr/>
        </p:nvSpPr>
        <p:spPr>
          <a:xfrm>
            <a:off x="4648200" y="1417320"/>
            <a:ext cx="2794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400" b="1" i="0" u="none" strike="noStrike">
                <a:solidFill>
                  <a:srgbClr val="FFFFFF"/>
                </a:solidFill>
                <a:latin typeface="微软雅黑" panose="020B0200000000000000" charset="-122"/>
                <a:ea typeface="微软雅黑" panose="020B0200000000000000" charset="-122"/>
                <a:cs typeface="微软雅黑" panose="020B0200000000000000" charset="-122"/>
                <a:sym typeface="微软雅黑" panose="020B0200000000000000" charset="-122"/>
              </a:rPr>
              <a:t>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030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cs typeface="微软雅黑" panose="00000500000000000000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0000500000000000000" charset="-122"/>
                <a:cs typeface="微软雅黑" panose="00000500000000000000" charset="-122"/>
              </a:rPr>
              <a:t>国元自营业务：4年4倍增长，已成第一大支柱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5246"/>
            <a:ext cx="10058400" cy="275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D051"/>
                </a:solidFill>
                <a:latin typeface="微软雅黑" panose="020B0503020204020204" charset="-122"/>
              </a:defRPr>
            </a:pPr>
            <a:r>
              <a:rPr dirty="0"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</a:rPr>
              <a:t>自营收入4年增长4倍至占比43%，</a:t>
            </a:r>
            <a:r>
              <a:rPr dirty="0" err="1"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</a:rPr>
              <a:t>去方向性+FICC+资本中介三位一体战略已定</a:t>
            </a:r>
            <a:endParaRPr dirty="0">
              <a:latin typeface="微软雅黑" panose="00000500000000000000" charset="-122"/>
              <a:ea typeface="微软雅黑" panose="00000500000000000000" charset="-122"/>
              <a:cs typeface="微软雅黑" panose="00000500000000000000" charset="-122"/>
            </a:endParaRPr>
          </a:p>
        </p:txBody>
      </p:sp>
      <p:sp>
        <p:nvSpPr>
          <p:cNvPr id="5" name="AutoShape 3"/>
          <p:cNvSpPr/>
          <p:nvPr/>
        </p:nvSpPr>
        <p:spPr>
          <a:xfrm>
            <a:off x="381000" y="1143000"/>
            <a:ext cx="11430000" cy="2159000"/>
          </a:xfrm>
          <a:prstGeom prst="roundRect">
            <a:avLst>
              <a:gd name="adj" fmla="val 7058"/>
            </a:avLst>
          </a:prstGeom>
          <a:solidFill>
            <a:srgbClr val="1E3A8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8" name="AutoShape 4"/>
          <p:cNvSpPr/>
          <p:nvPr/>
        </p:nvSpPr>
        <p:spPr>
          <a:xfrm>
            <a:off x="635000" y="1397000"/>
            <a:ext cx="2603500" cy="1651000"/>
          </a:xfrm>
          <a:prstGeom prst="roundRect">
            <a:avLst>
              <a:gd name="adj" fmla="val 615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11" name="AutoShape 5"/>
          <p:cNvSpPr/>
          <p:nvPr/>
        </p:nvSpPr>
        <p:spPr>
          <a:xfrm>
            <a:off x="825500" y="1524000"/>
            <a:ext cx="2222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DC2626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2022 · 转型元年</a:t>
            </a:r>
          </a:p>
        </p:txBody>
      </p:sp>
      <p:sp>
        <p:nvSpPr>
          <p:cNvPr id="12" name="AutoShape 6"/>
          <p:cNvSpPr/>
          <p:nvPr/>
        </p:nvSpPr>
        <p:spPr>
          <a:xfrm>
            <a:off x="825500" y="1905000"/>
            <a:ext cx="2222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l">
              <a:lnSpc>
                <a:spcPct val="125000"/>
              </a:lnSpc>
              <a:buClrTx/>
              <a:buSzTx/>
              <a:buFontTx/>
              <a:defRPr/>
            </a:pPr>
            <a:r>
              <a:rPr lang="en-US" sz="1200" b="0" i="0" u="none" strike="noStrike">
                <a:solidFill>
                  <a:srgbClr val="6B7280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自营收入：4.48亿 | 占比 8%</a:t>
            </a:r>
            <a:br>
              <a:rPr lang="en-US" sz="1600" b="0" i="0" u="none" strike="noStrike">
                <a:solidFill>
                  <a:srgbClr val="1F2329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</a:br>
            <a:r>
              <a:rPr lang="en-US" sz="1100" b="0" i="0" u="none" strike="noStrike">
                <a:solidFill>
                  <a:srgbClr val="6B7280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确立卖方业务方向性</a:t>
            </a:r>
            <a:endParaRPr lang="en-US" sz="1100">
              <a:solidFill>
                <a:srgbClr val="6B7280"/>
              </a:solidFill>
              <a:latin typeface="微软雅黑" panose="00000500000000000000" charset="-122"/>
              <a:ea typeface="微软雅黑" panose="00000500000000000000" charset="-122"/>
              <a:cs typeface="微软雅黑" panose="00000500000000000000" charset="-122"/>
            </a:endParaRPr>
          </a:p>
        </p:txBody>
      </p:sp>
      <p:sp>
        <p:nvSpPr>
          <p:cNvPr id="13" name="AutoShape 7"/>
          <p:cNvSpPr/>
          <p:nvPr/>
        </p:nvSpPr>
        <p:spPr>
          <a:xfrm>
            <a:off x="825500" y="2413000"/>
            <a:ext cx="2222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B7280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财富信用收入：19.29亿</a:t>
            </a:r>
          </a:p>
        </p:txBody>
      </p:sp>
      <p:sp>
        <p:nvSpPr>
          <p:cNvPr id="14" name="AutoShape 8"/>
          <p:cNvSpPr/>
          <p:nvPr/>
        </p:nvSpPr>
        <p:spPr>
          <a:xfrm>
            <a:off x="3429000" y="1397000"/>
            <a:ext cx="2603500" cy="1651000"/>
          </a:xfrm>
          <a:prstGeom prst="roundRect">
            <a:avLst>
              <a:gd name="adj" fmla="val 615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15" name="AutoShape 9"/>
          <p:cNvSpPr/>
          <p:nvPr/>
        </p:nvSpPr>
        <p:spPr>
          <a:xfrm>
            <a:off x="3619500" y="1524000"/>
            <a:ext cx="2222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DC2626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2023 · 爆发增长</a:t>
            </a:r>
          </a:p>
        </p:txBody>
      </p:sp>
      <p:sp>
        <p:nvSpPr>
          <p:cNvPr id="16" name="AutoShape 10"/>
          <p:cNvSpPr/>
          <p:nvPr/>
        </p:nvSpPr>
        <p:spPr>
          <a:xfrm>
            <a:off x="3619500" y="1905000"/>
            <a:ext cx="2222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自营收入：13.07亿 | 占比 21%</a:t>
            </a:r>
            <a:br>
              <a:rPr lang="en-US" sz="1600" b="0" i="0" u="none" strike="noStrike">
                <a:solidFill>
                  <a:srgbClr val="1F2329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</a:br>
            <a:r>
              <a:rPr lang="en-US" sz="1100" b="1" i="0" u="none" strike="noStrike">
                <a:solidFill>
                  <a:srgbClr val="DC2626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同比+192% | FICC快速发展</a:t>
            </a:r>
            <a:endParaRPr lang="en-US" sz="1100">
              <a:latin typeface="微软雅黑" panose="00000500000000000000" charset="-122"/>
              <a:ea typeface="微软雅黑" panose="00000500000000000000" charset="-122"/>
              <a:cs typeface="微软雅黑" panose="00000500000000000000" charset="-122"/>
            </a:endParaRPr>
          </a:p>
        </p:txBody>
      </p:sp>
      <p:sp>
        <p:nvSpPr>
          <p:cNvPr id="17" name="AutoShape 11"/>
          <p:cNvSpPr/>
          <p:nvPr/>
        </p:nvSpPr>
        <p:spPr>
          <a:xfrm>
            <a:off x="3619500" y="2413000"/>
            <a:ext cx="2222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B7280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财富信用收入：15.09亿</a:t>
            </a:r>
          </a:p>
        </p:txBody>
      </p:sp>
      <p:sp>
        <p:nvSpPr>
          <p:cNvPr id="18" name="AutoShape 12"/>
          <p:cNvSpPr/>
          <p:nvPr/>
        </p:nvSpPr>
        <p:spPr>
          <a:xfrm>
            <a:off x="6223000" y="1397000"/>
            <a:ext cx="2603500" cy="1651000"/>
          </a:xfrm>
          <a:prstGeom prst="roundRect">
            <a:avLst>
              <a:gd name="adj" fmla="val 615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19" name="AutoShape 13"/>
          <p:cNvSpPr/>
          <p:nvPr/>
        </p:nvSpPr>
        <p:spPr>
          <a:xfrm>
            <a:off x="6413500" y="1524000"/>
            <a:ext cx="2222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DC2626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2024 · 支柱确立</a:t>
            </a:r>
          </a:p>
        </p:txBody>
      </p:sp>
      <p:sp>
        <p:nvSpPr>
          <p:cNvPr id="20" name="AutoShape 14"/>
          <p:cNvSpPr/>
          <p:nvPr/>
        </p:nvSpPr>
        <p:spPr>
          <a:xfrm>
            <a:off x="6413500" y="1905000"/>
            <a:ext cx="2222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自营收入：23.12亿 | 占比 29%</a:t>
            </a:r>
            <a:br>
              <a:rPr lang="en-US" sz="1600" b="0" i="0" u="none" strike="noStrike">
                <a:solidFill>
                  <a:srgbClr val="1F2329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</a:br>
            <a:r>
              <a:rPr lang="en-US" sz="1100" b="1" i="0" u="none" strike="noStrike">
                <a:solidFill>
                  <a:srgbClr val="DC2626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首次超越财富，成第一大业务</a:t>
            </a:r>
            <a:endParaRPr lang="en-US" sz="1100">
              <a:latin typeface="微软雅黑" panose="00000500000000000000" charset="-122"/>
              <a:ea typeface="微软雅黑" panose="00000500000000000000" charset="-122"/>
              <a:cs typeface="微软雅黑" panose="00000500000000000000" charset="-122"/>
            </a:endParaRPr>
          </a:p>
        </p:txBody>
      </p:sp>
      <p:sp>
        <p:nvSpPr>
          <p:cNvPr id="21" name="AutoShape 15"/>
          <p:cNvSpPr/>
          <p:nvPr/>
        </p:nvSpPr>
        <p:spPr>
          <a:xfrm>
            <a:off x="6413500" y="2413000"/>
            <a:ext cx="2222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B7280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财富信用收入：16.96亿</a:t>
            </a:r>
          </a:p>
        </p:txBody>
      </p:sp>
      <p:sp>
        <p:nvSpPr>
          <p:cNvPr id="22" name="AutoShape 16"/>
          <p:cNvSpPr/>
          <p:nvPr/>
        </p:nvSpPr>
        <p:spPr>
          <a:xfrm>
            <a:off x="9017000" y="1397000"/>
            <a:ext cx="2603500" cy="1651000"/>
          </a:xfrm>
          <a:prstGeom prst="roundRect">
            <a:avLst>
              <a:gd name="adj" fmla="val 6153"/>
            </a:avLst>
          </a:prstGeom>
          <a:solidFill>
            <a:srgbClr val="FFFFFF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101600" dist="25400" dir="2700000" algn="tl" rotWithShape="0">
              <a:srgbClr val="000000">
                <a:alpha val="6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23" name="AutoShape 17"/>
          <p:cNvSpPr/>
          <p:nvPr/>
        </p:nvSpPr>
        <p:spPr>
          <a:xfrm>
            <a:off x="9207500" y="1524000"/>
            <a:ext cx="22225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DC2626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2025 H1 · 持续领跑</a:t>
            </a:r>
          </a:p>
        </p:txBody>
      </p:sp>
      <p:sp>
        <p:nvSpPr>
          <p:cNvPr id="24" name="AutoShape 18"/>
          <p:cNvSpPr/>
          <p:nvPr/>
        </p:nvSpPr>
        <p:spPr>
          <a:xfrm>
            <a:off x="9207500" y="1905000"/>
            <a:ext cx="2222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en-US" sz="1200" b="0" i="0" u="none" strike="noStrike">
                <a:solidFill>
                  <a:srgbClr val="666666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自营收入：14.69亿 | 占比</a:t>
            </a:r>
            <a:r>
              <a:rPr lang="en-US" sz="1600" b="1" i="0" u="none" strike="noStrike">
                <a:solidFill>
                  <a:srgbClr val="DC2626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43%</a:t>
            </a:r>
            <a:br>
              <a:rPr lang="en-US" sz="1600" b="0" i="0" u="none" strike="noStrike">
                <a:solidFill>
                  <a:srgbClr val="1F2329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</a:br>
            <a:r>
              <a:rPr lang="en-US" sz="1100" b="1" i="0" u="none" strike="noStrike">
                <a:solidFill>
                  <a:srgbClr val="DC2626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半年超23全年，领先财富1.46倍</a:t>
            </a:r>
            <a:endParaRPr lang="en-US" sz="1100" b="1">
              <a:solidFill>
                <a:srgbClr val="DC2626"/>
              </a:solidFill>
              <a:latin typeface="微软雅黑" panose="00000500000000000000" charset="-122"/>
              <a:ea typeface="微软雅黑" panose="00000500000000000000" charset="-122"/>
              <a:cs typeface="微软雅黑" panose="00000500000000000000" charset="-122"/>
            </a:endParaRPr>
          </a:p>
        </p:txBody>
      </p:sp>
      <p:sp>
        <p:nvSpPr>
          <p:cNvPr id="25" name="AutoShape 19"/>
          <p:cNvSpPr/>
          <p:nvPr/>
        </p:nvSpPr>
        <p:spPr>
          <a:xfrm>
            <a:off x="9207500" y="2413000"/>
            <a:ext cx="2222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B7280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财富信用收入：9.98亿</a:t>
            </a:r>
          </a:p>
        </p:txBody>
      </p:sp>
      <p:sp>
        <p:nvSpPr>
          <p:cNvPr id="26" name="AutoShape 20"/>
          <p:cNvSpPr/>
          <p:nvPr/>
        </p:nvSpPr>
        <p:spPr>
          <a:xfrm>
            <a:off x="381000" y="3683000"/>
            <a:ext cx="5588000" cy="2667000"/>
          </a:xfrm>
          <a:prstGeom prst="roundRect">
            <a:avLst>
              <a:gd name="adj" fmla="val 5714"/>
            </a:avLst>
          </a:prstGeom>
          <a:solidFill>
            <a:srgbClr val="1E3A8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27" name="AutoShape 21"/>
          <p:cNvSpPr/>
          <p:nvPr/>
        </p:nvSpPr>
        <p:spPr>
          <a:xfrm>
            <a:off x="571500" y="3873500"/>
            <a:ext cx="508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D700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▍2025.08 组织架构调整动作</a:t>
            </a:r>
          </a:p>
        </p:txBody>
      </p:sp>
      <p:sp>
        <p:nvSpPr>
          <p:cNvPr id="28" name="AutoShape 22"/>
          <p:cNvSpPr/>
          <p:nvPr/>
        </p:nvSpPr>
        <p:spPr>
          <a:xfrm>
            <a:off x="571500" y="4318000"/>
            <a:ext cx="5207000" cy="457200"/>
          </a:xfrm>
          <a:prstGeom prst="roundRect">
            <a:avLst>
              <a:gd name="adj" fmla="val 16666"/>
            </a:avLst>
          </a:prstGeom>
          <a:solidFill>
            <a:srgbClr val="1E5BA8"/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pic>
        <p:nvPicPr>
          <p:cNvPr id="29" name="Picture 2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8500" y="4419600"/>
            <a:ext cx="254000" cy="254000"/>
          </a:xfrm>
          <a:prstGeom prst="rect">
            <a:avLst/>
          </a:prstGeom>
        </p:spPr>
      </p:pic>
      <p:sp>
        <p:nvSpPr>
          <p:cNvPr id="30" name="AutoShape 24"/>
          <p:cNvSpPr/>
          <p:nvPr/>
        </p:nvSpPr>
        <p:spPr>
          <a:xfrm>
            <a:off x="1079500" y="4394200"/>
            <a:ext cx="457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自营业务</a:t>
            </a:r>
            <a:r>
              <a:rPr lang="zh-CN" altLang="en-US" sz="1200" b="1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委员会</a:t>
            </a:r>
            <a:r>
              <a:rPr lang="en-US" sz="1200" b="1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➔ 金融市场业务委员会</a:t>
            </a:r>
          </a:p>
        </p:txBody>
      </p:sp>
      <p:sp>
        <p:nvSpPr>
          <p:cNvPr id="31" name="AutoShape 25"/>
          <p:cNvSpPr/>
          <p:nvPr/>
        </p:nvSpPr>
        <p:spPr>
          <a:xfrm>
            <a:off x="571500" y="4851400"/>
            <a:ext cx="5207000" cy="457200"/>
          </a:xfrm>
          <a:prstGeom prst="roundRect">
            <a:avLst>
              <a:gd name="adj" fmla="val 16666"/>
            </a:avLst>
          </a:prstGeom>
          <a:solidFill>
            <a:srgbClr val="1E5BA8"/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pic>
        <p:nvPicPr>
          <p:cNvPr id="32" name="Picture 2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8500" y="4953000"/>
            <a:ext cx="254000" cy="254000"/>
          </a:xfrm>
          <a:prstGeom prst="rect">
            <a:avLst/>
          </a:prstGeom>
        </p:spPr>
      </p:pic>
      <p:sp>
        <p:nvSpPr>
          <p:cNvPr id="33" name="AutoShape 27"/>
          <p:cNvSpPr/>
          <p:nvPr/>
        </p:nvSpPr>
        <p:spPr>
          <a:xfrm>
            <a:off x="1079500" y="4927600"/>
            <a:ext cx="457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固定收益部 ➔ FICC 业务总部</a:t>
            </a:r>
          </a:p>
        </p:txBody>
      </p:sp>
      <p:sp>
        <p:nvSpPr>
          <p:cNvPr id="34" name="AutoShape 28"/>
          <p:cNvSpPr/>
          <p:nvPr/>
        </p:nvSpPr>
        <p:spPr>
          <a:xfrm>
            <a:off x="571500" y="5384800"/>
            <a:ext cx="5207000" cy="457200"/>
          </a:xfrm>
          <a:prstGeom prst="roundRect">
            <a:avLst>
              <a:gd name="adj" fmla="val 16666"/>
            </a:avLst>
          </a:prstGeom>
          <a:solidFill>
            <a:srgbClr val="1E5BA8"/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pic>
        <p:nvPicPr>
          <p:cNvPr id="35" name="Picture 29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8500" y="5486400"/>
            <a:ext cx="254000" cy="254000"/>
          </a:xfrm>
          <a:prstGeom prst="rect">
            <a:avLst/>
          </a:prstGeom>
        </p:spPr>
      </p:pic>
      <p:sp>
        <p:nvSpPr>
          <p:cNvPr id="36" name="AutoShape 30"/>
          <p:cNvSpPr/>
          <p:nvPr/>
        </p:nvSpPr>
        <p:spPr>
          <a:xfrm>
            <a:off x="1079500" y="5461000"/>
            <a:ext cx="457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权益投资部 ➔ 证券投资部</a:t>
            </a:r>
          </a:p>
        </p:txBody>
      </p:sp>
      <p:sp>
        <p:nvSpPr>
          <p:cNvPr id="37" name="AutoShape 31"/>
          <p:cNvSpPr/>
          <p:nvPr/>
        </p:nvSpPr>
        <p:spPr>
          <a:xfrm>
            <a:off x="571500" y="5918200"/>
            <a:ext cx="5207000" cy="457200"/>
          </a:xfrm>
          <a:prstGeom prst="roundRect">
            <a:avLst>
              <a:gd name="adj" fmla="val 16666"/>
            </a:avLst>
          </a:prstGeom>
          <a:solidFill>
            <a:srgbClr val="1E5BA8"/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pic>
        <p:nvPicPr>
          <p:cNvPr id="38" name="Picture 3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8500" y="6019800"/>
            <a:ext cx="254000" cy="254000"/>
          </a:xfrm>
          <a:prstGeom prst="rect">
            <a:avLst/>
          </a:prstGeom>
        </p:spPr>
      </p:pic>
      <p:sp>
        <p:nvSpPr>
          <p:cNvPr id="39" name="AutoShape 33"/>
          <p:cNvSpPr/>
          <p:nvPr/>
        </p:nvSpPr>
        <p:spPr>
          <a:xfrm>
            <a:off x="1079500" y="5994400"/>
            <a:ext cx="457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创新金融部 ➔ 创新金融业务总部 (升格)</a:t>
            </a:r>
          </a:p>
        </p:txBody>
      </p:sp>
      <p:sp>
        <p:nvSpPr>
          <p:cNvPr id="40" name="AutoShape 34"/>
          <p:cNvSpPr/>
          <p:nvPr/>
        </p:nvSpPr>
        <p:spPr>
          <a:xfrm>
            <a:off x="6223000" y="3683000"/>
            <a:ext cx="5588000" cy="2667000"/>
          </a:xfrm>
          <a:prstGeom prst="roundRect">
            <a:avLst>
              <a:gd name="adj" fmla="val 5714"/>
            </a:avLst>
          </a:prstGeom>
          <a:solidFill>
            <a:srgbClr val="1E3A8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41" name="AutoShape 35"/>
          <p:cNvSpPr/>
          <p:nvPr/>
        </p:nvSpPr>
        <p:spPr>
          <a:xfrm>
            <a:off x="6413500" y="3873500"/>
            <a:ext cx="508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D700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▍三重“买方业务”战略信号</a:t>
            </a:r>
          </a:p>
        </p:txBody>
      </p:sp>
      <p:sp>
        <p:nvSpPr>
          <p:cNvPr id="42" name="AutoShape 36"/>
          <p:cNvSpPr/>
          <p:nvPr/>
        </p:nvSpPr>
        <p:spPr>
          <a:xfrm>
            <a:off x="6413500" y="4318000"/>
            <a:ext cx="5207000" cy="457200"/>
          </a:xfrm>
          <a:prstGeom prst="roundRect">
            <a:avLst>
              <a:gd name="adj" fmla="val 16666"/>
            </a:avLst>
          </a:prstGeom>
          <a:solidFill>
            <a:srgbClr val="1E5BA8"/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pic>
        <p:nvPicPr>
          <p:cNvPr id="43" name="Picture 3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40500" y="4419600"/>
            <a:ext cx="254000" cy="254000"/>
          </a:xfrm>
          <a:prstGeom prst="rect">
            <a:avLst/>
          </a:prstGeom>
        </p:spPr>
      </p:pic>
      <p:sp>
        <p:nvSpPr>
          <p:cNvPr id="44" name="AutoShape 38"/>
          <p:cNvSpPr/>
          <p:nvPr/>
        </p:nvSpPr>
        <p:spPr>
          <a:xfrm>
            <a:off x="6921500" y="4394200"/>
            <a:ext cx="457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200" b="0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平台统一</a:t>
            </a:r>
            <a:r>
              <a:rPr lang="en-US" sz="1200" b="0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：</a:t>
            </a:r>
            <a:r>
              <a:rPr lang="zh-CN" altLang="en-US" sz="1200" b="0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从投资本位到市场服务本位——需要统一组合管理平台</a:t>
            </a:r>
          </a:p>
        </p:txBody>
      </p:sp>
      <p:sp>
        <p:nvSpPr>
          <p:cNvPr id="45" name="AutoShape 39"/>
          <p:cNvSpPr/>
          <p:nvPr/>
        </p:nvSpPr>
        <p:spPr>
          <a:xfrm>
            <a:off x="6413500" y="4851400"/>
            <a:ext cx="5207000" cy="457200"/>
          </a:xfrm>
          <a:prstGeom prst="roundRect">
            <a:avLst>
              <a:gd name="adj" fmla="val 16666"/>
            </a:avLst>
          </a:prstGeom>
          <a:solidFill>
            <a:srgbClr val="1E5BA8"/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pic>
        <p:nvPicPr>
          <p:cNvPr id="46" name="Picture 4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40500" y="4953000"/>
            <a:ext cx="254000" cy="254000"/>
          </a:xfrm>
          <a:prstGeom prst="rect">
            <a:avLst/>
          </a:prstGeom>
        </p:spPr>
      </p:pic>
      <p:sp>
        <p:nvSpPr>
          <p:cNvPr id="47" name="AutoShape 41"/>
          <p:cNvSpPr/>
          <p:nvPr/>
        </p:nvSpPr>
        <p:spPr>
          <a:xfrm>
            <a:off x="6921500" y="4927600"/>
            <a:ext cx="457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sz="1200" b="0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跨资管理</a:t>
            </a:r>
            <a:r>
              <a:rPr lang="en-US" sz="1200" b="0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：</a:t>
            </a:r>
            <a:r>
              <a:rPr lang="zh-CN" altLang="en-US" sz="1200" b="0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从单一债券到综合</a:t>
            </a:r>
            <a:r>
              <a:rPr lang="en-US" altLang="zh-CN" sz="1200" b="0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FICC——</a:t>
            </a:r>
            <a:r>
              <a:rPr lang="zh-CN" altLang="en-US" sz="1200" b="0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需要跨资产组合管理</a:t>
            </a:r>
          </a:p>
        </p:txBody>
      </p:sp>
      <p:sp>
        <p:nvSpPr>
          <p:cNvPr id="48" name="AutoShape 42"/>
          <p:cNvSpPr/>
          <p:nvPr/>
        </p:nvSpPr>
        <p:spPr>
          <a:xfrm>
            <a:off x="6413500" y="5384800"/>
            <a:ext cx="5207000" cy="457200"/>
          </a:xfrm>
          <a:prstGeom prst="roundRect">
            <a:avLst>
              <a:gd name="adj" fmla="val 16666"/>
            </a:avLst>
          </a:prstGeom>
          <a:solidFill>
            <a:srgbClr val="1E5BA8"/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pic>
        <p:nvPicPr>
          <p:cNvPr id="49" name="Picture 4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40500" y="5486400"/>
            <a:ext cx="254000" cy="254000"/>
          </a:xfrm>
          <a:prstGeom prst="rect">
            <a:avLst/>
          </a:prstGeom>
        </p:spPr>
      </p:pic>
      <p:sp>
        <p:nvSpPr>
          <p:cNvPr id="50" name="AutoShape 44"/>
          <p:cNvSpPr/>
          <p:nvPr/>
        </p:nvSpPr>
        <p:spPr>
          <a:xfrm>
            <a:off x="6921500" y="5461000"/>
            <a:ext cx="457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200" b="0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风控工具</a:t>
            </a:r>
            <a:r>
              <a:rPr lang="en-US" sz="1200" b="0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：</a:t>
            </a:r>
            <a:r>
              <a:rPr lang="zh-CN" altLang="en-US" sz="1200" b="0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去方向性+多策略——需要实时风控+相对价值工具</a:t>
            </a:r>
          </a:p>
        </p:txBody>
      </p:sp>
      <p:sp>
        <p:nvSpPr>
          <p:cNvPr id="51" name="AutoShape 45"/>
          <p:cNvSpPr/>
          <p:nvPr/>
        </p:nvSpPr>
        <p:spPr>
          <a:xfrm>
            <a:off x="6413500" y="5918200"/>
            <a:ext cx="5207000" cy="457200"/>
          </a:xfrm>
          <a:prstGeom prst="roundRect">
            <a:avLst>
              <a:gd name="adj" fmla="val 16666"/>
            </a:avLst>
          </a:prstGeom>
          <a:solidFill>
            <a:srgbClr val="1E5BA8"/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pic>
        <p:nvPicPr>
          <p:cNvPr id="52" name="Picture 4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40500" y="6019800"/>
            <a:ext cx="254000" cy="254000"/>
          </a:xfrm>
          <a:prstGeom prst="rect">
            <a:avLst/>
          </a:prstGeom>
        </p:spPr>
      </p:pic>
      <p:sp>
        <p:nvSpPr>
          <p:cNvPr id="53" name="AutoShape 47"/>
          <p:cNvSpPr/>
          <p:nvPr/>
        </p:nvSpPr>
        <p:spPr>
          <a:xfrm>
            <a:off x="6921500" y="5994400"/>
            <a:ext cx="457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200" b="0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统一定价</a:t>
            </a:r>
            <a:r>
              <a:rPr lang="en-US" sz="1200" b="0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：</a:t>
            </a:r>
            <a:r>
              <a:rPr lang="zh-CN" altLang="en-US" sz="1200" b="0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衍生品从边缘到核心——需要统一定价+成本核算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国元自营：四年四倍增长，正站在能力跃升的关键窗口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Situation — 近千亿规模 · 战略机遇 · 必须行动的三重驱动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47120" cy="267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现状与数据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关键含义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自营规模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近千亿AUM，2025H1自营收入14.6亿（+43%营收占比）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千亿规模下，每0.1%收益/风险改善 = 1亿价值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收益目标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低波动6-7%稳定收益战略目标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需要全资产精细化管理，而非单一利率债方向判断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杠杆规模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约500亿回购融资杠杆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融资成本管理、流动性风险是核心风控议题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年交易量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约3000亿年度交易量（3倍周转）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执行质量每提升1bp = 3000万/年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组织变革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2025年8月重组：设立金融市场委员会+FICC总部+证券投资部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战略转向全FICC一体化，需统一平台支撑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时间窗口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十五五数字化转型+信创替代+IFRS9 2026年全面执行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政策驱动 + 竞争驱动 + 合规驱动三重叠加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526280"/>
            <a:ext cx="11247120" cy="118872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461772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微软雅黑"/>
              </a:defRPr>
            </a:pPr>
            <a:r>
              <a:t>核心命题：POMS不是IT项目，是投资能力的投资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千亿自营资金，每年交易3000亿，管理500亿杠杆——这个规模，需要世界级的管理工具。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华泰/平安平台化已进入深水区。窗口期有限——现在是追赶的最佳时机，延迟的代价是差距指数级拉大。</a:t>
            </a:r>
          </a:p>
        </p:txBody>
      </p:sp>
    </p:spTree>
    <p:extLst>
      <p:ext uri="{BB962C8B-B14F-4D97-AF65-F5344CB8AC3E}">
        <p14:creationId xmlns:p14="http://schemas.microsoft.com/office/powerpoint/2010/main" val="26865870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030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cs typeface="微软雅黑" panose="00000500000000000000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358207"/>
            <a:ext cx="10058400" cy="429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lang="zh-CN" altLang="en-US" dirty="0">
                <a:latin typeface="微软雅黑" panose="00000500000000000000" charset="-122"/>
                <a:cs typeface="微软雅黑" panose="00000500000000000000" charset="-122"/>
              </a:rPr>
              <a:t>国元证券自营发展核心要求</a:t>
            </a:r>
            <a:endParaRPr dirty="0">
              <a:latin typeface="微软雅黑" panose="00000500000000000000" charset="-122"/>
              <a:cs typeface="微软雅黑" panose="00000500000000000000" charset="-122"/>
            </a:endParaRPr>
          </a:p>
        </p:txBody>
      </p:sp>
      <p:sp>
        <p:nvSpPr>
          <p:cNvPr id="4" name="AutoShape 3"/>
          <p:cNvSpPr/>
          <p:nvPr/>
        </p:nvSpPr>
        <p:spPr>
          <a:xfrm>
            <a:off x="508000" y="1143000"/>
            <a:ext cx="2667000" cy="1664335"/>
          </a:xfrm>
          <a:prstGeom prst="roundRect">
            <a:avLst>
              <a:gd name="adj" fmla="val 8275"/>
            </a:avLst>
          </a:prstGeom>
          <a:solidFill>
            <a:srgbClr val="1E3A8A"/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5" name="AutoShape 4"/>
          <p:cNvSpPr/>
          <p:nvPr/>
        </p:nvSpPr>
        <p:spPr>
          <a:xfrm>
            <a:off x="698500" y="1397000"/>
            <a:ext cx="609600" cy="609600"/>
          </a:xfrm>
          <a:prstGeom prst="ellipse">
            <a:avLst/>
          </a:prstGeom>
          <a:solidFill>
            <a:schemeClr val="accent6"/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pic>
        <p:nvPicPr>
          <p:cNvPr id="7" name="Picture 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5500" y="1524000"/>
            <a:ext cx="355600" cy="355600"/>
          </a:xfrm>
          <a:prstGeom prst="rect">
            <a:avLst/>
          </a:prstGeom>
        </p:spPr>
      </p:pic>
      <p:sp>
        <p:nvSpPr>
          <p:cNvPr id="8" name="AutoShape 6"/>
          <p:cNvSpPr/>
          <p:nvPr/>
        </p:nvSpPr>
        <p:spPr>
          <a:xfrm>
            <a:off x="1460500" y="1397000"/>
            <a:ext cx="152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1E5BA8"/>
                </a:solidFill>
              </a14:hiddenFill>
            </a:ext>
          </a:extLst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chemeClr val="accent6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稳定收益</a:t>
            </a:r>
            <a:r>
              <a:rPr lang="zh-CN" altLang="en-US" sz="1600" b="1" i="0" u="none" strike="noStrike">
                <a:solidFill>
                  <a:schemeClr val="accent6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为</a:t>
            </a:r>
            <a:r>
              <a:rPr lang="en-US" sz="1600" b="1" i="0" u="none" strike="noStrike">
                <a:solidFill>
                  <a:schemeClr val="accent6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目标</a:t>
            </a:r>
          </a:p>
        </p:txBody>
      </p:sp>
      <p:sp>
        <p:nvSpPr>
          <p:cNvPr id="9" name="AutoShape 7"/>
          <p:cNvSpPr/>
          <p:nvPr/>
        </p:nvSpPr>
        <p:spPr>
          <a:xfrm>
            <a:off x="1460500" y="1905000"/>
            <a:ext cx="1587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zh-CN" altLang="en-US" sz="14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低波动6%，从方向性投资转向精细化管理</a:t>
            </a:r>
          </a:p>
        </p:txBody>
      </p:sp>
      <p:sp>
        <p:nvSpPr>
          <p:cNvPr id="10" name="AutoShape 8"/>
          <p:cNvSpPr/>
          <p:nvPr/>
        </p:nvSpPr>
        <p:spPr>
          <a:xfrm>
            <a:off x="3429000" y="1143000"/>
            <a:ext cx="2667000" cy="1664335"/>
          </a:xfrm>
          <a:prstGeom prst="roundRect">
            <a:avLst>
              <a:gd name="adj" fmla="val 8275"/>
            </a:avLst>
          </a:prstGeom>
          <a:solidFill>
            <a:srgbClr val="1E3A8A"/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11" name="AutoShape 9"/>
          <p:cNvSpPr/>
          <p:nvPr/>
        </p:nvSpPr>
        <p:spPr>
          <a:xfrm>
            <a:off x="3619500" y="1397000"/>
            <a:ext cx="609600" cy="609600"/>
          </a:xfrm>
          <a:prstGeom prst="ellipse">
            <a:avLst/>
          </a:prstGeom>
          <a:solidFill>
            <a:srgbClr val="FFD051"/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solidFill>
                <a:schemeClr val="accent3"/>
              </a:solidFill>
              <a:latin typeface="微软雅黑" panose="00000500000000000000" charset="-122"/>
              <a:ea typeface="微软雅黑" panose="00000500000000000000" charset="-122"/>
            </a:endParaRPr>
          </a:p>
        </p:txBody>
      </p:sp>
      <p:pic>
        <p:nvPicPr>
          <p:cNvPr id="12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46500" y="1524000"/>
            <a:ext cx="355600" cy="355600"/>
          </a:xfrm>
          <a:prstGeom prst="rect">
            <a:avLst/>
          </a:prstGeom>
        </p:spPr>
      </p:pic>
      <p:sp>
        <p:nvSpPr>
          <p:cNvPr id="13" name="AutoShape 11"/>
          <p:cNvSpPr/>
          <p:nvPr/>
        </p:nvSpPr>
        <p:spPr>
          <a:xfrm>
            <a:off x="4381500" y="1397000"/>
            <a:ext cx="152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D05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全资产品种覆盖</a:t>
            </a:r>
          </a:p>
        </p:txBody>
      </p:sp>
      <p:sp>
        <p:nvSpPr>
          <p:cNvPr id="14" name="AutoShape 12"/>
          <p:cNvSpPr/>
          <p:nvPr/>
        </p:nvSpPr>
        <p:spPr>
          <a:xfrm>
            <a:off x="4381500" y="1905000"/>
            <a:ext cx="1587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zh-CN" altLang="en-US" sz="14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不是固收单品种，而是股票、黄金、债券、衍生品真正的多资产</a:t>
            </a:r>
          </a:p>
        </p:txBody>
      </p:sp>
      <p:sp>
        <p:nvSpPr>
          <p:cNvPr id="15" name="AutoShape 13"/>
          <p:cNvSpPr/>
          <p:nvPr/>
        </p:nvSpPr>
        <p:spPr>
          <a:xfrm>
            <a:off x="6350000" y="1143000"/>
            <a:ext cx="2667000" cy="1664335"/>
          </a:xfrm>
          <a:prstGeom prst="roundRect">
            <a:avLst>
              <a:gd name="adj" fmla="val 8275"/>
            </a:avLst>
          </a:prstGeom>
          <a:solidFill>
            <a:srgbClr val="1E3A8A"/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16" name="AutoShape 14"/>
          <p:cNvSpPr/>
          <p:nvPr/>
        </p:nvSpPr>
        <p:spPr>
          <a:xfrm>
            <a:off x="6540500" y="1397000"/>
            <a:ext cx="609600" cy="609600"/>
          </a:xfrm>
          <a:prstGeom prst="ellipse">
            <a:avLst/>
          </a:prstGeom>
          <a:solidFill>
            <a:schemeClr val="accent6"/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lvl="0" algn="ctr">
              <a:buClrTx/>
              <a:buSzTx/>
              <a:buFontTx/>
              <a:defRPr/>
            </a:pPr>
            <a:endParaRPr>
              <a:latin typeface="微软雅黑" panose="00000500000000000000" charset="-122"/>
              <a:ea typeface="微软雅黑" panose="00000500000000000000" charset="-122"/>
              <a:sym typeface="+mn-ea"/>
            </a:endParaRPr>
          </a:p>
        </p:txBody>
      </p:sp>
      <p:pic>
        <p:nvPicPr>
          <p:cNvPr id="17" name="Picture 1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67500" y="1524000"/>
            <a:ext cx="355600" cy="355600"/>
          </a:xfrm>
          <a:prstGeom prst="rect">
            <a:avLst/>
          </a:prstGeom>
          <a:solidFill>
            <a:srgbClr val="1E5BA8"/>
          </a:solidFill>
        </p:spPr>
      </p:pic>
      <p:sp>
        <p:nvSpPr>
          <p:cNvPr id="18" name="AutoShape 16"/>
          <p:cNvSpPr/>
          <p:nvPr/>
        </p:nvSpPr>
        <p:spPr>
          <a:xfrm>
            <a:off x="7302500" y="1397000"/>
            <a:ext cx="152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1E5BA8"/>
                </a:solidFill>
              </a14:hiddenFill>
            </a:ext>
          </a:extLst>
        </p:spPr>
        <p:txBody>
          <a:bodyPr vert="horz" wrap="square" lIns="0" tIns="0" rIns="0" bIns="0" rtlCol="0" anchor="ctr" anchorCtr="0">
            <a:noAutofit/>
          </a:bodyPr>
          <a:lstStyle/>
          <a:p>
            <a:pPr lvl="0" algn="l">
              <a:lnSpc>
                <a:spcPct val="125000"/>
              </a:lnSpc>
              <a:buClrTx/>
              <a:buSzTx/>
              <a:buFontTx/>
              <a:defRPr/>
            </a:pPr>
            <a:r>
              <a:rPr lang="en-US" sz="1600" b="1">
                <a:solidFill>
                  <a:schemeClr val="accent6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丰富投资策略</a:t>
            </a:r>
          </a:p>
        </p:txBody>
      </p:sp>
      <p:sp>
        <p:nvSpPr>
          <p:cNvPr id="19" name="AutoShape 17"/>
          <p:cNvSpPr/>
          <p:nvPr/>
        </p:nvSpPr>
        <p:spPr>
          <a:xfrm>
            <a:off x="7302500" y="1905000"/>
            <a:ext cx="15875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zh-CN" altLang="en-US" sz="14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相对价值（利差/基差/新老券）+ 多策略多</a:t>
            </a:r>
            <a:r>
              <a:rPr lang="en-US" altLang="zh-CN" sz="14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timeframe</a:t>
            </a:r>
          </a:p>
          <a:p>
            <a:pPr indent="0" algn="l">
              <a:lnSpc>
                <a:spcPct val="108000"/>
              </a:lnSpc>
              <a:defRPr/>
            </a:pPr>
            <a:endParaRPr lang="en-US" altLang="zh-CN" sz="1400" b="0" i="0" u="none" strike="noStrike">
              <a:solidFill>
                <a:schemeClr val="bg1"/>
              </a:solidFill>
              <a:latin typeface="微软雅黑" panose="00000500000000000000" charset="-122"/>
              <a:ea typeface="微软雅黑" panose="00000500000000000000" charset="-122"/>
              <a:cs typeface="微软雅黑" panose="00000500000000000000" charset="-122"/>
              <a:sym typeface="微软雅黑" panose="020B0200000000000000" charset="-122"/>
            </a:endParaRPr>
          </a:p>
        </p:txBody>
      </p:sp>
      <p:sp>
        <p:nvSpPr>
          <p:cNvPr id="20" name="AutoShape 18"/>
          <p:cNvSpPr/>
          <p:nvPr/>
        </p:nvSpPr>
        <p:spPr>
          <a:xfrm>
            <a:off x="9271000" y="1143000"/>
            <a:ext cx="2413000" cy="1664335"/>
          </a:xfrm>
          <a:prstGeom prst="roundRect">
            <a:avLst>
              <a:gd name="adj" fmla="val 8275"/>
            </a:avLst>
          </a:prstGeom>
          <a:solidFill>
            <a:srgbClr val="1E3A8A"/>
          </a:solidFill>
          <a:ln w="25400" cap="flat" cmpd="sng">
            <a:noFill/>
            <a:prstDash val="solid"/>
            <a:round/>
          </a:ln>
          <a:effectLst>
            <a:outerShdw blurRad="127000" dist="50800" dir="5400000" algn="tl" rotWithShape="0">
              <a:srgbClr val="000000">
                <a:alpha val="8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21" name="AutoShape 19"/>
          <p:cNvSpPr/>
          <p:nvPr/>
        </p:nvSpPr>
        <p:spPr>
          <a:xfrm>
            <a:off x="9461500" y="1397000"/>
            <a:ext cx="609600" cy="609600"/>
          </a:xfrm>
          <a:prstGeom prst="ellipse">
            <a:avLst/>
          </a:prstGeom>
          <a:solidFill>
            <a:srgbClr val="FFD051"/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lvl="0" algn="ctr">
              <a:buClrTx/>
              <a:buSzTx/>
              <a:buFontTx/>
              <a:defRPr/>
            </a:pPr>
            <a:endParaRPr>
              <a:solidFill>
                <a:schemeClr val="accent3"/>
              </a:solidFill>
              <a:latin typeface="微软雅黑" panose="00000500000000000000" charset="-122"/>
              <a:ea typeface="微软雅黑" panose="00000500000000000000" charset="-122"/>
              <a:sym typeface="+mn-ea"/>
            </a:endParaRPr>
          </a:p>
        </p:txBody>
      </p:sp>
      <p:pic>
        <p:nvPicPr>
          <p:cNvPr id="22" name="Picture 2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88500" y="1524000"/>
            <a:ext cx="355600" cy="355600"/>
          </a:xfrm>
          <a:prstGeom prst="rect">
            <a:avLst/>
          </a:prstGeom>
          <a:solidFill>
            <a:srgbClr val="FFD051"/>
          </a:solidFill>
        </p:spPr>
      </p:pic>
      <p:sp>
        <p:nvSpPr>
          <p:cNvPr id="23" name="AutoShape 21"/>
          <p:cNvSpPr/>
          <p:nvPr/>
        </p:nvSpPr>
        <p:spPr>
          <a:xfrm>
            <a:off x="10138410" y="1397000"/>
            <a:ext cx="148209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lvl="0" algn="l">
              <a:lnSpc>
                <a:spcPct val="125000"/>
              </a:lnSpc>
              <a:buClrTx/>
              <a:buSzTx/>
              <a:buFontTx/>
              <a:defRPr/>
            </a:pPr>
            <a:r>
              <a:rPr lang="en-US" sz="1600" b="1">
                <a:solidFill>
                  <a:srgbClr val="FFD05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组合管理为核心</a:t>
            </a:r>
          </a:p>
        </p:txBody>
      </p:sp>
      <p:sp>
        <p:nvSpPr>
          <p:cNvPr id="24" name="AutoShape 22"/>
          <p:cNvSpPr/>
          <p:nvPr/>
        </p:nvSpPr>
        <p:spPr>
          <a:xfrm>
            <a:off x="10138410" y="1905000"/>
            <a:ext cx="148209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000"/>
              </a:lnSpc>
              <a:defRPr/>
            </a:pPr>
            <a:r>
              <a:rPr lang="zh-CN" altLang="en-US" sz="14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不是以交易为核心，这是</a:t>
            </a:r>
            <a:r>
              <a:rPr lang="en-US" altLang="zh-CN" sz="14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Aladdin</a:t>
            </a:r>
            <a:r>
              <a:rPr lang="zh-CN" altLang="en-US" sz="14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级的思维高度</a:t>
            </a:r>
          </a:p>
        </p:txBody>
      </p:sp>
      <p:sp>
        <p:nvSpPr>
          <p:cNvPr id="26" name="AutoShape 23"/>
          <p:cNvSpPr/>
          <p:nvPr/>
        </p:nvSpPr>
        <p:spPr>
          <a:xfrm>
            <a:off x="508000" y="2946400"/>
            <a:ext cx="11176000" cy="3345180"/>
          </a:xfrm>
          <a:prstGeom prst="roundRect">
            <a:avLst>
              <a:gd name="adj" fmla="val 5217"/>
            </a:avLst>
          </a:prstGeom>
          <a:solidFill>
            <a:srgbClr val="1E3A8A"/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 sz="2000"/>
          </a:p>
        </p:txBody>
      </p:sp>
      <p:sp>
        <p:nvSpPr>
          <p:cNvPr id="27" name="AutoShape 24"/>
          <p:cNvSpPr/>
          <p:nvPr/>
        </p:nvSpPr>
        <p:spPr>
          <a:xfrm>
            <a:off x="698500" y="3136900"/>
            <a:ext cx="10795000" cy="457200"/>
          </a:xfrm>
          <a:prstGeom prst="roundRect">
            <a:avLst>
              <a:gd name="adj" fmla="val 22222"/>
            </a:avLst>
          </a:prstGeom>
          <a:solidFill>
            <a:srgbClr val="1E5BA8"/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 sz="2000"/>
          </a:p>
        </p:txBody>
      </p:sp>
      <p:sp>
        <p:nvSpPr>
          <p:cNvPr id="28" name="AutoShape 25"/>
          <p:cNvSpPr/>
          <p:nvPr/>
        </p:nvSpPr>
        <p:spPr>
          <a:xfrm>
            <a:off x="825500" y="3187700"/>
            <a:ext cx="3302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微软雅黑" panose="020B0200000000000000" charset="-122"/>
                <a:ea typeface="微软雅黑" panose="020B0200000000000000" charset="-122"/>
                <a:cs typeface="微软雅黑" panose="020B0200000000000000" charset="-122"/>
                <a:sym typeface="微软雅黑" panose="020B0200000000000000" charset="-122"/>
              </a:rPr>
              <a:t>已获资质</a:t>
            </a:r>
          </a:p>
        </p:txBody>
      </p:sp>
      <p:sp>
        <p:nvSpPr>
          <p:cNvPr id="29" name="AutoShape 26"/>
          <p:cNvSpPr/>
          <p:nvPr/>
        </p:nvSpPr>
        <p:spPr>
          <a:xfrm>
            <a:off x="4254500" y="3187700"/>
            <a:ext cx="3302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400" b="1" i="0" u="none" strike="noStrike">
                <a:solidFill>
                  <a:srgbClr val="FFFFFF"/>
                </a:solidFill>
                <a:latin typeface="微软雅黑" panose="020B0200000000000000" charset="-122"/>
                <a:ea typeface="微软雅黑" panose="020B0200000000000000" charset="-122"/>
                <a:cs typeface="微软雅黑" panose="020B0200000000000000" charset="-122"/>
                <a:sym typeface="微软雅黑" panose="020B0200000000000000" charset="-122"/>
              </a:rPr>
              <a:t>解锁的</a:t>
            </a:r>
            <a:r>
              <a:rPr lang="en-US" sz="1400" b="1" i="0" u="none" strike="noStrike">
                <a:solidFill>
                  <a:srgbClr val="FFFFFF"/>
                </a:solidFill>
                <a:latin typeface="微软雅黑" panose="020B0200000000000000" charset="-122"/>
                <a:ea typeface="微软雅黑" panose="020B0200000000000000" charset="-122"/>
                <a:cs typeface="微软雅黑" panose="020B0200000000000000" charset="-122"/>
                <a:sym typeface="微软雅黑" panose="020B0200000000000000" charset="-122"/>
              </a:rPr>
              <a:t>业务能力</a:t>
            </a:r>
          </a:p>
        </p:txBody>
      </p:sp>
      <p:sp>
        <p:nvSpPr>
          <p:cNvPr id="30" name="AutoShape 27"/>
          <p:cNvSpPr/>
          <p:nvPr/>
        </p:nvSpPr>
        <p:spPr>
          <a:xfrm>
            <a:off x="7683500" y="3187700"/>
            <a:ext cx="3302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微软雅黑" panose="020B0200000000000000" charset="-122"/>
                <a:ea typeface="微软雅黑" panose="020B0200000000000000" charset="-122"/>
                <a:cs typeface="微软雅黑" panose="020B0200000000000000" charset="-122"/>
                <a:sym typeface="微软雅黑" panose="020B0200000000000000" charset="-122"/>
              </a:rPr>
              <a:t>统一平台赋能</a:t>
            </a:r>
          </a:p>
        </p:txBody>
      </p:sp>
      <p:sp>
        <p:nvSpPr>
          <p:cNvPr id="31" name="AutoShape 28"/>
          <p:cNvSpPr/>
          <p:nvPr/>
        </p:nvSpPr>
        <p:spPr>
          <a:xfrm>
            <a:off x="698500" y="3708400"/>
            <a:ext cx="10795000" cy="406400"/>
          </a:xfrm>
          <a:prstGeom prst="roundRect">
            <a:avLst>
              <a:gd name="adj" fmla="val 18750"/>
            </a:avLst>
          </a:prstGeom>
          <a:solidFill>
            <a:schemeClr val="accent1">
              <a:lumMod val="50000"/>
            </a:scheme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 sz="1400">
              <a:solidFill>
                <a:schemeClr val="bg1"/>
              </a:solidFill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51" name="AutoShape 29"/>
          <p:cNvSpPr/>
          <p:nvPr/>
        </p:nvSpPr>
        <p:spPr>
          <a:xfrm>
            <a:off x="825500" y="3771900"/>
            <a:ext cx="3302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利率互换交易资格 (2020)</a:t>
            </a:r>
          </a:p>
        </p:txBody>
      </p:sp>
      <p:sp>
        <p:nvSpPr>
          <p:cNvPr id="52" name="AutoShape 30"/>
          <p:cNvSpPr/>
          <p:nvPr/>
        </p:nvSpPr>
        <p:spPr>
          <a:xfrm>
            <a:off x="4254500" y="3771900"/>
            <a:ext cx="3302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利率衍生品对冲</a:t>
            </a:r>
          </a:p>
        </p:txBody>
      </p:sp>
      <p:sp>
        <p:nvSpPr>
          <p:cNvPr id="53" name="AutoShape 31"/>
          <p:cNvSpPr/>
          <p:nvPr/>
        </p:nvSpPr>
        <p:spPr>
          <a:xfrm>
            <a:off x="7683500" y="3771900"/>
            <a:ext cx="3302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统一定价引擎支撑利差策略</a:t>
            </a:r>
          </a:p>
        </p:txBody>
      </p:sp>
      <p:sp>
        <p:nvSpPr>
          <p:cNvPr id="54" name="AutoShape 32"/>
          <p:cNvSpPr/>
          <p:nvPr/>
        </p:nvSpPr>
        <p:spPr>
          <a:xfrm>
            <a:off x="698500" y="4215765"/>
            <a:ext cx="10795000" cy="406400"/>
          </a:xfrm>
          <a:prstGeom prst="roundRect">
            <a:avLst>
              <a:gd name="adj" fmla="val 18750"/>
            </a:avLst>
          </a:prstGeom>
          <a:solidFill>
            <a:schemeClr val="accent1">
              <a:lumMod val="50000"/>
            </a:scheme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 sz="1400">
              <a:solidFill>
                <a:schemeClr val="bg1"/>
              </a:solidFill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55" name="AutoShape 33"/>
          <p:cNvSpPr/>
          <p:nvPr/>
        </p:nvSpPr>
        <p:spPr>
          <a:xfrm>
            <a:off x="825500" y="4279900"/>
            <a:ext cx="3302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场外期权二级交易商 (2021)</a:t>
            </a:r>
          </a:p>
        </p:txBody>
      </p:sp>
      <p:sp>
        <p:nvSpPr>
          <p:cNvPr id="56" name="AutoShape 34"/>
          <p:cNvSpPr/>
          <p:nvPr/>
        </p:nvSpPr>
        <p:spPr>
          <a:xfrm>
            <a:off x="4254500" y="4279900"/>
            <a:ext cx="3302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期权对冲 + 结构化产品</a:t>
            </a:r>
          </a:p>
        </p:txBody>
      </p:sp>
      <p:sp>
        <p:nvSpPr>
          <p:cNvPr id="57" name="AutoShape 35"/>
          <p:cNvSpPr/>
          <p:nvPr/>
        </p:nvSpPr>
        <p:spPr>
          <a:xfrm>
            <a:off x="7683500" y="4279900"/>
            <a:ext cx="3302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跨资产组合风控 + 全包成本核算</a:t>
            </a:r>
          </a:p>
        </p:txBody>
      </p:sp>
      <p:sp>
        <p:nvSpPr>
          <p:cNvPr id="58" name="AutoShape 36"/>
          <p:cNvSpPr/>
          <p:nvPr/>
        </p:nvSpPr>
        <p:spPr>
          <a:xfrm>
            <a:off x="698500" y="4723130"/>
            <a:ext cx="10795000" cy="406400"/>
          </a:xfrm>
          <a:prstGeom prst="roundRect">
            <a:avLst>
              <a:gd name="adj" fmla="val 18750"/>
            </a:avLst>
          </a:prstGeom>
          <a:solidFill>
            <a:schemeClr val="accent1">
              <a:lumMod val="50000"/>
            </a:scheme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 sz="1400">
              <a:solidFill>
                <a:schemeClr val="bg1"/>
              </a:solidFill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59" name="AutoShape 37"/>
          <p:cNvSpPr/>
          <p:nvPr/>
        </p:nvSpPr>
        <p:spPr>
          <a:xfrm>
            <a:off x="825500" y="4787900"/>
            <a:ext cx="3302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信用风险缓释工具交易商 (2022)</a:t>
            </a:r>
          </a:p>
        </p:txBody>
      </p:sp>
      <p:sp>
        <p:nvSpPr>
          <p:cNvPr id="60" name="AutoShape 38"/>
          <p:cNvSpPr/>
          <p:nvPr/>
        </p:nvSpPr>
        <p:spPr>
          <a:xfrm>
            <a:off x="4254500" y="4787900"/>
            <a:ext cx="3302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信用衍生品 + 债券借贷</a:t>
            </a:r>
          </a:p>
        </p:txBody>
      </p:sp>
      <p:sp>
        <p:nvSpPr>
          <p:cNvPr id="61" name="AutoShape 39"/>
          <p:cNvSpPr/>
          <p:nvPr/>
        </p:nvSpPr>
        <p:spPr>
          <a:xfrm>
            <a:off x="7683500" y="4787900"/>
            <a:ext cx="3302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4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</a:rPr>
              <a:t>全资产相关性分析+多策略</a:t>
            </a:r>
          </a:p>
        </p:txBody>
      </p:sp>
      <p:sp>
        <p:nvSpPr>
          <p:cNvPr id="62" name="AutoShape 40"/>
          <p:cNvSpPr/>
          <p:nvPr/>
        </p:nvSpPr>
        <p:spPr>
          <a:xfrm>
            <a:off x="698500" y="5230495"/>
            <a:ext cx="10795000" cy="406400"/>
          </a:xfrm>
          <a:prstGeom prst="roundRect">
            <a:avLst>
              <a:gd name="adj" fmla="val 18750"/>
            </a:avLst>
          </a:prstGeom>
          <a:solidFill>
            <a:schemeClr val="accent1">
              <a:lumMod val="50000"/>
            </a:scheme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 sz="1400">
              <a:solidFill>
                <a:schemeClr val="bg1"/>
              </a:solidFill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63" name="AutoShape 41"/>
          <p:cNvSpPr/>
          <p:nvPr/>
        </p:nvSpPr>
        <p:spPr>
          <a:xfrm>
            <a:off x="825500" y="5295900"/>
            <a:ext cx="3302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上市证券借券 (2024)</a:t>
            </a:r>
          </a:p>
        </p:txBody>
      </p:sp>
      <p:sp>
        <p:nvSpPr>
          <p:cNvPr id="64" name="AutoShape 42"/>
          <p:cNvSpPr/>
          <p:nvPr/>
        </p:nvSpPr>
        <p:spPr>
          <a:xfrm>
            <a:off x="4254500" y="5295900"/>
            <a:ext cx="3302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权益做市 + 流动性提供</a:t>
            </a:r>
          </a:p>
        </p:txBody>
      </p:sp>
      <p:sp>
        <p:nvSpPr>
          <p:cNvPr id="65" name="AutoShape 43"/>
          <p:cNvSpPr/>
          <p:nvPr/>
        </p:nvSpPr>
        <p:spPr>
          <a:xfrm>
            <a:off x="7683500" y="5295900"/>
            <a:ext cx="3302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实时</a:t>
            </a:r>
            <a:r>
              <a:rPr lang="zh-CN" altLang="en-US" sz="14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做市</a:t>
            </a:r>
            <a:r>
              <a:rPr lang="en-US" sz="14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风控+</a:t>
            </a:r>
            <a:r>
              <a:rPr lang="zh-CN" altLang="en-US" sz="14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限额管理</a:t>
            </a:r>
          </a:p>
        </p:txBody>
      </p:sp>
      <p:sp>
        <p:nvSpPr>
          <p:cNvPr id="66" name="AutoShape 40"/>
          <p:cNvSpPr/>
          <p:nvPr/>
        </p:nvSpPr>
        <p:spPr>
          <a:xfrm>
            <a:off x="698500" y="5737860"/>
            <a:ext cx="10795000" cy="406400"/>
          </a:xfrm>
          <a:prstGeom prst="roundRect">
            <a:avLst>
              <a:gd name="adj" fmla="val 18750"/>
            </a:avLst>
          </a:prstGeom>
          <a:solidFill>
            <a:schemeClr val="accent1">
              <a:lumMod val="50000"/>
            </a:scheme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 sz="1400">
              <a:solidFill>
                <a:schemeClr val="bg1"/>
              </a:solidFill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67" name="AutoShape 41"/>
          <p:cNvSpPr/>
          <p:nvPr/>
        </p:nvSpPr>
        <p:spPr>
          <a:xfrm>
            <a:off x="825500" y="5824220"/>
            <a:ext cx="3302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14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碳排放权交易资格（2024</a:t>
            </a:r>
            <a:r>
              <a:rPr lang="en-US" sz="14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)</a:t>
            </a:r>
          </a:p>
        </p:txBody>
      </p:sp>
      <p:sp>
        <p:nvSpPr>
          <p:cNvPr id="68" name="AutoShape 42"/>
          <p:cNvSpPr/>
          <p:nvPr/>
        </p:nvSpPr>
        <p:spPr>
          <a:xfrm>
            <a:off x="4254500" y="5824220"/>
            <a:ext cx="3302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4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</a:rPr>
              <a:t>绿色金融+</a:t>
            </a:r>
            <a:r>
              <a:rPr lang="en-US" altLang="zh-CN" sz="14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</a:rPr>
              <a:t>FICC</a:t>
            </a:r>
            <a:r>
              <a:rPr lang="zh-CN" altLang="en-US" sz="14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</a:rPr>
              <a:t>延伸</a:t>
            </a:r>
          </a:p>
        </p:txBody>
      </p:sp>
      <p:sp>
        <p:nvSpPr>
          <p:cNvPr id="69" name="AutoShape 43"/>
          <p:cNvSpPr/>
          <p:nvPr/>
        </p:nvSpPr>
        <p:spPr>
          <a:xfrm>
            <a:off x="7683500" y="5824220"/>
            <a:ext cx="3302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4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</a:rPr>
              <a:t>多资产统一组合管理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030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cs typeface="微软雅黑" panose="00000500000000000000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0000500000000000000" charset="-122"/>
                <a:cs typeface="微软雅黑" panose="00000500000000000000" charset="-122"/>
              </a:rPr>
              <a:t>战略落地需要四大核心能力跃升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73024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D051"/>
                </a:solidFill>
                <a:latin typeface="微软雅黑" panose="020B0503020204020204" charset="-122"/>
              </a:defRPr>
            </a:pPr>
            <a:r>
              <a:rPr dirty="0" err="1">
                <a:latin typeface="微软雅黑" panose="00000500000000000000" charset="-122"/>
                <a:cs typeface="微软雅黑" panose="00000500000000000000" charset="-122"/>
              </a:rPr>
              <a:t>配得优</a:t>
            </a:r>
            <a:r>
              <a:rPr dirty="0">
                <a:latin typeface="微软雅黑" panose="00000500000000000000" charset="-122"/>
                <a:cs typeface="微软雅黑" panose="00000500000000000000" charset="-122"/>
              </a:rPr>
              <a:t> · </a:t>
            </a:r>
            <a:r>
              <a:rPr dirty="0" err="1">
                <a:latin typeface="微软雅黑" panose="00000500000000000000" charset="-122"/>
                <a:cs typeface="微软雅黑" panose="00000500000000000000" charset="-122"/>
              </a:rPr>
              <a:t>算得快</a:t>
            </a:r>
            <a:r>
              <a:rPr dirty="0">
                <a:latin typeface="微软雅黑" panose="00000500000000000000" charset="-122"/>
                <a:cs typeface="微软雅黑" panose="00000500000000000000" charset="-122"/>
              </a:rPr>
              <a:t> · </a:t>
            </a:r>
            <a:r>
              <a:rPr dirty="0" err="1">
                <a:latin typeface="微软雅黑" panose="00000500000000000000" charset="-122"/>
                <a:cs typeface="微软雅黑" panose="00000500000000000000" charset="-122"/>
              </a:rPr>
              <a:t>控得稳</a:t>
            </a:r>
            <a:r>
              <a:rPr dirty="0">
                <a:latin typeface="微软雅黑" panose="00000500000000000000" charset="-122"/>
                <a:cs typeface="微软雅黑" panose="00000500000000000000" charset="-122"/>
              </a:rPr>
              <a:t> · </a:t>
            </a:r>
            <a:r>
              <a:rPr dirty="0" err="1">
                <a:latin typeface="微软雅黑" panose="00000500000000000000" charset="-122"/>
                <a:cs typeface="微软雅黑" panose="00000500000000000000" charset="-122"/>
              </a:rPr>
              <a:t>连得通</a:t>
            </a:r>
            <a:endParaRPr dirty="0">
              <a:latin typeface="微软雅黑" panose="00000500000000000000" charset="-122"/>
              <a:cs typeface="微软雅黑" panose="00000500000000000000" charset="-122"/>
            </a:endParaRPr>
          </a:p>
        </p:txBody>
      </p:sp>
      <p:pic>
        <p:nvPicPr>
          <p:cNvPr id="70" name="图片 6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0075" y="3517900"/>
            <a:ext cx="1276350" cy="457200"/>
          </a:xfrm>
          <a:prstGeom prst="rect">
            <a:avLst/>
          </a:prstGeom>
        </p:spPr>
      </p:pic>
      <p:sp>
        <p:nvSpPr>
          <p:cNvPr id="21" name="AutoShape 4"/>
          <p:cNvSpPr/>
          <p:nvPr/>
        </p:nvSpPr>
        <p:spPr>
          <a:xfrm>
            <a:off x="381000" y="1437640"/>
            <a:ext cx="2667000" cy="4572000"/>
          </a:xfrm>
          <a:prstGeom prst="roundRect">
            <a:avLst>
              <a:gd name="adj" fmla="val 5714"/>
            </a:avLst>
          </a:prstGeom>
          <a:solidFill>
            <a:srgbClr val="1E5BA8"/>
          </a:solidFill>
          <a:ln w="25400" cap="flat" cmpd="sng">
            <a:noFill/>
            <a:prstDash val="solid"/>
            <a:round/>
          </a:ln>
          <a:effectLst>
            <a:outerShdw blurRad="127000" dist="63500" dir="54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pic>
        <p:nvPicPr>
          <p:cNvPr id="22" name="Picture 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60500" y="1818640"/>
            <a:ext cx="508000" cy="508000"/>
          </a:xfrm>
          <a:prstGeom prst="rect">
            <a:avLst/>
          </a:prstGeom>
        </p:spPr>
      </p:pic>
      <p:sp>
        <p:nvSpPr>
          <p:cNvPr id="23" name="AutoShape 6"/>
          <p:cNvSpPr/>
          <p:nvPr/>
        </p:nvSpPr>
        <p:spPr>
          <a:xfrm>
            <a:off x="508000" y="258064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组合管理能力</a:t>
            </a:r>
          </a:p>
        </p:txBody>
      </p:sp>
      <p:cxnSp>
        <p:nvCxnSpPr>
          <p:cNvPr id="24" name="Connector 7"/>
          <p:cNvCxnSpPr/>
          <p:nvPr/>
        </p:nvCxnSpPr>
        <p:spPr>
          <a:xfrm rot="-20221">
            <a:off x="635019" y="3209290"/>
            <a:ext cx="215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" name="AutoShape 8"/>
          <p:cNvSpPr/>
          <p:nvPr/>
        </p:nvSpPr>
        <p:spPr>
          <a:xfrm>
            <a:off x="719455" y="3469640"/>
            <a:ext cx="220218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171450" indent="-171450" algn="l">
              <a:lnSpc>
                <a:spcPct val="153000"/>
              </a:lnSpc>
              <a:buFont typeface="Arial" panose="020B0704020202020204" pitchFamily="34" charset="0"/>
              <a:buChar char="•"/>
              <a:defRPr/>
            </a:pPr>
            <a:r>
              <a:rPr lang="zh-CN" altLang="en-US" sz="1400" b="0" i="0" u="none" strike="noStrike">
                <a:solidFill>
                  <a:schemeClr val="bg1">
                    <a:alpha val="90196"/>
                  </a:schemeClr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  全资产品种覆盖</a:t>
            </a:r>
          </a:p>
          <a:p>
            <a:pPr marL="171450" indent="-171450" algn="l">
              <a:lnSpc>
                <a:spcPct val="153000"/>
              </a:lnSpc>
              <a:buFont typeface="Arial" panose="020B0704020202020204" pitchFamily="34" charset="0"/>
              <a:buChar char="•"/>
              <a:defRPr/>
            </a:pPr>
            <a:r>
              <a:rPr lang="zh-CN" altLang="en-US" sz="1400" b="0" i="0" u="none" strike="noStrike">
                <a:solidFill>
                  <a:schemeClr val="bg1">
                    <a:alpha val="90196"/>
                  </a:schemeClr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  跨资产相关性分析</a:t>
            </a:r>
          </a:p>
          <a:p>
            <a:pPr marL="171450" indent="-171450" algn="l">
              <a:lnSpc>
                <a:spcPct val="153000"/>
              </a:lnSpc>
              <a:buFont typeface="Arial" panose="020B0704020202020204" pitchFamily="34" charset="0"/>
              <a:buChar char="•"/>
              <a:defRPr/>
            </a:pPr>
            <a:r>
              <a:rPr lang="zh-CN" altLang="en-US" sz="1400" b="0" i="0" u="none" strike="noStrike">
                <a:solidFill>
                  <a:schemeClr val="bg1">
                    <a:alpha val="90196"/>
                  </a:schemeClr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  数据驱动的试算工具</a:t>
            </a:r>
          </a:p>
          <a:p>
            <a:pPr marL="171450" indent="-171450" algn="l">
              <a:lnSpc>
                <a:spcPct val="153000"/>
              </a:lnSpc>
              <a:buFont typeface="Arial" panose="020B0704020202020204" pitchFamily="34" charset="0"/>
              <a:buChar char="•"/>
              <a:defRPr/>
            </a:pPr>
            <a:r>
              <a:rPr lang="zh-CN" altLang="en-US" sz="1400" b="0" i="0" u="none" strike="noStrike">
                <a:solidFill>
                  <a:schemeClr val="bg1">
                    <a:alpha val="90196"/>
                  </a:schemeClr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  自动再平衡</a:t>
            </a:r>
          </a:p>
          <a:p>
            <a:pPr marL="171450" indent="-171450" algn="l">
              <a:lnSpc>
                <a:spcPct val="153000"/>
              </a:lnSpc>
              <a:buFont typeface="Arial" panose="020B0704020202020204" pitchFamily="34" charset="0"/>
              <a:buChar char="•"/>
              <a:defRPr/>
            </a:pPr>
            <a:r>
              <a:rPr lang="en-US" altLang="zh-CN" sz="1400" b="0" i="0" u="none" strike="noStrike">
                <a:solidFill>
                  <a:schemeClr val="bg1">
                    <a:alpha val="90196"/>
                  </a:schemeClr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  IFRS9</a:t>
            </a:r>
            <a:r>
              <a:rPr lang="zh-CN" altLang="en-US" sz="1400" b="0" i="0" u="none" strike="noStrike">
                <a:solidFill>
                  <a:schemeClr val="bg1">
                    <a:alpha val="90196"/>
                  </a:schemeClr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影响模拟</a:t>
            </a:r>
          </a:p>
        </p:txBody>
      </p:sp>
      <p:sp>
        <p:nvSpPr>
          <p:cNvPr id="26" name="AutoShape 9"/>
          <p:cNvSpPr/>
          <p:nvPr/>
        </p:nvSpPr>
        <p:spPr>
          <a:xfrm>
            <a:off x="3302000" y="1437640"/>
            <a:ext cx="2667000" cy="457200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25400" cap="flat" cmpd="sng">
            <a:noFill/>
            <a:prstDash val="solid"/>
            <a:round/>
          </a:ln>
          <a:effectLst>
            <a:outerShdw blurRad="127000" dist="63500" dir="54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pic>
        <p:nvPicPr>
          <p:cNvPr id="27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81500" y="1818640"/>
            <a:ext cx="508000" cy="508000"/>
          </a:xfrm>
          <a:prstGeom prst="rect">
            <a:avLst/>
          </a:prstGeom>
        </p:spPr>
      </p:pic>
      <p:sp>
        <p:nvSpPr>
          <p:cNvPr id="28" name="AutoShape 11"/>
          <p:cNvSpPr/>
          <p:nvPr/>
        </p:nvSpPr>
        <p:spPr>
          <a:xfrm>
            <a:off x="3429000" y="258064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计算能力</a:t>
            </a:r>
          </a:p>
        </p:txBody>
      </p:sp>
      <p:cxnSp>
        <p:nvCxnSpPr>
          <p:cNvPr id="29" name="Connector 12"/>
          <p:cNvCxnSpPr/>
          <p:nvPr/>
        </p:nvCxnSpPr>
        <p:spPr>
          <a:xfrm rot="-20221">
            <a:off x="3556019" y="3209290"/>
            <a:ext cx="215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0" name="AutoShape 13"/>
          <p:cNvSpPr/>
          <p:nvPr/>
        </p:nvSpPr>
        <p:spPr>
          <a:xfrm>
            <a:off x="3640455" y="3469640"/>
            <a:ext cx="220218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171450" lvl="0" indent="-171450" algn="l">
              <a:lnSpc>
                <a:spcPct val="153000"/>
              </a:lnSpc>
              <a:buClrTx/>
              <a:buSzTx/>
              <a:buFont typeface="Arial" panose="020B0704020202020204" pitchFamily="34" charset="0"/>
              <a:buChar char="•"/>
              <a:defRPr/>
            </a:pPr>
            <a:r>
              <a:rPr lang="zh-CN" altLang="en-US" sz="1400">
                <a:solidFill>
                  <a:schemeClr val="bg1">
                    <a:alpha val="90196"/>
                  </a:schemeClr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  实时风险计量</a:t>
            </a:r>
          </a:p>
          <a:p>
            <a:pPr marL="171450" lvl="0" indent="-171450" algn="l">
              <a:lnSpc>
                <a:spcPct val="153000"/>
              </a:lnSpc>
              <a:buClrTx/>
              <a:buSzTx/>
              <a:buFont typeface="Arial" panose="020B0704020202020204" pitchFamily="34" charset="0"/>
              <a:buChar char="•"/>
              <a:defRPr/>
            </a:pPr>
            <a:r>
              <a:rPr lang="zh-CN" altLang="en-US" sz="1400">
                <a:solidFill>
                  <a:schemeClr val="bg1">
                    <a:alpha val="90196"/>
                  </a:schemeClr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  自主定价能力</a:t>
            </a:r>
          </a:p>
          <a:p>
            <a:pPr marL="171450" lvl="0" indent="-171450" algn="l">
              <a:lnSpc>
                <a:spcPct val="153000"/>
              </a:lnSpc>
              <a:buClrTx/>
              <a:buSzTx/>
              <a:buFont typeface="Arial" panose="020B0704020202020204" pitchFamily="34" charset="0"/>
              <a:buChar char="•"/>
              <a:defRPr/>
            </a:pPr>
            <a:r>
              <a:rPr lang="zh-CN" altLang="en-US" sz="1400">
                <a:solidFill>
                  <a:schemeClr val="bg1">
                    <a:alpha val="90196"/>
                  </a:schemeClr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  利差/基差/新老券策略</a:t>
            </a:r>
          </a:p>
          <a:p>
            <a:pPr marL="171450" lvl="0" indent="-171450" algn="l">
              <a:lnSpc>
                <a:spcPct val="153000"/>
              </a:lnSpc>
              <a:buClrTx/>
              <a:buSzTx/>
              <a:buFont typeface="Arial" panose="020B0704020202020204" pitchFamily="34" charset="0"/>
              <a:buChar char="•"/>
              <a:defRPr/>
            </a:pPr>
            <a:r>
              <a:rPr lang="zh-CN" altLang="en-US" sz="1400">
                <a:solidFill>
                  <a:schemeClr val="bg1">
                    <a:alpha val="90196"/>
                  </a:schemeClr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  多策略回测验证</a:t>
            </a:r>
          </a:p>
          <a:p>
            <a:pPr marL="171450" lvl="0" indent="-171450" algn="l">
              <a:lnSpc>
                <a:spcPct val="153000"/>
              </a:lnSpc>
              <a:buClrTx/>
              <a:buSzTx/>
              <a:buFont typeface="Arial" panose="020B0704020202020204" pitchFamily="34" charset="0"/>
              <a:buChar char="•"/>
              <a:defRPr/>
            </a:pPr>
            <a:r>
              <a:rPr lang="zh-CN" altLang="en-US" sz="1400">
                <a:solidFill>
                  <a:schemeClr val="bg1">
                    <a:alpha val="90196"/>
                  </a:schemeClr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  精确全包成本核算</a:t>
            </a:r>
          </a:p>
          <a:p>
            <a:pPr marL="171450" lvl="0" indent="-171450" algn="l">
              <a:lnSpc>
                <a:spcPct val="153000"/>
              </a:lnSpc>
              <a:buClrTx/>
              <a:buSzTx/>
              <a:buFont typeface="Arial" panose="020B0704020202020204" pitchFamily="34" charset="0"/>
              <a:buChar char="•"/>
              <a:defRPr/>
            </a:pPr>
            <a:endParaRPr lang="zh-CN" altLang="en-US" sz="1400">
              <a:solidFill>
                <a:schemeClr val="bg1">
                  <a:alpha val="90196"/>
                </a:schemeClr>
              </a:solidFill>
              <a:latin typeface="微软雅黑" panose="00000500000000000000" charset="-122"/>
              <a:ea typeface="微软雅黑" panose="00000500000000000000" charset="-122"/>
              <a:cs typeface="微软雅黑" panose="00000500000000000000" charset="-122"/>
              <a:sym typeface="微软雅黑" panose="020B0200000000000000" charset="-122"/>
            </a:endParaRPr>
          </a:p>
        </p:txBody>
      </p:sp>
      <p:sp>
        <p:nvSpPr>
          <p:cNvPr id="31" name="AutoShape 14"/>
          <p:cNvSpPr/>
          <p:nvPr/>
        </p:nvSpPr>
        <p:spPr>
          <a:xfrm>
            <a:off x="6223000" y="1437640"/>
            <a:ext cx="2667000" cy="4572000"/>
          </a:xfrm>
          <a:prstGeom prst="roundRect">
            <a:avLst>
              <a:gd name="adj" fmla="val 5714"/>
            </a:avLst>
          </a:prstGeom>
          <a:solidFill>
            <a:srgbClr val="1E5BA8"/>
          </a:solidFill>
          <a:ln w="25400" cap="flat" cmpd="sng">
            <a:noFill/>
            <a:prstDash val="solid"/>
            <a:round/>
          </a:ln>
          <a:effectLst>
            <a:outerShdw blurRad="127000" dist="63500" dir="54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pic>
        <p:nvPicPr>
          <p:cNvPr id="32" name="Picture 15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02500" y="1818640"/>
            <a:ext cx="508000" cy="508000"/>
          </a:xfrm>
          <a:prstGeom prst="rect">
            <a:avLst/>
          </a:prstGeom>
        </p:spPr>
      </p:pic>
      <p:sp>
        <p:nvSpPr>
          <p:cNvPr id="33" name="AutoShape 16"/>
          <p:cNvSpPr/>
          <p:nvPr/>
        </p:nvSpPr>
        <p:spPr>
          <a:xfrm>
            <a:off x="6350000" y="258064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实时风险管理能力</a:t>
            </a:r>
          </a:p>
        </p:txBody>
      </p:sp>
      <p:cxnSp>
        <p:nvCxnSpPr>
          <p:cNvPr id="34" name="Connector 17"/>
          <p:cNvCxnSpPr/>
          <p:nvPr/>
        </p:nvCxnSpPr>
        <p:spPr>
          <a:xfrm rot="-20221">
            <a:off x="6477019" y="3209290"/>
            <a:ext cx="215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5" name="AutoShape 18"/>
          <p:cNvSpPr/>
          <p:nvPr/>
        </p:nvSpPr>
        <p:spPr>
          <a:xfrm>
            <a:off x="6561455" y="3469640"/>
            <a:ext cx="220218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171450" lvl="0" indent="-171450" algn="l">
              <a:lnSpc>
                <a:spcPct val="153000"/>
              </a:lnSpc>
              <a:buClrTx/>
              <a:buSzTx/>
              <a:buFont typeface="Arial" panose="020B0704020202020204" pitchFamily="34" charset="0"/>
              <a:buChar char="•"/>
              <a:defRPr/>
            </a:pPr>
            <a:r>
              <a:rPr lang="zh-CN" altLang="en-US" sz="1400">
                <a:solidFill>
                  <a:schemeClr val="bg1">
                    <a:alpha val="90196"/>
                  </a:schemeClr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  秒级回撤预警</a:t>
            </a:r>
          </a:p>
          <a:p>
            <a:pPr marL="171450" lvl="0" indent="-171450" algn="l">
              <a:lnSpc>
                <a:spcPct val="153000"/>
              </a:lnSpc>
              <a:buClrTx/>
              <a:buSzTx/>
              <a:buFont typeface="Arial" panose="020B0704020202020204" pitchFamily="34" charset="0"/>
              <a:buChar char="•"/>
              <a:defRPr/>
            </a:pPr>
            <a:r>
              <a:rPr lang="zh-CN" altLang="en-US" sz="1400">
                <a:solidFill>
                  <a:schemeClr val="bg1">
                    <a:alpha val="90196"/>
                  </a:schemeClr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  极端压力测试</a:t>
            </a:r>
          </a:p>
          <a:p>
            <a:pPr marL="171450" lvl="0" indent="-171450" algn="l">
              <a:lnSpc>
                <a:spcPct val="153000"/>
              </a:lnSpc>
              <a:buClrTx/>
              <a:buSzTx/>
              <a:buFont typeface="Arial" panose="020B0704020202020204" pitchFamily="34" charset="0"/>
              <a:buChar char="•"/>
              <a:defRPr/>
            </a:pPr>
            <a:r>
              <a:rPr lang="zh-CN" altLang="en-US" sz="1400">
                <a:solidFill>
                  <a:schemeClr val="bg1">
                    <a:alpha val="90196"/>
                  </a:schemeClr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  流动性冲击量化</a:t>
            </a:r>
          </a:p>
          <a:p>
            <a:pPr marL="171450" lvl="0" indent="-171450" algn="l">
              <a:lnSpc>
                <a:spcPct val="153000"/>
              </a:lnSpc>
              <a:buClrTx/>
              <a:buSzTx/>
              <a:buFont typeface="Arial" panose="020B0704020202020204" pitchFamily="34" charset="0"/>
              <a:buChar char="•"/>
              <a:defRPr/>
            </a:pPr>
            <a:r>
              <a:rPr lang="zh-CN" altLang="en-US" sz="1400">
                <a:solidFill>
                  <a:schemeClr val="bg1">
                    <a:alpha val="90196"/>
                  </a:schemeClr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  投前合规预检</a:t>
            </a:r>
          </a:p>
          <a:p>
            <a:pPr marL="171450" lvl="0" indent="-171450" algn="l">
              <a:lnSpc>
                <a:spcPct val="153000"/>
              </a:lnSpc>
              <a:buClrTx/>
              <a:buSzTx/>
              <a:buFont typeface="Arial" panose="020B0704020202020204" pitchFamily="34" charset="0"/>
              <a:buChar char="•"/>
              <a:defRPr/>
            </a:pPr>
            <a:r>
              <a:rPr lang="zh-CN" altLang="en-US" sz="1400">
                <a:solidFill>
                  <a:schemeClr val="bg1">
                    <a:alpha val="90196"/>
                  </a:schemeClr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  实时限额管理</a:t>
            </a:r>
          </a:p>
        </p:txBody>
      </p:sp>
      <p:sp>
        <p:nvSpPr>
          <p:cNvPr id="36" name="AutoShape 19"/>
          <p:cNvSpPr/>
          <p:nvPr/>
        </p:nvSpPr>
        <p:spPr>
          <a:xfrm>
            <a:off x="9144000" y="1437640"/>
            <a:ext cx="2667000" cy="457200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25400" cap="flat" cmpd="sng">
            <a:noFill/>
            <a:prstDash val="solid"/>
            <a:round/>
          </a:ln>
          <a:effectLst>
            <a:outerShdw blurRad="127000" dist="63500" dir="54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pic>
        <p:nvPicPr>
          <p:cNvPr id="37" name="Picture 2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23500" y="1818640"/>
            <a:ext cx="508000" cy="508000"/>
          </a:xfrm>
          <a:prstGeom prst="rect">
            <a:avLst/>
          </a:prstGeom>
        </p:spPr>
      </p:pic>
      <p:sp>
        <p:nvSpPr>
          <p:cNvPr id="38" name="AutoShape 21"/>
          <p:cNvSpPr/>
          <p:nvPr/>
        </p:nvSpPr>
        <p:spPr>
          <a:xfrm>
            <a:off x="9271000" y="2580640"/>
            <a:ext cx="2413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指令管理能力</a:t>
            </a:r>
          </a:p>
        </p:txBody>
      </p:sp>
      <p:cxnSp>
        <p:nvCxnSpPr>
          <p:cNvPr id="39" name="Connector 22"/>
          <p:cNvCxnSpPr/>
          <p:nvPr/>
        </p:nvCxnSpPr>
        <p:spPr>
          <a:xfrm rot="-20221">
            <a:off x="9398019" y="3209290"/>
            <a:ext cx="215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4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" name="AutoShape 23"/>
          <p:cNvSpPr/>
          <p:nvPr/>
        </p:nvSpPr>
        <p:spPr>
          <a:xfrm>
            <a:off x="9482455" y="3469640"/>
            <a:ext cx="220218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>
            <a:noAutofit/>
          </a:bodyPr>
          <a:lstStyle/>
          <a:p>
            <a:pPr marL="171450" lvl="0" indent="-171450" algn="l">
              <a:lnSpc>
                <a:spcPct val="153000"/>
              </a:lnSpc>
              <a:buClrTx/>
              <a:buSzTx/>
              <a:buFont typeface="Arial" panose="020B0704020202020204" pitchFamily="34" charset="0"/>
              <a:buChar char="•"/>
              <a:defRPr/>
            </a:pPr>
            <a:r>
              <a:rPr lang="zh-CN" altLang="en-US" sz="1400">
                <a:solidFill>
                  <a:schemeClr val="bg1">
                    <a:alpha val="90196"/>
                  </a:schemeClr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  投研到组合直连</a:t>
            </a:r>
          </a:p>
          <a:p>
            <a:pPr marL="171450" lvl="0" indent="-171450" algn="l">
              <a:lnSpc>
                <a:spcPct val="153000"/>
              </a:lnSpc>
              <a:buClrTx/>
              <a:buSzTx/>
              <a:buFont typeface="Arial" panose="020B0704020202020204" pitchFamily="34" charset="0"/>
              <a:buChar char="•"/>
              <a:defRPr/>
            </a:pPr>
            <a:r>
              <a:rPr lang="zh-CN" altLang="en-US" sz="1400">
                <a:solidFill>
                  <a:schemeClr val="bg1">
                    <a:alpha val="90196"/>
                  </a:schemeClr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  指令自动生成</a:t>
            </a:r>
          </a:p>
          <a:p>
            <a:pPr marL="171450" lvl="0" indent="-171450" algn="l">
              <a:lnSpc>
                <a:spcPct val="153000"/>
              </a:lnSpc>
              <a:buClrTx/>
              <a:buSzTx/>
              <a:buFont typeface="Arial" panose="020B0704020202020204" pitchFamily="34" charset="0"/>
              <a:buChar char="•"/>
              <a:defRPr/>
            </a:pPr>
            <a:r>
              <a:rPr lang="zh-CN" altLang="en-US" sz="1400">
                <a:solidFill>
                  <a:schemeClr val="bg1">
                    <a:alpha val="90196"/>
                  </a:schemeClr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  multi-leg执行</a:t>
            </a:r>
          </a:p>
          <a:p>
            <a:pPr marL="171450" lvl="0" indent="-171450" algn="l">
              <a:lnSpc>
                <a:spcPct val="153000"/>
              </a:lnSpc>
              <a:buClrTx/>
              <a:buSzTx/>
              <a:buFont typeface="Arial" panose="020B0704020202020204" pitchFamily="34" charset="0"/>
              <a:buChar char="•"/>
              <a:defRPr/>
            </a:pPr>
            <a:r>
              <a:rPr lang="zh-CN" altLang="en-US" sz="1400">
                <a:solidFill>
                  <a:schemeClr val="bg1">
                    <a:alpha val="90196"/>
                  </a:schemeClr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  TCA交易成本分析</a:t>
            </a:r>
          </a:p>
          <a:p>
            <a:pPr marL="171450" lvl="0" indent="-171450" algn="l">
              <a:lnSpc>
                <a:spcPct val="153000"/>
              </a:lnSpc>
              <a:buClrTx/>
              <a:buSzTx/>
              <a:buFont typeface="Arial" panose="020B0704020202020204" pitchFamily="34" charset="0"/>
              <a:buChar char="•"/>
              <a:defRPr/>
            </a:pPr>
            <a:r>
              <a:rPr lang="zh-CN" altLang="en-US" sz="1400">
                <a:solidFill>
                  <a:schemeClr val="bg1">
                    <a:alpha val="90196"/>
                  </a:schemeClr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  实时绩效归因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项目介绍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5029200" y="2560320"/>
            <a:ext cx="2103120" cy="45720"/>
          </a:xfrm>
          <a:prstGeom prst="rect">
            <a:avLst/>
          </a:prstGeom>
          <a:solidFill>
            <a:srgbClr val="F54D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cs typeface="微软雅黑" panose="000005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lang="zh-CN" altLang="en-US" dirty="0">
                <a:latin typeface="微软雅黑" panose="00000500000000000000" charset="-122"/>
                <a:cs typeface="微软雅黑" panose="00000500000000000000" charset="-122"/>
              </a:rPr>
              <a:t>项目价值</a:t>
            </a:r>
            <a:r>
              <a:rPr lang="en-US" altLang="zh-CN" dirty="0">
                <a:latin typeface="微软雅黑" panose="00000500000000000000" charset="-122"/>
                <a:cs typeface="微软雅黑" panose="00000500000000000000" charset="-122"/>
              </a:rPr>
              <a:t>:</a:t>
            </a:r>
            <a:r>
              <a:rPr lang="zh-CN" altLang="en-US" dirty="0"/>
              <a:t> 多赚</a:t>
            </a:r>
            <a:r>
              <a:rPr lang="en-US" altLang="zh-CN" dirty="0"/>
              <a:t>·</a:t>
            </a:r>
            <a:r>
              <a:rPr lang="zh-CN" altLang="en-US" dirty="0"/>
              <a:t>少亏</a:t>
            </a:r>
            <a:r>
              <a:rPr lang="en-US" altLang="zh-CN" dirty="0"/>
              <a:t>·</a:t>
            </a:r>
            <a:r>
              <a:rPr lang="zh-CN" altLang="en-US" dirty="0"/>
              <a:t>少花</a:t>
            </a:r>
            <a:endParaRPr dirty="0">
              <a:latin typeface="微软雅黑" panose="00000500000000000000" charset="-122"/>
              <a:cs typeface="微软雅黑" panose="00000500000000000000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327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D051"/>
                </a:solidFill>
                <a:latin typeface="微软雅黑" panose="020B0503020204020204" charset="-122"/>
              </a:defRPr>
            </a:pPr>
            <a:r>
              <a:rPr lang="zh-CN" altLang="en-US" dirty="0"/>
              <a:t>年化</a:t>
            </a:r>
            <a:r>
              <a:rPr lang="en-US" altLang="zh-CN" dirty="0"/>
              <a:t>1-1.8</a:t>
            </a:r>
            <a:r>
              <a:rPr lang="zh-CN" altLang="en-US" dirty="0"/>
              <a:t>亿直接价值 </a:t>
            </a:r>
            <a:r>
              <a:rPr lang="en-US" altLang="zh-CN" dirty="0"/>
              <a:t>· </a:t>
            </a:r>
            <a:r>
              <a:rPr lang="zh-CN" altLang="en-US" dirty="0"/>
              <a:t>极端事件</a:t>
            </a:r>
            <a:r>
              <a:rPr lang="en-US" altLang="zh-CN" dirty="0"/>
              <a:t>1-2</a:t>
            </a:r>
            <a:r>
              <a:rPr lang="zh-CN" altLang="en-US" dirty="0"/>
              <a:t>亿</a:t>
            </a:r>
            <a:r>
              <a:rPr lang="en-US" altLang="zh-CN" dirty="0"/>
              <a:t>/</a:t>
            </a:r>
            <a:r>
              <a:rPr lang="zh-CN" altLang="en-US" dirty="0"/>
              <a:t>次避损 </a:t>
            </a:r>
            <a:r>
              <a:rPr lang="en-US" altLang="zh-CN" dirty="0"/>
              <a:t>· 3</a:t>
            </a:r>
            <a:r>
              <a:rPr lang="zh-CN" altLang="en-US" dirty="0"/>
              <a:t>年不行动代价</a:t>
            </a:r>
            <a:r>
              <a:rPr lang="en-US" altLang="zh-CN" dirty="0"/>
              <a:t>3.3-6</a:t>
            </a:r>
            <a:r>
              <a:rPr lang="zh-CN" altLang="en-US" dirty="0"/>
              <a:t>亿</a:t>
            </a:r>
          </a:p>
          <a:p>
            <a:pPr algn="ctr">
              <a:defRPr sz="1600" b="0">
                <a:solidFill>
                  <a:srgbClr val="FFD051"/>
                </a:solidFill>
                <a:latin typeface="微软雅黑" panose="020B0503020204020204" charset="-122"/>
              </a:defRPr>
            </a:pPr>
            <a:endParaRPr dirty="0">
              <a:latin typeface="微软雅黑" panose="00000500000000000000" charset="-122"/>
              <a:cs typeface="微软雅黑" panose="00000500000000000000" charset="-122"/>
            </a:endParaRPr>
          </a:p>
        </p:txBody>
      </p:sp>
      <p:sp>
        <p:nvSpPr>
          <p:cNvPr id="6" name="AutoShape 3"/>
          <p:cNvSpPr/>
          <p:nvPr/>
        </p:nvSpPr>
        <p:spPr>
          <a:xfrm>
            <a:off x="4648200" y="1417320"/>
            <a:ext cx="2794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400" b="1" i="0" u="none" strike="noStrike">
                <a:solidFill>
                  <a:srgbClr val="FFFFFF"/>
                </a:solidFill>
                <a:latin typeface="微软雅黑" panose="020B0200000000000000" charset="-122"/>
                <a:ea typeface="微软雅黑" panose="020B0200000000000000" charset="-122"/>
                <a:cs typeface="微软雅黑" panose="020B0200000000000000" charset="-122"/>
                <a:sym typeface="微软雅黑" panose="020B0200000000000000" charset="-122"/>
              </a:rPr>
              <a:t>02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030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cs typeface="微软雅黑" panose="00000500000000000000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287476"/>
            <a:ext cx="10058400" cy="429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lang="zh-CN" altLang="en-US" dirty="0">
                <a:latin typeface="微软雅黑" panose="00000500000000000000" charset="-122"/>
                <a:cs typeface="微软雅黑" panose="00000500000000000000" charset="-122"/>
              </a:rPr>
              <a:t>获得高额投资收益</a:t>
            </a:r>
            <a:r>
              <a:rPr dirty="0">
                <a:latin typeface="微软雅黑" panose="00000500000000000000" charset="-122"/>
                <a:cs typeface="微软雅黑" panose="00000500000000000000" charset="-122"/>
              </a:rPr>
              <a:t>：</a:t>
            </a:r>
            <a:r>
              <a:rPr dirty="0" err="1">
                <a:latin typeface="微软雅黑" panose="00000500000000000000" charset="-122"/>
                <a:cs typeface="微软雅黑" panose="00000500000000000000" charset="-122"/>
              </a:rPr>
              <a:t>年化直接价值</a:t>
            </a:r>
            <a:r>
              <a:rPr lang="zh-CN" altLang="en-US" dirty="0">
                <a:latin typeface="微软雅黑" panose="00000500000000000000" charset="-122"/>
                <a:cs typeface="微软雅黑" panose="00000500000000000000" charset="-122"/>
              </a:rPr>
              <a:t>预估</a:t>
            </a:r>
            <a:r>
              <a:rPr dirty="0">
                <a:latin typeface="微软雅黑" panose="00000500000000000000" charset="-122"/>
                <a:cs typeface="微软雅黑" panose="00000500000000000000" charset="-122"/>
              </a:rPr>
              <a:t>1-1.8亿 + </a:t>
            </a:r>
            <a:r>
              <a:rPr dirty="0" err="1">
                <a:latin typeface="微软雅黑" panose="00000500000000000000" charset="-122"/>
                <a:cs typeface="微软雅黑" panose="00000500000000000000" charset="-122"/>
              </a:rPr>
              <a:t>极端事件避损</a:t>
            </a:r>
            <a:r>
              <a:rPr lang="zh-CN" altLang="en-US" dirty="0">
                <a:latin typeface="微软雅黑" panose="00000500000000000000" charset="-122"/>
                <a:cs typeface="微软雅黑" panose="00000500000000000000" charset="-122"/>
              </a:rPr>
              <a:t>预估</a:t>
            </a:r>
            <a:r>
              <a:rPr dirty="0">
                <a:latin typeface="微软雅黑" panose="00000500000000000000" charset="-122"/>
                <a:cs typeface="微软雅黑" panose="00000500000000000000" charset="-122"/>
              </a:rPr>
              <a:t>1-2亿/次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12520"/>
            <a:ext cx="11064240" cy="4876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微软雅黑" panose="00000500000000000000" charset="-122"/>
              <a:ea typeface="微软雅黑" panose="00000500000000000000" charset="-122"/>
              <a:cs typeface="微软雅黑" panose="00000500000000000000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3895" y="1158240"/>
            <a:ext cx="10654665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D051"/>
                </a:solidFill>
                <a:latin typeface="微软雅黑" panose="020B0503020204020204" charset="-122"/>
              </a:defRPr>
            </a:pPr>
            <a:r>
              <a:rPr lang="zh-CN" altLang="en-US" sz="1600" b="1" dirty="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</a:rPr>
              <a:t>需要四大保障</a:t>
            </a:r>
            <a:r>
              <a:rPr sz="1600" b="1" dirty="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</a:rPr>
              <a:t>：</a:t>
            </a:r>
            <a:r>
              <a:rPr sz="1600" b="1" dirty="0" err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</a:rPr>
              <a:t>系统平台</a:t>
            </a:r>
            <a:r>
              <a:rPr sz="1600" b="1" dirty="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</a:rPr>
              <a:t>(POMS) + </a:t>
            </a:r>
            <a:r>
              <a:rPr sz="1600" b="1" dirty="0" err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</a:rPr>
              <a:t>人员能力</a:t>
            </a:r>
            <a:r>
              <a:rPr sz="1600" b="1" dirty="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</a:rPr>
              <a:t> + </a:t>
            </a:r>
            <a:r>
              <a:rPr sz="1600" b="1" dirty="0" err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</a:rPr>
              <a:t>流程优化</a:t>
            </a:r>
            <a:r>
              <a:rPr sz="1600" b="1" dirty="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</a:rPr>
              <a:t> + </a:t>
            </a:r>
            <a:r>
              <a:rPr sz="1600" b="1" dirty="0" err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</a:rPr>
              <a:t>管理机制</a:t>
            </a:r>
            <a:r>
              <a:rPr sz="1600" b="1" dirty="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</a:rPr>
              <a:t> → </a:t>
            </a:r>
            <a:r>
              <a:rPr sz="1600" b="1" dirty="0" err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</a:rPr>
              <a:t>系统是必要条件，没有它其他支柱无从发力</a:t>
            </a:r>
          </a:p>
        </p:txBody>
      </p:sp>
      <p:sp>
        <p:nvSpPr>
          <p:cNvPr id="4" name="AutoShape 5"/>
          <p:cNvSpPr/>
          <p:nvPr/>
        </p:nvSpPr>
        <p:spPr>
          <a:xfrm>
            <a:off x="381000" y="1714500"/>
            <a:ext cx="5588000" cy="2748280"/>
          </a:xfrm>
          <a:prstGeom prst="roundRect">
            <a:avLst>
              <a:gd name="adj" fmla="val 5882"/>
            </a:avLst>
          </a:prstGeom>
          <a:solidFill>
            <a:srgbClr val="1E3A8A"/>
          </a:solidFill>
          <a:ln w="25400" cap="flat" cmpd="sng">
            <a:noFill/>
            <a:prstDash val="solid"/>
            <a:round/>
          </a:ln>
          <a:effectLst>
            <a:outerShdw blurRad="101600" dist="25400" dir="5400000" algn="tl" rotWithShape="0">
              <a:srgbClr val="000000">
                <a:alpha val="30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12" name="AutoShape 6"/>
          <p:cNvSpPr/>
          <p:nvPr/>
        </p:nvSpPr>
        <p:spPr>
          <a:xfrm>
            <a:off x="381000" y="1714500"/>
            <a:ext cx="5588000" cy="457200"/>
          </a:xfrm>
          <a:prstGeom prst="roundRect">
            <a:avLst>
              <a:gd name="adj" fmla="val 27777"/>
            </a:avLst>
          </a:prstGeom>
          <a:solidFill>
            <a:srgbClr val="1E5BA8"/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13" name="AutoShape 7"/>
          <p:cNvSpPr/>
          <p:nvPr/>
        </p:nvSpPr>
        <p:spPr>
          <a:xfrm>
            <a:off x="571500" y="1714500"/>
            <a:ext cx="5207000" cy="457200"/>
          </a:xfrm>
          <a:prstGeom prst="rect">
            <a:avLst/>
          </a:prstGeom>
          <a:solidFill>
            <a:srgbClr val="1E5BA8"/>
          </a:solidFill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多赚 · Alpha 增强</a:t>
            </a:r>
          </a:p>
        </p:txBody>
      </p:sp>
      <p:sp>
        <p:nvSpPr>
          <p:cNvPr id="14" name="AutoShape 8"/>
          <p:cNvSpPr/>
          <p:nvPr/>
        </p:nvSpPr>
        <p:spPr>
          <a:xfrm>
            <a:off x="571500" y="2286000"/>
            <a:ext cx="5207000" cy="431800"/>
          </a:xfrm>
          <a:prstGeom prst="roundRect">
            <a:avLst>
              <a:gd name="adj" fmla="val 17647"/>
            </a:avLst>
          </a:prstGeom>
          <a:solidFill>
            <a:srgbClr val="37415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 sz="2000"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15" name="AutoShape 9"/>
          <p:cNvSpPr/>
          <p:nvPr/>
        </p:nvSpPr>
        <p:spPr>
          <a:xfrm>
            <a:off x="698500" y="2286000"/>
            <a:ext cx="3302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配置优化 (保守取行业基准1/10)</a:t>
            </a:r>
          </a:p>
        </p:txBody>
      </p:sp>
      <p:sp>
        <p:nvSpPr>
          <p:cNvPr id="16" name="AutoShape 10"/>
          <p:cNvSpPr/>
          <p:nvPr/>
        </p:nvSpPr>
        <p:spPr>
          <a:xfrm>
            <a:off x="4064000" y="2286000"/>
            <a:ext cx="1524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2000-5000万</a:t>
            </a:r>
          </a:p>
        </p:txBody>
      </p:sp>
      <p:sp>
        <p:nvSpPr>
          <p:cNvPr id="17" name="AutoShape 11"/>
          <p:cNvSpPr/>
          <p:nvPr/>
        </p:nvSpPr>
        <p:spPr>
          <a:xfrm>
            <a:off x="571500" y="2806700"/>
            <a:ext cx="5207000" cy="431800"/>
          </a:xfrm>
          <a:prstGeom prst="roundRect">
            <a:avLst>
              <a:gd name="adj" fmla="val 17647"/>
            </a:avLst>
          </a:prstGeom>
          <a:solidFill>
            <a:srgbClr val="37415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 sz="2000">
              <a:solidFill>
                <a:schemeClr val="bg1"/>
              </a:solidFill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18" name="AutoShape 12"/>
          <p:cNvSpPr/>
          <p:nvPr/>
        </p:nvSpPr>
        <p:spPr>
          <a:xfrm>
            <a:off x="698500" y="2794000"/>
            <a:ext cx="3302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量化策略</a:t>
            </a:r>
          </a:p>
        </p:txBody>
      </p:sp>
      <p:sp>
        <p:nvSpPr>
          <p:cNvPr id="19" name="AutoShape 13"/>
          <p:cNvSpPr/>
          <p:nvPr/>
        </p:nvSpPr>
        <p:spPr>
          <a:xfrm>
            <a:off x="4064000" y="2794000"/>
            <a:ext cx="1524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1000-2000万</a:t>
            </a:r>
          </a:p>
        </p:txBody>
      </p:sp>
      <p:sp>
        <p:nvSpPr>
          <p:cNvPr id="20" name="AutoShape 14"/>
          <p:cNvSpPr/>
          <p:nvPr/>
        </p:nvSpPr>
        <p:spPr>
          <a:xfrm>
            <a:off x="571500" y="3898900"/>
            <a:ext cx="5207000" cy="431800"/>
          </a:xfrm>
          <a:prstGeom prst="roundRect">
            <a:avLst>
              <a:gd name="adj" fmla="val 17647"/>
            </a:avLst>
          </a:prstGeom>
          <a:solidFill>
            <a:srgbClr val="4B5563">
              <a:alpha val="100000"/>
            </a:srgbClr>
          </a:solidFill>
          <a:ln w="12700" cap="flat" cmpd="sng">
            <a:solidFill>
              <a:srgbClr val="F59E0B">
                <a:alpha val="5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 sz="2000"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21" name="AutoShape 15"/>
          <p:cNvSpPr/>
          <p:nvPr/>
        </p:nvSpPr>
        <p:spPr>
          <a:xfrm>
            <a:off x="698500" y="3898900"/>
            <a:ext cx="3302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59E0B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 </a:t>
            </a:r>
            <a:r>
              <a:rPr lang="en-US" sz="1400" b="1">
                <a:solidFill>
                  <a:srgbClr val="F59E0B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年化成本节省  </a:t>
            </a:r>
            <a:r>
              <a:rPr lang="en-US" sz="1400" b="1" i="0" u="none" strike="noStrike">
                <a:solidFill>
                  <a:srgbClr val="F59E0B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小计</a:t>
            </a:r>
          </a:p>
        </p:txBody>
      </p:sp>
      <p:sp>
        <p:nvSpPr>
          <p:cNvPr id="22" name="AutoShape 16"/>
          <p:cNvSpPr/>
          <p:nvPr/>
        </p:nvSpPr>
        <p:spPr>
          <a:xfrm>
            <a:off x="4064000" y="3898900"/>
            <a:ext cx="1524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59E0B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0.5 - 1亿/年</a:t>
            </a:r>
          </a:p>
        </p:txBody>
      </p:sp>
      <p:sp>
        <p:nvSpPr>
          <p:cNvPr id="23" name="AutoShape 17"/>
          <p:cNvSpPr/>
          <p:nvPr/>
        </p:nvSpPr>
        <p:spPr>
          <a:xfrm>
            <a:off x="6223000" y="1714500"/>
            <a:ext cx="5588000" cy="2748280"/>
          </a:xfrm>
          <a:prstGeom prst="roundRect">
            <a:avLst>
              <a:gd name="adj" fmla="val 5882"/>
            </a:avLst>
          </a:prstGeom>
          <a:solidFill>
            <a:srgbClr val="1E3A8A"/>
          </a:solidFill>
          <a:ln w="25400" cap="flat" cmpd="sng">
            <a:noFill/>
            <a:prstDash val="solid"/>
            <a:round/>
          </a:ln>
          <a:effectLst>
            <a:outerShdw blurRad="101600" dist="25400" dir="5400000" algn="tl" rotWithShape="0">
              <a:srgbClr val="000000">
                <a:alpha val="30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24" name="AutoShape 18"/>
          <p:cNvSpPr/>
          <p:nvPr/>
        </p:nvSpPr>
        <p:spPr>
          <a:xfrm>
            <a:off x="6223000" y="1714500"/>
            <a:ext cx="5588000" cy="457200"/>
          </a:xfrm>
          <a:prstGeom prst="roundRect">
            <a:avLst>
              <a:gd name="adj" fmla="val 27777"/>
            </a:avLst>
          </a:prstGeom>
          <a:solidFill>
            <a:srgbClr val="EF4444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25" name="AutoShape 19"/>
          <p:cNvSpPr/>
          <p:nvPr/>
        </p:nvSpPr>
        <p:spPr>
          <a:xfrm>
            <a:off x="6413500" y="1714500"/>
            <a:ext cx="5207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少花 · 成本节省</a:t>
            </a:r>
          </a:p>
        </p:txBody>
      </p:sp>
      <p:sp>
        <p:nvSpPr>
          <p:cNvPr id="26" name="AutoShape 20"/>
          <p:cNvSpPr/>
          <p:nvPr/>
        </p:nvSpPr>
        <p:spPr>
          <a:xfrm>
            <a:off x="6413500" y="2298700"/>
            <a:ext cx="5207000" cy="431800"/>
          </a:xfrm>
          <a:prstGeom prst="roundRect">
            <a:avLst>
              <a:gd name="adj" fmla="val 17647"/>
            </a:avLst>
          </a:prstGeom>
          <a:solidFill>
            <a:srgbClr val="37415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 sz="2000"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27" name="AutoShape 21"/>
          <p:cNvSpPr/>
          <p:nvPr/>
        </p:nvSpPr>
        <p:spPr>
          <a:xfrm>
            <a:off x="6540500" y="2298700"/>
            <a:ext cx="3302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滑点优化</a:t>
            </a:r>
          </a:p>
        </p:txBody>
      </p:sp>
      <p:sp>
        <p:nvSpPr>
          <p:cNvPr id="28" name="AutoShape 22"/>
          <p:cNvSpPr/>
          <p:nvPr/>
        </p:nvSpPr>
        <p:spPr>
          <a:xfrm>
            <a:off x="9906000" y="2298700"/>
            <a:ext cx="1524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1000-1500万</a:t>
            </a:r>
          </a:p>
        </p:txBody>
      </p:sp>
      <p:sp>
        <p:nvSpPr>
          <p:cNvPr id="29" name="AutoShape 23"/>
          <p:cNvSpPr/>
          <p:nvPr/>
        </p:nvSpPr>
        <p:spPr>
          <a:xfrm>
            <a:off x="6413500" y="2806700"/>
            <a:ext cx="5207000" cy="431800"/>
          </a:xfrm>
          <a:prstGeom prst="roundRect">
            <a:avLst>
              <a:gd name="adj" fmla="val 17647"/>
            </a:avLst>
          </a:prstGeom>
          <a:solidFill>
            <a:srgbClr val="37415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 sz="2000"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30" name="AutoShape 24"/>
          <p:cNvSpPr/>
          <p:nvPr/>
        </p:nvSpPr>
        <p:spPr>
          <a:xfrm>
            <a:off x="6540500" y="2806700"/>
            <a:ext cx="3302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融资优化</a:t>
            </a:r>
          </a:p>
        </p:txBody>
      </p:sp>
      <p:sp>
        <p:nvSpPr>
          <p:cNvPr id="31" name="AutoShape 25"/>
          <p:cNvSpPr/>
          <p:nvPr/>
        </p:nvSpPr>
        <p:spPr>
          <a:xfrm>
            <a:off x="9906000" y="2806700"/>
            <a:ext cx="1524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2000-3000万</a:t>
            </a:r>
          </a:p>
        </p:txBody>
      </p:sp>
      <p:sp>
        <p:nvSpPr>
          <p:cNvPr id="32" name="AutoShape 26"/>
          <p:cNvSpPr/>
          <p:nvPr/>
        </p:nvSpPr>
        <p:spPr>
          <a:xfrm>
            <a:off x="6413500" y="3911600"/>
            <a:ext cx="5207000" cy="431800"/>
          </a:xfrm>
          <a:prstGeom prst="roundRect">
            <a:avLst>
              <a:gd name="adj" fmla="val 17647"/>
            </a:avLst>
          </a:prstGeom>
          <a:solidFill>
            <a:srgbClr val="4B5563">
              <a:alpha val="100000"/>
            </a:srgbClr>
          </a:solidFill>
          <a:ln w="12700" cap="flat" cmpd="sng">
            <a:solidFill>
              <a:srgbClr val="F59E0B">
                <a:alpha val="5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 sz="2000"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33" name="AutoShape 27"/>
          <p:cNvSpPr/>
          <p:nvPr/>
        </p:nvSpPr>
        <p:spPr>
          <a:xfrm>
            <a:off x="6540500" y="3911600"/>
            <a:ext cx="3302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59E0B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年化成本节省 小计</a:t>
            </a:r>
          </a:p>
        </p:txBody>
      </p:sp>
      <p:sp>
        <p:nvSpPr>
          <p:cNvPr id="34" name="AutoShape 28"/>
          <p:cNvSpPr/>
          <p:nvPr/>
        </p:nvSpPr>
        <p:spPr>
          <a:xfrm>
            <a:off x="9906000" y="3911600"/>
            <a:ext cx="1524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59E0B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0.5 - 0.8亿/年</a:t>
            </a:r>
          </a:p>
        </p:txBody>
      </p:sp>
      <p:sp>
        <p:nvSpPr>
          <p:cNvPr id="35" name="AutoShape 11"/>
          <p:cNvSpPr/>
          <p:nvPr/>
        </p:nvSpPr>
        <p:spPr>
          <a:xfrm>
            <a:off x="571500" y="3327400"/>
            <a:ext cx="5207000" cy="431800"/>
          </a:xfrm>
          <a:prstGeom prst="roundRect">
            <a:avLst>
              <a:gd name="adj" fmla="val 17647"/>
            </a:avLst>
          </a:prstGeom>
          <a:solidFill>
            <a:srgbClr val="37415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 sz="2000"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36" name="AutoShape 12"/>
          <p:cNvSpPr/>
          <p:nvPr/>
        </p:nvSpPr>
        <p:spPr>
          <a:xfrm>
            <a:off x="683895" y="3403600"/>
            <a:ext cx="3302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4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再平衡效率</a:t>
            </a:r>
          </a:p>
        </p:txBody>
      </p:sp>
      <p:sp>
        <p:nvSpPr>
          <p:cNvPr id="37" name="AutoShape 13"/>
          <p:cNvSpPr/>
          <p:nvPr/>
        </p:nvSpPr>
        <p:spPr>
          <a:xfrm>
            <a:off x="4049395" y="3403600"/>
            <a:ext cx="1524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zh-CN" altLang="en-US" sz="1400" b="1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2000-3000</a:t>
            </a:r>
            <a:r>
              <a:rPr lang="en-US" sz="1400" b="1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万</a:t>
            </a:r>
          </a:p>
        </p:txBody>
      </p:sp>
      <p:sp>
        <p:nvSpPr>
          <p:cNvPr id="38" name="AutoShape 23"/>
          <p:cNvSpPr/>
          <p:nvPr/>
        </p:nvSpPr>
        <p:spPr>
          <a:xfrm>
            <a:off x="6426200" y="3324860"/>
            <a:ext cx="5207000" cy="431800"/>
          </a:xfrm>
          <a:prstGeom prst="roundRect">
            <a:avLst>
              <a:gd name="adj" fmla="val 17647"/>
            </a:avLst>
          </a:prstGeom>
          <a:solidFill>
            <a:srgbClr val="37415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 sz="2000"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39" name="AutoShape 24"/>
          <p:cNvSpPr/>
          <p:nvPr/>
        </p:nvSpPr>
        <p:spPr>
          <a:xfrm>
            <a:off x="6553200" y="3324860"/>
            <a:ext cx="3302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altLang="zh-CN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</a:rPr>
              <a:t>TCA+</a:t>
            </a: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</a:rPr>
              <a:t>成本核算+人效+信创+闲置</a:t>
            </a:r>
          </a:p>
        </p:txBody>
      </p:sp>
      <p:sp>
        <p:nvSpPr>
          <p:cNvPr id="40" name="AutoShape 25"/>
          <p:cNvSpPr/>
          <p:nvPr/>
        </p:nvSpPr>
        <p:spPr>
          <a:xfrm>
            <a:off x="9918700" y="3324860"/>
            <a:ext cx="15240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-1500-3000万</a:t>
            </a:r>
          </a:p>
        </p:txBody>
      </p:sp>
      <p:sp>
        <p:nvSpPr>
          <p:cNvPr id="41" name="AutoShape 29"/>
          <p:cNvSpPr/>
          <p:nvPr/>
        </p:nvSpPr>
        <p:spPr>
          <a:xfrm>
            <a:off x="381000" y="4570095"/>
            <a:ext cx="11430000" cy="1143000"/>
          </a:xfrm>
          <a:prstGeom prst="roundRect">
            <a:avLst>
              <a:gd name="adj" fmla="val 11111"/>
            </a:avLst>
          </a:prstGeom>
          <a:solidFill>
            <a:srgbClr val="1E3A8A"/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42" name="AutoShape 30"/>
          <p:cNvSpPr/>
          <p:nvPr/>
        </p:nvSpPr>
        <p:spPr>
          <a:xfrm>
            <a:off x="571500" y="4697095"/>
            <a:ext cx="2603500" cy="889000"/>
          </a:xfrm>
          <a:prstGeom prst="roundRect">
            <a:avLst>
              <a:gd name="adj" fmla="val 11428"/>
            </a:avLst>
          </a:prstGeom>
          <a:solidFill>
            <a:srgbClr val="374151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12700" dir="2700000" algn="tl" rotWithShape="0">
              <a:srgbClr val="000000">
                <a:alpha val="30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43" name="AutoShape 31"/>
          <p:cNvSpPr/>
          <p:nvPr/>
        </p:nvSpPr>
        <p:spPr>
          <a:xfrm>
            <a:off x="698500" y="4760595"/>
            <a:ext cx="2349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年化直接价值 (多赚+少花)</a:t>
            </a:r>
          </a:p>
        </p:txBody>
      </p:sp>
      <p:sp>
        <p:nvSpPr>
          <p:cNvPr id="44" name="AutoShape 32"/>
          <p:cNvSpPr/>
          <p:nvPr/>
        </p:nvSpPr>
        <p:spPr>
          <a:xfrm>
            <a:off x="698500" y="5078095"/>
            <a:ext cx="2349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59E0B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1.0 - 1.8 亿</a:t>
            </a:r>
            <a:r>
              <a:rPr lang="en-US" sz="11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/年</a:t>
            </a:r>
          </a:p>
        </p:txBody>
      </p:sp>
      <p:sp>
        <p:nvSpPr>
          <p:cNvPr id="45" name="AutoShape 33"/>
          <p:cNvSpPr/>
          <p:nvPr/>
        </p:nvSpPr>
        <p:spPr>
          <a:xfrm>
            <a:off x="3365500" y="4697095"/>
            <a:ext cx="2603500" cy="889000"/>
          </a:xfrm>
          <a:prstGeom prst="roundRect">
            <a:avLst>
              <a:gd name="adj" fmla="val 11428"/>
            </a:avLst>
          </a:prstGeom>
          <a:solidFill>
            <a:srgbClr val="374151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12700" dir="2700000" algn="tl" rotWithShape="0">
              <a:srgbClr val="000000">
                <a:alpha val="30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46" name="AutoShape 34"/>
          <p:cNvSpPr/>
          <p:nvPr/>
        </p:nvSpPr>
        <p:spPr>
          <a:xfrm>
            <a:off x="3492500" y="4760595"/>
            <a:ext cx="2349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极端事件</a:t>
            </a:r>
            <a:r>
              <a:rPr lang="zh-CN" altLang="en-US" sz="14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</a:rPr>
              <a:t>保守避损</a:t>
            </a:r>
          </a:p>
        </p:txBody>
      </p:sp>
      <p:sp>
        <p:nvSpPr>
          <p:cNvPr id="47" name="AutoShape 35"/>
          <p:cNvSpPr/>
          <p:nvPr/>
        </p:nvSpPr>
        <p:spPr>
          <a:xfrm>
            <a:off x="3492500" y="5078095"/>
            <a:ext cx="2349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59E0B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1.0 - 2.0 亿</a:t>
            </a:r>
            <a:r>
              <a:rPr lang="en-US" sz="11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/次</a:t>
            </a:r>
          </a:p>
        </p:txBody>
      </p:sp>
      <p:sp>
        <p:nvSpPr>
          <p:cNvPr id="48" name="AutoShape 36"/>
          <p:cNvSpPr/>
          <p:nvPr/>
        </p:nvSpPr>
        <p:spPr>
          <a:xfrm>
            <a:off x="6159500" y="4697095"/>
            <a:ext cx="2603500" cy="889000"/>
          </a:xfrm>
          <a:prstGeom prst="roundRect">
            <a:avLst>
              <a:gd name="adj" fmla="val 11428"/>
            </a:avLst>
          </a:prstGeom>
          <a:solidFill>
            <a:srgbClr val="374151">
              <a:alpha val="100000"/>
            </a:srgbClr>
          </a:solidFill>
          <a:ln w="25400" cap="flat" cmpd="sng">
            <a:noFill/>
            <a:prstDash val="solid"/>
            <a:round/>
          </a:ln>
          <a:effectLst>
            <a:outerShdw blurRad="76200" dist="12700" dir="2700000" algn="tl" rotWithShape="0">
              <a:srgbClr val="000000">
                <a:alpha val="30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49" name="AutoShape 37"/>
          <p:cNvSpPr/>
          <p:nvPr/>
        </p:nvSpPr>
        <p:spPr>
          <a:xfrm>
            <a:off x="6286500" y="4760595"/>
            <a:ext cx="2349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常规风控保守避损 </a:t>
            </a:r>
          </a:p>
        </p:txBody>
      </p:sp>
      <p:sp>
        <p:nvSpPr>
          <p:cNvPr id="50" name="AutoShape 38"/>
          <p:cNvSpPr/>
          <p:nvPr/>
        </p:nvSpPr>
        <p:spPr>
          <a:xfrm>
            <a:off x="6286500" y="5078095"/>
            <a:ext cx="2349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59E0B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0.3 - 0.5 亿</a:t>
            </a:r>
            <a:r>
              <a:rPr lang="en-US" sz="1100" b="0" i="0" u="none" strike="noStrike">
                <a:solidFill>
                  <a:srgbClr val="D1D5DB"/>
                </a:solidFill>
                <a:highlight>
                  <a:srgbClr val="000000">
                    <a:alpha val="0"/>
                  </a:srgbClr>
                </a:highlight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/次</a:t>
            </a:r>
          </a:p>
        </p:txBody>
      </p:sp>
      <p:sp>
        <p:nvSpPr>
          <p:cNvPr id="51" name="AutoShape 39"/>
          <p:cNvSpPr/>
          <p:nvPr/>
        </p:nvSpPr>
        <p:spPr>
          <a:xfrm>
            <a:off x="8953500" y="4697095"/>
            <a:ext cx="2603500" cy="889000"/>
          </a:xfrm>
          <a:prstGeom prst="roundRect">
            <a:avLst>
              <a:gd name="adj" fmla="val 11428"/>
            </a:avLst>
          </a:prstGeom>
          <a:solidFill>
            <a:srgbClr val="374151">
              <a:alpha val="100000"/>
            </a:srgbClr>
          </a:solidFill>
          <a:ln w="12700" cap="flat" cmpd="sng">
            <a:solidFill>
              <a:srgbClr val="EF4444">
                <a:alpha val="50000"/>
              </a:srgbClr>
            </a:solidFill>
            <a:prstDash val="solid"/>
            <a:round/>
          </a:ln>
          <a:effectLst>
            <a:outerShdw blurRad="101600" dist="25400" dir="2700000" algn="tl" rotWithShape="0">
              <a:srgbClr val="EF4444">
                <a:alpha val="20000"/>
              </a:srgbClr>
            </a:outerShdw>
          </a:effectLst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52" name="AutoShape 40"/>
          <p:cNvSpPr/>
          <p:nvPr/>
        </p:nvSpPr>
        <p:spPr>
          <a:xfrm>
            <a:off x="9080500" y="4760595"/>
            <a:ext cx="23495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EF4444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5年累计价值预估</a:t>
            </a:r>
          </a:p>
        </p:txBody>
      </p:sp>
      <p:sp>
        <p:nvSpPr>
          <p:cNvPr id="53" name="AutoShape 41"/>
          <p:cNvSpPr/>
          <p:nvPr/>
        </p:nvSpPr>
        <p:spPr>
          <a:xfrm>
            <a:off x="9080500" y="5078095"/>
            <a:ext cx="2349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EF4444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5.0 - 9.0 亿</a:t>
            </a:r>
          </a:p>
        </p:txBody>
      </p:sp>
      <p:sp>
        <p:nvSpPr>
          <p:cNvPr id="54" name="AutoShape 42"/>
          <p:cNvSpPr/>
          <p:nvPr/>
        </p:nvSpPr>
        <p:spPr>
          <a:xfrm>
            <a:off x="381000" y="5967095"/>
            <a:ext cx="11430000" cy="635000"/>
          </a:xfrm>
          <a:prstGeom prst="roundRect">
            <a:avLst>
              <a:gd name="adj" fmla="val 20000"/>
            </a:avLst>
          </a:prstGeom>
          <a:solidFill>
            <a:srgbClr val="1E3A8A"/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pic>
        <p:nvPicPr>
          <p:cNvPr id="55" name="Picture 43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1500" y="6094095"/>
            <a:ext cx="355600" cy="355600"/>
          </a:xfrm>
          <a:prstGeom prst="rect">
            <a:avLst/>
          </a:prstGeom>
        </p:spPr>
      </p:pic>
      <p:sp>
        <p:nvSpPr>
          <p:cNvPr id="56" name="AutoShape 44"/>
          <p:cNvSpPr/>
          <p:nvPr/>
        </p:nvSpPr>
        <p:spPr>
          <a:xfrm>
            <a:off x="1143000" y="5967095"/>
            <a:ext cx="1041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安全边际验证：</a:t>
            </a:r>
            <a:r>
              <a:rPr lang="zh-CN" altLang="en-US" sz="14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配置</a:t>
            </a:r>
            <a:r>
              <a:rPr lang="en-US" altLang="zh-CN" sz="14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Alpha</a:t>
            </a:r>
            <a:r>
              <a:rPr lang="zh-CN" altLang="en-US" sz="14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假设0.02%-0.05%，仅为行业基准（0.3%-0.5%）的1/10 → 即使被挑战，还有9倍安全空间</a:t>
            </a:r>
            <a:r>
              <a:rPr lang="en-US" sz="1400" b="0" i="0" u="none" strike="noStrike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。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</a:rPr>
              <a:t>注：行业基准通常为0.3%-0.5%，我们仅取约1/10以确保财务可靠性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58F53-B4FC-0393-2AF0-F6CE5FF84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96260A2-A62D-EF7C-A6D9-9575E0067C57}"/>
              </a:ext>
            </a:extLst>
          </p:cNvPr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6374B9-F31C-62AF-F2A2-A2C9A86A1B47}"/>
              </a:ext>
            </a:extLst>
          </p:cNvPr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924 War Room案例：POMS在一天内创造1.2亿价值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BD11D9-4630-80EC-D963-39FF02D99873}"/>
              </a:ext>
            </a:extLst>
          </p:cNvPr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2024年9月24日 央行货币政策转向——真实行业事件，有无POMS差异1.2亿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6E6AF18-29E1-F1FB-7E7C-289FF34D37E6}"/>
              </a:ext>
            </a:extLst>
          </p:cNvPr>
          <p:cNvSpPr/>
          <p:nvPr/>
        </p:nvSpPr>
        <p:spPr>
          <a:xfrm>
            <a:off x="457200" y="5130800"/>
            <a:ext cx="11247120" cy="84124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09520C-EA4A-FD24-EBAC-770844106C20}"/>
              </a:ext>
            </a:extLst>
          </p:cNvPr>
          <p:cNvSpPr txBox="1"/>
          <p:nvPr/>
        </p:nvSpPr>
        <p:spPr>
          <a:xfrm>
            <a:off x="640080" y="521970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微软雅黑"/>
              </a:defRPr>
            </a:pPr>
            <a:r>
              <a:t>差异1.2亿——这就是POMS在一天内创造的价值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核心：流动性冲击比价格下跌更致命——不知道'能卖多快、要付多少代价'才是真正的风险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POMS的三个关键优势：① 事前预案（压力测试） ② 实时流动性分析 ③ 一键执行（减少操作延迟损失）</a:t>
            </a:r>
          </a:p>
        </p:txBody>
      </p:sp>
      <p:pic>
        <p:nvPicPr>
          <p:cNvPr id="8" name="Picture 7" descr="diagram_3_924行情推演.png">
            <a:extLst>
              <a:ext uri="{FF2B5EF4-FFF2-40B4-BE49-F238E27FC236}">
                <a16:creationId xmlns:a16="http://schemas.microsoft.com/office/drawing/2014/main" id="{442AA872-1E3E-8397-BF81-AC5067BC28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344" y="1090540"/>
            <a:ext cx="11799311" cy="3909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71005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DB1C1-4CEE-0386-8011-6C512F7FA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E13D5D0-FD1A-BD0B-B8EB-DBC9EF93E6EF}"/>
              </a:ext>
            </a:extLst>
          </p:cNvPr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E82EA9-27F1-3655-921C-62CF2366717E}"/>
              </a:ext>
            </a:extLst>
          </p:cNvPr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不行动的代价：3年累计潜在代价3.3-8亿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E3BD04-1B28-8992-E74D-90F299CD24C9}"/>
              </a:ext>
            </a:extLst>
          </p:cNvPr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rPr dirty="0" err="1"/>
              <a:t>不是'要不要做'的问题，而是'能不能承受不做的代价'的问题</a:t>
            </a:r>
            <a:endParaRPr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5D144C-8C35-9C9B-0301-8B389AC3D6E1}"/>
              </a:ext>
            </a:extLst>
          </p:cNvPr>
          <p:cNvSpPr/>
          <p:nvPr/>
        </p:nvSpPr>
        <p:spPr>
          <a:xfrm>
            <a:off x="457200" y="1024128"/>
            <a:ext cx="3566160" cy="370332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68ECD0-ED84-6634-123B-7BCFA43505AC}"/>
              </a:ext>
            </a:extLst>
          </p:cNvPr>
          <p:cNvSpPr txBox="1"/>
          <p:nvPr/>
        </p:nvSpPr>
        <p:spPr>
          <a:xfrm>
            <a:off x="548640" y="1078992"/>
            <a:ext cx="3383280" cy="384048"/>
          </a:xfrm>
          <a:prstGeom prst="rect">
            <a:avLst/>
          </a:prstGeom>
          <a:solidFill>
            <a:srgbClr val="92D050"/>
          </a:solidFill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B7DD8"/>
                </a:solidFill>
                <a:latin typeface="微软雅黑"/>
              </a:defRPr>
            </a:pPr>
            <a:r>
              <a:t>Year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C63AF1-DC96-F0F4-2B12-56DE8E00DB5B}"/>
              </a:ext>
            </a:extLst>
          </p:cNvPr>
          <p:cNvSpPr/>
          <p:nvPr/>
        </p:nvSpPr>
        <p:spPr>
          <a:xfrm>
            <a:off x="731520" y="1508760"/>
            <a:ext cx="3017520" cy="274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6114B7-1162-1222-6AB9-266EC10024B1}"/>
              </a:ext>
            </a:extLst>
          </p:cNvPr>
          <p:cNvSpPr txBox="1"/>
          <p:nvPr/>
        </p:nvSpPr>
        <p:spPr>
          <a:xfrm>
            <a:off x="548640" y="1627632"/>
            <a:ext cx="3383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微软雅黑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错过跨资产配置机会 → 潜在机会成本0.5-1亿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继续承受隐性交易成本 → 2000-5000万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人工风控合规效率低下 → 1500-3000万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C16AAE2-048E-F6CE-6034-4F767C78DB73}"/>
              </a:ext>
            </a:extLst>
          </p:cNvPr>
          <p:cNvSpPr/>
          <p:nvPr/>
        </p:nvSpPr>
        <p:spPr>
          <a:xfrm>
            <a:off x="548640" y="3977639"/>
            <a:ext cx="3383280" cy="54864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5820DB4-7959-DCE1-D2FE-57E8ACA201A1}"/>
              </a:ext>
            </a:extLst>
          </p:cNvPr>
          <p:cNvSpPr txBox="1"/>
          <p:nvPr/>
        </p:nvSpPr>
        <p:spPr>
          <a:xfrm>
            <a:off x="594360" y="4041648"/>
            <a:ext cx="32918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微软雅黑"/>
              </a:defRPr>
            </a:pPr>
            <a:r>
              <a:rPr>
                <a:solidFill>
                  <a:schemeClr val="bg1"/>
                </a:solidFill>
              </a:rPr>
              <a:t>Year 1小计：~1-2亿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C3A4344-EBFA-8BC7-FC93-0BE05E186C42}"/>
              </a:ext>
            </a:extLst>
          </p:cNvPr>
          <p:cNvSpPr/>
          <p:nvPr/>
        </p:nvSpPr>
        <p:spPr>
          <a:xfrm>
            <a:off x="4206239" y="1024128"/>
            <a:ext cx="3566160" cy="370332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2CF7E2B-F561-3BCD-0565-2FEF5A17157C}"/>
              </a:ext>
            </a:extLst>
          </p:cNvPr>
          <p:cNvSpPr/>
          <p:nvPr/>
        </p:nvSpPr>
        <p:spPr>
          <a:xfrm>
            <a:off x="4480559" y="1508760"/>
            <a:ext cx="3017520" cy="274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E764C2F-A399-F033-B8BB-7BB63FF46BFB}"/>
              </a:ext>
            </a:extLst>
          </p:cNvPr>
          <p:cNvSpPr txBox="1"/>
          <p:nvPr/>
        </p:nvSpPr>
        <p:spPr>
          <a:xfrm>
            <a:off x="4297679" y="1627632"/>
            <a:ext cx="3383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微软雅黑"/>
              </a:defRPr>
            </a:pPr>
            <a:endParaRPr dirty="0"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rPr dirty="0"/>
              <a:t>▸ 924类极端事件若发生无预案 → 单次1-2亿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rPr dirty="0"/>
              <a:t>▸ IFRS9 2026全面执行无系统 → </a:t>
            </a:r>
            <a:r>
              <a:rPr dirty="0" err="1"/>
              <a:t>P&amp;L波动不可控</a:t>
            </a:r>
            <a:endParaRPr dirty="0"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rPr dirty="0"/>
              <a:t>▸ </a:t>
            </a:r>
            <a:r>
              <a:rPr dirty="0" err="1"/>
              <a:t>继续累计Year</a:t>
            </a:r>
            <a:r>
              <a:rPr dirty="0"/>
              <a:t> 1各项成本 → 1-2亿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rPr dirty="0"/>
              <a:t>▸ 新增IFRS9无系统P&amp;L波动 → 0.3-0.5亿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3FC3139-A5BA-C8CA-EC99-0764E4E606CF}"/>
              </a:ext>
            </a:extLst>
          </p:cNvPr>
          <p:cNvSpPr/>
          <p:nvPr/>
        </p:nvSpPr>
        <p:spPr>
          <a:xfrm>
            <a:off x="4297679" y="3977639"/>
            <a:ext cx="3383280" cy="54864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49BC30-F54B-7D8E-8A34-4026BDA39973}"/>
              </a:ext>
            </a:extLst>
          </p:cNvPr>
          <p:cNvSpPr txBox="1"/>
          <p:nvPr/>
        </p:nvSpPr>
        <p:spPr>
          <a:xfrm>
            <a:off x="4343399" y="404164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Year 2小计：1.3-2.5亿+极端风险敞口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6D037A0-E469-08A1-3A94-8C00FB3D10F5}"/>
              </a:ext>
            </a:extLst>
          </p:cNvPr>
          <p:cNvSpPr/>
          <p:nvPr/>
        </p:nvSpPr>
        <p:spPr>
          <a:xfrm>
            <a:off x="7955278" y="1024128"/>
            <a:ext cx="3566160" cy="370332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10BF1E2-6CDB-A6AA-D53B-32808582BEA7}"/>
              </a:ext>
            </a:extLst>
          </p:cNvPr>
          <p:cNvSpPr txBox="1"/>
          <p:nvPr/>
        </p:nvSpPr>
        <p:spPr>
          <a:xfrm>
            <a:off x="8046718" y="1078992"/>
            <a:ext cx="3383280" cy="384048"/>
          </a:xfrm>
          <a:prstGeom prst="rect">
            <a:avLst/>
          </a:prstGeom>
          <a:solidFill>
            <a:srgbClr val="92D050"/>
          </a:solidFill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2060"/>
                </a:solidFill>
                <a:latin typeface="微软雅黑"/>
              </a:defRPr>
            </a:pPr>
            <a:r>
              <a:rPr dirty="0"/>
              <a:t>Year 3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9830AB6-5333-6DA2-4E6E-B4B845674DF2}"/>
              </a:ext>
            </a:extLst>
          </p:cNvPr>
          <p:cNvSpPr/>
          <p:nvPr/>
        </p:nvSpPr>
        <p:spPr>
          <a:xfrm>
            <a:off x="8229598" y="1508760"/>
            <a:ext cx="3017520" cy="27432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B512108-9D0F-1845-BFA8-E4B76ACFDE9B}"/>
              </a:ext>
            </a:extLst>
          </p:cNvPr>
          <p:cNvSpPr txBox="1"/>
          <p:nvPr/>
        </p:nvSpPr>
        <p:spPr>
          <a:xfrm>
            <a:off x="8046718" y="1627632"/>
            <a:ext cx="33832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微软雅黑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竞争对手平台化深水区 → 差距从'可追赶'变'代差'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头部券商能力拉开 → 优秀投资经理被挖走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客户和资金方注意到差距 → 自营规模可能缩减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持续累计各项直接成本 → 1-1.5亿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9F5038E-8DAE-A3FE-C5AC-CD1A8F54D317}"/>
              </a:ext>
            </a:extLst>
          </p:cNvPr>
          <p:cNvSpPr/>
          <p:nvPr/>
        </p:nvSpPr>
        <p:spPr>
          <a:xfrm>
            <a:off x="8046718" y="3977639"/>
            <a:ext cx="3383280" cy="54864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CB62CF7-E67A-0DB2-E0F1-0619FBD30A90}"/>
              </a:ext>
            </a:extLst>
          </p:cNvPr>
          <p:cNvSpPr txBox="1"/>
          <p:nvPr/>
        </p:nvSpPr>
        <p:spPr>
          <a:xfrm>
            <a:off x="8092438" y="4041648"/>
            <a:ext cx="32918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微软雅黑"/>
              </a:defRPr>
            </a:pPr>
            <a:r>
              <a:rPr dirty="0">
                <a:solidFill>
                  <a:schemeClr val="bg1"/>
                </a:solidFill>
              </a:rPr>
              <a:t>Year 3小计：1-1.5亿+能力代差（人才</a:t>
            </a:r>
            <a:r>
              <a:rPr dirty="0"/>
              <a:t>利润双损）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7C5A711-3F1C-1BE2-185A-603DE44B39AC}"/>
              </a:ext>
            </a:extLst>
          </p:cNvPr>
          <p:cNvSpPr/>
          <p:nvPr/>
        </p:nvSpPr>
        <p:spPr>
          <a:xfrm>
            <a:off x="457200" y="4919472"/>
            <a:ext cx="11247120" cy="88696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7CB90D9-49BE-29D6-4951-0ADB3CCFEC61}"/>
              </a:ext>
            </a:extLst>
          </p:cNvPr>
          <p:cNvSpPr txBox="1"/>
          <p:nvPr/>
        </p:nvSpPr>
        <p:spPr>
          <a:xfrm>
            <a:off x="640080" y="5010912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微软雅黑"/>
              </a:defRPr>
            </a:pPr>
            <a:r>
              <a:t>3年不行动累计代价（保守估算）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直接成本：3.3-6亿 · 含1次极端事件：4.3-8亿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战略代价：人才流失+竞争力下滑+规模缩减——不可逆的能力代差，量化不了但影响更大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C6971D7-471E-2BB3-2A88-8C5653428A73}"/>
              </a:ext>
            </a:extLst>
          </p:cNvPr>
          <p:cNvSpPr txBox="1"/>
          <p:nvPr/>
        </p:nvSpPr>
        <p:spPr>
          <a:xfrm>
            <a:off x="4450079" y="1089987"/>
            <a:ext cx="3383280" cy="384048"/>
          </a:xfrm>
          <a:prstGeom prst="rect">
            <a:avLst/>
          </a:prstGeom>
          <a:solidFill>
            <a:srgbClr val="92D050"/>
          </a:solidFill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微软雅黑"/>
              </a:defRPr>
            </a:pPr>
            <a:r>
              <a:rPr dirty="0"/>
              <a:t>Year 2</a:t>
            </a:r>
          </a:p>
        </p:txBody>
      </p:sp>
    </p:spTree>
    <p:extLst>
      <p:ext uri="{BB962C8B-B14F-4D97-AF65-F5344CB8AC3E}">
        <p14:creationId xmlns:p14="http://schemas.microsoft.com/office/powerpoint/2010/main" val="5774173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FA3AC-12E2-1FBE-7C14-FFADC37FE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8297F55-088B-EA46-F2BA-699D99FBC1B2}"/>
              </a:ext>
            </a:extLst>
          </p:cNvPr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0562B2-A81C-91FA-0F47-EEA0DBA0B525}"/>
              </a:ext>
            </a:extLst>
          </p:cNvPr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KPI度量体系：可衡量才可管理——每个功能都有明确KPI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F7641E-6772-EF77-8C25-A9433CF44192}"/>
              </a:ext>
            </a:extLst>
          </p:cNvPr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投入产出透明化，价值实现可追踪可验收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C71EC10-6952-E88E-D0BB-8D02DA483B18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1051560"/>
          <a:ext cx="11247120" cy="403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功能模块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KPI指标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基线(无POMS)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目标(有POMS)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量化价值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全资产组合管理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Sharpe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当前值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+0.2~0.4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2000-5000万/年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虚拟组合试算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试算响应时间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1-2天(Excel)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&lt;10秒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决策速度100x↑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自动再平衡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CIO决策→全组合指令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1-2天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&lt;5分钟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2000-3000万/年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实时风险监控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风控延迟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T+1（24小时）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&lt;1秒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924类事件1-2亿↓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回撤控制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年度最大回撤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无控制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&lt;-2%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3000-5000万/次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极端压力测试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情景覆盖率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日频10+情景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提前预案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合规事前预检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违规拦截率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0%（事后发现）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&gt;95%（事前）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2-3次处罚/年↓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融资成本管理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加权融资利率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市场均价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-5~10bps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2000-3000万/年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执行质量TCA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vs TWAP基准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不可见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持续优化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500-1000万/年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IFRS9管理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P&amp;L波动率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当前值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降低30-50%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ROE稳定性↑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审计追踪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监管响应时间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2-4周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&lt;4小时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合规风险↓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现金流预测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结算失败率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X次/年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数百万/次↓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D500C266-6732-08C2-E3A0-1CA215B4B0EF}"/>
              </a:ext>
            </a:extLst>
          </p:cNvPr>
          <p:cNvSpPr/>
          <p:nvPr/>
        </p:nvSpPr>
        <p:spPr>
          <a:xfrm>
            <a:off x="457200" y="5321808"/>
            <a:ext cx="11247120" cy="47548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A00733-1941-EA53-4463-646FEF08E55A}"/>
              </a:ext>
            </a:extLst>
          </p:cNvPr>
          <p:cNvSpPr txBox="1"/>
          <p:nvPr/>
        </p:nvSpPr>
        <p:spPr>
          <a:xfrm>
            <a:off x="640080" y="54132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微软雅黑"/>
              </a:defRPr>
            </a:pPr>
            <a:r>
              <a:t>治理承诺：每个Phase验收时，按上述KPI逐项对标——结果说话，不靠PPT</a:t>
            </a:r>
          </a:p>
        </p:txBody>
      </p:sp>
    </p:spTree>
    <p:extLst>
      <p:ext uri="{BB962C8B-B14F-4D97-AF65-F5344CB8AC3E}">
        <p14:creationId xmlns:p14="http://schemas.microsoft.com/office/powerpoint/2010/main" val="31006230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华锐介绍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5029200" y="2560320"/>
            <a:ext cx="2103120" cy="45720"/>
          </a:xfrm>
          <a:prstGeom prst="rect">
            <a:avLst/>
          </a:prstGeom>
          <a:solidFill>
            <a:srgbClr val="F54D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cs typeface="微软雅黑" panose="000005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dirty="0" err="1">
                <a:latin typeface="微软雅黑" panose="00000500000000000000" charset="-122"/>
                <a:cs typeface="微软雅黑" panose="00000500000000000000" charset="-122"/>
              </a:rPr>
              <a:t>华锐</a:t>
            </a:r>
            <a:r>
              <a:rPr lang="zh-CN" altLang="en-US" dirty="0">
                <a:latin typeface="微软雅黑" panose="00000500000000000000" charset="-122"/>
                <a:cs typeface="微软雅黑" panose="00000500000000000000" charset="-122"/>
              </a:rPr>
              <a:t>优势</a:t>
            </a:r>
            <a:endParaRPr dirty="0">
              <a:latin typeface="微软雅黑" panose="00000500000000000000" charset="-122"/>
              <a:cs typeface="微软雅黑" panose="00000500000000000000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327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D051"/>
                </a:solidFill>
                <a:latin typeface="微软雅黑" panose="020B0503020204020204" charset="-122"/>
              </a:defRPr>
            </a:pPr>
            <a:r>
              <a:rPr lang="zh-CN" altLang="en-US" dirty="0">
                <a:latin typeface="微软雅黑" panose="00000500000000000000" charset="-122"/>
                <a:cs typeface="微软雅黑" panose="00000500000000000000" charset="-122"/>
              </a:rPr>
              <a:t>核心能力建设者</a:t>
            </a:r>
            <a:endParaRPr dirty="0">
              <a:latin typeface="微软雅黑" panose="00000500000000000000" charset="-122"/>
              <a:cs typeface="微软雅黑" panose="00000500000000000000" charset="-122"/>
            </a:endParaRPr>
          </a:p>
        </p:txBody>
      </p:sp>
      <p:sp>
        <p:nvSpPr>
          <p:cNvPr id="6" name="AutoShape 3"/>
          <p:cNvSpPr/>
          <p:nvPr/>
        </p:nvSpPr>
        <p:spPr>
          <a:xfrm>
            <a:off x="4648200" y="1417320"/>
            <a:ext cx="2794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400" b="1" i="0" u="none" strike="noStrike" dirty="0">
                <a:solidFill>
                  <a:srgbClr val="FFFFFF"/>
                </a:solidFill>
                <a:latin typeface="微软雅黑" panose="020B0200000000000000" charset="-122"/>
                <a:ea typeface="微软雅黑" panose="020B0200000000000000" charset="-122"/>
                <a:cs typeface="微软雅黑" panose="020B0200000000000000" charset="-122"/>
                <a:sym typeface="微软雅黑" panose="020B0200000000000000" charset="-122"/>
              </a:rPr>
              <a:t>03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线连接符 1"/>
          <p:cNvCxnSpPr/>
          <p:nvPr/>
        </p:nvCxnSpPr>
        <p:spPr>
          <a:xfrm>
            <a:off x="465823" y="344764"/>
            <a:ext cx="0" cy="442042"/>
          </a:xfrm>
          <a:prstGeom prst="line">
            <a:avLst/>
          </a:prstGeom>
          <a:ln w="762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572770" y="344805"/>
            <a:ext cx="993902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华锐</a:t>
            </a:r>
            <a:r>
              <a:rPr lang="en-US" altLang="zh-CN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FICC</a:t>
            </a:r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系统建设规划全景图</a:t>
            </a:r>
          </a:p>
        </p:txBody>
      </p:sp>
      <p:sp>
        <p:nvSpPr>
          <p:cNvPr id="42" name="TradingTierLabel"/>
          <p:cNvSpPr txBox="1"/>
          <p:nvPr/>
        </p:nvSpPr>
        <p:spPr>
          <a:xfrm>
            <a:off x="294005" y="1006475"/>
            <a:ext cx="1076325" cy="30670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CN" altLang="en-US" sz="14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</a:rPr>
              <a:t>客户群体</a:t>
            </a:r>
          </a:p>
        </p:txBody>
      </p:sp>
      <p:sp>
        <p:nvSpPr>
          <p:cNvPr id="61" name="TradingTierLabel"/>
          <p:cNvSpPr txBox="1"/>
          <p:nvPr/>
        </p:nvSpPr>
        <p:spPr>
          <a:xfrm>
            <a:off x="268605" y="4207510"/>
            <a:ext cx="942975" cy="52197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14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核心应用软件</a:t>
            </a:r>
          </a:p>
        </p:txBody>
      </p:sp>
      <p:sp>
        <p:nvSpPr>
          <p:cNvPr id="65" name="TradingTierLabel"/>
          <p:cNvSpPr txBox="1"/>
          <p:nvPr/>
        </p:nvSpPr>
        <p:spPr>
          <a:xfrm>
            <a:off x="294005" y="3369310"/>
            <a:ext cx="979170" cy="30607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noAutofit/>
          </a:bodyPr>
          <a:lstStyle/>
          <a:p>
            <a:pPr lvl="0" algn="l">
              <a:buClrTx/>
              <a:buSzTx/>
              <a:buFontTx/>
            </a:pPr>
            <a:r>
              <a:rPr lang="zh-CN" altLang="en-US" sz="14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解决方案</a:t>
            </a:r>
          </a:p>
        </p:txBody>
      </p:sp>
      <p:sp>
        <p:nvSpPr>
          <p:cNvPr id="66" name="TradingTierLabel"/>
          <p:cNvSpPr txBox="1"/>
          <p:nvPr/>
        </p:nvSpPr>
        <p:spPr>
          <a:xfrm>
            <a:off x="294005" y="2101215"/>
            <a:ext cx="1076325" cy="30670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zh-CN" altLang="en-US" sz="14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</a:rPr>
              <a:t>资产类型</a:t>
            </a:r>
          </a:p>
        </p:txBody>
      </p:sp>
      <p:grpSp>
        <p:nvGrpSpPr>
          <p:cNvPr id="240" name="组合 239"/>
          <p:cNvGrpSpPr/>
          <p:nvPr/>
        </p:nvGrpSpPr>
        <p:grpSpPr>
          <a:xfrm>
            <a:off x="1333500" y="1550035"/>
            <a:ext cx="9090660" cy="1247140"/>
            <a:chOff x="2100" y="2481"/>
            <a:chExt cx="14316" cy="1964"/>
          </a:xfrm>
        </p:grpSpPr>
        <p:sp>
          <p:nvSpPr>
            <p:cNvPr id="62" name="SubClear1"/>
            <p:cNvSpPr/>
            <p:nvPr/>
          </p:nvSpPr>
          <p:spPr>
            <a:xfrm>
              <a:off x="2106" y="3134"/>
              <a:ext cx="1753" cy="303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ctr">
                <a:buNone/>
              </a:pPr>
              <a:r>
                <a:rPr 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上海黄金交易所</a:t>
              </a:r>
            </a:p>
          </p:txBody>
        </p:sp>
        <p:sp>
          <p:nvSpPr>
            <p:cNvPr id="63" name="SubClear1"/>
            <p:cNvSpPr/>
            <p:nvPr/>
          </p:nvSpPr>
          <p:spPr>
            <a:xfrm>
              <a:off x="2106" y="3636"/>
              <a:ext cx="1753" cy="303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ctr">
                <a:buNone/>
              </a:pPr>
              <a:r>
                <a:rPr 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上海期货交易所</a:t>
              </a:r>
            </a:p>
          </p:txBody>
        </p:sp>
        <p:sp>
          <p:nvSpPr>
            <p:cNvPr id="64" name="SubClear1"/>
            <p:cNvSpPr/>
            <p:nvPr/>
          </p:nvSpPr>
          <p:spPr>
            <a:xfrm>
              <a:off x="2106" y="4132"/>
              <a:ext cx="1753" cy="303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ctr">
                <a:buNone/>
              </a:pPr>
              <a:r>
                <a:rPr 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中国外汇交易中心</a:t>
              </a:r>
            </a:p>
          </p:txBody>
        </p:sp>
        <p:sp>
          <p:nvSpPr>
            <p:cNvPr id="67" name="SubComp4"/>
            <p:cNvSpPr/>
            <p:nvPr/>
          </p:nvSpPr>
          <p:spPr>
            <a:xfrm>
              <a:off x="2100" y="2481"/>
              <a:ext cx="1758" cy="510"/>
            </a:xfrm>
            <a:prstGeom prst="roundRect">
              <a:avLst>
                <a:gd name="adj" fmla="val 16000"/>
              </a:avLst>
            </a:prstGeom>
            <a:solidFill>
              <a:schemeClr val="accent5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sz="1200" b="1" dirty="0">
                  <a:solidFill>
                    <a:schemeClr val="bg1"/>
                  </a:solidFill>
                  <a:latin typeface="Calibri" panose="020F0502020204030204"/>
                  <a:ea typeface="微软雅黑" panose="00000500000000000000" charset="-122"/>
                </a:rPr>
                <a:t>贵金属</a:t>
              </a:r>
            </a:p>
          </p:txBody>
        </p:sp>
        <p:sp>
          <p:nvSpPr>
            <p:cNvPr id="68" name="SubClear1"/>
            <p:cNvSpPr/>
            <p:nvPr/>
          </p:nvSpPr>
          <p:spPr>
            <a:xfrm>
              <a:off x="4192" y="3134"/>
              <a:ext cx="1759" cy="303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lvl="0" algn="ctr">
                <a:buClrTx/>
                <a:buSzTx/>
                <a:buFontTx/>
              </a:pPr>
              <a:r>
                <a:rPr 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  <a:sym typeface="+mn-ea"/>
                </a:rPr>
                <a:t>上海证券交易所</a:t>
              </a:r>
            </a:p>
          </p:txBody>
        </p:sp>
        <p:sp>
          <p:nvSpPr>
            <p:cNvPr id="69" name="SubClear1"/>
            <p:cNvSpPr/>
            <p:nvPr/>
          </p:nvSpPr>
          <p:spPr>
            <a:xfrm>
              <a:off x="4192" y="3636"/>
              <a:ext cx="1759" cy="303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lvl="0" algn="ctr">
                <a:buClrTx/>
                <a:buSzTx/>
                <a:buFontTx/>
              </a:pPr>
              <a:r>
                <a:rPr 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  <a:sym typeface="+mn-ea"/>
                </a:rPr>
                <a:t>深圳证券交易所</a:t>
              </a:r>
            </a:p>
          </p:txBody>
        </p:sp>
        <p:sp>
          <p:nvSpPr>
            <p:cNvPr id="70" name="SubClear1"/>
            <p:cNvSpPr/>
            <p:nvPr/>
          </p:nvSpPr>
          <p:spPr>
            <a:xfrm>
              <a:off x="4192" y="4132"/>
              <a:ext cx="1759" cy="303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lvl="0" algn="ctr">
                <a:buClrTx/>
                <a:buSzTx/>
                <a:buFontTx/>
              </a:pPr>
              <a:r>
                <a:rPr 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  <a:sym typeface="+mn-ea"/>
                </a:rPr>
                <a:t>中金期货交易所</a:t>
              </a:r>
            </a:p>
          </p:txBody>
        </p:sp>
        <p:sp>
          <p:nvSpPr>
            <p:cNvPr id="71" name="SubComp4"/>
            <p:cNvSpPr/>
            <p:nvPr/>
          </p:nvSpPr>
          <p:spPr>
            <a:xfrm>
              <a:off x="4193" y="2481"/>
              <a:ext cx="1758" cy="510"/>
            </a:xfrm>
            <a:prstGeom prst="roundRect">
              <a:avLst>
                <a:gd name="adj" fmla="val 16000"/>
              </a:avLst>
            </a:prstGeom>
            <a:solidFill>
              <a:schemeClr val="accent5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lvl="0" algn="l">
                <a:buClrTx/>
                <a:buSzTx/>
                <a:buFontTx/>
              </a:pPr>
              <a:r>
                <a:rPr lang="zh-CN" sz="1200" b="1" dirty="0">
                  <a:solidFill>
                    <a:schemeClr val="bg1"/>
                  </a:solidFill>
                  <a:latin typeface="Calibri" panose="020F0502020204030204"/>
                  <a:ea typeface="微软雅黑" panose="00000500000000000000" charset="-122"/>
                  <a:sym typeface="+mn-ea"/>
                </a:rPr>
                <a:t>权益</a:t>
              </a:r>
            </a:p>
          </p:txBody>
        </p:sp>
        <p:sp>
          <p:nvSpPr>
            <p:cNvPr id="72" name="SubClear1"/>
            <p:cNvSpPr/>
            <p:nvPr/>
          </p:nvSpPr>
          <p:spPr>
            <a:xfrm>
              <a:off x="6286" y="3134"/>
              <a:ext cx="1758" cy="303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>
              <a:noAutofit/>
            </a:bodyPr>
            <a:lstStyle/>
            <a:p>
              <a:pPr lvl="0" algn="ctr">
                <a:buClrTx/>
                <a:buSzTx/>
                <a:buFontTx/>
              </a:pPr>
              <a:r>
                <a:rPr 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  <a:sym typeface="+mn-ea"/>
                </a:rPr>
                <a:t>上交所</a:t>
              </a:r>
            </a:p>
          </p:txBody>
        </p:sp>
        <p:sp>
          <p:nvSpPr>
            <p:cNvPr id="73" name="SubClear1"/>
            <p:cNvSpPr/>
            <p:nvPr/>
          </p:nvSpPr>
          <p:spPr>
            <a:xfrm>
              <a:off x="6286" y="3636"/>
              <a:ext cx="1758" cy="303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lvl="0" algn="ctr">
                <a:buClrTx/>
                <a:buSzTx/>
                <a:buFontTx/>
              </a:pPr>
              <a:r>
                <a:rPr 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  <a:sym typeface="+mn-ea"/>
                </a:rPr>
                <a:t>深交所</a:t>
              </a:r>
            </a:p>
          </p:txBody>
        </p:sp>
        <p:sp>
          <p:nvSpPr>
            <p:cNvPr id="74" name="SubClear1"/>
            <p:cNvSpPr/>
            <p:nvPr/>
          </p:nvSpPr>
          <p:spPr>
            <a:xfrm>
              <a:off x="6286" y="4132"/>
              <a:ext cx="1758" cy="303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>
              <a:noAutofit/>
            </a:bodyPr>
            <a:lstStyle/>
            <a:p>
              <a:pPr lvl="0" algn="ctr">
                <a:buClrTx/>
                <a:buSzTx/>
                <a:buFontTx/>
              </a:pPr>
              <a:r>
                <a:rPr 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  <a:sym typeface="+mn-ea"/>
                </a:rPr>
                <a:t>中国外汇交易中心</a:t>
              </a:r>
            </a:p>
          </p:txBody>
        </p:sp>
        <p:sp>
          <p:nvSpPr>
            <p:cNvPr id="75" name="SubComp4"/>
            <p:cNvSpPr/>
            <p:nvPr/>
          </p:nvSpPr>
          <p:spPr>
            <a:xfrm>
              <a:off x="6286" y="2481"/>
              <a:ext cx="1758" cy="510"/>
            </a:xfrm>
            <a:prstGeom prst="roundRect">
              <a:avLst>
                <a:gd name="adj" fmla="val 16000"/>
              </a:avLst>
            </a:prstGeom>
            <a:solidFill>
              <a:schemeClr val="accent5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ctr">
                <a:buNone/>
              </a:pPr>
              <a:r>
                <a:rPr lang="zh-CN" altLang="en-US" sz="1200" b="1" dirty="0">
                  <a:solidFill>
                    <a:srgbClr val="FFFFFF"/>
                  </a:solidFill>
                  <a:latin typeface="Calibri" panose="020F0502020204030204"/>
                  <a:ea typeface="微软雅黑" panose="00000500000000000000" charset="-122"/>
                  <a:sym typeface="+mn-ea"/>
                </a:rPr>
                <a:t>债券二级</a:t>
              </a:r>
            </a:p>
          </p:txBody>
        </p:sp>
        <p:sp>
          <p:nvSpPr>
            <p:cNvPr id="76" name="SubClear1"/>
            <p:cNvSpPr/>
            <p:nvPr/>
          </p:nvSpPr>
          <p:spPr>
            <a:xfrm>
              <a:off x="8379" y="3134"/>
              <a:ext cx="1758" cy="276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>
              <a:noAutofit/>
            </a:bodyPr>
            <a:lstStyle/>
            <a:p>
              <a:pPr lvl="0" algn="ctr">
                <a:buClrTx/>
                <a:buSzTx/>
                <a:buFontTx/>
              </a:pPr>
              <a:r>
                <a:rPr 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  <a:sym typeface="+mn-ea"/>
                </a:rPr>
                <a:t>上交所</a:t>
              </a:r>
            </a:p>
          </p:txBody>
        </p:sp>
        <p:sp>
          <p:nvSpPr>
            <p:cNvPr id="77" name="SubClear1"/>
            <p:cNvSpPr/>
            <p:nvPr/>
          </p:nvSpPr>
          <p:spPr>
            <a:xfrm>
              <a:off x="8379" y="3479"/>
              <a:ext cx="1758" cy="276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lvl="0" algn="ctr">
                <a:buClrTx/>
                <a:buSzTx/>
                <a:buFontTx/>
              </a:pPr>
              <a:r>
                <a:rPr 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  <a:sym typeface="+mn-ea"/>
                </a:rPr>
                <a:t>深交所</a:t>
              </a:r>
            </a:p>
          </p:txBody>
        </p:sp>
        <p:sp>
          <p:nvSpPr>
            <p:cNvPr id="78" name="SubClear1"/>
            <p:cNvSpPr/>
            <p:nvPr/>
          </p:nvSpPr>
          <p:spPr>
            <a:xfrm>
              <a:off x="8381" y="4169"/>
              <a:ext cx="1758" cy="276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>
              <a:noAutofit/>
            </a:bodyPr>
            <a:lstStyle/>
            <a:p>
              <a:pPr lvl="0" algn="ctr">
                <a:buClrTx/>
                <a:buSzTx/>
                <a:buFontTx/>
              </a:pPr>
              <a:r>
                <a:rPr 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  <a:sym typeface="+mn-ea"/>
                </a:rPr>
                <a:t>中国外汇交易中心</a:t>
              </a:r>
            </a:p>
          </p:txBody>
        </p:sp>
        <p:sp>
          <p:nvSpPr>
            <p:cNvPr id="79" name="SubComp4"/>
            <p:cNvSpPr/>
            <p:nvPr/>
          </p:nvSpPr>
          <p:spPr>
            <a:xfrm>
              <a:off x="8379" y="2481"/>
              <a:ext cx="1758" cy="510"/>
            </a:xfrm>
            <a:prstGeom prst="roundRect">
              <a:avLst>
                <a:gd name="adj" fmla="val 16000"/>
              </a:avLst>
            </a:prstGeom>
            <a:solidFill>
              <a:schemeClr val="accent5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ctr">
                <a:buNone/>
              </a:pPr>
              <a:r>
                <a:rPr lang="zh-CN" altLang="en-US" sz="1200" b="1" dirty="0">
                  <a:solidFill>
                    <a:srgbClr val="FFFFFF"/>
                  </a:solidFill>
                  <a:latin typeface="Calibri" panose="020F0502020204030204"/>
                  <a:ea typeface="微软雅黑" panose="00000500000000000000" charset="-122"/>
                  <a:sym typeface="+mn-ea"/>
                </a:rPr>
                <a:t>债券一级</a:t>
              </a:r>
            </a:p>
          </p:txBody>
        </p:sp>
        <p:sp>
          <p:nvSpPr>
            <p:cNvPr id="81" name="SubClear1"/>
            <p:cNvSpPr/>
            <p:nvPr/>
          </p:nvSpPr>
          <p:spPr>
            <a:xfrm>
              <a:off x="8370" y="3824"/>
              <a:ext cx="1758" cy="276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lvl="0" algn="ctr">
                <a:buClrTx/>
                <a:buSzTx/>
                <a:buFontTx/>
              </a:pPr>
              <a:r>
                <a:rPr 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  <a:sym typeface="+mn-ea"/>
                </a:rPr>
                <a:t>北交所</a:t>
              </a:r>
            </a:p>
          </p:txBody>
        </p:sp>
        <p:sp>
          <p:nvSpPr>
            <p:cNvPr id="87" name="SubClear1"/>
            <p:cNvSpPr/>
            <p:nvPr/>
          </p:nvSpPr>
          <p:spPr>
            <a:xfrm>
              <a:off x="10473" y="3134"/>
              <a:ext cx="1757" cy="303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>
              <a:noAutofit/>
            </a:bodyPr>
            <a:lstStyle/>
            <a:p>
              <a:pPr lvl="0" algn="ctr">
                <a:buClrTx/>
                <a:buSzTx/>
                <a:buFontTx/>
              </a:pPr>
              <a:r>
                <a:rPr lang="zh-CN" altLang="en-US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  <a:sym typeface="+mn-ea"/>
                </a:rPr>
                <a:t>上海期货交易所</a:t>
              </a:r>
            </a:p>
          </p:txBody>
        </p:sp>
        <p:sp>
          <p:nvSpPr>
            <p:cNvPr id="88" name="SubClear1"/>
            <p:cNvSpPr/>
            <p:nvPr/>
          </p:nvSpPr>
          <p:spPr>
            <a:xfrm>
              <a:off x="10473" y="3636"/>
              <a:ext cx="1757" cy="303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lvl="0" algn="ctr">
                <a:buClrTx/>
                <a:buSzTx/>
                <a:buFontTx/>
              </a:pPr>
              <a:r>
                <a:rPr lang="zh-CN" altLang="en-US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郑州商品交易所</a:t>
              </a:r>
            </a:p>
          </p:txBody>
        </p:sp>
        <p:sp>
          <p:nvSpPr>
            <p:cNvPr id="91" name="SubClear1"/>
            <p:cNvSpPr/>
            <p:nvPr/>
          </p:nvSpPr>
          <p:spPr>
            <a:xfrm>
              <a:off x="10473" y="4132"/>
              <a:ext cx="1757" cy="303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>
              <a:noAutofit/>
            </a:bodyPr>
            <a:lstStyle/>
            <a:p>
              <a:pPr lvl="0" algn="ctr">
                <a:buClrTx/>
                <a:buSzTx/>
                <a:buFontTx/>
              </a:pPr>
              <a:r>
                <a:rPr lang="zh-CN" altLang="en-US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  <a:sym typeface="+mn-ea"/>
                </a:rPr>
                <a:t>大连商品交易所</a:t>
              </a:r>
            </a:p>
          </p:txBody>
        </p:sp>
        <p:sp>
          <p:nvSpPr>
            <p:cNvPr id="92" name="SubComp4"/>
            <p:cNvSpPr/>
            <p:nvPr/>
          </p:nvSpPr>
          <p:spPr>
            <a:xfrm>
              <a:off x="10472" y="2481"/>
              <a:ext cx="1758" cy="510"/>
            </a:xfrm>
            <a:prstGeom prst="roundRect">
              <a:avLst>
                <a:gd name="adj" fmla="val 16000"/>
              </a:avLst>
            </a:prstGeom>
            <a:solidFill>
              <a:schemeClr val="accent5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ctr">
                <a:buNone/>
              </a:pPr>
              <a:r>
                <a:rPr lang="zh-CN" altLang="en-US" sz="1200" b="1" dirty="0">
                  <a:solidFill>
                    <a:srgbClr val="FFFFFF"/>
                  </a:solidFill>
                  <a:latin typeface="Calibri" panose="020F0502020204030204"/>
                  <a:ea typeface="微软雅黑" panose="00000500000000000000" charset="-122"/>
                  <a:sym typeface="+mn-ea"/>
                </a:rPr>
                <a:t>大宗商品</a:t>
              </a:r>
            </a:p>
          </p:txBody>
        </p:sp>
        <p:sp>
          <p:nvSpPr>
            <p:cNvPr id="93" name="SubClear1"/>
            <p:cNvSpPr/>
            <p:nvPr/>
          </p:nvSpPr>
          <p:spPr>
            <a:xfrm>
              <a:off x="12566" y="3134"/>
              <a:ext cx="1757" cy="303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>
              <a:noAutofit/>
            </a:bodyPr>
            <a:lstStyle/>
            <a:p>
              <a:pPr lvl="0" algn="ctr">
                <a:buClrTx/>
                <a:buSzTx/>
                <a:buFontTx/>
              </a:pPr>
              <a:r>
                <a:rPr lang="zh-CN" altLang="en-US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  <a:sym typeface="+mn-ea"/>
                </a:rPr>
                <a:t>中国外汇交易中心</a:t>
              </a:r>
            </a:p>
          </p:txBody>
        </p:sp>
        <p:sp>
          <p:nvSpPr>
            <p:cNvPr id="94" name="SubClear1"/>
            <p:cNvSpPr/>
            <p:nvPr/>
          </p:nvSpPr>
          <p:spPr>
            <a:xfrm>
              <a:off x="12566" y="3636"/>
              <a:ext cx="1757" cy="303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lvl="0" algn="ctr">
                <a:buClrTx/>
                <a:buSzTx/>
                <a:buFontTx/>
              </a:pPr>
              <a:r>
                <a:rPr lang="zh-CN" altLang="en-US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路透</a:t>
              </a:r>
              <a:r>
                <a:rPr lang="en-US" alt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dealing</a:t>
              </a:r>
            </a:p>
          </p:txBody>
        </p:sp>
        <p:sp>
          <p:nvSpPr>
            <p:cNvPr id="95" name="SubClear1"/>
            <p:cNvSpPr/>
            <p:nvPr/>
          </p:nvSpPr>
          <p:spPr>
            <a:xfrm>
              <a:off x="12566" y="4132"/>
              <a:ext cx="1757" cy="303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>
              <a:noAutofit/>
            </a:bodyPr>
            <a:lstStyle/>
            <a:p>
              <a:pPr lvl="0" algn="ctr">
                <a:buClrTx/>
                <a:buSzTx/>
                <a:buFontTx/>
              </a:pPr>
              <a:r>
                <a:rPr lang="zh-CN" altLang="en-US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  <a:sym typeface="+mn-ea"/>
                </a:rPr>
                <a:t>国际投行</a:t>
              </a:r>
            </a:p>
          </p:txBody>
        </p:sp>
        <p:sp>
          <p:nvSpPr>
            <p:cNvPr id="96" name="SubComp4"/>
            <p:cNvSpPr/>
            <p:nvPr/>
          </p:nvSpPr>
          <p:spPr>
            <a:xfrm>
              <a:off x="12565" y="2481"/>
              <a:ext cx="1758" cy="510"/>
            </a:xfrm>
            <a:prstGeom prst="roundRect">
              <a:avLst>
                <a:gd name="adj" fmla="val 16000"/>
              </a:avLst>
            </a:prstGeom>
            <a:solidFill>
              <a:schemeClr val="accent5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ctr">
                <a:buNone/>
              </a:pPr>
              <a:r>
                <a:rPr lang="zh-CN" altLang="en-US" sz="1200" b="1" dirty="0">
                  <a:solidFill>
                    <a:srgbClr val="FFFFFF"/>
                  </a:solidFill>
                  <a:latin typeface="Calibri" panose="020F0502020204030204"/>
                  <a:ea typeface="微软雅黑" panose="00000500000000000000" charset="-122"/>
                  <a:sym typeface="+mn-ea"/>
                </a:rPr>
                <a:t>外汇</a:t>
              </a:r>
            </a:p>
          </p:txBody>
        </p:sp>
        <p:sp>
          <p:nvSpPr>
            <p:cNvPr id="97" name="SubClear1"/>
            <p:cNvSpPr/>
            <p:nvPr/>
          </p:nvSpPr>
          <p:spPr>
            <a:xfrm>
              <a:off x="14658" y="3134"/>
              <a:ext cx="1737" cy="303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>
              <a:noAutofit/>
            </a:bodyPr>
            <a:lstStyle/>
            <a:p>
              <a:pPr lvl="0" algn="ctr">
                <a:buClrTx/>
                <a:buSzTx/>
                <a:buFontTx/>
              </a:pPr>
              <a:r>
                <a:rPr lang="zh-CN" altLang="en-US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  <a:sym typeface="+mn-ea"/>
                </a:rPr>
                <a:t>国际证券交易所</a:t>
              </a:r>
            </a:p>
          </p:txBody>
        </p:sp>
        <p:sp>
          <p:nvSpPr>
            <p:cNvPr id="98" name="SubClear1"/>
            <p:cNvSpPr/>
            <p:nvPr/>
          </p:nvSpPr>
          <p:spPr>
            <a:xfrm>
              <a:off x="14658" y="3636"/>
              <a:ext cx="1737" cy="303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lvl="0" algn="ctr">
                <a:buClrTx/>
                <a:buSzTx/>
                <a:buFontTx/>
              </a:pPr>
              <a:r>
                <a:rPr lang="zh-CN" altLang="en-US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国际期货交易所</a:t>
              </a:r>
            </a:p>
          </p:txBody>
        </p:sp>
        <p:sp>
          <p:nvSpPr>
            <p:cNvPr id="100" name="SubClear1"/>
            <p:cNvSpPr/>
            <p:nvPr/>
          </p:nvSpPr>
          <p:spPr>
            <a:xfrm>
              <a:off x="14658" y="4132"/>
              <a:ext cx="1737" cy="303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>
              <a:noAutofit/>
            </a:bodyPr>
            <a:lstStyle/>
            <a:p>
              <a:pPr lvl="0" algn="ctr">
                <a:buClrTx/>
                <a:buSzTx/>
                <a:buFontTx/>
              </a:pPr>
              <a:r>
                <a:rPr lang="zh-CN" altLang="en-US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  <a:sym typeface="+mn-ea"/>
                </a:rPr>
                <a:t>国际商品交易所</a:t>
              </a:r>
            </a:p>
          </p:txBody>
        </p:sp>
        <p:sp>
          <p:nvSpPr>
            <p:cNvPr id="115" name="SubComp4"/>
            <p:cNvSpPr/>
            <p:nvPr/>
          </p:nvSpPr>
          <p:spPr>
            <a:xfrm>
              <a:off x="14658" y="2481"/>
              <a:ext cx="1758" cy="510"/>
            </a:xfrm>
            <a:prstGeom prst="roundRect">
              <a:avLst>
                <a:gd name="adj" fmla="val 16000"/>
              </a:avLst>
            </a:prstGeom>
            <a:solidFill>
              <a:schemeClr val="accent5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ctr">
                <a:buNone/>
              </a:pPr>
              <a:r>
                <a:rPr lang="zh-CN" altLang="en-US" sz="1200" b="1" dirty="0">
                  <a:solidFill>
                    <a:srgbClr val="FFFFFF"/>
                  </a:solidFill>
                  <a:latin typeface="Calibri" panose="020F0502020204030204"/>
                  <a:ea typeface="微软雅黑" panose="00000500000000000000" charset="-122"/>
                  <a:sym typeface="+mn-ea"/>
                </a:rPr>
                <a:t>国际业务</a:t>
              </a:r>
            </a:p>
          </p:txBody>
        </p:sp>
      </p:grpSp>
      <p:sp>
        <p:nvSpPr>
          <p:cNvPr id="168" name="TradingTierLabel"/>
          <p:cNvSpPr txBox="1"/>
          <p:nvPr/>
        </p:nvSpPr>
        <p:spPr>
          <a:xfrm>
            <a:off x="268605" y="6008370"/>
            <a:ext cx="942975" cy="52197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14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底层核心能力</a:t>
            </a:r>
          </a:p>
        </p:txBody>
      </p:sp>
      <p:grpSp>
        <p:nvGrpSpPr>
          <p:cNvPr id="233" name="组合 232"/>
          <p:cNvGrpSpPr/>
          <p:nvPr/>
        </p:nvGrpSpPr>
        <p:grpSpPr>
          <a:xfrm>
            <a:off x="10589895" y="2101215"/>
            <a:ext cx="1536700" cy="2687320"/>
            <a:chOff x="16677" y="3309"/>
            <a:chExt cx="2420" cy="4232"/>
          </a:xfrm>
        </p:grpSpPr>
        <p:sp>
          <p:nvSpPr>
            <p:cNvPr id="17" name="矩形 16"/>
            <p:cNvSpPr/>
            <p:nvPr/>
          </p:nvSpPr>
          <p:spPr>
            <a:xfrm>
              <a:off x="16677" y="3309"/>
              <a:ext cx="2420" cy="4232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sz="1600">
                <a:latin typeface="微软雅黑" panose="00000500000000000000" charset="-122"/>
                <a:ea typeface="微软雅黑" panose="00000500000000000000" charset="-122"/>
              </a:endParaRPr>
            </a:p>
          </p:txBody>
        </p:sp>
        <p:sp>
          <p:nvSpPr>
            <p:cNvPr id="175" name="SubComp4"/>
            <p:cNvSpPr/>
            <p:nvPr/>
          </p:nvSpPr>
          <p:spPr>
            <a:xfrm>
              <a:off x="16965" y="3404"/>
              <a:ext cx="1758" cy="510"/>
            </a:xfrm>
            <a:prstGeom prst="roundRect">
              <a:avLst>
                <a:gd name="adj" fmla="val 16000"/>
              </a:avLst>
            </a:prstGeom>
            <a:solidFill>
              <a:srgbClr val="F54D6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ctr">
                <a:buNone/>
              </a:pPr>
              <a:r>
                <a:rPr lang="zh-CN" altLang="en-US" sz="900" b="1" dirty="0">
                  <a:solidFill>
                    <a:srgbClr val="FFFFFF"/>
                  </a:solidFill>
                  <a:latin typeface="Calibri" panose="020F0502020204030204"/>
                  <a:ea typeface="微软雅黑" panose="00000500000000000000" charset="-122"/>
                  <a:sym typeface="+mn-ea"/>
                </a:rPr>
                <a:t>市场数据</a:t>
              </a:r>
            </a:p>
          </p:txBody>
        </p:sp>
        <p:sp>
          <p:nvSpPr>
            <p:cNvPr id="176" name="SubComp4"/>
            <p:cNvSpPr/>
            <p:nvPr/>
          </p:nvSpPr>
          <p:spPr>
            <a:xfrm>
              <a:off x="16965" y="4028"/>
              <a:ext cx="1758" cy="480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sz="9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万得</a:t>
              </a:r>
            </a:p>
          </p:txBody>
        </p:sp>
        <p:sp>
          <p:nvSpPr>
            <p:cNvPr id="177" name="SubComp4"/>
            <p:cNvSpPr/>
            <p:nvPr/>
          </p:nvSpPr>
          <p:spPr>
            <a:xfrm>
              <a:off x="16965" y="4622"/>
              <a:ext cx="1758" cy="480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sz="9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彭博</a:t>
              </a:r>
            </a:p>
          </p:txBody>
        </p:sp>
        <p:sp>
          <p:nvSpPr>
            <p:cNvPr id="179" name="SubComp4"/>
            <p:cNvSpPr/>
            <p:nvPr/>
          </p:nvSpPr>
          <p:spPr>
            <a:xfrm>
              <a:off x="16965" y="5205"/>
              <a:ext cx="1758" cy="480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altLang="en-US" sz="9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中国外汇交易中心</a:t>
              </a:r>
            </a:p>
          </p:txBody>
        </p:sp>
        <p:sp>
          <p:nvSpPr>
            <p:cNvPr id="181" name="SubComp4"/>
            <p:cNvSpPr/>
            <p:nvPr/>
          </p:nvSpPr>
          <p:spPr>
            <a:xfrm>
              <a:off x="16965" y="5788"/>
              <a:ext cx="1758" cy="480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sz="9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森浦</a:t>
              </a:r>
            </a:p>
          </p:txBody>
        </p:sp>
        <p:sp>
          <p:nvSpPr>
            <p:cNvPr id="182" name="SubComp4"/>
            <p:cNvSpPr/>
            <p:nvPr/>
          </p:nvSpPr>
          <p:spPr>
            <a:xfrm>
              <a:off x="16965" y="6371"/>
              <a:ext cx="1758" cy="480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en-US" altLang="zh-CN" sz="9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YY</a:t>
              </a:r>
              <a:r>
                <a:rPr lang="zh-CN" altLang="en-US" sz="9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评级</a:t>
              </a:r>
            </a:p>
          </p:txBody>
        </p:sp>
        <p:sp>
          <p:nvSpPr>
            <p:cNvPr id="183" name="SubComp4"/>
            <p:cNvSpPr/>
            <p:nvPr/>
          </p:nvSpPr>
          <p:spPr>
            <a:xfrm>
              <a:off x="16965" y="6943"/>
              <a:ext cx="1758" cy="480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en-US" altLang="zh-CN" sz="9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DM</a:t>
              </a:r>
            </a:p>
          </p:txBody>
        </p:sp>
      </p:grpSp>
      <p:grpSp>
        <p:nvGrpSpPr>
          <p:cNvPr id="234" name="组合 233"/>
          <p:cNvGrpSpPr/>
          <p:nvPr/>
        </p:nvGrpSpPr>
        <p:grpSpPr>
          <a:xfrm>
            <a:off x="10772775" y="4869180"/>
            <a:ext cx="1116330" cy="1399540"/>
            <a:chOff x="16965" y="7588"/>
            <a:chExt cx="1758" cy="2204"/>
          </a:xfrm>
        </p:grpSpPr>
        <p:sp>
          <p:nvSpPr>
            <p:cNvPr id="184" name="SubComp4"/>
            <p:cNvSpPr/>
            <p:nvPr/>
          </p:nvSpPr>
          <p:spPr>
            <a:xfrm>
              <a:off x="16965" y="7588"/>
              <a:ext cx="1758" cy="510"/>
            </a:xfrm>
            <a:prstGeom prst="roundRect">
              <a:avLst>
                <a:gd name="adj" fmla="val 16000"/>
              </a:avLst>
            </a:prstGeom>
            <a:solidFill>
              <a:srgbClr val="F54D6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ctr">
                <a:buNone/>
              </a:pPr>
              <a:r>
                <a:rPr lang="zh-CN" altLang="en-US" sz="900" b="1" dirty="0">
                  <a:solidFill>
                    <a:srgbClr val="FFFFFF"/>
                  </a:solidFill>
                  <a:latin typeface="Calibri" panose="020F0502020204030204"/>
                  <a:ea typeface="微软雅黑" panose="00000500000000000000" charset="-122"/>
                  <a:sym typeface="+mn-ea"/>
                </a:rPr>
                <a:t>清结算</a:t>
              </a:r>
            </a:p>
          </p:txBody>
        </p:sp>
        <p:sp>
          <p:nvSpPr>
            <p:cNvPr id="185" name="SubComp4"/>
            <p:cNvSpPr/>
            <p:nvPr/>
          </p:nvSpPr>
          <p:spPr>
            <a:xfrm>
              <a:off x="16965" y="8179"/>
              <a:ext cx="1758" cy="480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sz="9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中债</a:t>
              </a:r>
            </a:p>
          </p:txBody>
        </p:sp>
        <p:sp>
          <p:nvSpPr>
            <p:cNvPr id="186" name="SubComp4"/>
            <p:cNvSpPr/>
            <p:nvPr/>
          </p:nvSpPr>
          <p:spPr>
            <a:xfrm>
              <a:off x="16965" y="8762"/>
              <a:ext cx="1758" cy="480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sz="9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中登</a:t>
              </a:r>
            </a:p>
          </p:txBody>
        </p:sp>
        <p:sp>
          <p:nvSpPr>
            <p:cNvPr id="187" name="SubComp4"/>
            <p:cNvSpPr/>
            <p:nvPr/>
          </p:nvSpPr>
          <p:spPr>
            <a:xfrm>
              <a:off x="16965" y="9312"/>
              <a:ext cx="1758" cy="480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altLang="en-US" sz="9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上清</a:t>
              </a:r>
            </a:p>
          </p:txBody>
        </p:sp>
      </p:grpSp>
      <p:cxnSp>
        <p:nvCxnSpPr>
          <p:cNvPr id="189" name="直接连接符 188"/>
          <p:cNvCxnSpPr/>
          <p:nvPr/>
        </p:nvCxnSpPr>
        <p:spPr>
          <a:xfrm>
            <a:off x="358140" y="1433830"/>
            <a:ext cx="10035540" cy="0"/>
          </a:xfrm>
          <a:prstGeom prst="line">
            <a:avLst/>
          </a:prstGeom>
          <a:ln w="3175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0" name="直接连接符 189"/>
          <p:cNvCxnSpPr/>
          <p:nvPr/>
        </p:nvCxnSpPr>
        <p:spPr>
          <a:xfrm>
            <a:off x="360045" y="2898140"/>
            <a:ext cx="10035540" cy="0"/>
          </a:xfrm>
          <a:prstGeom prst="line">
            <a:avLst/>
          </a:prstGeom>
          <a:ln w="3175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2" name="直接连接符 191"/>
          <p:cNvCxnSpPr/>
          <p:nvPr/>
        </p:nvCxnSpPr>
        <p:spPr>
          <a:xfrm>
            <a:off x="360045" y="4128770"/>
            <a:ext cx="10035540" cy="0"/>
          </a:xfrm>
          <a:prstGeom prst="line">
            <a:avLst/>
          </a:prstGeom>
          <a:ln w="3175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3" name="直接连接符 192"/>
          <p:cNvCxnSpPr/>
          <p:nvPr/>
        </p:nvCxnSpPr>
        <p:spPr>
          <a:xfrm>
            <a:off x="360045" y="4716780"/>
            <a:ext cx="10035540" cy="0"/>
          </a:xfrm>
          <a:prstGeom prst="line">
            <a:avLst/>
          </a:prstGeom>
          <a:ln w="3175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360045" y="5929630"/>
            <a:ext cx="10035540" cy="0"/>
          </a:xfrm>
          <a:prstGeom prst="line">
            <a:avLst/>
          </a:prstGeom>
          <a:ln w="3175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241" name="组合 240"/>
          <p:cNvGrpSpPr/>
          <p:nvPr/>
        </p:nvGrpSpPr>
        <p:grpSpPr>
          <a:xfrm>
            <a:off x="1337310" y="1006475"/>
            <a:ext cx="8984615" cy="306705"/>
            <a:chOff x="2106" y="1585"/>
            <a:chExt cx="14149" cy="483"/>
          </a:xfrm>
        </p:grpSpPr>
        <p:sp>
          <p:nvSpPr>
            <p:cNvPr id="47" name="SubComp4"/>
            <p:cNvSpPr/>
            <p:nvPr/>
          </p:nvSpPr>
          <p:spPr>
            <a:xfrm>
              <a:off x="2106" y="1585"/>
              <a:ext cx="1336" cy="480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券商自营</a:t>
              </a:r>
            </a:p>
          </p:txBody>
        </p:sp>
        <p:sp>
          <p:nvSpPr>
            <p:cNvPr id="48" name="SubComp4"/>
            <p:cNvSpPr/>
            <p:nvPr/>
          </p:nvSpPr>
          <p:spPr>
            <a:xfrm>
              <a:off x="3705" y="1588"/>
              <a:ext cx="1340" cy="480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券商期货</a:t>
              </a:r>
            </a:p>
          </p:txBody>
        </p:sp>
        <p:sp>
          <p:nvSpPr>
            <p:cNvPr id="49" name="SubComp4"/>
            <p:cNvSpPr/>
            <p:nvPr/>
          </p:nvSpPr>
          <p:spPr>
            <a:xfrm>
              <a:off x="5308" y="1588"/>
              <a:ext cx="1379" cy="480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券商资管</a:t>
              </a:r>
            </a:p>
          </p:txBody>
        </p:sp>
        <p:sp>
          <p:nvSpPr>
            <p:cNvPr id="51" name="SubComp4"/>
            <p:cNvSpPr/>
            <p:nvPr/>
          </p:nvSpPr>
          <p:spPr>
            <a:xfrm>
              <a:off x="6950" y="1585"/>
              <a:ext cx="1434" cy="480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券商国际</a:t>
              </a:r>
            </a:p>
          </p:txBody>
        </p:sp>
        <p:sp>
          <p:nvSpPr>
            <p:cNvPr id="52" name="SubComp4"/>
            <p:cNvSpPr/>
            <p:nvPr/>
          </p:nvSpPr>
          <p:spPr>
            <a:xfrm>
              <a:off x="13448" y="1588"/>
              <a:ext cx="1272" cy="480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公募</a:t>
              </a:r>
            </a:p>
          </p:txBody>
        </p:sp>
        <p:sp>
          <p:nvSpPr>
            <p:cNvPr id="53" name="SubComp4"/>
            <p:cNvSpPr/>
            <p:nvPr/>
          </p:nvSpPr>
          <p:spPr>
            <a:xfrm>
              <a:off x="8647" y="1588"/>
              <a:ext cx="1360" cy="480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altLang="en-US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信托</a:t>
              </a:r>
            </a:p>
          </p:txBody>
        </p:sp>
        <p:sp>
          <p:nvSpPr>
            <p:cNvPr id="54" name="SubComp4"/>
            <p:cNvSpPr/>
            <p:nvPr/>
          </p:nvSpPr>
          <p:spPr>
            <a:xfrm>
              <a:off x="10270" y="1588"/>
              <a:ext cx="1342" cy="480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银行</a:t>
              </a:r>
            </a:p>
          </p:txBody>
        </p:sp>
        <p:sp>
          <p:nvSpPr>
            <p:cNvPr id="55" name="SubComp4"/>
            <p:cNvSpPr/>
            <p:nvPr/>
          </p:nvSpPr>
          <p:spPr>
            <a:xfrm>
              <a:off x="11875" y="1588"/>
              <a:ext cx="1310" cy="480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保险</a:t>
              </a:r>
            </a:p>
          </p:txBody>
        </p:sp>
        <p:sp>
          <p:nvSpPr>
            <p:cNvPr id="197" name="SubComp4"/>
            <p:cNvSpPr/>
            <p:nvPr/>
          </p:nvSpPr>
          <p:spPr>
            <a:xfrm>
              <a:off x="14983" y="1588"/>
              <a:ext cx="1272" cy="480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私募</a:t>
              </a:r>
            </a:p>
          </p:txBody>
        </p:sp>
      </p:grpSp>
      <p:grpSp>
        <p:nvGrpSpPr>
          <p:cNvPr id="239" name="组合 238"/>
          <p:cNvGrpSpPr/>
          <p:nvPr/>
        </p:nvGrpSpPr>
        <p:grpSpPr>
          <a:xfrm>
            <a:off x="1304290" y="2977515"/>
            <a:ext cx="9119870" cy="1098550"/>
            <a:chOff x="2054" y="4689"/>
            <a:chExt cx="14362" cy="1730"/>
          </a:xfrm>
        </p:grpSpPr>
        <p:sp>
          <p:nvSpPr>
            <p:cNvPr id="116" name="SubComp4"/>
            <p:cNvSpPr/>
            <p:nvPr/>
          </p:nvSpPr>
          <p:spPr>
            <a:xfrm>
              <a:off x="2054" y="4696"/>
              <a:ext cx="4383" cy="510"/>
            </a:xfrm>
            <a:prstGeom prst="roundRect">
              <a:avLst>
                <a:gd name="adj" fmla="val 16000"/>
              </a:avLst>
            </a:prstGeom>
            <a:solidFill>
              <a:schemeClr val="accent5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sz="1200" b="1" dirty="0">
                  <a:solidFill>
                    <a:schemeClr val="bg1"/>
                  </a:solidFill>
                  <a:latin typeface="Calibri" panose="020F0502020204030204"/>
                  <a:ea typeface="微软雅黑" panose="00000500000000000000" charset="-122"/>
                </a:rPr>
                <a:t>自营投资</a:t>
              </a:r>
            </a:p>
          </p:txBody>
        </p:sp>
        <p:sp>
          <p:nvSpPr>
            <p:cNvPr id="117" name="SubComp4"/>
            <p:cNvSpPr/>
            <p:nvPr/>
          </p:nvSpPr>
          <p:spPr>
            <a:xfrm>
              <a:off x="7079" y="4696"/>
              <a:ext cx="4337" cy="510"/>
            </a:xfrm>
            <a:prstGeom prst="roundRect">
              <a:avLst>
                <a:gd name="adj" fmla="val 16000"/>
              </a:avLst>
            </a:prstGeom>
            <a:solidFill>
              <a:schemeClr val="accent5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sz="1200" b="1" dirty="0">
                  <a:solidFill>
                    <a:schemeClr val="bg1"/>
                  </a:solidFill>
                  <a:latin typeface="Calibri" panose="020F0502020204030204"/>
                  <a:ea typeface="微软雅黑" panose="00000500000000000000" charset="-122"/>
                </a:rPr>
                <a:t>客需服务</a:t>
              </a:r>
            </a:p>
          </p:txBody>
        </p:sp>
        <p:sp>
          <p:nvSpPr>
            <p:cNvPr id="118" name="SubComp4"/>
            <p:cNvSpPr/>
            <p:nvPr/>
          </p:nvSpPr>
          <p:spPr>
            <a:xfrm>
              <a:off x="12058" y="4689"/>
              <a:ext cx="4337" cy="510"/>
            </a:xfrm>
            <a:prstGeom prst="roundRect">
              <a:avLst>
                <a:gd name="adj" fmla="val 16000"/>
              </a:avLst>
            </a:prstGeom>
            <a:solidFill>
              <a:schemeClr val="accent5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sz="1200" b="1" dirty="0">
                  <a:solidFill>
                    <a:schemeClr val="bg1"/>
                  </a:solidFill>
                  <a:latin typeface="Calibri" panose="020F0502020204030204"/>
                  <a:ea typeface="微软雅黑" panose="00000500000000000000" charset="-122"/>
                </a:rPr>
                <a:t>做市服务</a:t>
              </a:r>
            </a:p>
          </p:txBody>
        </p:sp>
        <p:sp>
          <p:nvSpPr>
            <p:cNvPr id="119" name="SubClear1"/>
            <p:cNvSpPr/>
            <p:nvPr/>
          </p:nvSpPr>
          <p:spPr>
            <a:xfrm>
              <a:off x="2066" y="5343"/>
              <a:ext cx="919" cy="30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ctr">
                <a:buNone/>
              </a:pPr>
              <a:r>
                <a:rPr 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量化投资</a:t>
              </a:r>
            </a:p>
          </p:txBody>
        </p:sp>
        <p:sp>
          <p:nvSpPr>
            <p:cNvPr id="139" name="SubClear1"/>
            <p:cNvSpPr/>
            <p:nvPr/>
          </p:nvSpPr>
          <p:spPr>
            <a:xfrm>
              <a:off x="3081" y="5325"/>
              <a:ext cx="1111" cy="30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ctr">
                <a:buNone/>
              </a:pPr>
              <a:r>
                <a:rPr 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利率债投资</a:t>
              </a:r>
            </a:p>
          </p:txBody>
        </p:sp>
        <p:sp>
          <p:nvSpPr>
            <p:cNvPr id="142" name="SubClear1"/>
            <p:cNvSpPr/>
            <p:nvPr/>
          </p:nvSpPr>
          <p:spPr>
            <a:xfrm>
              <a:off x="4290" y="5325"/>
              <a:ext cx="1109" cy="321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ctr">
                <a:buNone/>
              </a:pPr>
              <a:r>
                <a:rPr 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信用债投资</a:t>
              </a:r>
            </a:p>
          </p:txBody>
        </p:sp>
        <p:sp>
          <p:nvSpPr>
            <p:cNvPr id="143" name="SubClear1"/>
            <p:cNvSpPr/>
            <p:nvPr/>
          </p:nvSpPr>
          <p:spPr>
            <a:xfrm>
              <a:off x="2067" y="5712"/>
              <a:ext cx="1277" cy="30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ctr">
                <a:buNone/>
              </a:pPr>
              <a:r>
                <a:rPr lang="en-US" alt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PMS</a:t>
              </a:r>
            </a:p>
          </p:txBody>
        </p:sp>
        <p:sp>
          <p:nvSpPr>
            <p:cNvPr id="144" name="SubClear1"/>
            <p:cNvSpPr/>
            <p:nvPr/>
          </p:nvSpPr>
          <p:spPr>
            <a:xfrm>
              <a:off x="4969" y="5712"/>
              <a:ext cx="1468" cy="276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ctr">
                <a:buNone/>
              </a:pPr>
              <a:r>
                <a:rPr 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运营管理工作台</a:t>
              </a:r>
            </a:p>
          </p:txBody>
        </p:sp>
        <p:sp>
          <p:nvSpPr>
            <p:cNvPr id="145" name="SubClear1"/>
            <p:cNvSpPr/>
            <p:nvPr/>
          </p:nvSpPr>
          <p:spPr>
            <a:xfrm>
              <a:off x="7079" y="5343"/>
              <a:ext cx="1092" cy="30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ctr">
                <a:buNone/>
              </a:pPr>
              <a:r>
                <a:rPr 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销售交易</a:t>
              </a:r>
            </a:p>
          </p:txBody>
        </p:sp>
        <p:sp>
          <p:nvSpPr>
            <p:cNvPr id="146" name="SubClear1"/>
            <p:cNvSpPr/>
            <p:nvPr/>
          </p:nvSpPr>
          <p:spPr>
            <a:xfrm>
              <a:off x="10380" y="5343"/>
              <a:ext cx="901" cy="30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ctr">
                <a:buNone/>
              </a:pPr>
              <a:r>
                <a:rPr 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债券柜台</a:t>
              </a:r>
            </a:p>
          </p:txBody>
        </p:sp>
        <p:sp>
          <p:nvSpPr>
            <p:cNvPr id="147" name="SubClear1"/>
            <p:cNvSpPr/>
            <p:nvPr/>
          </p:nvSpPr>
          <p:spPr>
            <a:xfrm>
              <a:off x="8276" y="5343"/>
              <a:ext cx="975" cy="30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ctr">
                <a:buNone/>
              </a:pPr>
              <a:r>
                <a:rPr 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投顾</a:t>
              </a:r>
            </a:p>
          </p:txBody>
        </p:sp>
        <p:sp>
          <p:nvSpPr>
            <p:cNvPr id="148" name="SubClear1"/>
            <p:cNvSpPr/>
            <p:nvPr/>
          </p:nvSpPr>
          <p:spPr>
            <a:xfrm>
              <a:off x="9356" y="5343"/>
              <a:ext cx="919" cy="30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ctr">
                <a:buNone/>
              </a:pPr>
              <a:r>
                <a:rPr lang="en-US" alt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TRS</a:t>
              </a:r>
            </a:p>
          </p:txBody>
        </p:sp>
        <p:sp>
          <p:nvSpPr>
            <p:cNvPr id="149" name="SubClear1"/>
            <p:cNvSpPr/>
            <p:nvPr/>
          </p:nvSpPr>
          <p:spPr>
            <a:xfrm>
              <a:off x="12078" y="5343"/>
              <a:ext cx="2027" cy="30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ctr">
                <a:buNone/>
              </a:pPr>
              <a:r>
                <a:rPr 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双边做市</a:t>
              </a:r>
            </a:p>
          </p:txBody>
        </p:sp>
        <p:sp>
          <p:nvSpPr>
            <p:cNvPr id="150" name="SubClear1"/>
            <p:cNvSpPr/>
            <p:nvPr/>
          </p:nvSpPr>
          <p:spPr>
            <a:xfrm>
              <a:off x="14369" y="5343"/>
              <a:ext cx="2039" cy="30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ctr">
                <a:buNone/>
              </a:pPr>
              <a:r>
                <a:rPr lang="zh-CN" altLang="en-US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债券通做市</a:t>
              </a:r>
            </a:p>
          </p:txBody>
        </p:sp>
        <p:sp>
          <p:nvSpPr>
            <p:cNvPr id="198" name="SubClear1"/>
            <p:cNvSpPr/>
            <p:nvPr/>
          </p:nvSpPr>
          <p:spPr>
            <a:xfrm>
              <a:off x="12078" y="5712"/>
              <a:ext cx="2027" cy="30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ctr">
                <a:buNone/>
              </a:pPr>
              <a:r>
                <a:rPr lang="zh-CN" altLang="en-US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国债期货做市</a:t>
              </a:r>
            </a:p>
          </p:txBody>
        </p:sp>
        <p:sp>
          <p:nvSpPr>
            <p:cNvPr id="199" name="SubClear1"/>
            <p:cNvSpPr/>
            <p:nvPr/>
          </p:nvSpPr>
          <p:spPr>
            <a:xfrm>
              <a:off x="14389" y="5712"/>
              <a:ext cx="2027" cy="30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ctr">
                <a:buNone/>
              </a:pPr>
              <a:r>
                <a:rPr lang="en-US" alt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API</a:t>
              </a:r>
              <a:r>
                <a:rPr lang="zh-CN" altLang="en-US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接口做市报价</a:t>
              </a:r>
            </a:p>
          </p:txBody>
        </p:sp>
        <p:sp>
          <p:nvSpPr>
            <p:cNvPr id="200" name="SubClear1"/>
            <p:cNvSpPr/>
            <p:nvPr/>
          </p:nvSpPr>
          <p:spPr>
            <a:xfrm>
              <a:off x="7086" y="5712"/>
              <a:ext cx="1589" cy="316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ctr">
                <a:buNone/>
              </a:pPr>
              <a:r>
                <a:rPr 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信用研究服务</a:t>
              </a:r>
            </a:p>
          </p:txBody>
        </p:sp>
        <p:sp>
          <p:nvSpPr>
            <p:cNvPr id="201" name="SubClear1"/>
            <p:cNvSpPr/>
            <p:nvPr/>
          </p:nvSpPr>
          <p:spPr>
            <a:xfrm>
              <a:off x="9225" y="5712"/>
              <a:ext cx="1754" cy="316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ctr">
                <a:buNone/>
              </a:pPr>
              <a:r>
                <a:rPr 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利率债研究服务</a:t>
              </a:r>
            </a:p>
          </p:txBody>
        </p:sp>
        <p:sp>
          <p:nvSpPr>
            <p:cNvPr id="202" name="SubClear1"/>
            <p:cNvSpPr/>
            <p:nvPr/>
          </p:nvSpPr>
          <p:spPr>
            <a:xfrm>
              <a:off x="7096" y="6112"/>
              <a:ext cx="1355" cy="30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ctr">
                <a:buNone/>
              </a:pPr>
              <a:r>
                <a:rPr 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组合分析服务</a:t>
              </a:r>
            </a:p>
          </p:txBody>
        </p:sp>
        <p:sp>
          <p:nvSpPr>
            <p:cNvPr id="203" name="SubClear1"/>
            <p:cNvSpPr/>
            <p:nvPr/>
          </p:nvSpPr>
          <p:spPr>
            <a:xfrm>
              <a:off x="3680" y="5712"/>
              <a:ext cx="1074" cy="30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ctr">
                <a:buNone/>
              </a:pPr>
              <a:r>
                <a:rPr lang="en-US" alt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OMS</a:t>
              </a:r>
            </a:p>
          </p:txBody>
        </p:sp>
        <p:sp>
          <p:nvSpPr>
            <p:cNvPr id="204" name="SubClear1"/>
            <p:cNvSpPr/>
            <p:nvPr/>
          </p:nvSpPr>
          <p:spPr>
            <a:xfrm>
              <a:off x="5453" y="5325"/>
              <a:ext cx="939" cy="30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ctr">
                <a:buNone/>
              </a:pPr>
              <a:r>
                <a:rPr lang="en-US" alt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FOF</a:t>
              </a:r>
              <a:r>
                <a:rPr 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投资</a:t>
              </a:r>
            </a:p>
          </p:txBody>
        </p:sp>
        <p:sp>
          <p:nvSpPr>
            <p:cNvPr id="205" name="SubClear1"/>
            <p:cNvSpPr/>
            <p:nvPr/>
          </p:nvSpPr>
          <p:spPr>
            <a:xfrm>
              <a:off x="2055" y="6106"/>
              <a:ext cx="1289" cy="308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ctr">
                <a:buNone/>
              </a:pPr>
              <a:r>
                <a:rPr 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招投标工作台</a:t>
              </a:r>
              <a:endParaRPr lang="zh-CN" altLang="zh-CN" sz="1000" dirty="0">
                <a:solidFill>
                  <a:schemeClr val="bg2">
                    <a:lumMod val="25000"/>
                  </a:schemeClr>
                </a:solidFill>
                <a:latin typeface="Calibri" panose="020F0502020204030204"/>
                <a:ea typeface="微软雅黑" panose="00000500000000000000" charset="-122"/>
              </a:endParaRPr>
            </a:p>
          </p:txBody>
        </p:sp>
        <p:sp>
          <p:nvSpPr>
            <p:cNvPr id="206" name="SubClear1"/>
            <p:cNvSpPr/>
            <p:nvPr/>
          </p:nvSpPr>
          <p:spPr>
            <a:xfrm>
              <a:off x="3505" y="6106"/>
              <a:ext cx="1696" cy="313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ctr">
                <a:buNone/>
              </a:pPr>
              <a:r>
                <a:rPr 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流动性管理工作台</a:t>
              </a:r>
              <a:endParaRPr lang="zh-CN" altLang="zh-CN" sz="1000" dirty="0">
                <a:solidFill>
                  <a:schemeClr val="bg2">
                    <a:lumMod val="25000"/>
                  </a:schemeClr>
                </a:solidFill>
                <a:latin typeface="Calibri" panose="020F0502020204030204"/>
                <a:ea typeface="微软雅黑" panose="00000500000000000000" charset="-122"/>
              </a:endParaRPr>
            </a:p>
          </p:txBody>
        </p:sp>
      </p:grpSp>
      <p:grpSp>
        <p:nvGrpSpPr>
          <p:cNvPr id="238" name="组合 237"/>
          <p:cNvGrpSpPr/>
          <p:nvPr/>
        </p:nvGrpSpPr>
        <p:grpSpPr>
          <a:xfrm>
            <a:off x="1333500" y="4338320"/>
            <a:ext cx="9091930" cy="306070"/>
            <a:chOff x="2100" y="6812"/>
            <a:chExt cx="14318" cy="482"/>
          </a:xfrm>
        </p:grpSpPr>
        <p:sp>
          <p:nvSpPr>
            <p:cNvPr id="151" name="SubComp4"/>
            <p:cNvSpPr/>
            <p:nvPr/>
          </p:nvSpPr>
          <p:spPr>
            <a:xfrm>
              <a:off x="2100" y="6812"/>
              <a:ext cx="1570" cy="48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en-US" alt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EMS</a:t>
              </a:r>
            </a:p>
          </p:txBody>
        </p:sp>
        <p:sp>
          <p:nvSpPr>
            <p:cNvPr id="152" name="SubComp4"/>
            <p:cNvSpPr/>
            <p:nvPr/>
          </p:nvSpPr>
          <p:spPr>
            <a:xfrm>
              <a:off x="3731" y="6812"/>
              <a:ext cx="1570" cy="48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合规</a:t>
              </a:r>
            </a:p>
          </p:txBody>
        </p:sp>
        <p:sp>
          <p:nvSpPr>
            <p:cNvPr id="153" name="SubComp4"/>
            <p:cNvSpPr/>
            <p:nvPr/>
          </p:nvSpPr>
          <p:spPr>
            <a:xfrm>
              <a:off x="8624" y="6812"/>
              <a:ext cx="1570" cy="48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altLang="en-US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量化策略</a:t>
              </a:r>
            </a:p>
          </p:txBody>
        </p:sp>
        <p:sp>
          <p:nvSpPr>
            <p:cNvPr id="154" name="SubComp4"/>
            <p:cNvSpPr/>
            <p:nvPr/>
          </p:nvSpPr>
          <p:spPr>
            <a:xfrm>
              <a:off x="10255" y="6812"/>
              <a:ext cx="1570" cy="48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altLang="en-US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投资研究</a:t>
              </a:r>
            </a:p>
          </p:txBody>
        </p:sp>
        <p:sp>
          <p:nvSpPr>
            <p:cNvPr id="155" name="SubComp4"/>
            <p:cNvSpPr/>
            <p:nvPr/>
          </p:nvSpPr>
          <p:spPr>
            <a:xfrm>
              <a:off x="6993" y="6812"/>
              <a:ext cx="1570" cy="48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altLang="en-US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抵押物管理</a:t>
              </a:r>
            </a:p>
          </p:txBody>
        </p:sp>
        <p:sp>
          <p:nvSpPr>
            <p:cNvPr id="158" name="SubComp4"/>
            <p:cNvSpPr/>
            <p:nvPr/>
          </p:nvSpPr>
          <p:spPr>
            <a:xfrm>
              <a:off x="11886" y="6812"/>
              <a:ext cx="1948" cy="48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altLang="en-US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债券计算及定价系统</a:t>
              </a:r>
            </a:p>
          </p:txBody>
        </p:sp>
        <p:sp>
          <p:nvSpPr>
            <p:cNvPr id="159" name="SubComp4"/>
            <p:cNvSpPr/>
            <p:nvPr/>
          </p:nvSpPr>
          <p:spPr>
            <a:xfrm>
              <a:off x="15342" y="6812"/>
              <a:ext cx="1077" cy="48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altLang="en-US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询报价</a:t>
              </a:r>
            </a:p>
          </p:txBody>
        </p:sp>
        <p:sp>
          <p:nvSpPr>
            <p:cNvPr id="164" name="SubComp4"/>
            <p:cNvSpPr/>
            <p:nvPr/>
          </p:nvSpPr>
          <p:spPr>
            <a:xfrm>
              <a:off x="13895" y="6812"/>
              <a:ext cx="1386" cy="48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altLang="en-US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清</a:t>
              </a:r>
              <a:r>
                <a:rPr lang="en-US" alt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/</a:t>
              </a:r>
              <a:r>
                <a:rPr lang="zh-CN" altLang="en-US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结</a:t>
              </a:r>
              <a:r>
                <a:rPr lang="en-US" alt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/</a:t>
              </a:r>
              <a:r>
                <a:rPr lang="zh-CN" altLang="en-US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核算</a:t>
              </a:r>
            </a:p>
          </p:txBody>
        </p:sp>
        <p:sp>
          <p:nvSpPr>
            <p:cNvPr id="207" name="SubComp4"/>
            <p:cNvSpPr/>
            <p:nvPr/>
          </p:nvSpPr>
          <p:spPr>
            <a:xfrm>
              <a:off x="5362" y="6812"/>
              <a:ext cx="1570" cy="48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风控</a:t>
              </a:r>
            </a:p>
          </p:txBody>
        </p:sp>
      </p:grpSp>
      <p:grpSp>
        <p:nvGrpSpPr>
          <p:cNvPr id="236" name="组合 235"/>
          <p:cNvGrpSpPr/>
          <p:nvPr/>
        </p:nvGrpSpPr>
        <p:grpSpPr>
          <a:xfrm>
            <a:off x="268605" y="5469890"/>
            <a:ext cx="10127615" cy="306705"/>
            <a:chOff x="423" y="8514"/>
            <a:chExt cx="15949" cy="483"/>
          </a:xfrm>
        </p:grpSpPr>
        <p:sp>
          <p:nvSpPr>
            <p:cNvPr id="156" name="TradingTierLabel"/>
            <p:cNvSpPr txBox="1"/>
            <p:nvPr/>
          </p:nvSpPr>
          <p:spPr>
            <a:xfrm>
              <a:off x="423" y="8514"/>
              <a:ext cx="1485" cy="483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zh-CN" altLang="en-US" sz="1400" b="1">
                  <a:solidFill>
                    <a:schemeClr val="bg1"/>
                  </a:solidFill>
                  <a:latin typeface="微软雅黑" panose="00000500000000000000" charset="-122"/>
                  <a:ea typeface="微软雅黑" panose="00000500000000000000" charset="-122"/>
                  <a:sym typeface="+mn-ea"/>
                </a:rPr>
                <a:t>数据层</a:t>
              </a:r>
            </a:p>
          </p:txBody>
        </p:sp>
        <p:sp>
          <p:nvSpPr>
            <p:cNvPr id="157" name="SubComp4"/>
            <p:cNvSpPr/>
            <p:nvPr/>
          </p:nvSpPr>
          <p:spPr>
            <a:xfrm>
              <a:off x="8207" y="8514"/>
              <a:ext cx="2898" cy="48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en-US" alt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IBOR</a:t>
              </a:r>
            </a:p>
          </p:txBody>
        </p:sp>
        <p:sp>
          <p:nvSpPr>
            <p:cNvPr id="163" name="SubComp4"/>
            <p:cNvSpPr/>
            <p:nvPr/>
          </p:nvSpPr>
          <p:spPr>
            <a:xfrm>
              <a:off x="13551" y="8514"/>
              <a:ext cx="2821" cy="48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altLang="en-US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大数据中心</a:t>
              </a:r>
            </a:p>
          </p:txBody>
        </p:sp>
        <p:sp>
          <p:nvSpPr>
            <p:cNvPr id="210" name="SubComp4"/>
            <p:cNvSpPr/>
            <p:nvPr/>
          </p:nvSpPr>
          <p:spPr>
            <a:xfrm>
              <a:off x="3080" y="8514"/>
              <a:ext cx="2681" cy="48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en-US" alt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ABOR</a:t>
              </a:r>
            </a:p>
          </p:txBody>
        </p:sp>
      </p:grpSp>
      <p:grpSp>
        <p:nvGrpSpPr>
          <p:cNvPr id="226" name="组合 225"/>
          <p:cNvGrpSpPr/>
          <p:nvPr/>
        </p:nvGrpSpPr>
        <p:grpSpPr>
          <a:xfrm>
            <a:off x="10772775" y="947420"/>
            <a:ext cx="1173480" cy="952500"/>
            <a:chOff x="16965" y="1492"/>
            <a:chExt cx="1848" cy="1500"/>
          </a:xfrm>
        </p:grpSpPr>
        <p:sp>
          <p:nvSpPr>
            <p:cNvPr id="215" name="SubComp4"/>
            <p:cNvSpPr/>
            <p:nvPr/>
          </p:nvSpPr>
          <p:spPr>
            <a:xfrm>
              <a:off x="16975" y="1492"/>
              <a:ext cx="1838" cy="314"/>
            </a:xfrm>
            <a:prstGeom prst="roundRect">
              <a:avLst>
                <a:gd name="adj" fmla="val 16000"/>
              </a:avLst>
            </a:prstGeom>
            <a:solidFill>
              <a:srgbClr val="F54D6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ctr">
                <a:buNone/>
              </a:pPr>
              <a:r>
                <a:rPr lang="zh-CN" altLang="en-US" sz="900" b="1" dirty="0">
                  <a:solidFill>
                    <a:srgbClr val="FFFFFF"/>
                  </a:solidFill>
                  <a:latin typeface="Calibri" panose="020F0502020204030204"/>
                  <a:ea typeface="微软雅黑" panose="00000500000000000000" charset="-122"/>
                  <a:sym typeface="+mn-ea"/>
                </a:rPr>
                <a:t>外汇交易中心</a:t>
              </a:r>
            </a:p>
          </p:txBody>
        </p:sp>
        <p:sp>
          <p:nvSpPr>
            <p:cNvPr id="216" name="SubClear1"/>
            <p:cNvSpPr/>
            <p:nvPr/>
          </p:nvSpPr>
          <p:spPr>
            <a:xfrm>
              <a:off x="16975" y="1955"/>
              <a:ext cx="919" cy="303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ctr">
                <a:buNone/>
              </a:pPr>
              <a:r>
                <a:rPr lang="zh-CN" altLang="en-US" sz="8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对</a:t>
              </a:r>
              <a:r>
                <a:rPr lang="en-US" altLang="zh-CN" sz="8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  </a:t>
              </a:r>
              <a:r>
                <a:rPr lang="zh-CN" altLang="en-US" sz="8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话报价</a:t>
              </a:r>
            </a:p>
          </p:txBody>
        </p:sp>
        <p:sp>
          <p:nvSpPr>
            <p:cNvPr id="217" name="SubClear1"/>
            <p:cNvSpPr/>
            <p:nvPr/>
          </p:nvSpPr>
          <p:spPr>
            <a:xfrm>
              <a:off x="17894" y="1955"/>
              <a:ext cx="919" cy="303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ctr">
                <a:buNone/>
              </a:pPr>
              <a:r>
                <a:rPr lang="zh-CN" altLang="en-US" sz="8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做市报价</a:t>
              </a:r>
            </a:p>
          </p:txBody>
        </p:sp>
        <p:sp>
          <p:nvSpPr>
            <p:cNvPr id="218" name="SubClear1"/>
            <p:cNvSpPr/>
            <p:nvPr/>
          </p:nvSpPr>
          <p:spPr>
            <a:xfrm>
              <a:off x="17895" y="2688"/>
              <a:ext cx="918" cy="304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ctr">
                <a:buNone/>
              </a:pPr>
              <a:r>
                <a:rPr lang="en-US" sz="8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X-Repo</a:t>
              </a:r>
            </a:p>
          </p:txBody>
        </p:sp>
        <p:sp>
          <p:nvSpPr>
            <p:cNvPr id="219" name="SubClear1"/>
            <p:cNvSpPr/>
            <p:nvPr/>
          </p:nvSpPr>
          <p:spPr>
            <a:xfrm>
              <a:off x="17894" y="2341"/>
              <a:ext cx="919" cy="303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ctr">
                <a:buNone/>
              </a:pPr>
              <a:r>
                <a:rPr lang="en-US" altLang="zh-CN" sz="8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X-Bond</a:t>
              </a:r>
            </a:p>
          </p:txBody>
        </p:sp>
        <p:sp>
          <p:nvSpPr>
            <p:cNvPr id="220" name="SubClear1"/>
            <p:cNvSpPr/>
            <p:nvPr/>
          </p:nvSpPr>
          <p:spPr>
            <a:xfrm>
              <a:off x="16965" y="2341"/>
              <a:ext cx="919" cy="303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ctr">
                <a:buNone/>
              </a:pPr>
              <a:r>
                <a:rPr lang="zh-CN" altLang="en-US" sz="8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请求报价</a:t>
              </a:r>
            </a:p>
          </p:txBody>
        </p:sp>
        <p:sp>
          <p:nvSpPr>
            <p:cNvPr id="221" name="SubClear1"/>
            <p:cNvSpPr/>
            <p:nvPr/>
          </p:nvSpPr>
          <p:spPr>
            <a:xfrm>
              <a:off x="16965" y="2688"/>
              <a:ext cx="919" cy="303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ctr">
                <a:buNone/>
              </a:pPr>
              <a:r>
                <a:rPr lang="en-US" altLang="zh-CN" sz="8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X-Swap</a:t>
              </a:r>
            </a:p>
          </p:txBody>
        </p:sp>
      </p:grpSp>
      <p:grpSp>
        <p:nvGrpSpPr>
          <p:cNvPr id="237" name="组合 236"/>
          <p:cNvGrpSpPr/>
          <p:nvPr/>
        </p:nvGrpSpPr>
        <p:grpSpPr>
          <a:xfrm>
            <a:off x="268605" y="4886325"/>
            <a:ext cx="10141585" cy="325755"/>
            <a:chOff x="423" y="7655"/>
            <a:chExt cx="15971" cy="513"/>
          </a:xfrm>
        </p:grpSpPr>
        <p:sp>
          <p:nvSpPr>
            <p:cNvPr id="162" name="SubComp4"/>
            <p:cNvSpPr/>
            <p:nvPr/>
          </p:nvSpPr>
          <p:spPr>
            <a:xfrm>
              <a:off x="2055" y="7686"/>
              <a:ext cx="1559" cy="48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altLang="en-US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组合账户树管理</a:t>
              </a:r>
            </a:p>
          </p:txBody>
        </p:sp>
        <p:sp>
          <p:nvSpPr>
            <p:cNvPr id="165" name="SubComp4"/>
            <p:cNvSpPr/>
            <p:nvPr/>
          </p:nvSpPr>
          <p:spPr>
            <a:xfrm>
              <a:off x="4014" y="7686"/>
              <a:ext cx="1386" cy="48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altLang="en-US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监管报表</a:t>
              </a:r>
            </a:p>
          </p:txBody>
        </p:sp>
        <p:sp>
          <p:nvSpPr>
            <p:cNvPr id="167" name="SubComp4"/>
            <p:cNvSpPr/>
            <p:nvPr/>
          </p:nvSpPr>
          <p:spPr>
            <a:xfrm>
              <a:off x="5800" y="7686"/>
              <a:ext cx="1386" cy="48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altLang="en-US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工作流管理</a:t>
              </a:r>
            </a:p>
          </p:txBody>
        </p:sp>
        <p:sp>
          <p:nvSpPr>
            <p:cNvPr id="209" name="TradingTierLabel"/>
            <p:cNvSpPr txBox="1"/>
            <p:nvPr/>
          </p:nvSpPr>
          <p:spPr>
            <a:xfrm>
              <a:off x="423" y="7655"/>
              <a:ext cx="1485" cy="483"/>
            </a:xfrm>
            <a:prstGeom prst="rect">
              <a:avLst/>
            </a:prstGeom>
            <a:noFill/>
            <a:ln>
              <a:noFill/>
            </a:ln>
          </p:spPr>
          <p:txBody>
            <a:bodyPr vertOverflow="overflow" vert="horz" wrap="square" rtlCol="0" anchor="t">
              <a:spAutoFit/>
            </a:bodyPr>
            <a:lstStyle/>
            <a:p>
              <a:pPr lvl="0" algn="ctr">
                <a:buClrTx/>
                <a:buSzTx/>
                <a:buFontTx/>
              </a:pPr>
              <a:r>
                <a:rPr lang="zh-CN" altLang="en-US" sz="1400" b="1">
                  <a:solidFill>
                    <a:schemeClr val="bg1"/>
                  </a:solidFill>
                  <a:latin typeface="微软雅黑" panose="00000500000000000000" charset="-122"/>
                  <a:ea typeface="微软雅黑" panose="00000500000000000000" charset="-122"/>
                  <a:sym typeface="+mn-ea"/>
                </a:rPr>
                <a:t>基础软件</a:t>
              </a:r>
            </a:p>
          </p:txBody>
        </p:sp>
        <p:sp>
          <p:nvSpPr>
            <p:cNvPr id="211" name="SubComp4"/>
            <p:cNvSpPr/>
            <p:nvPr/>
          </p:nvSpPr>
          <p:spPr>
            <a:xfrm>
              <a:off x="9333" y="7686"/>
              <a:ext cx="1485" cy="48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altLang="en-US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金融工程模型库</a:t>
              </a:r>
            </a:p>
          </p:txBody>
        </p:sp>
        <p:sp>
          <p:nvSpPr>
            <p:cNvPr id="212" name="SubComp4"/>
            <p:cNvSpPr/>
            <p:nvPr/>
          </p:nvSpPr>
          <p:spPr>
            <a:xfrm>
              <a:off x="11158" y="7686"/>
              <a:ext cx="1386" cy="48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altLang="en-US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因子平台</a:t>
              </a:r>
            </a:p>
          </p:txBody>
        </p:sp>
        <p:sp>
          <p:nvSpPr>
            <p:cNvPr id="213" name="SubComp4"/>
            <p:cNvSpPr/>
            <p:nvPr/>
          </p:nvSpPr>
          <p:spPr>
            <a:xfrm>
              <a:off x="7586" y="7686"/>
              <a:ext cx="1386" cy="48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altLang="en-US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金融工具管理</a:t>
              </a:r>
            </a:p>
          </p:txBody>
        </p:sp>
        <p:sp>
          <p:nvSpPr>
            <p:cNvPr id="214" name="SubComp4"/>
            <p:cNvSpPr/>
            <p:nvPr/>
          </p:nvSpPr>
          <p:spPr>
            <a:xfrm>
              <a:off x="12944" y="7686"/>
              <a:ext cx="1386" cy="48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altLang="en-US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二次开发平台</a:t>
              </a:r>
            </a:p>
          </p:txBody>
        </p:sp>
        <p:sp>
          <p:nvSpPr>
            <p:cNvPr id="223" name="SubComp4"/>
            <p:cNvSpPr/>
            <p:nvPr/>
          </p:nvSpPr>
          <p:spPr>
            <a:xfrm>
              <a:off x="14730" y="7686"/>
              <a:ext cx="1664" cy="48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en-US" alt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Excel Addon</a:t>
              </a:r>
            </a:p>
          </p:txBody>
        </p:sp>
      </p:grpSp>
      <p:grpSp>
        <p:nvGrpSpPr>
          <p:cNvPr id="235" name="组合 234"/>
          <p:cNvGrpSpPr/>
          <p:nvPr/>
        </p:nvGrpSpPr>
        <p:grpSpPr>
          <a:xfrm>
            <a:off x="1312545" y="6066155"/>
            <a:ext cx="9109710" cy="311785"/>
            <a:chOff x="2067" y="9553"/>
            <a:chExt cx="14346" cy="491"/>
          </a:xfrm>
        </p:grpSpPr>
        <p:sp>
          <p:nvSpPr>
            <p:cNvPr id="170" name="SubComp4"/>
            <p:cNvSpPr/>
            <p:nvPr/>
          </p:nvSpPr>
          <p:spPr>
            <a:xfrm>
              <a:off x="2067" y="9553"/>
              <a:ext cx="1447" cy="48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altLang="en-US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消息总线</a:t>
              </a:r>
            </a:p>
          </p:txBody>
        </p:sp>
        <p:sp>
          <p:nvSpPr>
            <p:cNvPr id="171" name="SubComp4"/>
            <p:cNvSpPr/>
            <p:nvPr/>
          </p:nvSpPr>
          <p:spPr>
            <a:xfrm>
              <a:off x="3738" y="9562"/>
              <a:ext cx="1446" cy="48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altLang="en-US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分布式</a:t>
              </a:r>
            </a:p>
          </p:txBody>
        </p:sp>
        <p:sp>
          <p:nvSpPr>
            <p:cNvPr id="172" name="SubComp4"/>
            <p:cNvSpPr/>
            <p:nvPr/>
          </p:nvSpPr>
          <p:spPr>
            <a:xfrm>
              <a:off x="5408" y="9553"/>
              <a:ext cx="1263" cy="48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altLang="en-US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低延时</a:t>
              </a:r>
            </a:p>
          </p:txBody>
        </p:sp>
        <p:sp>
          <p:nvSpPr>
            <p:cNvPr id="173" name="SubComp4"/>
            <p:cNvSpPr/>
            <p:nvPr/>
          </p:nvSpPr>
          <p:spPr>
            <a:xfrm>
              <a:off x="10162" y="9553"/>
              <a:ext cx="1543" cy="48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altLang="en-US" sz="1000" dirty="0">
                  <a:solidFill>
                    <a:srgbClr val="375623"/>
                  </a:solidFill>
                  <a:latin typeface="Calibri" panose="020F0502020204030204"/>
                  <a:ea typeface="微软雅黑" panose="00000500000000000000" charset="-122"/>
                  <a:sym typeface="+mn-ea"/>
                </a:rPr>
                <a:t>系统整合</a:t>
              </a:r>
            </a:p>
          </p:txBody>
        </p:sp>
        <p:sp>
          <p:nvSpPr>
            <p:cNvPr id="174" name="SubComp4"/>
            <p:cNvSpPr/>
            <p:nvPr/>
          </p:nvSpPr>
          <p:spPr>
            <a:xfrm>
              <a:off x="13621" y="9553"/>
              <a:ext cx="1278" cy="48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altLang="en-US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全信创</a:t>
              </a:r>
            </a:p>
          </p:txBody>
        </p:sp>
        <p:sp>
          <p:nvSpPr>
            <p:cNvPr id="195" name="SubComp4"/>
            <p:cNvSpPr/>
            <p:nvPr/>
          </p:nvSpPr>
          <p:spPr>
            <a:xfrm>
              <a:off x="11929" y="9553"/>
              <a:ext cx="1468" cy="48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en-US" altLang="zh-CN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AI</a:t>
              </a:r>
            </a:p>
          </p:txBody>
        </p:sp>
        <p:sp>
          <p:nvSpPr>
            <p:cNvPr id="196" name="SubComp4"/>
            <p:cNvSpPr/>
            <p:nvPr/>
          </p:nvSpPr>
          <p:spPr>
            <a:xfrm>
              <a:off x="15123" y="9553"/>
              <a:ext cx="1290" cy="48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altLang="en-US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统一外部接口</a:t>
              </a:r>
            </a:p>
          </p:txBody>
        </p:sp>
        <p:sp>
          <p:nvSpPr>
            <p:cNvPr id="222" name="SubComp4"/>
            <p:cNvSpPr/>
            <p:nvPr/>
          </p:nvSpPr>
          <p:spPr>
            <a:xfrm>
              <a:off x="6895" y="9553"/>
              <a:ext cx="1556" cy="48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altLang="en-US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高算力（金工）</a:t>
              </a:r>
            </a:p>
          </p:txBody>
        </p:sp>
        <p:sp>
          <p:nvSpPr>
            <p:cNvPr id="225" name="SubComp4"/>
            <p:cNvSpPr/>
            <p:nvPr/>
          </p:nvSpPr>
          <p:spPr>
            <a:xfrm>
              <a:off x="8675" y="9562"/>
              <a:ext cx="1263" cy="482"/>
            </a:xfrm>
            <a:prstGeom prst="roundRect">
              <a:avLst>
                <a:gd name="adj" fmla="val 16000"/>
              </a:avLst>
            </a:prstGeom>
            <a:solidFill>
              <a:schemeClr val="bg1"/>
            </a:solidFill>
            <a:ln w="6350">
              <a:noFill/>
            </a:ln>
          </p:spPr>
          <p:txBody>
            <a:bodyPr wrap="square" lIns="9144" tIns="0" rIns="9144" bIns="0" anchor="ctr" anchorCtr="1"/>
            <a:lstStyle/>
            <a:p>
              <a:pPr algn="l">
                <a:buNone/>
              </a:pPr>
              <a:r>
                <a:rPr lang="zh-CN" altLang="en-US" sz="1000" dirty="0">
                  <a:solidFill>
                    <a:schemeClr val="bg2">
                      <a:lumMod val="25000"/>
                    </a:schemeClr>
                  </a:solidFill>
                  <a:latin typeface="Calibri" panose="020F0502020204030204"/>
                  <a:ea typeface="微软雅黑" panose="00000500000000000000" charset="-122"/>
                </a:rPr>
                <a:t>事件驱动</a:t>
              </a:r>
            </a:p>
          </p:txBody>
        </p:sp>
      </p:grpSp>
      <p:cxnSp>
        <p:nvCxnSpPr>
          <p:cNvPr id="227" name="直接连接符 226"/>
          <p:cNvCxnSpPr/>
          <p:nvPr/>
        </p:nvCxnSpPr>
        <p:spPr>
          <a:xfrm>
            <a:off x="330200" y="1428750"/>
            <a:ext cx="10035540" cy="0"/>
          </a:xfrm>
          <a:prstGeom prst="line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28" name="直接连接符 227"/>
          <p:cNvCxnSpPr/>
          <p:nvPr/>
        </p:nvCxnSpPr>
        <p:spPr>
          <a:xfrm>
            <a:off x="330200" y="2905125"/>
            <a:ext cx="10035540" cy="0"/>
          </a:xfrm>
          <a:prstGeom prst="line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29" name="直接连接符 228"/>
          <p:cNvCxnSpPr/>
          <p:nvPr/>
        </p:nvCxnSpPr>
        <p:spPr>
          <a:xfrm>
            <a:off x="330200" y="4175760"/>
            <a:ext cx="10035540" cy="0"/>
          </a:xfrm>
          <a:prstGeom prst="line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0" name="直接连接符 229"/>
          <p:cNvCxnSpPr/>
          <p:nvPr/>
        </p:nvCxnSpPr>
        <p:spPr>
          <a:xfrm>
            <a:off x="330200" y="4786630"/>
            <a:ext cx="10035540" cy="0"/>
          </a:xfrm>
          <a:prstGeom prst="line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1" name="直接连接符 230"/>
          <p:cNvCxnSpPr/>
          <p:nvPr/>
        </p:nvCxnSpPr>
        <p:spPr>
          <a:xfrm>
            <a:off x="330200" y="5897880"/>
            <a:ext cx="10035540" cy="0"/>
          </a:xfrm>
          <a:prstGeom prst="line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2" name="直接连接符 231"/>
          <p:cNvCxnSpPr/>
          <p:nvPr/>
        </p:nvCxnSpPr>
        <p:spPr>
          <a:xfrm>
            <a:off x="330200" y="5384165"/>
            <a:ext cx="10035540" cy="0"/>
          </a:xfrm>
          <a:prstGeom prst="line">
            <a:avLst/>
          </a:prstGeom>
          <a:ln w="31750">
            <a:gradFill>
              <a:gsLst>
                <a:gs pos="0">
                  <a:schemeClr val="accent1">
                    <a:hueOff val="-4200000"/>
                  </a:schemeClr>
                </a:gs>
                <a:gs pos="100000">
                  <a:schemeClr val="accent1"/>
                </a:gs>
              </a:gsLst>
            </a:gradFill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00" name="Text 16"/>
          <p:cNvSpPr>
            <a:spLocks noChangeArrowheads="1"/>
          </p:cNvSpPr>
          <p:nvPr/>
        </p:nvSpPr>
        <p:spPr bwMode="auto">
          <a:xfrm>
            <a:off x="466090" y="894715"/>
            <a:ext cx="11214100" cy="1327785"/>
          </a:xfrm>
          <a:prstGeom prst="roundRect">
            <a:avLst>
              <a:gd name="adj" fmla="val 0"/>
            </a:avLst>
          </a:prstGeom>
          <a:solidFill>
            <a:schemeClr val="accent1">
              <a:lumMod val="75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round/>
              </a14:hiddenLine>
            </a:ext>
          </a:extLst>
        </p:spPr>
        <p:txBody>
          <a:bodyPr lIns="0" tIns="0" rIns="0" bIns="0" anchor="ctr" anchorCtr="1"/>
          <a:lstStyle>
            <a:lvl1pPr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zh-CN" altLang="zh-CN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</a:rPr>
              <a:t>核心目标</a:t>
            </a:r>
          </a:p>
          <a:p>
            <a:pPr eaLnBrk="1" hangingPunct="1">
              <a:lnSpc>
                <a:spcPct val="150000"/>
              </a:lnSpc>
            </a:pPr>
            <a:r>
              <a:rPr lang="zh-CN" altLang="zh-CN" sz="16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</a:rPr>
              <a:t>为</a:t>
            </a:r>
            <a:r>
              <a:rPr lang="en-US" altLang="zh-CN" sz="16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</a:rPr>
              <a:t>FICC</a:t>
            </a:r>
            <a:r>
              <a:rPr lang="zh-CN" altLang="en-US" sz="16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</a:rPr>
              <a:t>投资组合管理提供全面解决方案，通过分析投资组合头寸，风险计量，绩效归因为投资经理在资产管理，组合构建，组合再平衡，指数投资等方面赋能。</a:t>
            </a:r>
          </a:p>
        </p:txBody>
      </p:sp>
      <p:grpSp>
        <p:nvGrpSpPr>
          <p:cNvPr id="23" name="组合 22"/>
          <p:cNvGrpSpPr/>
          <p:nvPr/>
        </p:nvGrpSpPr>
        <p:grpSpPr>
          <a:xfrm>
            <a:off x="1930400" y="2716530"/>
            <a:ext cx="1817370" cy="3223260"/>
            <a:chOff x="655" y="3123"/>
            <a:chExt cx="2862" cy="5076"/>
          </a:xfrm>
        </p:grpSpPr>
        <p:sp>
          <p:nvSpPr>
            <p:cNvPr id="59411" name="文本框 11"/>
            <p:cNvSpPr txBox="1">
              <a:spLocks noChangeArrowheads="1"/>
            </p:cNvSpPr>
            <p:nvPr/>
          </p:nvSpPr>
          <p:spPr bwMode="auto">
            <a:xfrm>
              <a:off x="655" y="3123"/>
              <a:ext cx="2862" cy="507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noAutofit/>
            </a:bodyPr>
            <a:lstStyle>
              <a:lvl1pPr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9pPr>
            </a:lstStyle>
            <a:p>
              <a:pPr algn="ctr" eaLnBrk="1" hangingPunct="1"/>
              <a:r>
                <a:rPr lang="zh-CN" altLang="en-US" sz="1000">
                  <a:solidFill>
                    <a:schemeClr val="tx1"/>
                  </a:solidFill>
                  <a:latin typeface="微软雅黑" panose="00000500000000000000" charset="-122"/>
                  <a:ea typeface="微软雅黑" panose="00000500000000000000" charset="-122"/>
                  <a:sym typeface="+mn-ea"/>
                </a:rPr>
                <a:t>交易数据</a:t>
              </a:r>
            </a:p>
          </p:txBody>
        </p:sp>
        <p:sp>
          <p:nvSpPr>
            <p:cNvPr id="44" name="圆角矩形 43"/>
            <p:cNvSpPr/>
            <p:nvPr/>
          </p:nvSpPr>
          <p:spPr>
            <a:xfrm>
              <a:off x="929" y="3733"/>
              <a:ext cx="2315" cy="411"/>
            </a:xfrm>
            <a:prstGeom prst="roundRect">
              <a:avLst/>
            </a:prstGeom>
            <a:solidFill>
              <a:srgbClr val="379DFF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lIns="90170" tIns="46990" rIns="90170" bIns="4699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altLang="en-US" sz="1400" b="1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0000500000000000000" charset="-122"/>
                  <a:ea typeface="微软雅黑" panose="00000500000000000000" charset="-122"/>
                  <a:cs typeface="微软雅黑" panose="00000500000000000000" charset="-122"/>
                  <a:sym typeface="+mn-ea"/>
                </a:rPr>
                <a:t>头寸数据</a:t>
              </a:r>
            </a:p>
          </p:txBody>
        </p:sp>
        <p:sp>
          <p:nvSpPr>
            <p:cNvPr id="2" name="圆角矩形 1"/>
            <p:cNvSpPr/>
            <p:nvPr/>
          </p:nvSpPr>
          <p:spPr>
            <a:xfrm>
              <a:off x="965" y="4545"/>
              <a:ext cx="2315" cy="411"/>
            </a:xfrm>
            <a:prstGeom prst="roundRect">
              <a:avLst/>
            </a:prstGeom>
            <a:solidFill>
              <a:srgbClr val="379DFF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lIns="90170" tIns="46990" rIns="90170" bIns="4699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altLang="en-US" sz="1400" b="1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0000500000000000000" charset="-122"/>
                  <a:ea typeface="微软雅黑" panose="00000500000000000000" charset="-122"/>
                  <a:cs typeface="微软雅黑" panose="00000500000000000000" charset="-122"/>
                  <a:sym typeface="+mn-ea"/>
                </a:rPr>
                <a:t>交易数据</a:t>
              </a:r>
            </a:p>
          </p:txBody>
        </p:sp>
        <p:sp>
          <p:nvSpPr>
            <p:cNvPr id="3" name="圆角矩形 2"/>
            <p:cNvSpPr/>
            <p:nvPr/>
          </p:nvSpPr>
          <p:spPr>
            <a:xfrm>
              <a:off x="929" y="5357"/>
              <a:ext cx="2315" cy="411"/>
            </a:xfrm>
            <a:prstGeom prst="roundRect">
              <a:avLst/>
            </a:prstGeom>
            <a:solidFill>
              <a:srgbClr val="379DFF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lIns="90170" tIns="46990" rIns="90170" bIns="4699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altLang="en-US" sz="1400" b="1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0000500000000000000" charset="-122"/>
                  <a:ea typeface="微软雅黑" panose="00000500000000000000" charset="-122"/>
                  <a:cs typeface="微软雅黑" panose="00000500000000000000" charset="-122"/>
                  <a:sym typeface="+mn-ea"/>
                </a:rPr>
                <a:t>行情数据</a:t>
              </a:r>
            </a:p>
          </p:txBody>
        </p:sp>
        <p:sp>
          <p:nvSpPr>
            <p:cNvPr id="16" name="圆角矩形 15"/>
            <p:cNvSpPr/>
            <p:nvPr/>
          </p:nvSpPr>
          <p:spPr>
            <a:xfrm>
              <a:off x="934" y="6138"/>
              <a:ext cx="2315" cy="454"/>
            </a:xfrm>
            <a:prstGeom prst="roundRect">
              <a:avLst/>
            </a:prstGeom>
            <a:solidFill>
              <a:srgbClr val="379DFF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lIns="90170" tIns="46990" rIns="90170" bIns="4699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altLang="en-US" sz="1400" b="1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0000500000000000000" charset="-122"/>
                  <a:ea typeface="微软雅黑" panose="00000500000000000000" charset="-122"/>
                  <a:cs typeface="微软雅黑" panose="00000500000000000000" charset="-122"/>
                  <a:sym typeface="+mn-ea"/>
                </a:rPr>
                <a:t>估值数据</a:t>
              </a:r>
            </a:p>
          </p:txBody>
        </p:sp>
      </p:grpSp>
      <p:grpSp>
        <p:nvGrpSpPr>
          <p:cNvPr id="29" name="组合 28"/>
          <p:cNvGrpSpPr/>
          <p:nvPr/>
        </p:nvGrpSpPr>
        <p:grpSpPr>
          <a:xfrm>
            <a:off x="4225925" y="5318125"/>
            <a:ext cx="6810375" cy="692150"/>
            <a:chOff x="4119" y="7249"/>
            <a:chExt cx="7480" cy="1090"/>
          </a:xfrm>
        </p:grpSpPr>
        <p:sp>
          <p:nvSpPr>
            <p:cNvPr id="5" name="文本框 12"/>
            <p:cNvSpPr txBox="1">
              <a:spLocks noChangeArrowheads="1"/>
            </p:cNvSpPr>
            <p:nvPr/>
          </p:nvSpPr>
          <p:spPr bwMode="auto">
            <a:xfrm>
              <a:off x="4119" y="7249"/>
              <a:ext cx="7480" cy="109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noAutofit/>
            </a:bodyPr>
            <a:lstStyle>
              <a:lvl1pPr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9pPr>
            </a:lstStyle>
            <a:p>
              <a:pPr algn="ctr" eaLnBrk="1" hangingPunct="1">
                <a:lnSpc>
                  <a:spcPct val="150000"/>
                </a:lnSpc>
              </a:pPr>
              <a:r>
                <a:rPr lang="zh-CN" altLang="en-US" sz="1200">
                  <a:solidFill>
                    <a:schemeClr val="tx1"/>
                  </a:solidFill>
                  <a:latin typeface="微软雅黑" panose="00000500000000000000" charset="-122"/>
                  <a:ea typeface="微软雅黑" panose="00000500000000000000" charset="-122"/>
                  <a:sym typeface="+mn-ea"/>
                </a:rPr>
                <a:t>量化计算底座</a:t>
              </a:r>
            </a:p>
          </p:txBody>
        </p:sp>
        <p:sp>
          <p:nvSpPr>
            <p:cNvPr id="17" name="圆角矩形 16"/>
            <p:cNvSpPr/>
            <p:nvPr/>
          </p:nvSpPr>
          <p:spPr>
            <a:xfrm>
              <a:off x="4452" y="7688"/>
              <a:ext cx="2315" cy="540"/>
            </a:xfrm>
            <a:prstGeom prst="roundRect">
              <a:avLst/>
            </a:prstGeom>
            <a:solidFill>
              <a:srgbClr val="379DFF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lIns="90170" tIns="46990" rIns="90170" bIns="4699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altLang="en-US" sz="1200" b="1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0000500000000000000" charset="-122"/>
                  <a:ea typeface="微软雅黑" panose="00000500000000000000" charset="-122"/>
                  <a:cs typeface="微软雅黑" panose="00000500000000000000" charset="-122"/>
                  <a:sym typeface="+mn-ea"/>
                </a:rPr>
                <a:t>定价计算</a:t>
              </a:r>
            </a:p>
          </p:txBody>
        </p:sp>
        <p:sp>
          <p:nvSpPr>
            <p:cNvPr id="18" name="圆角矩形 17"/>
            <p:cNvSpPr/>
            <p:nvPr/>
          </p:nvSpPr>
          <p:spPr>
            <a:xfrm>
              <a:off x="6795" y="7702"/>
              <a:ext cx="2315" cy="540"/>
            </a:xfrm>
            <a:prstGeom prst="roundRect">
              <a:avLst/>
            </a:prstGeom>
            <a:solidFill>
              <a:srgbClr val="379DFF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lIns="90170" tIns="46990" rIns="90170" bIns="4699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altLang="en-US" sz="1200" b="1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0000500000000000000" charset="-122"/>
                  <a:ea typeface="微软雅黑" panose="00000500000000000000" charset="-122"/>
                  <a:cs typeface="微软雅黑" panose="00000500000000000000" charset="-122"/>
                  <a:sym typeface="+mn-ea"/>
                </a:rPr>
                <a:t>利率曲线</a:t>
              </a:r>
            </a:p>
          </p:txBody>
        </p:sp>
        <p:sp>
          <p:nvSpPr>
            <p:cNvPr id="19" name="圆角矩形 18"/>
            <p:cNvSpPr/>
            <p:nvPr/>
          </p:nvSpPr>
          <p:spPr>
            <a:xfrm>
              <a:off x="9138" y="7702"/>
              <a:ext cx="2315" cy="540"/>
            </a:xfrm>
            <a:prstGeom prst="roundRect">
              <a:avLst/>
            </a:prstGeom>
            <a:solidFill>
              <a:srgbClr val="379DFF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lIns="90170" tIns="46990" rIns="90170" bIns="4699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altLang="en-US" sz="1200" b="1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0000500000000000000" charset="-122"/>
                  <a:ea typeface="微软雅黑" panose="00000500000000000000" charset="-122"/>
                  <a:cs typeface="微软雅黑" panose="00000500000000000000" charset="-122"/>
                  <a:sym typeface="+mn-ea"/>
                </a:rPr>
                <a:t>因子模型</a:t>
              </a:r>
            </a:p>
          </p:txBody>
        </p:sp>
      </p:grpSp>
      <p:grpSp>
        <p:nvGrpSpPr>
          <p:cNvPr id="32" name="组合 31"/>
          <p:cNvGrpSpPr/>
          <p:nvPr/>
        </p:nvGrpSpPr>
        <p:grpSpPr>
          <a:xfrm>
            <a:off x="4227195" y="2700655"/>
            <a:ext cx="6811010" cy="2513965"/>
            <a:chOff x="4272" y="3123"/>
            <a:chExt cx="7480" cy="3812"/>
          </a:xfrm>
        </p:grpSpPr>
        <p:sp>
          <p:nvSpPr>
            <p:cNvPr id="59412" name="文本框 12"/>
            <p:cNvSpPr txBox="1">
              <a:spLocks noChangeArrowheads="1"/>
            </p:cNvSpPr>
            <p:nvPr/>
          </p:nvSpPr>
          <p:spPr bwMode="auto">
            <a:xfrm>
              <a:off x="4272" y="3123"/>
              <a:ext cx="7480" cy="381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noAutofit/>
            </a:bodyPr>
            <a:lstStyle>
              <a:lvl1pPr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9pPr>
            </a:lstStyle>
            <a:p>
              <a:pPr algn="ctr" eaLnBrk="1" hangingPunct="1">
                <a:lnSpc>
                  <a:spcPct val="150000"/>
                </a:lnSpc>
              </a:pPr>
              <a:r>
                <a:rPr lang="zh-CN" altLang="en-US" sz="1200">
                  <a:solidFill>
                    <a:schemeClr val="tx1"/>
                  </a:solidFill>
                  <a:latin typeface="微软雅黑" panose="00000500000000000000" charset="-122"/>
                  <a:ea typeface="微软雅黑" panose="00000500000000000000" charset="-122"/>
                  <a:sym typeface="+mn-ea"/>
                </a:rPr>
                <a:t>组合分析平台</a:t>
              </a:r>
            </a:p>
          </p:txBody>
        </p:sp>
        <p:sp>
          <p:nvSpPr>
            <p:cNvPr id="45" name="圆角矩形 44"/>
            <p:cNvSpPr/>
            <p:nvPr/>
          </p:nvSpPr>
          <p:spPr>
            <a:xfrm>
              <a:off x="4452" y="3661"/>
              <a:ext cx="2315" cy="540"/>
            </a:xfrm>
            <a:prstGeom prst="roundRect">
              <a:avLst/>
            </a:prstGeom>
            <a:solidFill>
              <a:srgbClr val="379DFF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lIns="90170" tIns="46990" rIns="90170" bIns="4699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altLang="en-US" sz="1200" b="1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0000500000000000000" charset="-122"/>
                  <a:ea typeface="微软雅黑" panose="00000500000000000000" charset="-122"/>
                  <a:cs typeface="微软雅黑" panose="00000500000000000000" charset="-122"/>
                  <a:sym typeface="+mn-ea"/>
                </a:rPr>
                <a:t>债券横截面，时间序列分析</a:t>
              </a:r>
            </a:p>
          </p:txBody>
        </p:sp>
        <p:sp>
          <p:nvSpPr>
            <p:cNvPr id="6" name="圆角矩形 5"/>
            <p:cNvSpPr/>
            <p:nvPr/>
          </p:nvSpPr>
          <p:spPr>
            <a:xfrm>
              <a:off x="6855" y="3661"/>
              <a:ext cx="2315" cy="540"/>
            </a:xfrm>
            <a:prstGeom prst="roundRect">
              <a:avLst/>
            </a:prstGeom>
            <a:solidFill>
              <a:srgbClr val="379DFF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lIns="90170" tIns="46990" rIns="90170" bIns="4699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altLang="en-US" sz="1200" b="1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0000500000000000000" charset="-122"/>
                  <a:ea typeface="微软雅黑" panose="00000500000000000000" charset="-122"/>
                  <a:cs typeface="微软雅黑" panose="00000500000000000000" charset="-122"/>
                  <a:sym typeface="+mn-ea"/>
                </a:rPr>
                <a:t>相对价值分析</a:t>
              </a:r>
            </a:p>
          </p:txBody>
        </p:sp>
        <p:sp>
          <p:nvSpPr>
            <p:cNvPr id="7" name="圆角矩形 6"/>
            <p:cNvSpPr/>
            <p:nvPr/>
          </p:nvSpPr>
          <p:spPr>
            <a:xfrm>
              <a:off x="9258" y="3661"/>
              <a:ext cx="2315" cy="540"/>
            </a:xfrm>
            <a:prstGeom prst="roundRect">
              <a:avLst/>
            </a:prstGeom>
            <a:solidFill>
              <a:srgbClr val="379DFF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lIns="90170" tIns="46990" rIns="90170" bIns="4699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altLang="en-US" sz="1200" b="1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0000500000000000000" charset="-122"/>
                  <a:ea typeface="微软雅黑" panose="00000500000000000000" charset="-122"/>
                  <a:cs typeface="微软雅黑" panose="00000500000000000000" charset="-122"/>
                  <a:sym typeface="+mn-ea"/>
                </a:rPr>
                <a:t>组合相关度分析</a:t>
              </a:r>
            </a:p>
          </p:txBody>
        </p:sp>
        <p:sp>
          <p:nvSpPr>
            <p:cNvPr id="8" name="圆角矩形 7"/>
            <p:cNvSpPr/>
            <p:nvPr/>
          </p:nvSpPr>
          <p:spPr>
            <a:xfrm>
              <a:off x="4452" y="4328"/>
              <a:ext cx="2315" cy="540"/>
            </a:xfrm>
            <a:prstGeom prst="roundRect">
              <a:avLst/>
            </a:prstGeom>
            <a:solidFill>
              <a:srgbClr val="379DFF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lIns="90170" tIns="46990" rIns="90170" bIns="4699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altLang="en-US" sz="1200" b="1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0000500000000000000" charset="-122"/>
                  <a:ea typeface="微软雅黑" panose="00000500000000000000" charset="-122"/>
                  <a:cs typeface="微软雅黑" panose="00000500000000000000" charset="-122"/>
                  <a:sym typeface="+mn-ea"/>
                </a:rPr>
                <a:t>风险计量</a:t>
              </a:r>
            </a:p>
          </p:txBody>
        </p:sp>
        <p:sp>
          <p:nvSpPr>
            <p:cNvPr id="9" name="圆角矩形 8"/>
            <p:cNvSpPr/>
            <p:nvPr/>
          </p:nvSpPr>
          <p:spPr>
            <a:xfrm>
              <a:off x="6855" y="4328"/>
              <a:ext cx="2315" cy="540"/>
            </a:xfrm>
            <a:prstGeom prst="roundRect">
              <a:avLst/>
            </a:prstGeom>
            <a:solidFill>
              <a:srgbClr val="379DFF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lIns="90170" tIns="46990" rIns="90170" bIns="4699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altLang="en-US" sz="1200" b="1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0000500000000000000" charset="-122"/>
                  <a:ea typeface="微软雅黑" panose="00000500000000000000" charset="-122"/>
                  <a:cs typeface="微软雅黑" panose="00000500000000000000" charset="-122"/>
                  <a:sym typeface="+mn-ea"/>
                </a:rPr>
                <a:t>绩效归因</a:t>
              </a:r>
            </a:p>
          </p:txBody>
        </p:sp>
        <p:sp>
          <p:nvSpPr>
            <p:cNvPr id="10" name="圆角矩形 9"/>
            <p:cNvSpPr/>
            <p:nvPr/>
          </p:nvSpPr>
          <p:spPr>
            <a:xfrm>
              <a:off x="9236" y="4324"/>
              <a:ext cx="2315" cy="540"/>
            </a:xfrm>
            <a:prstGeom prst="roundRect">
              <a:avLst/>
            </a:prstGeom>
            <a:solidFill>
              <a:srgbClr val="379DFF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lIns="90170" tIns="46990" rIns="90170" bIns="4699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altLang="en-US" sz="1200" b="1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0000500000000000000" charset="-122"/>
                  <a:ea typeface="微软雅黑" panose="00000500000000000000" charset="-122"/>
                  <a:cs typeface="微软雅黑" panose="00000500000000000000" charset="-122"/>
                  <a:sym typeface="+mn-ea"/>
                </a:rPr>
                <a:t>指数比较分析</a:t>
              </a:r>
            </a:p>
          </p:txBody>
        </p:sp>
        <p:sp>
          <p:nvSpPr>
            <p:cNvPr id="11" name="圆角矩形 10"/>
            <p:cNvSpPr/>
            <p:nvPr/>
          </p:nvSpPr>
          <p:spPr>
            <a:xfrm>
              <a:off x="4452" y="4947"/>
              <a:ext cx="2315" cy="540"/>
            </a:xfrm>
            <a:prstGeom prst="roundRect">
              <a:avLst/>
            </a:prstGeom>
            <a:solidFill>
              <a:srgbClr val="379DFF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lIns="90170" tIns="46990" rIns="90170" bIns="4699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altLang="en-US" sz="1200" b="1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0000500000000000000" charset="-122"/>
                  <a:ea typeface="微软雅黑" panose="00000500000000000000" charset="-122"/>
                  <a:cs typeface="微软雅黑" panose="00000500000000000000" charset="-122"/>
                  <a:sym typeface="+mn-ea"/>
                </a:rPr>
                <a:t>情景分析</a:t>
              </a:r>
            </a:p>
          </p:txBody>
        </p:sp>
        <p:sp>
          <p:nvSpPr>
            <p:cNvPr id="12" name="圆角矩形 11"/>
            <p:cNvSpPr/>
            <p:nvPr/>
          </p:nvSpPr>
          <p:spPr>
            <a:xfrm>
              <a:off x="6855" y="4959"/>
              <a:ext cx="2315" cy="540"/>
            </a:xfrm>
            <a:prstGeom prst="roundRect">
              <a:avLst/>
            </a:prstGeom>
            <a:solidFill>
              <a:srgbClr val="379DFF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lIns="90170" tIns="46990" rIns="90170" bIns="4699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altLang="en-US" sz="1200" b="1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0000500000000000000" charset="-122"/>
                  <a:ea typeface="微软雅黑" panose="00000500000000000000" charset="-122"/>
                  <a:cs typeface="微软雅黑" panose="00000500000000000000" charset="-122"/>
                  <a:sym typeface="+mn-ea"/>
                </a:rPr>
                <a:t>敏感度分析</a:t>
              </a:r>
            </a:p>
          </p:txBody>
        </p:sp>
        <p:sp>
          <p:nvSpPr>
            <p:cNvPr id="13" name="圆角矩形 12"/>
            <p:cNvSpPr/>
            <p:nvPr/>
          </p:nvSpPr>
          <p:spPr>
            <a:xfrm>
              <a:off x="9268" y="4947"/>
              <a:ext cx="2315" cy="540"/>
            </a:xfrm>
            <a:prstGeom prst="roundRect">
              <a:avLst/>
            </a:prstGeom>
            <a:solidFill>
              <a:srgbClr val="379DFF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lIns="90170" tIns="46990" rIns="90170" bIns="4699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altLang="en-US" sz="1200" b="1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0000500000000000000" charset="-122"/>
                  <a:ea typeface="微软雅黑" panose="00000500000000000000" charset="-122"/>
                  <a:cs typeface="微软雅黑" panose="00000500000000000000" charset="-122"/>
                  <a:sym typeface="+mn-ea"/>
                </a:rPr>
                <a:t>极端事件分析</a:t>
              </a:r>
            </a:p>
          </p:txBody>
        </p:sp>
        <p:sp>
          <p:nvSpPr>
            <p:cNvPr id="14" name="圆角矩形 13"/>
            <p:cNvSpPr/>
            <p:nvPr/>
          </p:nvSpPr>
          <p:spPr>
            <a:xfrm>
              <a:off x="4452" y="5643"/>
              <a:ext cx="2315" cy="540"/>
            </a:xfrm>
            <a:prstGeom prst="roundRect">
              <a:avLst/>
            </a:prstGeom>
            <a:solidFill>
              <a:srgbClr val="379DFF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lIns="90170" tIns="46990" rIns="90170" bIns="4699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altLang="en-US" sz="1200" b="1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0000500000000000000" charset="-122"/>
                  <a:ea typeface="微软雅黑" panose="00000500000000000000" charset="-122"/>
                  <a:cs typeface="微软雅黑" panose="00000500000000000000" charset="-122"/>
                  <a:sym typeface="+mn-ea"/>
                </a:rPr>
                <a:t>虚拟组合分析</a:t>
              </a:r>
            </a:p>
          </p:txBody>
        </p:sp>
        <p:sp>
          <p:nvSpPr>
            <p:cNvPr id="15" name="圆角矩形 14"/>
            <p:cNvSpPr/>
            <p:nvPr/>
          </p:nvSpPr>
          <p:spPr>
            <a:xfrm>
              <a:off x="6855" y="5648"/>
              <a:ext cx="2381" cy="540"/>
            </a:xfrm>
            <a:prstGeom prst="roundRect">
              <a:avLst/>
            </a:prstGeom>
            <a:solidFill>
              <a:srgbClr val="379DFF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lIns="90170" tIns="46990" rIns="90170" bIns="4699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altLang="en-US" sz="1200" b="1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0000500000000000000" charset="-122"/>
                  <a:ea typeface="微软雅黑" panose="00000500000000000000" charset="-122"/>
                  <a:cs typeface="微软雅黑" panose="00000500000000000000" charset="-122"/>
                  <a:sym typeface="+mn-ea"/>
                </a:rPr>
                <a:t>再平衡方案试算和比较</a:t>
              </a:r>
            </a:p>
          </p:txBody>
        </p:sp>
        <p:sp>
          <p:nvSpPr>
            <p:cNvPr id="24" name="圆角矩形 23"/>
            <p:cNvSpPr/>
            <p:nvPr/>
          </p:nvSpPr>
          <p:spPr>
            <a:xfrm>
              <a:off x="9284" y="5648"/>
              <a:ext cx="2315" cy="540"/>
            </a:xfrm>
            <a:prstGeom prst="roundRect">
              <a:avLst/>
            </a:prstGeom>
            <a:solidFill>
              <a:srgbClr val="379DFF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lIns="90170" tIns="46990" rIns="90170" bIns="4699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altLang="en-US" sz="1200" b="1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0000500000000000000" charset="-122"/>
                  <a:ea typeface="微软雅黑" panose="00000500000000000000" charset="-122"/>
                  <a:cs typeface="微软雅黑" panose="00000500000000000000" charset="-122"/>
                  <a:sym typeface="+mn-ea"/>
                </a:rPr>
                <a:t>资产配置策略分析</a:t>
              </a:r>
            </a:p>
          </p:txBody>
        </p:sp>
        <p:sp>
          <p:nvSpPr>
            <p:cNvPr id="25" name="圆角矩形 24"/>
            <p:cNvSpPr/>
            <p:nvPr/>
          </p:nvSpPr>
          <p:spPr>
            <a:xfrm>
              <a:off x="4452" y="6263"/>
              <a:ext cx="2315" cy="540"/>
            </a:xfrm>
            <a:prstGeom prst="roundRect">
              <a:avLst/>
            </a:prstGeom>
            <a:solidFill>
              <a:srgbClr val="379DFF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lIns="90170" tIns="46990" rIns="90170" bIns="4699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altLang="en-US" sz="1200" b="1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0000500000000000000" charset="-122"/>
                  <a:ea typeface="微软雅黑" panose="00000500000000000000" charset="-122"/>
                  <a:cs typeface="微软雅黑" panose="00000500000000000000" charset="-122"/>
                  <a:sym typeface="+mn-ea"/>
                </a:rPr>
                <a:t>固收</a:t>
              </a:r>
              <a:r>
                <a:rPr lang="en-US" altLang="zh-CN" sz="1200" b="1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0000500000000000000" charset="-122"/>
                  <a:ea typeface="微软雅黑" panose="00000500000000000000" charset="-122"/>
                  <a:cs typeface="微软雅黑" panose="00000500000000000000" charset="-122"/>
                  <a:sym typeface="+mn-ea"/>
                </a:rPr>
                <a:t>+ </a:t>
              </a:r>
              <a:r>
                <a:rPr lang="zh-CN" altLang="en-US" sz="1200" b="1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0000500000000000000" charset="-122"/>
                  <a:ea typeface="微软雅黑" panose="00000500000000000000" charset="-122"/>
                  <a:cs typeface="微软雅黑" panose="00000500000000000000" charset="-122"/>
                  <a:sym typeface="+mn-ea"/>
                </a:rPr>
                <a:t>策略分析</a:t>
              </a:r>
            </a:p>
          </p:txBody>
        </p:sp>
        <p:sp>
          <p:nvSpPr>
            <p:cNvPr id="26" name="圆角矩形 25"/>
            <p:cNvSpPr/>
            <p:nvPr/>
          </p:nvSpPr>
          <p:spPr>
            <a:xfrm>
              <a:off x="6855" y="6263"/>
              <a:ext cx="2315" cy="540"/>
            </a:xfrm>
            <a:prstGeom prst="roundRect">
              <a:avLst/>
            </a:prstGeom>
            <a:solidFill>
              <a:srgbClr val="379DFF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lIns="90170" tIns="46990" rIns="90170" bIns="4699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altLang="en-US" sz="1200" b="1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0000500000000000000" charset="-122"/>
                  <a:ea typeface="微软雅黑" panose="00000500000000000000" charset="-122"/>
                  <a:cs typeface="微软雅黑" panose="00000500000000000000" charset="-122"/>
                  <a:sym typeface="+mn-ea"/>
                </a:rPr>
                <a:t>量化策略组合分析</a:t>
              </a:r>
            </a:p>
          </p:txBody>
        </p:sp>
        <p:sp>
          <p:nvSpPr>
            <p:cNvPr id="28" name="圆角矩形 27"/>
            <p:cNvSpPr/>
            <p:nvPr/>
          </p:nvSpPr>
          <p:spPr>
            <a:xfrm>
              <a:off x="9258" y="6255"/>
              <a:ext cx="2315" cy="540"/>
            </a:xfrm>
            <a:prstGeom prst="roundRect">
              <a:avLst/>
            </a:prstGeom>
            <a:solidFill>
              <a:srgbClr val="379DFF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lIns="90170" tIns="46990" rIns="90170" bIns="4699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altLang="en-US" sz="1200" b="1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0000500000000000000" charset="-122"/>
                  <a:ea typeface="微软雅黑" panose="00000500000000000000" charset="-122"/>
                  <a:cs typeface="微软雅黑" panose="00000500000000000000" charset="-122"/>
                  <a:sym typeface="+mn-ea"/>
                </a:rPr>
                <a:t>流动性分析</a:t>
              </a:r>
            </a:p>
          </p:txBody>
        </p:sp>
      </p:grpSp>
      <p:sp>
        <p:nvSpPr>
          <p:cNvPr id="91" name="文本框 90"/>
          <p:cNvSpPr txBox="1"/>
          <p:nvPr/>
        </p:nvSpPr>
        <p:spPr>
          <a:xfrm>
            <a:off x="593090" y="289918"/>
            <a:ext cx="9825551" cy="46037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pPr algn="l" defTabSz="914400" eaLnBrk="1" fontAlgn="auto" hangingPunct="1"/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华锐</a:t>
            </a:r>
            <a:r>
              <a:rPr lang="en-US" altLang="zh-CN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FICC</a:t>
            </a:r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系统建设规划</a:t>
            </a:r>
            <a:r>
              <a:rPr lang="en-US" altLang="zh-CN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——</a:t>
            </a:r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自营投资</a:t>
            </a:r>
            <a:r>
              <a:rPr lang="en-US" altLang="zh-CN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-</a:t>
            </a:r>
            <a:r>
              <a:rPr lang="zh-CN" altLang="en-US" sz="2400" b="1" kern="2000" dirty="0">
                <a:solidFill>
                  <a:schemeClr val="bg1"/>
                </a:solidFill>
                <a:latin typeface="Arial" panose="020B0704020202020204" pitchFamily="34" charset="0"/>
                <a:ea typeface="微软雅黑" panose="00000500000000000000" charset="-122"/>
                <a:sym typeface="+mn-ea"/>
              </a:rPr>
              <a:t>组合管理</a:t>
            </a:r>
          </a:p>
        </p:txBody>
      </p:sp>
      <p:cxnSp>
        <p:nvCxnSpPr>
          <p:cNvPr id="92" name="直线连接符 1"/>
          <p:cNvCxnSpPr/>
          <p:nvPr/>
        </p:nvCxnSpPr>
        <p:spPr>
          <a:xfrm>
            <a:off x="465823" y="349321"/>
            <a:ext cx="0" cy="431514"/>
          </a:xfrm>
          <a:prstGeom prst="line">
            <a:avLst/>
          </a:prstGeom>
          <a:ln w="762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线连接符 1"/>
          <p:cNvCxnSpPr/>
          <p:nvPr/>
        </p:nvCxnSpPr>
        <p:spPr>
          <a:xfrm>
            <a:off x="465823" y="344764"/>
            <a:ext cx="0" cy="442042"/>
          </a:xfrm>
          <a:prstGeom prst="line">
            <a:avLst/>
          </a:prstGeom>
          <a:ln w="762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/>
          <p:cNvSpPr txBox="1"/>
          <p:nvPr/>
        </p:nvSpPr>
        <p:spPr>
          <a:xfrm>
            <a:off x="572770" y="344805"/>
            <a:ext cx="993902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华锐</a:t>
            </a:r>
            <a:r>
              <a:rPr lang="en-US" altLang="zh-CN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FICC</a:t>
            </a:r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系统建设规划</a:t>
            </a:r>
            <a:r>
              <a:rPr lang="en-US" altLang="zh-CN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——</a:t>
            </a:r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自营投资</a:t>
            </a:r>
            <a:r>
              <a:rPr lang="en-US" altLang="zh-CN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-</a:t>
            </a:r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现券交易</a:t>
            </a:r>
          </a:p>
        </p:txBody>
      </p:sp>
      <p:cxnSp>
        <p:nvCxnSpPr>
          <p:cNvPr id="92" name="直线连接符 1"/>
          <p:cNvCxnSpPr/>
          <p:nvPr/>
        </p:nvCxnSpPr>
        <p:spPr>
          <a:xfrm>
            <a:off x="465823" y="349321"/>
            <a:ext cx="0" cy="431514"/>
          </a:xfrm>
          <a:prstGeom prst="line">
            <a:avLst/>
          </a:prstGeom>
          <a:ln w="762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圆角矩形 60"/>
          <p:cNvSpPr/>
          <p:nvPr>
            <p:custDataLst>
              <p:tags r:id="rId1"/>
            </p:custDataLst>
          </p:nvPr>
        </p:nvSpPr>
        <p:spPr bwMode="auto">
          <a:xfrm>
            <a:off x="2818130" y="1323340"/>
            <a:ext cx="7600315" cy="5137785"/>
          </a:xfrm>
          <a:prstGeom prst="roundRect">
            <a:avLst>
              <a:gd name="adj" fmla="val 1499"/>
            </a:avLst>
          </a:prstGeom>
          <a:solidFill>
            <a:srgbClr val="15438F"/>
          </a:solidFill>
          <a:ln>
            <a:noFill/>
            <a:prstDash val="dash"/>
          </a:ln>
        </p:spPr>
        <p:txBody>
          <a:bodyPr vert="horz" wrap="square" lIns="91440" tIns="45720" rIns="91440" bIns="45720" numCol="1" anchor="t" anchorCtr="0" compatLnSpc="1"/>
          <a:lstStyle/>
          <a:p>
            <a:pPr algn="ctr" defTabSz="914400" eaLnBrk="1" fontAlgn="auto" hangingPunct="1"/>
            <a:r>
              <a:rPr lang="zh-CN" altLang="en-US" sz="18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0000500000000000000" charset="-122"/>
                <a:ea typeface="微软雅黑" panose="00000500000000000000" charset="-122"/>
                <a:sym typeface="+mn-ea"/>
              </a:rPr>
              <a:t>统一行情</a:t>
            </a:r>
          </a:p>
        </p:txBody>
      </p:sp>
      <p:sp>
        <p:nvSpPr>
          <p:cNvPr id="3" name="圆角矩形 2"/>
          <p:cNvSpPr/>
          <p:nvPr/>
        </p:nvSpPr>
        <p:spPr bwMode="auto">
          <a:xfrm>
            <a:off x="633095" y="2422525"/>
            <a:ext cx="1818640" cy="2610485"/>
          </a:xfrm>
          <a:prstGeom prst="roundRect">
            <a:avLst>
              <a:gd name="adj" fmla="val 2525"/>
            </a:avLst>
          </a:prstGeom>
          <a:solidFill>
            <a:srgbClr val="225FD1">
              <a:alpha val="30000"/>
            </a:srgbClr>
          </a:solidFill>
          <a:ln w="635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lvl="0" algn="ctr" defTabSz="914400" eaLnBrk="1" fontAlgn="auto" hangingPunct="1">
              <a:buClrTx/>
              <a:buSzTx/>
              <a:buFontTx/>
            </a:pPr>
            <a:r>
              <a:rPr lang="zh-CN" altLang="en-US" sz="1200" b="1">
                <a:solidFill>
                  <a:schemeClr val="bg1">
                    <a:lumMod val="75000"/>
                  </a:schemeClr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行情来源</a:t>
            </a:r>
          </a:p>
        </p:txBody>
      </p:sp>
      <p:sp>
        <p:nvSpPr>
          <p:cNvPr id="5" name="圆角矩形 4"/>
          <p:cNvSpPr/>
          <p:nvPr/>
        </p:nvSpPr>
        <p:spPr>
          <a:xfrm>
            <a:off x="807085" y="2783205"/>
            <a:ext cx="1470025" cy="288290"/>
          </a:xfrm>
          <a:prstGeom prst="roundRect">
            <a:avLst/>
          </a:prstGeom>
          <a:solidFill>
            <a:srgbClr val="379DFF"/>
          </a:solidFill>
          <a:ln w="3175" cap="flat" cmpd="sng" algn="ctr">
            <a:noFill/>
            <a:prstDash val="solid"/>
            <a:miter lim="800000"/>
          </a:ln>
          <a:effectLst/>
        </p:spPr>
        <p:txBody>
          <a:bodyPr lIns="90170" tIns="46990" rIns="90170" bIns="4699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00" b="1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外汇交易中心</a:t>
            </a:r>
          </a:p>
        </p:txBody>
      </p:sp>
      <p:sp>
        <p:nvSpPr>
          <p:cNvPr id="7" name="圆角矩形 6"/>
          <p:cNvSpPr/>
          <p:nvPr/>
        </p:nvSpPr>
        <p:spPr>
          <a:xfrm>
            <a:off x="807085" y="3232150"/>
            <a:ext cx="1470025" cy="288290"/>
          </a:xfrm>
          <a:prstGeom prst="roundRect">
            <a:avLst/>
          </a:prstGeom>
          <a:solidFill>
            <a:srgbClr val="379DFF"/>
          </a:solidFill>
          <a:ln w="3175" cap="flat" cmpd="sng" algn="ctr">
            <a:noFill/>
            <a:prstDash val="solid"/>
            <a:miter lim="800000"/>
          </a:ln>
          <a:effectLst/>
        </p:spPr>
        <p:txBody>
          <a:bodyPr lIns="90170" tIns="46990" rIns="90170" bIns="4699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00" b="1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货币中介</a:t>
            </a:r>
          </a:p>
        </p:txBody>
      </p:sp>
      <p:sp>
        <p:nvSpPr>
          <p:cNvPr id="8" name="圆角矩形 7"/>
          <p:cNvSpPr/>
          <p:nvPr/>
        </p:nvSpPr>
        <p:spPr>
          <a:xfrm>
            <a:off x="807085" y="3681095"/>
            <a:ext cx="1470025" cy="288290"/>
          </a:xfrm>
          <a:prstGeom prst="roundRect">
            <a:avLst/>
          </a:prstGeom>
          <a:solidFill>
            <a:srgbClr val="379DFF"/>
          </a:solidFill>
          <a:ln w="3175" cap="flat" cmpd="sng" algn="ctr">
            <a:noFill/>
            <a:prstDash val="solid"/>
            <a:miter lim="800000"/>
          </a:ln>
          <a:effectLst/>
        </p:spPr>
        <p:txBody>
          <a:bodyPr lIns="90170" tIns="46990" rIns="90170" bIns="4699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1200" b="1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QTrade</a:t>
            </a:r>
          </a:p>
        </p:txBody>
      </p:sp>
      <p:grpSp>
        <p:nvGrpSpPr>
          <p:cNvPr id="16" name="组合 15"/>
          <p:cNvGrpSpPr/>
          <p:nvPr/>
        </p:nvGrpSpPr>
        <p:grpSpPr>
          <a:xfrm>
            <a:off x="634365" y="5211445"/>
            <a:ext cx="2170430" cy="1179830"/>
            <a:chOff x="997" y="2083"/>
            <a:chExt cx="3418" cy="1858"/>
          </a:xfrm>
        </p:grpSpPr>
        <p:sp>
          <p:nvSpPr>
            <p:cNvPr id="100" name="圆角矩形 99"/>
            <p:cNvSpPr/>
            <p:nvPr/>
          </p:nvSpPr>
          <p:spPr bwMode="auto">
            <a:xfrm>
              <a:off x="997" y="2083"/>
              <a:ext cx="2863" cy="1858"/>
            </a:xfrm>
            <a:prstGeom prst="roundRect">
              <a:avLst>
                <a:gd name="adj" fmla="val 2525"/>
              </a:avLst>
            </a:prstGeom>
            <a:solidFill>
              <a:srgbClr val="225FD1">
                <a:alpha val="30000"/>
              </a:srgbClr>
            </a:solidFill>
            <a:ln w="6350"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lIns="91440" tIns="45720" rIns="91440" bIns="45720" numCol="1" spcCol="0" rtlCol="0" fromWordArt="0" anchor="t" anchorCtr="0" forceAA="0" compatLnSpc="1">
              <a:noAutofit/>
            </a:bodyPr>
            <a:lstStyle/>
            <a:p>
              <a:pPr lvl="0" algn="ctr" defTabSz="914400" eaLnBrk="1" fontAlgn="auto" hangingPunct="1">
                <a:buClrTx/>
                <a:buSzTx/>
                <a:buFontTx/>
              </a:pPr>
              <a:r>
                <a:rPr lang="zh-CN" altLang="en-US" sz="1200" b="1">
                  <a:solidFill>
                    <a:schemeClr val="bg1">
                      <a:lumMod val="75000"/>
                    </a:schemeClr>
                  </a:solidFill>
                  <a:latin typeface="微软雅黑" panose="00000500000000000000" charset="-122"/>
                  <a:ea typeface="微软雅黑" panose="00000500000000000000" charset="-122"/>
                  <a:sym typeface="+mn-ea"/>
                </a:rPr>
                <a:t>投研辅助</a:t>
              </a:r>
            </a:p>
          </p:txBody>
        </p:sp>
        <p:sp>
          <p:nvSpPr>
            <p:cNvPr id="6" name="圆角矩形 5"/>
            <p:cNvSpPr/>
            <p:nvPr/>
          </p:nvSpPr>
          <p:spPr>
            <a:xfrm>
              <a:off x="1277" y="2597"/>
              <a:ext cx="2315" cy="454"/>
            </a:xfrm>
            <a:prstGeom prst="roundRect">
              <a:avLst/>
            </a:prstGeom>
            <a:solidFill>
              <a:srgbClr val="379DFF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lIns="90170" tIns="46990" rIns="90170" bIns="4699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altLang="en-US" sz="1200" b="1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0000500000000000000" charset="-122"/>
                  <a:ea typeface="微软雅黑" panose="00000500000000000000" charset="-122"/>
                  <a:cs typeface="微软雅黑" panose="00000500000000000000" charset="-122"/>
                  <a:sym typeface="+mn-ea"/>
                </a:rPr>
                <a:t>实时流动性分析</a:t>
              </a:r>
            </a:p>
          </p:txBody>
        </p:sp>
        <p:sp>
          <p:nvSpPr>
            <p:cNvPr id="9" name="圆角矩形 8"/>
            <p:cNvSpPr/>
            <p:nvPr/>
          </p:nvSpPr>
          <p:spPr>
            <a:xfrm>
              <a:off x="1277" y="3251"/>
              <a:ext cx="2315" cy="454"/>
            </a:xfrm>
            <a:prstGeom prst="roundRect">
              <a:avLst/>
            </a:prstGeom>
            <a:solidFill>
              <a:srgbClr val="379DFF"/>
            </a:solidFill>
            <a:ln w="3175" cap="flat" cmpd="sng" algn="ctr">
              <a:noFill/>
              <a:prstDash val="solid"/>
              <a:miter lim="800000"/>
            </a:ln>
            <a:effectLst/>
          </p:spPr>
          <p:txBody>
            <a:bodyPr lIns="90170" tIns="46990" rIns="90170" bIns="4699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lang="zh-CN" altLang="en-US" sz="1200" b="1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微软雅黑" panose="00000500000000000000" charset="-122"/>
                  <a:ea typeface="微软雅黑" panose="00000500000000000000" charset="-122"/>
                  <a:cs typeface="微软雅黑" panose="00000500000000000000" charset="-122"/>
                  <a:sym typeface="+mn-ea"/>
                </a:rPr>
                <a:t>实时利差分析</a:t>
              </a:r>
            </a:p>
          </p:txBody>
        </p:sp>
        <p:sp>
          <p:nvSpPr>
            <p:cNvPr id="119" name="右箭头 118"/>
            <p:cNvSpPr/>
            <p:nvPr/>
          </p:nvSpPr>
          <p:spPr>
            <a:xfrm>
              <a:off x="3935" y="2764"/>
              <a:ext cx="480" cy="420"/>
            </a:xfrm>
            <a:prstGeom prst="rightArrow">
              <a:avLst/>
            </a:prstGeom>
            <a:solidFill>
              <a:srgbClr val="225FD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400" eaLnBrk="1" fontAlgn="auto" hangingPunct="1"/>
              <a:endParaRPr lang="zh-CN" altLang="en-US" sz="1800"/>
            </a:p>
          </p:txBody>
        </p:sp>
      </p:grpSp>
      <p:sp>
        <p:nvSpPr>
          <p:cNvPr id="10" name="右箭头 9"/>
          <p:cNvSpPr/>
          <p:nvPr/>
        </p:nvSpPr>
        <p:spPr>
          <a:xfrm rot="16200000">
            <a:off x="1389380" y="2057400"/>
            <a:ext cx="304800" cy="266700"/>
          </a:xfrm>
          <a:prstGeom prst="rightArrow">
            <a:avLst/>
          </a:prstGeom>
          <a:solidFill>
            <a:srgbClr val="225F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eaLnBrk="1" fontAlgn="auto" hangingPunct="1"/>
            <a:endParaRPr lang="zh-CN" altLang="en-US" sz="1800"/>
          </a:p>
        </p:txBody>
      </p:sp>
      <p:sp>
        <p:nvSpPr>
          <p:cNvPr id="74" name="圆角矩形 73"/>
          <p:cNvSpPr/>
          <p:nvPr/>
        </p:nvSpPr>
        <p:spPr bwMode="auto">
          <a:xfrm>
            <a:off x="7136765" y="2645410"/>
            <a:ext cx="3084830" cy="2969895"/>
          </a:xfrm>
          <a:prstGeom prst="roundRect">
            <a:avLst>
              <a:gd name="adj" fmla="val 2800"/>
            </a:avLst>
          </a:prstGeom>
          <a:solidFill>
            <a:srgbClr val="379DFF"/>
          </a:solidFill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square" lIns="0" tIns="36000" rIns="0" bIns="36000" numCol="1" rtlCol="0" anchor="t" anchorCtr="0" compatLnSpc="1"/>
          <a:lstStyle/>
          <a:p>
            <a:pPr marL="92075" lvl="0" indent="-92075" defTabSz="914400" eaLnBrk="1" fontAlgn="auto" hangingPunct="1">
              <a:lnSpc>
                <a:spcPct val="110000"/>
              </a:lnSpc>
              <a:buFont typeface="Arial" panose="020B0704020202020204" pitchFamily="34" charset="0"/>
              <a:buChar char="•"/>
              <a:defRPr/>
            </a:pPr>
            <a:endParaRPr kumimoji="0" lang="zh-CN" altLang="en-US" sz="11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微软雅黑" panose="00000500000000000000" charset="-122"/>
              <a:ea typeface="微软雅黑" panose="00000500000000000000" charset="-122"/>
              <a:cs typeface="微软雅黑" panose="00000500000000000000" charset="-122"/>
              <a:sym typeface="Calibri" charset="0"/>
            </a:endParaRPr>
          </a:p>
        </p:txBody>
      </p:sp>
      <p:sp>
        <p:nvSpPr>
          <p:cNvPr id="41" name="圆角矩形 60"/>
          <p:cNvSpPr/>
          <p:nvPr>
            <p:custDataLst>
              <p:tags r:id="rId2"/>
            </p:custDataLst>
          </p:nvPr>
        </p:nvSpPr>
        <p:spPr bwMode="auto">
          <a:xfrm>
            <a:off x="3570605" y="2645410"/>
            <a:ext cx="3126105" cy="3156585"/>
          </a:xfrm>
          <a:prstGeom prst="roundRect">
            <a:avLst>
              <a:gd name="adj" fmla="val 2712"/>
            </a:avLst>
          </a:prstGeom>
          <a:solidFill>
            <a:srgbClr val="225FD1"/>
          </a:solidFill>
          <a:ln w="9525" cap="flat" cmpd="sng" algn="ctr">
            <a:noFill/>
            <a:prstDash val="dash"/>
            <a:round/>
            <a:headEnd type="none" w="med" len="med"/>
            <a:tailEnd type="none" w="med" len="med"/>
          </a:ln>
        </p:spPr>
        <p:txBody>
          <a:bodyPr vert="horz" wrap="square" lIns="0" tIns="0" rIns="0" bIns="0" numCol="1" rtlCol="0" anchor="t" anchorCtr="0" compatLnSpc="1">
            <a:noAutofit/>
          </a:bodyPr>
          <a:lstStyle/>
          <a:p>
            <a:pPr algn="ctr" defTabSz="914400"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/>
            </a:pPr>
            <a:r>
              <a:rPr lang="en-US" altLang="zh-CN" sz="1400" kern="0" dirty="0"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0000500000000000000" charset="-122"/>
                <a:ea typeface="微软雅黑" panose="00000500000000000000" charset="-122"/>
                <a:cs typeface="Arial" panose="020B0704020202020204" pitchFamily="34" charset="0"/>
                <a:sym typeface="Arial" panose="020B0704020202020204" pitchFamily="34" charset="0"/>
              </a:rPr>
              <a:t>    </a:t>
            </a:r>
            <a:r>
              <a:rPr lang="zh-CN" altLang="en-US" sz="1400" kern="0" dirty="0"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0000500000000000000" charset="-122"/>
                <a:ea typeface="微软雅黑" panose="00000500000000000000" charset="-122"/>
                <a:cs typeface="Arial" panose="020B0704020202020204" pitchFamily="34" charset="0"/>
                <a:sym typeface="Arial" panose="020B0704020202020204" pitchFamily="34" charset="0"/>
              </a:rPr>
              <a:t>意向管理</a:t>
            </a:r>
          </a:p>
        </p:txBody>
      </p:sp>
      <p:sp>
        <p:nvSpPr>
          <p:cNvPr id="26" name="Rounded Rectangle 15"/>
          <p:cNvSpPr/>
          <p:nvPr>
            <p:custDataLst>
              <p:tags r:id="rId3"/>
            </p:custDataLst>
          </p:nvPr>
        </p:nvSpPr>
        <p:spPr bwMode="auto">
          <a:xfrm>
            <a:off x="3782695" y="3138170"/>
            <a:ext cx="2718435" cy="1047115"/>
          </a:xfrm>
          <a:prstGeom prst="roundRect">
            <a:avLst>
              <a:gd name="adj" fmla="val 9385"/>
            </a:avLst>
          </a:prstGeom>
          <a:solidFill>
            <a:srgbClr val="379DFF"/>
          </a:solidFill>
          <a:ln w="63500" cmpd="sng">
            <a:noFill/>
          </a:ln>
        </p:spPr>
        <p:txBody>
          <a:bodyPr vert="horz" wrap="square" lIns="0" tIns="0" rIns="0" bIns="0" numCol="1" rtlCol="0" anchor="t" anchorCtr="0" compatLnSpc="1">
            <a:noAutofit/>
          </a:bodyPr>
          <a:lstStyle/>
          <a:p>
            <a:pPr algn="ctr" defTabSz="914400" eaLnBrk="1" fontAlgn="auto" hangingPunct="1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0000500000000000000" charset="-122"/>
                <a:ea typeface="微软雅黑" panose="00000500000000000000" charset="-122"/>
                <a:sym typeface="+mn-ea"/>
              </a:rPr>
              <a:t>意向管理</a:t>
            </a:r>
          </a:p>
        </p:txBody>
      </p:sp>
      <p:grpSp>
        <p:nvGrpSpPr>
          <p:cNvPr id="28" name="组合 27"/>
          <p:cNvGrpSpPr/>
          <p:nvPr/>
        </p:nvGrpSpPr>
        <p:grpSpPr>
          <a:xfrm>
            <a:off x="10880090" y="3562985"/>
            <a:ext cx="988695" cy="1247775"/>
            <a:chOff x="17109" y="1888"/>
            <a:chExt cx="1557" cy="1965"/>
          </a:xfrm>
        </p:grpSpPr>
        <p:sp>
          <p:nvSpPr>
            <p:cNvPr id="29" name="圆角矩形 60"/>
            <p:cNvSpPr/>
            <p:nvPr/>
          </p:nvSpPr>
          <p:spPr bwMode="auto">
            <a:xfrm>
              <a:off x="17109" y="1888"/>
              <a:ext cx="1557" cy="1965"/>
            </a:xfrm>
            <a:prstGeom prst="roundRect">
              <a:avLst>
                <a:gd name="adj" fmla="val 0"/>
              </a:avLst>
            </a:prstGeom>
            <a:solidFill>
              <a:srgbClr val="225FD1">
                <a:alpha val="30000"/>
              </a:srgbClr>
            </a:solidFill>
            <a:ln w="6350"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lIns="91440" tIns="45720" rIns="91440" bIns="45720" numCol="1" spcCol="0" rtlCol="0" fromWordArt="0" anchor="t" anchorCtr="0" forceAA="0" compatLnSpc="1">
              <a:noAutofit/>
            </a:bodyPr>
            <a:lstStyle/>
            <a:p>
              <a:pPr lvl="0" algn="ctr" defTabSz="914400" eaLnBrk="1" fontAlgn="auto" hangingPunct="1">
                <a:buClrTx/>
                <a:buSzTx/>
              </a:pPr>
              <a:r>
                <a:rPr lang="zh-CN" altLang="en-US" sz="1200" b="1">
                  <a:solidFill>
                    <a:schemeClr val="bg1">
                      <a:lumMod val="75000"/>
                    </a:schemeClr>
                  </a:solidFill>
                  <a:latin typeface="微软雅黑" panose="00000500000000000000" charset="-122"/>
                  <a:ea typeface="微软雅黑" panose="00000500000000000000" charset="-122"/>
                  <a:sym typeface="+mn-ea"/>
                </a:rPr>
                <a:t>交易执行</a:t>
              </a:r>
            </a:p>
          </p:txBody>
        </p:sp>
        <p:sp>
          <p:nvSpPr>
            <p:cNvPr id="32" name="矩形: 圆角 71"/>
            <p:cNvSpPr/>
            <p:nvPr/>
          </p:nvSpPr>
          <p:spPr bwMode="auto">
            <a:xfrm>
              <a:off x="17280" y="2392"/>
              <a:ext cx="1215" cy="527"/>
            </a:xfrm>
            <a:prstGeom prst="roundRect">
              <a:avLst/>
            </a:prstGeom>
            <a:solidFill>
              <a:srgbClr val="5E7AF8"/>
            </a:solidFill>
            <a:ln w="12700" cmpd="sng">
              <a:noFill/>
            </a:ln>
          </p:spPr>
          <p:txBody>
            <a:bodyPr vert="horz" wrap="square" lIns="0" tIns="0" rIns="0" bIns="0" numCol="1" spcCol="0" rtlCol="0" fromWordArt="0" anchor="ctr" anchorCtr="0" forceAA="0" compatLnSpc="1">
              <a:noAutofit/>
            </a:bodyPr>
            <a:lstStyle/>
            <a:p>
              <a:pPr lvl="0" algn="ctr" defTabSz="914400" eaLnBrk="1" fontAlgn="auto" hangingPunct="1">
                <a:buClrTx/>
                <a:buSzTx/>
              </a:pPr>
              <a:r>
                <a:rPr lang="zh-CN" altLang="en-US" sz="1200" dirty="0">
                  <a:solidFill>
                    <a:schemeClr val="bg1"/>
                  </a:solidFill>
                  <a:latin typeface="微软雅黑" panose="00000500000000000000" charset="-122"/>
                  <a:ea typeface="微软雅黑" panose="00000500000000000000" charset="-122"/>
                  <a:sym typeface="+mn-ea"/>
                </a:rPr>
                <a:t>银行间</a:t>
              </a:r>
            </a:p>
          </p:txBody>
        </p:sp>
        <p:sp>
          <p:nvSpPr>
            <p:cNvPr id="33" name="矩形: 圆角 71"/>
            <p:cNvSpPr/>
            <p:nvPr/>
          </p:nvSpPr>
          <p:spPr bwMode="auto">
            <a:xfrm>
              <a:off x="17280" y="3085"/>
              <a:ext cx="1215" cy="527"/>
            </a:xfrm>
            <a:prstGeom prst="roundRect">
              <a:avLst/>
            </a:prstGeom>
            <a:solidFill>
              <a:srgbClr val="5E7AF8"/>
            </a:solidFill>
            <a:ln w="12700" cmpd="sng">
              <a:noFill/>
            </a:ln>
          </p:spPr>
          <p:txBody>
            <a:bodyPr vert="horz" wrap="square" lIns="0" tIns="0" rIns="0" bIns="0" numCol="1" spcCol="0" rtlCol="0" fromWordArt="0" anchor="ctr" anchorCtr="0" forceAA="0" compatLnSpc="1">
              <a:noAutofit/>
            </a:bodyPr>
            <a:lstStyle/>
            <a:p>
              <a:pPr lvl="0" algn="ctr" defTabSz="914400" eaLnBrk="1" fontAlgn="auto" hangingPunct="1">
                <a:buClrTx/>
                <a:buSzTx/>
              </a:pPr>
              <a:r>
                <a:rPr lang="zh-CN" altLang="en-US" sz="1200" dirty="0">
                  <a:solidFill>
                    <a:schemeClr val="bg1"/>
                  </a:solidFill>
                  <a:latin typeface="微软雅黑" panose="00000500000000000000" charset="-122"/>
                  <a:ea typeface="微软雅黑" panose="00000500000000000000" charset="-122"/>
                  <a:sym typeface="+mn-ea"/>
                </a:rPr>
                <a:t>交易所</a:t>
              </a:r>
            </a:p>
          </p:txBody>
        </p:sp>
      </p:grpSp>
      <p:sp>
        <p:nvSpPr>
          <p:cNvPr id="56" name="圆角矩形 60"/>
          <p:cNvSpPr/>
          <p:nvPr/>
        </p:nvSpPr>
        <p:spPr bwMode="auto">
          <a:xfrm>
            <a:off x="10880090" y="5124450"/>
            <a:ext cx="988695" cy="323850"/>
          </a:xfrm>
          <a:prstGeom prst="roundRect">
            <a:avLst>
              <a:gd name="adj" fmla="val 0"/>
            </a:avLst>
          </a:prstGeom>
          <a:solidFill>
            <a:srgbClr val="225FD1">
              <a:alpha val="30000"/>
            </a:srgbClr>
          </a:solidFill>
          <a:ln w="635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 algn="ctr" defTabSz="914400" eaLnBrk="1" fontAlgn="auto" hangingPunct="1">
              <a:lnSpc>
                <a:spcPct val="130000"/>
              </a:lnSpc>
              <a:buClrTx/>
              <a:buSzTx/>
            </a:pPr>
            <a:r>
              <a:rPr lang="zh-CN" altLang="en-US" sz="1200" b="1">
                <a:solidFill>
                  <a:schemeClr val="bg1">
                    <a:lumMod val="75000"/>
                  </a:schemeClr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交易所</a:t>
            </a:r>
          </a:p>
        </p:txBody>
      </p:sp>
      <p:sp>
        <p:nvSpPr>
          <p:cNvPr id="24" name="圆角矩形 60"/>
          <p:cNvSpPr/>
          <p:nvPr>
            <p:custDataLst>
              <p:tags r:id="rId4"/>
            </p:custDataLst>
          </p:nvPr>
        </p:nvSpPr>
        <p:spPr bwMode="auto">
          <a:xfrm>
            <a:off x="2941320" y="5801995"/>
            <a:ext cx="7314565" cy="494030"/>
          </a:xfrm>
          <a:prstGeom prst="roundRect">
            <a:avLst>
              <a:gd name="adj" fmla="val 15167"/>
            </a:avLst>
          </a:prstGeom>
          <a:solidFill>
            <a:srgbClr val="225FD1"/>
          </a:solidFill>
          <a:ln w="9525" cap="flat" cmpd="sng" algn="ctr">
            <a:noFill/>
            <a:prstDash val="dash"/>
            <a:round/>
            <a:headEnd type="none" w="med" len="med"/>
            <a:tailEnd type="none" w="med" len="med"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lvl="0" algn="l" defTabSz="914400"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defRPr/>
            </a:pPr>
            <a:r>
              <a:rPr lang="en-US" altLang="zh-CN" sz="1400" kern="0" dirty="0"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0000500000000000000" charset="-122"/>
                <a:ea typeface="微软雅黑" panose="00000500000000000000" charset="-122"/>
                <a:cs typeface="Arial" panose="020B0704020202020204" pitchFamily="34" charset="0"/>
                <a:sym typeface="Arial" panose="020B0704020202020204" pitchFamily="34" charset="0"/>
              </a:rPr>
              <a:t> 辅助功能</a:t>
            </a:r>
          </a:p>
        </p:txBody>
      </p:sp>
      <p:sp>
        <p:nvSpPr>
          <p:cNvPr id="81" name="Rounded Rectangle 15"/>
          <p:cNvSpPr/>
          <p:nvPr>
            <p:custDataLst>
              <p:tags r:id="rId5"/>
            </p:custDataLst>
          </p:nvPr>
        </p:nvSpPr>
        <p:spPr bwMode="auto">
          <a:xfrm>
            <a:off x="7246620" y="5913755"/>
            <a:ext cx="1160780" cy="288290"/>
          </a:xfrm>
          <a:prstGeom prst="roundRect">
            <a:avLst>
              <a:gd name="adj" fmla="val 9385"/>
            </a:avLst>
          </a:prstGeom>
          <a:solidFill>
            <a:srgbClr val="379DFF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 defTabSz="914400" eaLnBrk="1" fontAlgn="auto" hangingPunct="1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0000500000000000000" charset="-122"/>
                <a:ea typeface="微软雅黑" panose="00000500000000000000" charset="-122"/>
                <a:sym typeface="+mn-ea"/>
              </a:rPr>
              <a:t>权限管理</a:t>
            </a:r>
          </a:p>
        </p:txBody>
      </p:sp>
      <p:sp>
        <p:nvSpPr>
          <p:cNvPr id="101" name="Rounded Rectangle 15"/>
          <p:cNvSpPr/>
          <p:nvPr>
            <p:custDataLst>
              <p:tags r:id="rId6"/>
            </p:custDataLst>
          </p:nvPr>
        </p:nvSpPr>
        <p:spPr bwMode="auto">
          <a:xfrm>
            <a:off x="8891905" y="5913755"/>
            <a:ext cx="1052830" cy="288290"/>
          </a:xfrm>
          <a:prstGeom prst="roundRect">
            <a:avLst>
              <a:gd name="adj" fmla="val 9385"/>
            </a:avLst>
          </a:prstGeom>
          <a:solidFill>
            <a:srgbClr val="379DFF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 defTabSz="914400" eaLnBrk="1" fontAlgn="auto" hangingPunct="1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0000500000000000000" charset="-122"/>
                <a:ea typeface="微软雅黑" panose="00000500000000000000" charset="-122"/>
                <a:sym typeface="+mn-ea"/>
              </a:rPr>
              <a:t>授权管理</a:t>
            </a:r>
          </a:p>
        </p:txBody>
      </p:sp>
      <p:sp>
        <p:nvSpPr>
          <p:cNvPr id="54" name="圆角矩形 60"/>
          <p:cNvSpPr/>
          <p:nvPr/>
        </p:nvSpPr>
        <p:spPr bwMode="auto">
          <a:xfrm>
            <a:off x="10880090" y="2958465"/>
            <a:ext cx="988695" cy="323850"/>
          </a:xfrm>
          <a:prstGeom prst="roundRect">
            <a:avLst>
              <a:gd name="adj" fmla="val 0"/>
            </a:avLst>
          </a:prstGeom>
          <a:solidFill>
            <a:srgbClr val="225FD1">
              <a:alpha val="30000"/>
            </a:srgbClr>
          </a:solidFill>
          <a:ln w="635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 algn="ctr" defTabSz="914400" eaLnBrk="1" fontAlgn="auto" hangingPunct="1">
              <a:lnSpc>
                <a:spcPct val="130000"/>
              </a:lnSpc>
              <a:buClrTx/>
              <a:buSzTx/>
            </a:pPr>
            <a:r>
              <a:rPr lang="zh-CN" altLang="en-US" sz="1200" b="1">
                <a:solidFill>
                  <a:schemeClr val="bg1">
                    <a:lumMod val="75000"/>
                  </a:schemeClr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本币系统</a:t>
            </a:r>
          </a:p>
        </p:txBody>
      </p:sp>
      <p:sp>
        <p:nvSpPr>
          <p:cNvPr id="55" name="圆角矩形 60"/>
          <p:cNvSpPr/>
          <p:nvPr/>
        </p:nvSpPr>
        <p:spPr bwMode="auto">
          <a:xfrm>
            <a:off x="10880090" y="1398905"/>
            <a:ext cx="988695" cy="1271270"/>
          </a:xfrm>
          <a:prstGeom prst="roundRect">
            <a:avLst>
              <a:gd name="adj" fmla="val 0"/>
            </a:avLst>
          </a:prstGeom>
          <a:solidFill>
            <a:srgbClr val="225FD1">
              <a:alpha val="30000"/>
            </a:srgbClr>
          </a:solidFill>
          <a:ln w="635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40" tIns="45720" rIns="91440" bIns="45720" numCol="1" spcCol="0" rtlCol="0" fromWordArt="0" anchor="t" anchorCtr="0" forceAA="0" compatLnSpc="1">
            <a:noAutofit/>
          </a:bodyPr>
          <a:lstStyle/>
          <a:p>
            <a:pPr lvl="0" algn="ctr" defTabSz="914400" eaLnBrk="1" fontAlgn="auto" hangingPunct="1">
              <a:lnSpc>
                <a:spcPct val="130000"/>
              </a:lnSpc>
              <a:buClrTx/>
              <a:buSzTx/>
            </a:pPr>
            <a:r>
              <a:rPr lang="zh-CN" altLang="en-US" sz="1200" b="1">
                <a:solidFill>
                  <a:schemeClr val="bg1">
                    <a:lumMod val="75000"/>
                  </a:schemeClr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对手方</a:t>
            </a:r>
            <a:r>
              <a:rPr lang="en-US" altLang="zh-CN" sz="1200" b="1">
                <a:solidFill>
                  <a:schemeClr val="bg1">
                    <a:lumMod val="75000"/>
                  </a:schemeClr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IM</a:t>
            </a:r>
          </a:p>
        </p:txBody>
      </p:sp>
      <p:sp>
        <p:nvSpPr>
          <p:cNvPr id="57" name="矩形: 圆角 71"/>
          <p:cNvSpPr/>
          <p:nvPr/>
        </p:nvSpPr>
        <p:spPr bwMode="auto">
          <a:xfrm>
            <a:off x="10989945" y="1730375"/>
            <a:ext cx="771525" cy="189230"/>
          </a:xfrm>
          <a:prstGeom prst="roundRect">
            <a:avLst/>
          </a:prstGeom>
          <a:solidFill>
            <a:srgbClr val="5E7AF8"/>
          </a:solidFill>
          <a:ln w="12700" cmpd="sng">
            <a:noFill/>
          </a:ln>
        </p:spPr>
        <p:txBody>
          <a:bodyPr vert="horz" wrap="square" lIns="0" tIns="0" rIns="0" bIns="0" numCol="1" spcCol="0" rtlCol="0" fromWordArt="0" anchor="ctr" anchorCtr="0" forceAA="0" compatLnSpc="1">
            <a:noAutofit/>
          </a:bodyPr>
          <a:lstStyle/>
          <a:p>
            <a:pPr lvl="0" algn="ctr" defTabSz="914400" eaLnBrk="1" fontAlgn="auto" hangingPunct="1">
              <a:buClrTx/>
              <a:buSzTx/>
            </a:pPr>
            <a:r>
              <a:rPr lang="en-US" altLang="zh-CN" sz="1000" dirty="0">
                <a:solidFill>
                  <a:schemeClr val="bg1"/>
                </a:solidFill>
                <a:latin typeface="Times New Roman" panose="02020603050405020304" charset="0"/>
                <a:ea typeface="微软雅黑" panose="00000500000000000000" charset="-122"/>
                <a:cs typeface="Times New Roman" panose="02020603050405020304" charset="0"/>
                <a:sym typeface="+mn-ea"/>
              </a:rPr>
              <a:t>QTrade</a:t>
            </a:r>
          </a:p>
        </p:txBody>
      </p:sp>
      <p:sp>
        <p:nvSpPr>
          <p:cNvPr id="58" name="矩形: 圆角 71"/>
          <p:cNvSpPr/>
          <p:nvPr/>
        </p:nvSpPr>
        <p:spPr bwMode="auto">
          <a:xfrm>
            <a:off x="10989945" y="2021840"/>
            <a:ext cx="771525" cy="189230"/>
          </a:xfrm>
          <a:prstGeom prst="roundRect">
            <a:avLst/>
          </a:prstGeom>
          <a:solidFill>
            <a:srgbClr val="5E7AF8"/>
          </a:solidFill>
          <a:ln w="12700" cmpd="sng">
            <a:noFill/>
          </a:ln>
        </p:spPr>
        <p:txBody>
          <a:bodyPr vert="horz" wrap="square" lIns="0" tIns="0" rIns="0" bIns="0" numCol="1" spcCol="0" rtlCol="0" fromWordArt="0" anchor="ctr" anchorCtr="0" forceAA="0" compatLnSpc="1">
            <a:noAutofit/>
          </a:bodyPr>
          <a:lstStyle/>
          <a:p>
            <a:pPr lvl="0" algn="ctr" defTabSz="914400" eaLnBrk="1" fontAlgn="auto" hangingPunct="1">
              <a:buClrTx/>
              <a:buSzTx/>
            </a:pPr>
            <a:r>
              <a:rPr lang="zh-CN" altLang="en-US" sz="1000" dirty="0">
                <a:solidFill>
                  <a:schemeClr val="bg1"/>
                </a:solidFill>
                <a:latin typeface="Times New Roman" panose="02020603050405020304" charset="0"/>
                <a:ea typeface="微软雅黑" panose="00000500000000000000" charset="-122"/>
                <a:cs typeface="Times New Roman" panose="02020603050405020304" charset="0"/>
                <a:sym typeface="+mn-ea"/>
              </a:rPr>
              <a:t>企微</a:t>
            </a:r>
          </a:p>
        </p:txBody>
      </p:sp>
      <p:sp>
        <p:nvSpPr>
          <p:cNvPr id="60" name="矩形: 圆角 71"/>
          <p:cNvSpPr/>
          <p:nvPr/>
        </p:nvSpPr>
        <p:spPr bwMode="auto">
          <a:xfrm>
            <a:off x="10989945" y="2313305"/>
            <a:ext cx="771525" cy="189230"/>
          </a:xfrm>
          <a:prstGeom prst="roundRect">
            <a:avLst/>
          </a:prstGeom>
          <a:solidFill>
            <a:srgbClr val="5E7AF8"/>
          </a:solidFill>
          <a:ln w="12700" cmpd="sng">
            <a:noFill/>
          </a:ln>
        </p:spPr>
        <p:txBody>
          <a:bodyPr vert="horz" wrap="square" lIns="0" tIns="0" rIns="0" bIns="0" numCol="1" spcCol="0" rtlCol="0" fromWordArt="0" anchor="ctr" anchorCtr="0" forceAA="0" compatLnSpc="1">
            <a:noAutofit/>
          </a:bodyPr>
          <a:lstStyle/>
          <a:p>
            <a:pPr lvl="0" algn="ctr" defTabSz="914400" eaLnBrk="1" fontAlgn="auto" hangingPunct="1">
              <a:buClrTx/>
              <a:buSzTx/>
            </a:pPr>
            <a:r>
              <a:rPr lang="en-US" altLang="zh-CN" sz="1000" dirty="0">
                <a:solidFill>
                  <a:schemeClr val="bg1"/>
                </a:solidFill>
                <a:latin typeface="Times New Roman" panose="02020603050405020304" charset="0"/>
                <a:ea typeface="微软雅黑" panose="00000500000000000000" charset="-122"/>
                <a:cs typeface="Times New Roman" panose="02020603050405020304" charset="0"/>
                <a:sym typeface="+mn-ea"/>
              </a:rPr>
              <a:t>Ideal</a:t>
            </a:r>
          </a:p>
        </p:txBody>
      </p:sp>
      <p:sp>
        <p:nvSpPr>
          <p:cNvPr id="62" name="左右箭头 61"/>
          <p:cNvSpPr/>
          <p:nvPr/>
        </p:nvSpPr>
        <p:spPr>
          <a:xfrm>
            <a:off x="10487660" y="2021840"/>
            <a:ext cx="337820" cy="201295"/>
          </a:xfrm>
          <a:prstGeom prst="left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sz="1800"/>
          </a:p>
        </p:txBody>
      </p:sp>
      <p:sp>
        <p:nvSpPr>
          <p:cNvPr id="63" name="左右箭头 62"/>
          <p:cNvSpPr/>
          <p:nvPr/>
        </p:nvSpPr>
        <p:spPr>
          <a:xfrm>
            <a:off x="10487660" y="4191000"/>
            <a:ext cx="337820" cy="201295"/>
          </a:xfrm>
          <a:prstGeom prst="left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sz="1800"/>
          </a:p>
        </p:txBody>
      </p:sp>
      <p:sp>
        <p:nvSpPr>
          <p:cNvPr id="64" name="左右箭头 63"/>
          <p:cNvSpPr/>
          <p:nvPr/>
        </p:nvSpPr>
        <p:spPr>
          <a:xfrm rot="16200000">
            <a:off x="11261090" y="3315335"/>
            <a:ext cx="227330" cy="201295"/>
          </a:xfrm>
          <a:prstGeom prst="leftRightArrow">
            <a:avLst>
              <a:gd name="adj1" fmla="val 50000"/>
              <a:gd name="adj2" fmla="val 34858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sz="1800"/>
          </a:p>
        </p:txBody>
      </p:sp>
      <p:sp>
        <p:nvSpPr>
          <p:cNvPr id="65" name="左右箭头 64"/>
          <p:cNvSpPr/>
          <p:nvPr/>
        </p:nvSpPr>
        <p:spPr>
          <a:xfrm rot="16200000">
            <a:off x="11261090" y="4876165"/>
            <a:ext cx="227330" cy="201295"/>
          </a:xfrm>
          <a:prstGeom prst="leftRightArrow">
            <a:avLst>
              <a:gd name="adj1" fmla="val 50000"/>
              <a:gd name="adj2" fmla="val 34858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sz="1800"/>
          </a:p>
        </p:txBody>
      </p:sp>
      <p:sp>
        <p:nvSpPr>
          <p:cNvPr id="66" name="燕尾形 65"/>
          <p:cNvSpPr/>
          <p:nvPr/>
        </p:nvSpPr>
        <p:spPr>
          <a:xfrm rot="5400000">
            <a:off x="3139440" y="4005580"/>
            <a:ext cx="307975" cy="307975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sz="1800"/>
          </a:p>
        </p:txBody>
      </p:sp>
      <p:sp>
        <p:nvSpPr>
          <p:cNvPr id="67" name="燕尾形 66"/>
          <p:cNvSpPr/>
          <p:nvPr/>
        </p:nvSpPr>
        <p:spPr>
          <a:xfrm rot="5400000">
            <a:off x="3139440" y="4385945"/>
            <a:ext cx="307975" cy="307975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sz="1800"/>
          </a:p>
        </p:txBody>
      </p:sp>
      <p:sp>
        <p:nvSpPr>
          <p:cNvPr id="68" name="燕尾形 67"/>
          <p:cNvSpPr/>
          <p:nvPr/>
        </p:nvSpPr>
        <p:spPr>
          <a:xfrm rot="5400000">
            <a:off x="3139440" y="4766310"/>
            <a:ext cx="307975" cy="307975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sz="1800"/>
          </a:p>
        </p:txBody>
      </p:sp>
      <p:sp>
        <p:nvSpPr>
          <p:cNvPr id="120" name="文本框 119"/>
          <p:cNvSpPr txBox="1"/>
          <p:nvPr/>
        </p:nvSpPr>
        <p:spPr>
          <a:xfrm>
            <a:off x="2900045" y="4115435"/>
            <a:ext cx="213360" cy="83566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 defTabSz="914400" eaLnBrk="1" fontAlgn="auto" hangingPunct="1"/>
            <a:r>
              <a:rPr lang="zh-CN" altLang="en-US" sz="12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</a:rPr>
              <a:t>交</a:t>
            </a:r>
          </a:p>
          <a:p>
            <a:pPr algn="ctr" defTabSz="914400" eaLnBrk="1" fontAlgn="auto" hangingPunct="1"/>
            <a:r>
              <a:rPr lang="zh-CN" altLang="en-US" sz="12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</a:rPr>
              <a:t>易</a:t>
            </a:r>
          </a:p>
          <a:p>
            <a:pPr algn="ctr" defTabSz="914400" eaLnBrk="1" fontAlgn="auto" hangingPunct="1"/>
            <a:r>
              <a:rPr lang="zh-CN" altLang="en-US" sz="12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</a:rPr>
              <a:t>阶</a:t>
            </a:r>
          </a:p>
          <a:p>
            <a:pPr algn="ctr" defTabSz="914400" eaLnBrk="1" fontAlgn="auto" hangingPunct="1"/>
            <a:r>
              <a:rPr lang="zh-CN" altLang="en-US" sz="12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</a:rPr>
              <a:t>段</a:t>
            </a:r>
          </a:p>
        </p:txBody>
      </p:sp>
      <p:grpSp>
        <p:nvGrpSpPr>
          <p:cNvPr id="104" name="组合 103"/>
          <p:cNvGrpSpPr/>
          <p:nvPr/>
        </p:nvGrpSpPr>
        <p:grpSpPr>
          <a:xfrm>
            <a:off x="4549140" y="2731770"/>
            <a:ext cx="253365" cy="253365"/>
            <a:chOff x="7501" y="411"/>
            <a:chExt cx="1072" cy="1072"/>
          </a:xfrm>
        </p:grpSpPr>
        <p:sp>
          <p:nvSpPr>
            <p:cNvPr id="71" name="椭圆 70"/>
            <p:cNvSpPr/>
            <p:nvPr/>
          </p:nvSpPr>
          <p:spPr>
            <a:xfrm>
              <a:off x="7501" y="411"/>
              <a:ext cx="1073" cy="10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lang="zh-CN" altLang="en-US" sz="1800"/>
            </a:p>
          </p:txBody>
        </p:sp>
        <p:pic>
          <p:nvPicPr>
            <p:cNvPr id="72" name="图片 71" descr="人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9"/>
                </a:ext>
              </a:extLst>
            </a:blip>
            <a:stretch>
              <a:fillRect/>
            </a:stretch>
          </p:blipFill>
          <p:spPr>
            <a:xfrm>
              <a:off x="7651" y="505"/>
              <a:ext cx="773" cy="773"/>
            </a:xfrm>
            <a:prstGeom prst="rect">
              <a:avLst/>
            </a:prstGeom>
          </p:spPr>
        </p:pic>
      </p:grpSp>
      <p:grpSp>
        <p:nvGrpSpPr>
          <p:cNvPr id="105" name="组合 104"/>
          <p:cNvGrpSpPr/>
          <p:nvPr/>
        </p:nvGrpSpPr>
        <p:grpSpPr>
          <a:xfrm>
            <a:off x="4347210" y="2731770"/>
            <a:ext cx="253365" cy="253365"/>
            <a:chOff x="6112" y="403"/>
            <a:chExt cx="1072" cy="1072"/>
          </a:xfrm>
        </p:grpSpPr>
        <p:sp>
          <p:nvSpPr>
            <p:cNvPr id="77" name="椭圆 76"/>
            <p:cNvSpPr/>
            <p:nvPr/>
          </p:nvSpPr>
          <p:spPr>
            <a:xfrm>
              <a:off x="6112" y="403"/>
              <a:ext cx="1073" cy="1073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lIns="0" tIns="0" rIns="0" bIns="0" rtlCol="0" anchor="ctr" anchorCtr="0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</a:pPr>
              <a:endParaRPr lang="zh-CN" altLang="en-US" sz="1800"/>
            </a:p>
          </p:txBody>
        </p:sp>
        <p:pic>
          <p:nvPicPr>
            <p:cNvPr id="80" name="图片 79" descr="头像"/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p:blipFill>
          <p:spPr>
            <a:xfrm>
              <a:off x="6283" y="550"/>
              <a:ext cx="730" cy="730"/>
            </a:xfrm>
            <a:prstGeom prst="rect">
              <a:avLst/>
            </a:prstGeom>
          </p:spPr>
        </p:pic>
      </p:grpSp>
      <p:grpSp>
        <p:nvGrpSpPr>
          <p:cNvPr id="102" name="组合 101"/>
          <p:cNvGrpSpPr/>
          <p:nvPr/>
        </p:nvGrpSpPr>
        <p:grpSpPr>
          <a:xfrm>
            <a:off x="8035290" y="2747645"/>
            <a:ext cx="1348740" cy="226060"/>
            <a:chOff x="12654" y="2962"/>
            <a:chExt cx="2124" cy="356"/>
          </a:xfrm>
        </p:grpSpPr>
        <p:sp>
          <p:nvSpPr>
            <p:cNvPr id="75" name="矩形 74"/>
            <p:cNvSpPr/>
            <p:nvPr/>
          </p:nvSpPr>
          <p:spPr>
            <a:xfrm>
              <a:off x="12953" y="2971"/>
              <a:ext cx="1825" cy="339"/>
            </a:xfrm>
            <a:prstGeom prst="rect">
              <a:avLst/>
            </a:prstGeom>
            <a:solidFill>
              <a:srgbClr val="379DFF"/>
            </a:solidFill>
          </p:spPr>
          <p:txBody>
            <a:bodyPr wrap="square" lIns="0" tIns="0" rIns="0" bIns="0" anchor="ctr">
              <a:spAutoFit/>
            </a:bodyPr>
            <a:lstStyle/>
            <a:p>
              <a:pPr lvl="0" algn="ctr" defTabSz="914400" eaLnBrk="1" fontAlgn="auto" hangingPunct="1">
                <a:defRPr/>
              </a:pPr>
              <a:r>
                <a:rPr lang="zh-CN" altLang="en-US" sz="1400" kern="0" dirty="0">
                  <a:solidFill>
                    <a:prstClr val="white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0000500000000000000" charset="-122"/>
                  <a:ea typeface="微软雅黑" panose="00000500000000000000" charset="-122"/>
                  <a:cs typeface="Arial" panose="020B0704020202020204" pitchFamily="34" charset="0"/>
                  <a:sym typeface="Calibri" charset="0"/>
                </a:rPr>
                <a:t>撮合中心</a:t>
              </a:r>
            </a:p>
          </p:txBody>
        </p:sp>
        <p:grpSp>
          <p:nvGrpSpPr>
            <p:cNvPr id="98" name="组合 97"/>
            <p:cNvGrpSpPr/>
            <p:nvPr/>
          </p:nvGrpSpPr>
          <p:grpSpPr>
            <a:xfrm>
              <a:off x="12654" y="2962"/>
              <a:ext cx="356" cy="356"/>
              <a:chOff x="9047" y="403"/>
              <a:chExt cx="1072" cy="1072"/>
            </a:xfrm>
          </p:grpSpPr>
          <p:sp>
            <p:nvSpPr>
              <p:cNvPr id="84" name="椭圆 83"/>
              <p:cNvSpPr/>
              <p:nvPr/>
            </p:nvSpPr>
            <p:spPr>
              <a:xfrm>
                <a:off x="9047" y="403"/>
                <a:ext cx="1073" cy="107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lIns="0" tIns="0" rIns="0" bIns="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</a:pPr>
                <a:endParaRPr lang="zh-CN" altLang="en-US" sz="1800"/>
              </a:p>
            </p:txBody>
          </p:sp>
          <p:pic>
            <p:nvPicPr>
              <p:cNvPr id="86" name="图片 85" descr="领导班子"/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1"/>
                  </a:ext>
                </a:extLst>
              </a:blip>
              <a:stretch>
                <a:fillRect/>
              </a:stretch>
            </p:blipFill>
            <p:spPr>
              <a:xfrm>
                <a:off x="9232" y="560"/>
                <a:ext cx="718" cy="718"/>
              </a:xfrm>
              <a:prstGeom prst="rect">
                <a:avLst/>
              </a:prstGeom>
            </p:spPr>
          </p:pic>
        </p:grpSp>
      </p:grpSp>
      <p:sp>
        <p:nvSpPr>
          <p:cNvPr id="90" name="燕尾形 89"/>
          <p:cNvSpPr/>
          <p:nvPr/>
        </p:nvSpPr>
        <p:spPr>
          <a:xfrm rot="5400000">
            <a:off x="3140075" y="2223135"/>
            <a:ext cx="307975" cy="307975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sz="1800"/>
          </a:p>
        </p:txBody>
      </p:sp>
      <p:sp>
        <p:nvSpPr>
          <p:cNvPr id="93" name="燕尾形 92"/>
          <p:cNvSpPr/>
          <p:nvPr/>
        </p:nvSpPr>
        <p:spPr>
          <a:xfrm rot="5400000">
            <a:off x="3140075" y="2603500"/>
            <a:ext cx="307975" cy="307975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sz="1800"/>
          </a:p>
        </p:txBody>
      </p:sp>
      <p:sp>
        <p:nvSpPr>
          <p:cNvPr id="94" name="燕尾形 93"/>
          <p:cNvSpPr/>
          <p:nvPr/>
        </p:nvSpPr>
        <p:spPr>
          <a:xfrm rot="5400000">
            <a:off x="3140075" y="2983865"/>
            <a:ext cx="307975" cy="307975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sz="1800"/>
          </a:p>
        </p:txBody>
      </p:sp>
      <p:sp>
        <p:nvSpPr>
          <p:cNvPr id="95" name="文本框 94"/>
          <p:cNvSpPr txBox="1"/>
          <p:nvPr/>
        </p:nvSpPr>
        <p:spPr>
          <a:xfrm>
            <a:off x="2900045" y="2343150"/>
            <a:ext cx="213360" cy="835660"/>
          </a:xfrm>
          <a:prstGeom prst="rect">
            <a:avLst/>
          </a:prstGeom>
          <a:noFill/>
        </p:spPr>
        <p:txBody>
          <a:bodyPr wrap="square" rtlCol="0" anchor="ctr" anchorCtr="0">
            <a:noAutofit/>
          </a:bodyPr>
          <a:lstStyle/>
          <a:p>
            <a:pPr algn="ctr" defTabSz="914400" eaLnBrk="1" fontAlgn="auto" hangingPunct="1"/>
            <a:r>
              <a:rPr lang="zh-CN" altLang="en-US" sz="12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</a:rPr>
              <a:t>意向</a:t>
            </a:r>
          </a:p>
          <a:p>
            <a:pPr algn="ctr" defTabSz="914400" eaLnBrk="1" fontAlgn="auto" hangingPunct="1"/>
            <a:r>
              <a:rPr lang="zh-CN" altLang="en-US" sz="12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</a:rPr>
              <a:t>阶</a:t>
            </a:r>
          </a:p>
          <a:p>
            <a:pPr algn="ctr" defTabSz="914400" eaLnBrk="1" fontAlgn="auto" hangingPunct="1"/>
            <a:r>
              <a:rPr lang="zh-CN" altLang="en-US" sz="12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</a:rPr>
              <a:t>段</a:t>
            </a:r>
          </a:p>
        </p:txBody>
      </p:sp>
      <p:sp>
        <p:nvSpPr>
          <p:cNvPr id="97" name="Rounded Rectangle 15"/>
          <p:cNvSpPr/>
          <p:nvPr>
            <p:custDataLst>
              <p:tags r:id="rId7"/>
            </p:custDataLst>
          </p:nvPr>
        </p:nvSpPr>
        <p:spPr bwMode="auto">
          <a:xfrm>
            <a:off x="8841105" y="3138170"/>
            <a:ext cx="1254125" cy="2266315"/>
          </a:xfrm>
          <a:prstGeom prst="roundRect">
            <a:avLst>
              <a:gd name="adj" fmla="val 9385"/>
            </a:avLst>
          </a:prstGeom>
          <a:solidFill>
            <a:schemeClr val="bg1">
              <a:alpha val="5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vert="horz" wrap="square" lIns="90170" tIns="46990" rIns="90170" bIns="46990" numCol="1" rtlCol="0" anchor="t" anchorCtr="0" compatLnSpc="0">
            <a:noAutofit/>
          </a:bodyPr>
          <a:lstStyle/>
          <a:p>
            <a:pPr lvl="0" algn="ctr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defRPr/>
            </a:pPr>
            <a:r>
              <a:rPr lang="zh-CN" sz="1200" b="1" noProof="0" dirty="0">
                <a:ln>
                  <a:noFill/>
                </a:ln>
                <a:solidFill>
                  <a:schemeClr val="accent1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撮合</a:t>
            </a:r>
          </a:p>
        </p:txBody>
      </p:sp>
      <p:sp>
        <p:nvSpPr>
          <p:cNvPr id="108" name="Rounded Rectangle 15"/>
          <p:cNvSpPr/>
          <p:nvPr>
            <p:custDataLst>
              <p:tags r:id="rId8"/>
            </p:custDataLst>
          </p:nvPr>
        </p:nvSpPr>
        <p:spPr bwMode="auto">
          <a:xfrm>
            <a:off x="3782695" y="4385945"/>
            <a:ext cx="2718435" cy="1239520"/>
          </a:xfrm>
          <a:prstGeom prst="roundRect">
            <a:avLst>
              <a:gd name="adj" fmla="val 9385"/>
            </a:avLst>
          </a:prstGeom>
          <a:solidFill>
            <a:srgbClr val="379DFF"/>
          </a:solidFill>
          <a:ln w="63500" cmpd="sng">
            <a:noFill/>
          </a:ln>
        </p:spPr>
        <p:txBody>
          <a:bodyPr vert="horz" wrap="square" lIns="0" tIns="0" rIns="0" bIns="0" numCol="1" rtlCol="0" anchor="t" anchorCtr="0" compatLnSpc="1">
            <a:noAutofit/>
          </a:bodyPr>
          <a:lstStyle/>
          <a:p>
            <a:pPr algn="ctr" defTabSz="914400" eaLnBrk="1" fontAlgn="auto" hangingPunct="1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0000500000000000000" charset="-122"/>
                <a:ea typeface="微软雅黑" panose="00000500000000000000" charset="-122"/>
                <a:sym typeface="+mn-ea"/>
              </a:rPr>
              <a:t>指令管理</a:t>
            </a:r>
          </a:p>
        </p:txBody>
      </p:sp>
      <p:sp>
        <p:nvSpPr>
          <p:cNvPr id="110" name="Rounded Rectangle 15"/>
          <p:cNvSpPr/>
          <p:nvPr>
            <p:custDataLst>
              <p:tags r:id="rId9"/>
            </p:custDataLst>
          </p:nvPr>
        </p:nvSpPr>
        <p:spPr bwMode="auto">
          <a:xfrm>
            <a:off x="7315835" y="3137535"/>
            <a:ext cx="1331595" cy="2272030"/>
          </a:xfrm>
          <a:prstGeom prst="roundRect">
            <a:avLst>
              <a:gd name="adj" fmla="val 9385"/>
            </a:avLst>
          </a:prstGeom>
          <a:solidFill>
            <a:schemeClr val="bg1">
              <a:alpha val="5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vert="horz" wrap="square" lIns="90170" tIns="46990" rIns="90170" bIns="46990" numCol="1" rtlCol="0" anchor="t" anchorCtr="0" compatLnSpc="0">
            <a:noAutofit/>
          </a:bodyPr>
          <a:lstStyle/>
          <a:p>
            <a:pPr lvl="0" algn="ctr" defTabSz="914400" eaLnBrk="1" fontAlgn="auto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defRPr/>
            </a:pPr>
            <a:r>
              <a:rPr lang="zh-CN" sz="1200" b="1" noProof="0" dirty="0">
                <a:ln>
                  <a:noFill/>
                </a:ln>
                <a:solidFill>
                  <a:schemeClr val="accent1">
                    <a:lumMod val="7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挂价</a:t>
            </a:r>
          </a:p>
        </p:txBody>
      </p:sp>
      <p:sp>
        <p:nvSpPr>
          <p:cNvPr id="113" name="圆角矩形 112"/>
          <p:cNvSpPr/>
          <p:nvPr>
            <p:custDataLst>
              <p:tags r:id="rId10"/>
            </p:custDataLst>
          </p:nvPr>
        </p:nvSpPr>
        <p:spPr>
          <a:xfrm>
            <a:off x="3950970" y="3433445"/>
            <a:ext cx="951230" cy="258445"/>
          </a:xfrm>
          <a:prstGeom prst="roundRect">
            <a:avLst>
              <a:gd name="adj" fmla="val 2948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 defTabSz="914400" eaLnBrk="1" fontAlgn="auto" hangingPunct="1">
              <a:buClrTx/>
              <a:buSzTx/>
              <a:buFontTx/>
            </a:pPr>
            <a:r>
              <a:rPr lang="zh-CN" altLang="en-US" sz="1000">
                <a:solidFill>
                  <a:schemeClr val="tx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意向录入</a:t>
            </a:r>
          </a:p>
        </p:txBody>
      </p:sp>
      <p:sp>
        <p:nvSpPr>
          <p:cNvPr id="114" name="圆角矩形 113"/>
          <p:cNvSpPr/>
          <p:nvPr>
            <p:custDataLst>
              <p:tags r:id="rId11"/>
            </p:custDataLst>
          </p:nvPr>
        </p:nvSpPr>
        <p:spPr>
          <a:xfrm>
            <a:off x="5397500" y="3433445"/>
            <a:ext cx="951230" cy="258445"/>
          </a:xfrm>
          <a:prstGeom prst="roundRect">
            <a:avLst>
              <a:gd name="adj" fmla="val 2948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 defTabSz="914400" eaLnBrk="1" fontAlgn="auto" hangingPunct="1">
              <a:buClrTx/>
              <a:buSzTx/>
              <a:buFontTx/>
            </a:pPr>
            <a:r>
              <a:rPr lang="zh-CN" altLang="en-US" sz="1000">
                <a:solidFill>
                  <a:schemeClr val="tx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模糊识别</a:t>
            </a:r>
          </a:p>
        </p:txBody>
      </p:sp>
      <p:sp>
        <p:nvSpPr>
          <p:cNvPr id="115" name="圆角矩形 114"/>
          <p:cNvSpPr/>
          <p:nvPr>
            <p:custDataLst>
              <p:tags r:id="rId12"/>
            </p:custDataLst>
          </p:nvPr>
        </p:nvSpPr>
        <p:spPr>
          <a:xfrm>
            <a:off x="5340350" y="4681855"/>
            <a:ext cx="951230" cy="258445"/>
          </a:xfrm>
          <a:prstGeom prst="roundRect">
            <a:avLst>
              <a:gd name="adj" fmla="val 2948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 defTabSz="914400" eaLnBrk="1" fontAlgn="auto" hangingPunct="1">
              <a:buClrTx/>
              <a:buSzTx/>
              <a:buFontTx/>
            </a:pPr>
            <a:r>
              <a:rPr lang="zh-CN" altLang="en-US" sz="1000">
                <a:solidFill>
                  <a:schemeClr val="tx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询价留痕</a:t>
            </a:r>
          </a:p>
        </p:txBody>
      </p:sp>
      <p:sp>
        <p:nvSpPr>
          <p:cNvPr id="121" name="圆角矩形 120"/>
          <p:cNvSpPr/>
          <p:nvPr>
            <p:custDataLst>
              <p:tags r:id="rId13"/>
            </p:custDataLst>
          </p:nvPr>
        </p:nvSpPr>
        <p:spPr>
          <a:xfrm>
            <a:off x="5340350" y="5022850"/>
            <a:ext cx="951230" cy="258445"/>
          </a:xfrm>
          <a:prstGeom prst="roundRect">
            <a:avLst>
              <a:gd name="adj" fmla="val 2948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 defTabSz="914400" eaLnBrk="1" fontAlgn="auto" hangingPunct="1">
              <a:buClrTx/>
              <a:buSzTx/>
              <a:buFontTx/>
            </a:pPr>
            <a:r>
              <a:rPr lang="zh-CN" altLang="en-US" sz="1000">
                <a:solidFill>
                  <a:schemeClr val="tx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指令单修改</a:t>
            </a:r>
          </a:p>
        </p:txBody>
      </p:sp>
      <p:sp>
        <p:nvSpPr>
          <p:cNvPr id="122" name="圆角矩形 121"/>
          <p:cNvSpPr/>
          <p:nvPr>
            <p:custDataLst>
              <p:tags r:id="rId14"/>
            </p:custDataLst>
          </p:nvPr>
        </p:nvSpPr>
        <p:spPr>
          <a:xfrm>
            <a:off x="3950970" y="3790950"/>
            <a:ext cx="951230" cy="258445"/>
          </a:xfrm>
          <a:prstGeom prst="roundRect">
            <a:avLst>
              <a:gd name="adj" fmla="val 2948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 defTabSz="914400" eaLnBrk="1" fontAlgn="auto" hangingPunct="1">
              <a:buClrTx/>
              <a:buSzTx/>
              <a:buFontTx/>
            </a:pPr>
            <a:r>
              <a:rPr lang="zh-CN" altLang="en-US" sz="1000">
                <a:solidFill>
                  <a:schemeClr val="tx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意向修改</a:t>
            </a:r>
          </a:p>
        </p:txBody>
      </p:sp>
      <p:sp>
        <p:nvSpPr>
          <p:cNvPr id="123" name="圆角矩形 122"/>
          <p:cNvSpPr/>
          <p:nvPr>
            <p:custDataLst>
              <p:tags r:id="rId15"/>
            </p:custDataLst>
          </p:nvPr>
        </p:nvSpPr>
        <p:spPr>
          <a:xfrm>
            <a:off x="5397500" y="3790950"/>
            <a:ext cx="951230" cy="258445"/>
          </a:xfrm>
          <a:prstGeom prst="roundRect">
            <a:avLst>
              <a:gd name="adj" fmla="val 2948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 defTabSz="914400" eaLnBrk="1" fontAlgn="auto" hangingPunct="1">
              <a:buClrTx/>
              <a:buSzTx/>
              <a:buFontTx/>
            </a:pPr>
            <a:r>
              <a:rPr lang="zh-CN" altLang="en-US" sz="1000">
                <a:solidFill>
                  <a:schemeClr val="tx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批量修改</a:t>
            </a:r>
          </a:p>
        </p:txBody>
      </p:sp>
      <p:sp>
        <p:nvSpPr>
          <p:cNvPr id="124" name="圆角矩形 123"/>
          <p:cNvSpPr/>
          <p:nvPr>
            <p:custDataLst>
              <p:tags r:id="rId16"/>
            </p:custDataLst>
          </p:nvPr>
        </p:nvSpPr>
        <p:spPr>
          <a:xfrm>
            <a:off x="4008120" y="4681855"/>
            <a:ext cx="951230" cy="258445"/>
          </a:xfrm>
          <a:prstGeom prst="roundRect">
            <a:avLst>
              <a:gd name="adj" fmla="val 2948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 defTabSz="914400" eaLnBrk="1" fontAlgn="auto" hangingPunct="1">
              <a:buClrTx/>
              <a:buSzTx/>
              <a:buFontTx/>
            </a:pPr>
            <a:r>
              <a:rPr lang="zh-CN" altLang="en-US" sz="1000">
                <a:solidFill>
                  <a:schemeClr val="tx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意向达成</a:t>
            </a:r>
          </a:p>
        </p:txBody>
      </p:sp>
      <p:sp>
        <p:nvSpPr>
          <p:cNvPr id="125" name="圆角矩形 124"/>
          <p:cNvSpPr/>
          <p:nvPr>
            <p:custDataLst>
              <p:tags r:id="rId17"/>
            </p:custDataLst>
          </p:nvPr>
        </p:nvSpPr>
        <p:spPr>
          <a:xfrm>
            <a:off x="4008120" y="5022850"/>
            <a:ext cx="951230" cy="258445"/>
          </a:xfrm>
          <a:prstGeom prst="roundRect">
            <a:avLst>
              <a:gd name="adj" fmla="val 2948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 defTabSz="914400" eaLnBrk="1" fontAlgn="auto" hangingPunct="1">
              <a:buClrTx/>
              <a:buSzTx/>
              <a:buFontTx/>
            </a:pPr>
            <a:r>
              <a:rPr lang="zh-CN" altLang="en-US" sz="1000">
                <a:solidFill>
                  <a:schemeClr val="tx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指令单生成</a:t>
            </a:r>
          </a:p>
        </p:txBody>
      </p:sp>
      <p:sp>
        <p:nvSpPr>
          <p:cNvPr id="126" name="圆角矩形 125"/>
          <p:cNvSpPr/>
          <p:nvPr>
            <p:custDataLst>
              <p:tags r:id="rId18"/>
            </p:custDataLst>
          </p:nvPr>
        </p:nvSpPr>
        <p:spPr>
          <a:xfrm>
            <a:off x="7530465" y="3433445"/>
            <a:ext cx="951230" cy="258445"/>
          </a:xfrm>
          <a:prstGeom prst="roundRect">
            <a:avLst>
              <a:gd name="adj" fmla="val 2948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 defTabSz="914400" eaLnBrk="1" fontAlgn="auto" hangingPunct="1">
              <a:buClrTx/>
              <a:buSzTx/>
              <a:buFontTx/>
            </a:pPr>
            <a:r>
              <a:rPr lang="zh-CN" altLang="en-US" sz="1000">
                <a:solidFill>
                  <a:schemeClr val="tx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意向发送</a:t>
            </a:r>
          </a:p>
        </p:txBody>
      </p:sp>
      <p:sp>
        <p:nvSpPr>
          <p:cNvPr id="127" name="圆角矩形 126"/>
          <p:cNvSpPr/>
          <p:nvPr>
            <p:custDataLst>
              <p:tags r:id="rId19"/>
            </p:custDataLst>
          </p:nvPr>
        </p:nvSpPr>
        <p:spPr>
          <a:xfrm>
            <a:off x="7447280" y="4605020"/>
            <a:ext cx="1116965" cy="258445"/>
          </a:xfrm>
          <a:prstGeom prst="roundRect">
            <a:avLst>
              <a:gd name="adj" fmla="val 2948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 defTabSz="914400" eaLnBrk="1" fontAlgn="auto" hangingPunct="1">
              <a:buClrTx/>
              <a:buSzTx/>
              <a:buFontTx/>
            </a:pPr>
            <a:r>
              <a:rPr lang="zh-CN" altLang="en-US" sz="1000">
                <a:solidFill>
                  <a:schemeClr val="tx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意向状态更新</a:t>
            </a:r>
          </a:p>
        </p:txBody>
      </p:sp>
      <p:sp>
        <p:nvSpPr>
          <p:cNvPr id="128" name="圆角矩形 127"/>
          <p:cNvSpPr/>
          <p:nvPr>
            <p:custDataLst>
              <p:tags r:id="rId20"/>
            </p:custDataLst>
          </p:nvPr>
        </p:nvSpPr>
        <p:spPr>
          <a:xfrm>
            <a:off x="7530465" y="3834130"/>
            <a:ext cx="951230" cy="258445"/>
          </a:xfrm>
          <a:prstGeom prst="roundRect">
            <a:avLst>
              <a:gd name="adj" fmla="val 2948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 defTabSz="914400" eaLnBrk="1" fontAlgn="auto" hangingPunct="1">
              <a:buClrTx/>
              <a:buSzTx/>
              <a:buFontTx/>
            </a:pPr>
            <a:r>
              <a:rPr lang="zh-CN" altLang="en-US" sz="1000">
                <a:solidFill>
                  <a:schemeClr val="tx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意向修改</a:t>
            </a:r>
          </a:p>
        </p:txBody>
      </p:sp>
      <p:sp>
        <p:nvSpPr>
          <p:cNvPr id="129" name="圆角矩形 128"/>
          <p:cNvSpPr/>
          <p:nvPr>
            <p:custDataLst>
              <p:tags r:id="rId21"/>
            </p:custDataLst>
          </p:nvPr>
        </p:nvSpPr>
        <p:spPr>
          <a:xfrm>
            <a:off x="7530465" y="5022215"/>
            <a:ext cx="951230" cy="258445"/>
          </a:xfrm>
          <a:prstGeom prst="roundRect">
            <a:avLst>
              <a:gd name="adj" fmla="val 2948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 defTabSz="914400" eaLnBrk="1" fontAlgn="auto" hangingPunct="1">
              <a:buClrTx/>
              <a:buSzTx/>
              <a:buFontTx/>
            </a:pPr>
            <a:r>
              <a:rPr lang="zh-CN" altLang="en-US" sz="1000">
                <a:solidFill>
                  <a:schemeClr val="tx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自动回价</a:t>
            </a:r>
          </a:p>
        </p:txBody>
      </p:sp>
      <p:sp>
        <p:nvSpPr>
          <p:cNvPr id="130" name="圆角矩形 129"/>
          <p:cNvSpPr/>
          <p:nvPr>
            <p:custDataLst>
              <p:tags r:id="rId22"/>
            </p:custDataLst>
          </p:nvPr>
        </p:nvSpPr>
        <p:spPr>
          <a:xfrm>
            <a:off x="8992870" y="3433445"/>
            <a:ext cx="951230" cy="258445"/>
          </a:xfrm>
          <a:prstGeom prst="roundRect">
            <a:avLst>
              <a:gd name="adj" fmla="val 2948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 defTabSz="914400" eaLnBrk="1" fontAlgn="auto" hangingPunct="1">
              <a:buClrTx/>
              <a:buSzTx/>
              <a:buFontTx/>
            </a:pPr>
            <a:r>
              <a:rPr lang="zh-CN" altLang="en-US" sz="1000">
                <a:solidFill>
                  <a:schemeClr val="tx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自动撮合</a:t>
            </a:r>
          </a:p>
        </p:txBody>
      </p:sp>
      <p:sp>
        <p:nvSpPr>
          <p:cNvPr id="131" name="圆角矩形 130"/>
          <p:cNvSpPr/>
          <p:nvPr>
            <p:custDataLst>
              <p:tags r:id="rId23"/>
            </p:custDataLst>
          </p:nvPr>
        </p:nvSpPr>
        <p:spPr>
          <a:xfrm>
            <a:off x="8992870" y="4625975"/>
            <a:ext cx="951230" cy="258445"/>
          </a:xfrm>
          <a:prstGeom prst="roundRect">
            <a:avLst>
              <a:gd name="adj" fmla="val 2948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 defTabSz="914400" eaLnBrk="1" fontAlgn="auto" hangingPunct="1">
              <a:buClrTx/>
              <a:buSzTx/>
              <a:buFontTx/>
            </a:pPr>
            <a:r>
              <a:rPr lang="zh-CN" altLang="en-US" sz="1000">
                <a:solidFill>
                  <a:schemeClr val="tx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轮巡策略</a:t>
            </a:r>
          </a:p>
        </p:txBody>
      </p:sp>
      <p:sp>
        <p:nvSpPr>
          <p:cNvPr id="132" name="圆角矩形 131"/>
          <p:cNvSpPr/>
          <p:nvPr>
            <p:custDataLst>
              <p:tags r:id="rId24"/>
            </p:custDataLst>
          </p:nvPr>
        </p:nvSpPr>
        <p:spPr>
          <a:xfrm>
            <a:off x="8992870" y="3830955"/>
            <a:ext cx="951230" cy="258445"/>
          </a:xfrm>
          <a:prstGeom prst="roundRect">
            <a:avLst>
              <a:gd name="adj" fmla="val 2948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 defTabSz="914400" eaLnBrk="1" fontAlgn="auto" hangingPunct="1">
              <a:buClrTx/>
              <a:buSzTx/>
              <a:buFontTx/>
            </a:pPr>
            <a:r>
              <a:rPr lang="zh-CN" altLang="en-US" sz="1000">
                <a:solidFill>
                  <a:schemeClr val="tx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我的关注</a:t>
            </a:r>
          </a:p>
        </p:txBody>
      </p:sp>
      <p:sp>
        <p:nvSpPr>
          <p:cNvPr id="133" name="圆角矩形 132"/>
          <p:cNvSpPr/>
          <p:nvPr>
            <p:custDataLst>
              <p:tags r:id="rId25"/>
            </p:custDataLst>
          </p:nvPr>
        </p:nvSpPr>
        <p:spPr>
          <a:xfrm>
            <a:off x="8992870" y="5023485"/>
            <a:ext cx="951230" cy="258445"/>
          </a:xfrm>
          <a:prstGeom prst="roundRect">
            <a:avLst>
              <a:gd name="adj" fmla="val 2948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 defTabSz="914400" eaLnBrk="1" fontAlgn="auto" hangingPunct="1">
              <a:buClrTx/>
              <a:buSzTx/>
              <a:buFontTx/>
            </a:pPr>
            <a:r>
              <a:rPr lang="zh-CN" altLang="en-US" sz="1000">
                <a:solidFill>
                  <a:schemeClr val="tx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对冲策略</a:t>
            </a:r>
          </a:p>
        </p:txBody>
      </p:sp>
      <p:sp>
        <p:nvSpPr>
          <p:cNvPr id="134" name="左右箭头 133"/>
          <p:cNvSpPr/>
          <p:nvPr/>
        </p:nvSpPr>
        <p:spPr>
          <a:xfrm>
            <a:off x="6742430" y="3649345"/>
            <a:ext cx="337820" cy="201295"/>
          </a:xfrm>
          <a:prstGeom prst="left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sz="1800"/>
          </a:p>
        </p:txBody>
      </p:sp>
      <p:sp>
        <p:nvSpPr>
          <p:cNvPr id="135" name="左右箭头 134"/>
          <p:cNvSpPr/>
          <p:nvPr/>
        </p:nvSpPr>
        <p:spPr>
          <a:xfrm>
            <a:off x="6742430" y="4895215"/>
            <a:ext cx="337820" cy="201295"/>
          </a:xfrm>
          <a:prstGeom prst="left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0" tIns="0" rIns="0" bIns="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sz="1800"/>
          </a:p>
        </p:txBody>
      </p:sp>
      <p:sp>
        <p:nvSpPr>
          <p:cNvPr id="136" name="Rounded Rectangle 15"/>
          <p:cNvSpPr/>
          <p:nvPr>
            <p:custDataLst>
              <p:tags r:id="rId26"/>
            </p:custDataLst>
          </p:nvPr>
        </p:nvSpPr>
        <p:spPr bwMode="auto">
          <a:xfrm>
            <a:off x="3950970" y="5913755"/>
            <a:ext cx="1163320" cy="288290"/>
          </a:xfrm>
          <a:prstGeom prst="roundRect">
            <a:avLst>
              <a:gd name="adj" fmla="val 9385"/>
            </a:avLst>
          </a:prstGeom>
          <a:solidFill>
            <a:srgbClr val="379DFF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 defTabSz="914400" eaLnBrk="1" fontAlgn="auto" hangingPunct="1"/>
            <a:r>
              <a:rPr lang="en-US" altLang="zh-CN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0000500000000000000" charset="-122"/>
                <a:ea typeface="微软雅黑" panose="00000500000000000000" charset="-122"/>
                <a:sym typeface="+mn-ea"/>
              </a:rPr>
              <a:t>QT</a:t>
            </a:r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0000500000000000000" charset="-122"/>
                <a:ea typeface="微软雅黑" panose="00000500000000000000" charset="-122"/>
                <a:sym typeface="+mn-ea"/>
              </a:rPr>
              <a:t>群发</a:t>
            </a:r>
          </a:p>
        </p:txBody>
      </p:sp>
      <p:sp>
        <p:nvSpPr>
          <p:cNvPr id="137" name="Rounded Rectangle 15"/>
          <p:cNvSpPr/>
          <p:nvPr>
            <p:custDataLst>
              <p:tags r:id="rId27"/>
            </p:custDataLst>
          </p:nvPr>
        </p:nvSpPr>
        <p:spPr bwMode="auto">
          <a:xfrm>
            <a:off x="5205730" y="5913755"/>
            <a:ext cx="1556385" cy="288290"/>
          </a:xfrm>
          <a:prstGeom prst="roundRect">
            <a:avLst>
              <a:gd name="adj" fmla="val 9385"/>
            </a:avLst>
          </a:prstGeom>
          <a:solidFill>
            <a:srgbClr val="379DFF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 defTabSz="914400" eaLnBrk="1" fontAlgn="auto" hangingPunct="1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0000500000000000000" charset="-122"/>
                <a:ea typeface="微软雅黑" panose="00000500000000000000" charset="-122"/>
                <a:sym typeface="+mn-ea"/>
              </a:rPr>
              <a:t>客户聊天自动转意向单</a:t>
            </a:r>
          </a:p>
        </p:txBody>
      </p:sp>
      <p:sp>
        <p:nvSpPr>
          <p:cNvPr id="11" name="圆角矩形 10"/>
          <p:cNvSpPr/>
          <p:nvPr>
            <p:custDataLst>
              <p:tags r:id="rId28"/>
            </p:custDataLst>
          </p:nvPr>
        </p:nvSpPr>
        <p:spPr>
          <a:xfrm>
            <a:off x="8992870" y="4228465"/>
            <a:ext cx="951230" cy="258445"/>
          </a:xfrm>
          <a:prstGeom prst="roundRect">
            <a:avLst>
              <a:gd name="adj" fmla="val 2948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 defTabSz="914400" eaLnBrk="1" fontAlgn="auto" hangingPunct="1">
              <a:buClrTx/>
              <a:buSzTx/>
              <a:buFontTx/>
            </a:pPr>
            <a:r>
              <a:rPr lang="zh-CN" altLang="en-US" sz="1000">
                <a:solidFill>
                  <a:schemeClr val="tx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自动回价</a:t>
            </a:r>
          </a:p>
        </p:txBody>
      </p:sp>
      <p:sp>
        <p:nvSpPr>
          <p:cNvPr id="12" name="圆角矩形 11"/>
          <p:cNvSpPr/>
          <p:nvPr>
            <p:custDataLst>
              <p:tags r:id="rId29"/>
            </p:custDataLst>
          </p:nvPr>
        </p:nvSpPr>
        <p:spPr>
          <a:xfrm>
            <a:off x="7530465" y="4228465"/>
            <a:ext cx="951230" cy="258445"/>
          </a:xfrm>
          <a:prstGeom prst="roundRect">
            <a:avLst>
              <a:gd name="adj" fmla="val 2948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 defTabSz="914400" eaLnBrk="1" fontAlgn="auto" hangingPunct="1">
              <a:buClrTx/>
              <a:buSzTx/>
              <a:buFontTx/>
            </a:pPr>
            <a:r>
              <a:rPr lang="zh-CN" altLang="en-US" sz="1000">
                <a:solidFill>
                  <a:schemeClr val="tx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回价确认</a:t>
            </a:r>
          </a:p>
        </p:txBody>
      </p:sp>
      <p:sp>
        <p:nvSpPr>
          <p:cNvPr id="157" name="圆角矩形 156"/>
          <p:cNvSpPr/>
          <p:nvPr>
            <p:custDataLst>
              <p:tags r:id="rId30"/>
            </p:custDataLst>
          </p:nvPr>
        </p:nvSpPr>
        <p:spPr>
          <a:xfrm>
            <a:off x="633095" y="1338580"/>
            <a:ext cx="1819275" cy="640715"/>
          </a:xfrm>
          <a:prstGeom prst="roundRect">
            <a:avLst>
              <a:gd name="adj" fmla="val 11100"/>
            </a:avLst>
          </a:prstGeom>
          <a:solidFill>
            <a:srgbClr val="5F4F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 defTabSz="914400" eaLnBrk="1" fontAlgn="auto" hangingPunct="1">
              <a:buClrTx/>
              <a:buSzTx/>
              <a:buFontTx/>
            </a:pPr>
            <a:r>
              <a:rPr lang="zh-CN" altLang="en-US" sz="14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行情平台</a:t>
            </a:r>
            <a:endParaRPr lang="en-US" altLang="zh-CN" sz="1400">
              <a:solidFill>
                <a:schemeClr val="bg1"/>
              </a:solidFill>
              <a:latin typeface="微软雅黑" panose="00000500000000000000" charset="-122"/>
              <a:ea typeface="微软雅黑" panose="00000500000000000000" charset="-122"/>
              <a:sym typeface="+mn-ea"/>
            </a:endParaRPr>
          </a:p>
        </p:txBody>
      </p:sp>
      <p:sp>
        <p:nvSpPr>
          <p:cNvPr id="13" name="圆角矩形 12"/>
          <p:cNvSpPr/>
          <p:nvPr/>
        </p:nvSpPr>
        <p:spPr>
          <a:xfrm>
            <a:off x="807085" y="4130040"/>
            <a:ext cx="1470025" cy="288290"/>
          </a:xfrm>
          <a:prstGeom prst="roundRect">
            <a:avLst/>
          </a:prstGeom>
          <a:solidFill>
            <a:srgbClr val="379DFF"/>
          </a:solidFill>
          <a:ln w="3175" cap="flat" cmpd="sng" algn="ctr">
            <a:noFill/>
            <a:prstDash val="solid"/>
            <a:miter lim="800000"/>
          </a:ln>
          <a:effectLst/>
        </p:spPr>
        <p:txBody>
          <a:bodyPr lIns="90170" tIns="46990" rIns="90170" bIns="4699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00" b="1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做市商</a:t>
            </a:r>
          </a:p>
        </p:txBody>
      </p:sp>
      <p:sp>
        <p:nvSpPr>
          <p:cNvPr id="14" name="圆角矩形 13"/>
          <p:cNvSpPr/>
          <p:nvPr/>
        </p:nvSpPr>
        <p:spPr>
          <a:xfrm>
            <a:off x="807085" y="4578985"/>
            <a:ext cx="1470025" cy="288290"/>
          </a:xfrm>
          <a:prstGeom prst="roundRect">
            <a:avLst/>
          </a:prstGeom>
          <a:solidFill>
            <a:srgbClr val="379DFF"/>
          </a:solidFill>
          <a:ln w="3175" cap="flat" cmpd="sng" algn="ctr">
            <a:noFill/>
            <a:prstDash val="solid"/>
            <a:miter lim="800000"/>
          </a:ln>
          <a:effectLst/>
        </p:spPr>
        <p:txBody>
          <a:bodyPr lIns="90170" tIns="46990" rIns="90170" bIns="4699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1200" b="1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...</a:t>
            </a:r>
          </a:p>
        </p:txBody>
      </p:sp>
      <p:sp>
        <p:nvSpPr>
          <p:cNvPr id="15" name="右箭头 14"/>
          <p:cNvSpPr/>
          <p:nvPr/>
        </p:nvSpPr>
        <p:spPr>
          <a:xfrm>
            <a:off x="2505075" y="1546225"/>
            <a:ext cx="304800" cy="266700"/>
          </a:xfrm>
          <a:prstGeom prst="rightArrow">
            <a:avLst/>
          </a:prstGeom>
          <a:solidFill>
            <a:srgbClr val="225F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400" eaLnBrk="1" fontAlgn="auto" hangingPunct="1"/>
            <a:endParaRPr lang="zh-CN" altLang="en-US" sz="1800"/>
          </a:p>
        </p:txBody>
      </p:sp>
      <p:sp>
        <p:nvSpPr>
          <p:cNvPr id="17" name="圆角矩形 60"/>
          <p:cNvSpPr/>
          <p:nvPr>
            <p:custDataLst>
              <p:tags r:id="rId31"/>
            </p:custDataLst>
          </p:nvPr>
        </p:nvSpPr>
        <p:spPr bwMode="auto">
          <a:xfrm>
            <a:off x="3570605" y="1765300"/>
            <a:ext cx="6650990" cy="657225"/>
          </a:xfrm>
          <a:prstGeom prst="roundRect">
            <a:avLst>
              <a:gd name="adj" fmla="val 2712"/>
            </a:avLst>
          </a:prstGeom>
          <a:solidFill>
            <a:srgbClr val="225FD1"/>
          </a:solidFill>
          <a:ln w="9525" cap="flat" cmpd="sng" algn="ctr">
            <a:noFill/>
            <a:prstDash val="dash"/>
            <a:round/>
            <a:headEnd type="none" w="med" len="med"/>
            <a:tailEnd type="none" w="med" len="med"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l" defTabSz="914400"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/>
            </a:pPr>
            <a:r>
              <a:rPr lang="en-US" altLang="zh-CN" sz="1400" kern="0" dirty="0"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0000500000000000000" charset="-122"/>
                <a:ea typeface="微软雅黑" panose="00000500000000000000" charset="-122"/>
                <a:cs typeface="Arial" panose="020B0704020202020204" pitchFamily="34" charset="0"/>
                <a:sym typeface="Arial" panose="020B0704020202020204" pitchFamily="34" charset="0"/>
              </a:rPr>
              <a:t>     </a:t>
            </a:r>
            <a:r>
              <a:rPr lang="zh-CN" altLang="en-US" sz="1400" kern="0" dirty="0"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0000500000000000000" charset="-122"/>
                <a:ea typeface="微软雅黑" panose="00000500000000000000" charset="-122"/>
                <a:cs typeface="Arial" panose="020B0704020202020204" pitchFamily="34" charset="0"/>
                <a:sym typeface="Arial" panose="020B0704020202020204" pitchFamily="34" charset="0"/>
              </a:rPr>
              <a:t>行情中心</a:t>
            </a:r>
          </a:p>
        </p:txBody>
      </p:sp>
      <p:pic>
        <p:nvPicPr>
          <p:cNvPr id="18" name="图片 17" descr="10741943950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3670300" y="1987550"/>
            <a:ext cx="242570" cy="242570"/>
          </a:xfrm>
          <a:prstGeom prst="rect">
            <a:avLst/>
          </a:prstGeom>
        </p:spPr>
      </p:pic>
      <p:sp>
        <p:nvSpPr>
          <p:cNvPr id="19" name="圆角矩形 18"/>
          <p:cNvSpPr/>
          <p:nvPr>
            <p:custDataLst>
              <p:tags r:id="rId32"/>
            </p:custDataLst>
          </p:nvPr>
        </p:nvSpPr>
        <p:spPr>
          <a:xfrm>
            <a:off x="4802505" y="1964373"/>
            <a:ext cx="951230" cy="258445"/>
          </a:xfrm>
          <a:prstGeom prst="roundRect">
            <a:avLst>
              <a:gd name="adj" fmla="val 2948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 defTabSz="914400" eaLnBrk="1" fontAlgn="auto" hangingPunct="1">
              <a:buClrTx/>
              <a:buSzTx/>
              <a:buFontTx/>
            </a:pPr>
            <a:r>
              <a:rPr lang="en-US" altLang="zh-CN" sz="1000">
                <a:solidFill>
                  <a:schemeClr val="tx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xBond</a:t>
            </a:r>
          </a:p>
        </p:txBody>
      </p:sp>
      <p:sp>
        <p:nvSpPr>
          <p:cNvPr id="20" name="圆角矩形 19"/>
          <p:cNvSpPr/>
          <p:nvPr>
            <p:custDataLst>
              <p:tags r:id="rId33"/>
            </p:custDataLst>
          </p:nvPr>
        </p:nvSpPr>
        <p:spPr>
          <a:xfrm>
            <a:off x="6925945" y="1987233"/>
            <a:ext cx="951230" cy="258445"/>
          </a:xfrm>
          <a:prstGeom prst="roundRect">
            <a:avLst>
              <a:gd name="adj" fmla="val 2948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 defTabSz="914400" eaLnBrk="1" fontAlgn="auto" hangingPunct="1">
              <a:buClrTx/>
              <a:buSzTx/>
              <a:buFontTx/>
            </a:pPr>
            <a:r>
              <a:rPr lang="zh-CN" altLang="en-US" sz="1000">
                <a:solidFill>
                  <a:schemeClr val="tx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内部行情</a:t>
            </a:r>
          </a:p>
        </p:txBody>
      </p:sp>
      <p:sp>
        <p:nvSpPr>
          <p:cNvPr id="21" name="圆角矩形 20"/>
          <p:cNvSpPr/>
          <p:nvPr>
            <p:custDataLst>
              <p:tags r:id="rId34"/>
            </p:custDataLst>
          </p:nvPr>
        </p:nvSpPr>
        <p:spPr>
          <a:xfrm>
            <a:off x="5873115" y="1964373"/>
            <a:ext cx="951230" cy="258445"/>
          </a:xfrm>
          <a:prstGeom prst="roundRect">
            <a:avLst>
              <a:gd name="adj" fmla="val 2948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 defTabSz="914400" eaLnBrk="1" fontAlgn="auto" hangingPunct="1">
              <a:buClrTx/>
              <a:buSzTx/>
              <a:buFontTx/>
            </a:pPr>
            <a:r>
              <a:rPr lang="zh-CN" altLang="en-US" sz="1000">
                <a:solidFill>
                  <a:schemeClr val="tx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中介行情</a:t>
            </a:r>
          </a:p>
        </p:txBody>
      </p:sp>
      <p:sp>
        <p:nvSpPr>
          <p:cNvPr id="22" name="圆角矩形 21"/>
          <p:cNvSpPr/>
          <p:nvPr>
            <p:custDataLst>
              <p:tags r:id="rId35"/>
            </p:custDataLst>
          </p:nvPr>
        </p:nvSpPr>
        <p:spPr>
          <a:xfrm>
            <a:off x="7966710" y="1971675"/>
            <a:ext cx="925195" cy="258445"/>
          </a:xfrm>
          <a:prstGeom prst="roundRect">
            <a:avLst>
              <a:gd name="adj" fmla="val 2948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 defTabSz="914400" eaLnBrk="1" fontAlgn="auto" hangingPunct="1">
              <a:buClrTx/>
              <a:buSzTx/>
              <a:buFontTx/>
            </a:pPr>
            <a:r>
              <a:rPr lang="zh-CN" altLang="en-US" sz="1000">
                <a:solidFill>
                  <a:schemeClr val="tx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全市场成交</a:t>
            </a:r>
          </a:p>
        </p:txBody>
      </p:sp>
      <p:sp>
        <p:nvSpPr>
          <p:cNvPr id="23" name="圆角矩形 22"/>
          <p:cNvSpPr/>
          <p:nvPr>
            <p:custDataLst>
              <p:tags r:id="rId36"/>
            </p:custDataLst>
          </p:nvPr>
        </p:nvSpPr>
        <p:spPr>
          <a:xfrm>
            <a:off x="8992870" y="1987550"/>
            <a:ext cx="925195" cy="258445"/>
          </a:xfrm>
          <a:prstGeom prst="roundRect">
            <a:avLst>
              <a:gd name="adj" fmla="val 2948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 defTabSz="914400" eaLnBrk="1" fontAlgn="auto" hangingPunct="1">
              <a:buClrTx/>
              <a:buSzTx/>
              <a:buFontTx/>
            </a:pPr>
            <a:r>
              <a:rPr lang="zh-CN" altLang="en-US" sz="1000">
                <a:solidFill>
                  <a:schemeClr val="tx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行情小窗</a:t>
            </a:r>
          </a:p>
        </p:txBody>
      </p:sp>
      <p:sp>
        <p:nvSpPr>
          <p:cNvPr id="25" name="圆角矩形 24"/>
          <p:cNvSpPr/>
          <p:nvPr>
            <p:custDataLst>
              <p:tags r:id="rId37"/>
            </p:custDataLst>
          </p:nvPr>
        </p:nvSpPr>
        <p:spPr>
          <a:xfrm>
            <a:off x="4007485" y="5356860"/>
            <a:ext cx="1198245" cy="258445"/>
          </a:xfrm>
          <a:prstGeom prst="roundRect">
            <a:avLst>
              <a:gd name="adj" fmla="val 2948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 defTabSz="914400" eaLnBrk="1" fontAlgn="auto" hangingPunct="1">
              <a:buClrTx/>
              <a:buSzTx/>
              <a:buFontTx/>
            </a:pPr>
            <a:r>
              <a:rPr lang="en-US" altLang="zh-CN" sz="1000">
                <a:solidFill>
                  <a:schemeClr val="tx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xBond</a:t>
            </a:r>
            <a:r>
              <a:rPr lang="zh-CN" altLang="en-US" sz="1000">
                <a:solidFill>
                  <a:schemeClr val="tx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点击成交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0" grpId="0"/>
      <p:bldP spid="120" grpId="1"/>
      <p:bldP spid="95" grpId="0"/>
      <p:bldP spid="95" grpId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文本框 90"/>
          <p:cNvSpPr txBox="1"/>
          <p:nvPr/>
        </p:nvSpPr>
        <p:spPr>
          <a:xfrm>
            <a:off x="593090" y="289918"/>
            <a:ext cx="9825551" cy="46037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pPr algn="l" defTabSz="914400" eaLnBrk="1" fontAlgn="auto" hangingPunct="1"/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华锐</a:t>
            </a:r>
            <a:r>
              <a:rPr lang="en-US" altLang="zh-CN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FICC</a:t>
            </a:r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系统建设规划</a:t>
            </a:r>
            <a:r>
              <a:rPr lang="en-US" altLang="zh-CN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——</a:t>
            </a:r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自营投资</a:t>
            </a:r>
            <a:r>
              <a:rPr lang="en-US" altLang="zh-CN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-</a:t>
            </a:r>
            <a:r>
              <a:rPr lang="zh-CN" altLang="en-US" sz="2400" b="1" kern="2000" dirty="0">
                <a:solidFill>
                  <a:schemeClr val="bg1"/>
                </a:solidFill>
                <a:latin typeface="Arial" panose="020B0704020202020204" pitchFamily="34" charset="0"/>
                <a:ea typeface="微软雅黑" panose="00000500000000000000" charset="-122"/>
                <a:sym typeface="+mn-ea"/>
              </a:rPr>
              <a:t>组合绩效归因</a:t>
            </a:r>
          </a:p>
        </p:txBody>
      </p:sp>
      <p:cxnSp>
        <p:nvCxnSpPr>
          <p:cNvPr id="92" name="直线连接符 1"/>
          <p:cNvCxnSpPr/>
          <p:nvPr/>
        </p:nvCxnSpPr>
        <p:spPr>
          <a:xfrm>
            <a:off x="465823" y="349321"/>
            <a:ext cx="0" cy="431514"/>
          </a:xfrm>
          <a:prstGeom prst="line">
            <a:avLst/>
          </a:prstGeom>
          <a:ln w="762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16"/>
          <p:cNvSpPr>
            <a:spLocks noChangeArrowheads="1"/>
          </p:cNvSpPr>
          <p:nvPr/>
        </p:nvSpPr>
        <p:spPr bwMode="auto">
          <a:xfrm>
            <a:off x="309880" y="963930"/>
            <a:ext cx="6463665" cy="89852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round/>
              </a14:hiddenLine>
            </a:ext>
          </a:extLst>
        </p:spPr>
        <p:txBody>
          <a:bodyPr lIns="0" tIns="0" rIns="0" bIns="0" anchor="ctr" anchorCtr="1"/>
          <a:lstStyle>
            <a:lvl1pPr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9pPr>
          </a:lstStyle>
          <a:p>
            <a:pPr algn="ctr" eaLnBrk="1" hangingPunct="1">
              <a:lnSpc>
                <a:spcPct val="150000"/>
              </a:lnSpc>
            </a:pPr>
            <a:r>
              <a:rPr lang="zh-CN" altLang="zh-CN" sz="14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</a:rPr>
              <a:t>核心目标</a:t>
            </a:r>
          </a:p>
          <a:p>
            <a:pPr eaLnBrk="1" hangingPunct="1">
              <a:lnSpc>
                <a:spcPct val="150000"/>
              </a:lnSpc>
            </a:pPr>
            <a:r>
              <a:rPr lang="zh-CN" altLang="zh-CN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</a:rPr>
              <a:t>将投资业绩从模糊的结果，转变为清晰的“能力仪表盘”，精准评估收益来源，驱动投资能力持续进化，将投资管理从“经验驱动”升级为“数据驱动”。</a:t>
            </a:r>
          </a:p>
        </p:txBody>
      </p:sp>
      <p:sp>
        <p:nvSpPr>
          <p:cNvPr id="3" name="圆角矩形 2"/>
          <p:cNvSpPr/>
          <p:nvPr/>
        </p:nvSpPr>
        <p:spPr>
          <a:xfrm>
            <a:off x="309880" y="3211830"/>
            <a:ext cx="6463665" cy="368935"/>
          </a:xfrm>
          <a:prstGeom prst="roundRect">
            <a:avLst/>
          </a:prstGeom>
          <a:solidFill>
            <a:schemeClr val="accent5"/>
          </a:solidFill>
          <a:ln w="6350">
            <a:noFill/>
          </a:ln>
        </p:spPr>
        <p:txBody>
          <a:bodyPr wrap="square" lIns="9144" tIns="0" rIns="9144" bIns="0" rtlCol="0" anchor="ctr" anchorCtr="1">
            <a:noAutofit/>
          </a:bodyPr>
          <a:lstStyle/>
          <a:p>
            <a:pPr lvl="0" algn="l">
              <a:buClrTx/>
              <a:buSzTx/>
              <a:buFontTx/>
            </a:pPr>
            <a:r>
              <a:rPr lang="zh-CN" sz="1200" b="1" dirty="0">
                <a:solidFill>
                  <a:schemeClr val="bg1"/>
                </a:solidFill>
                <a:latin typeface="Calibri" panose="020F0502020204030204"/>
                <a:ea typeface="微软雅黑" panose="00000500000000000000" charset="-122"/>
                <a:sym typeface="+mn-ea"/>
              </a:rPr>
              <a:t>组合收益</a:t>
            </a:r>
          </a:p>
        </p:txBody>
      </p:sp>
      <p:sp>
        <p:nvSpPr>
          <p:cNvPr id="4" name="圆角矩形 3"/>
          <p:cNvSpPr/>
          <p:nvPr/>
        </p:nvSpPr>
        <p:spPr>
          <a:xfrm>
            <a:off x="354330" y="3717925"/>
            <a:ext cx="1440000" cy="288290"/>
          </a:xfrm>
          <a:prstGeom prst="roundRect">
            <a:avLst/>
          </a:prstGeom>
          <a:solidFill>
            <a:srgbClr val="379DFF"/>
          </a:solidFill>
          <a:ln w="3175" cap="flat" cmpd="sng" algn="ctr">
            <a:noFill/>
            <a:prstDash val="solid"/>
            <a:miter lim="800000"/>
          </a:ln>
          <a:effectLst/>
        </p:spPr>
        <p:txBody>
          <a:bodyPr lIns="90170" tIns="46990" rIns="90170" bIns="4699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00" b="1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权益</a:t>
            </a:r>
          </a:p>
        </p:txBody>
      </p:sp>
      <p:sp>
        <p:nvSpPr>
          <p:cNvPr id="5" name="圆角矩形 4"/>
          <p:cNvSpPr/>
          <p:nvPr/>
        </p:nvSpPr>
        <p:spPr>
          <a:xfrm>
            <a:off x="2014675" y="3723640"/>
            <a:ext cx="1439545" cy="288290"/>
          </a:xfrm>
          <a:prstGeom prst="roundRect">
            <a:avLst/>
          </a:prstGeom>
          <a:solidFill>
            <a:srgbClr val="379DFF"/>
          </a:solidFill>
          <a:ln w="3175" cap="flat" cmpd="sng" algn="ctr">
            <a:noFill/>
            <a:prstDash val="solid"/>
            <a:miter lim="800000"/>
          </a:ln>
          <a:effectLst/>
        </p:spPr>
        <p:txBody>
          <a:bodyPr lIns="90170" tIns="46990" rIns="90170" bIns="4699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00" b="1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基金</a:t>
            </a:r>
          </a:p>
        </p:txBody>
      </p:sp>
      <p:sp>
        <p:nvSpPr>
          <p:cNvPr id="6" name="圆角矩形 5"/>
          <p:cNvSpPr/>
          <p:nvPr/>
        </p:nvSpPr>
        <p:spPr>
          <a:xfrm>
            <a:off x="3674565" y="3717925"/>
            <a:ext cx="1439545" cy="288290"/>
          </a:xfrm>
          <a:prstGeom prst="roundRect">
            <a:avLst/>
          </a:prstGeom>
          <a:solidFill>
            <a:srgbClr val="379DFF"/>
          </a:solidFill>
          <a:ln w="3175" cap="flat" cmpd="sng" algn="ctr">
            <a:noFill/>
            <a:prstDash val="solid"/>
            <a:miter lim="800000"/>
          </a:ln>
          <a:effectLst/>
        </p:spPr>
        <p:txBody>
          <a:bodyPr lIns="90170" tIns="46990" rIns="90170" bIns="4699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00" b="1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债券</a:t>
            </a:r>
          </a:p>
        </p:txBody>
      </p:sp>
      <p:sp>
        <p:nvSpPr>
          <p:cNvPr id="7" name="圆角矩形 6"/>
          <p:cNvSpPr/>
          <p:nvPr/>
        </p:nvSpPr>
        <p:spPr>
          <a:xfrm>
            <a:off x="5334455" y="3717925"/>
            <a:ext cx="1439545" cy="288290"/>
          </a:xfrm>
          <a:prstGeom prst="roundRect">
            <a:avLst/>
          </a:prstGeom>
          <a:solidFill>
            <a:srgbClr val="379DFF"/>
          </a:solidFill>
          <a:ln w="3175" cap="flat" cmpd="sng" algn="ctr">
            <a:noFill/>
            <a:prstDash val="solid"/>
            <a:miter lim="800000"/>
          </a:ln>
          <a:effectLst/>
        </p:spPr>
        <p:txBody>
          <a:bodyPr lIns="90170" tIns="46990" rIns="90170" bIns="4699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00" b="1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衍生品</a:t>
            </a:r>
          </a:p>
        </p:txBody>
      </p:sp>
      <p:sp>
        <p:nvSpPr>
          <p:cNvPr id="8" name="圆角矩形 7"/>
          <p:cNvSpPr/>
          <p:nvPr/>
        </p:nvSpPr>
        <p:spPr>
          <a:xfrm>
            <a:off x="3674745" y="4185285"/>
            <a:ext cx="1439545" cy="288290"/>
          </a:xfrm>
          <a:prstGeom prst="roundRect">
            <a:avLst/>
          </a:prstGeom>
          <a:solidFill>
            <a:schemeClr val="bg1"/>
          </a:solidFill>
          <a:ln w="3175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lIns="90170" tIns="46990" rIns="90170" bIns="4699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00" b="1" noProof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收入效应</a:t>
            </a:r>
          </a:p>
        </p:txBody>
      </p:sp>
      <p:sp>
        <p:nvSpPr>
          <p:cNvPr id="9" name="圆角矩形 8"/>
          <p:cNvSpPr/>
          <p:nvPr/>
        </p:nvSpPr>
        <p:spPr>
          <a:xfrm>
            <a:off x="3677920" y="4606925"/>
            <a:ext cx="1439545" cy="288290"/>
          </a:xfrm>
          <a:prstGeom prst="roundRect">
            <a:avLst/>
          </a:prstGeom>
          <a:solidFill>
            <a:schemeClr val="bg1"/>
          </a:solidFill>
          <a:ln w="3175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lIns="90170" tIns="46990" rIns="90170" bIns="4699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00" b="1" noProof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国债效应</a:t>
            </a:r>
          </a:p>
        </p:txBody>
      </p:sp>
      <p:sp>
        <p:nvSpPr>
          <p:cNvPr id="10" name="圆角矩形 9"/>
          <p:cNvSpPr/>
          <p:nvPr/>
        </p:nvSpPr>
        <p:spPr>
          <a:xfrm>
            <a:off x="3677920" y="5028565"/>
            <a:ext cx="1439545" cy="288290"/>
          </a:xfrm>
          <a:prstGeom prst="roundRect">
            <a:avLst/>
          </a:prstGeom>
          <a:solidFill>
            <a:schemeClr val="bg1"/>
          </a:solidFill>
          <a:ln w="3175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lIns="90170" tIns="46990" rIns="90170" bIns="4699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00" b="1" noProof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利差效应</a:t>
            </a:r>
          </a:p>
        </p:txBody>
      </p:sp>
      <p:sp>
        <p:nvSpPr>
          <p:cNvPr id="11" name="圆角矩形 10"/>
          <p:cNvSpPr/>
          <p:nvPr/>
        </p:nvSpPr>
        <p:spPr>
          <a:xfrm>
            <a:off x="3677920" y="5450205"/>
            <a:ext cx="1439545" cy="288290"/>
          </a:xfrm>
          <a:prstGeom prst="roundRect">
            <a:avLst/>
          </a:prstGeom>
          <a:solidFill>
            <a:schemeClr val="bg1"/>
          </a:solidFill>
          <a:ln w="3175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lIns="90170" tIns="46990" rIns="90170" bIns="4699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00" b="1" noProof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交易效应</a:t>
            </a:r>
          </a:p>
        </p:txBody>
      </p:sp>
      <p:sp>
        <p:nvSpPr>
          <p:cNvPr id="12" name="圆角矩形 11"/>
          <p:cNvSpPr/>
          <p:nvPr/>
        </p:nvSpPr>
        <p:spPr>
          <a:xfrm>
            <a:off x="3677920" y="5871845"/>
            <a:ext cx="1439545" cy="288290"/>
          </a:xfrm>
          <a:prstGeom prst="roundRect">
            <a:avLst/>
          </a:prstGeom>
          <a:solidFill>
            <a:schemeClr val="bg1"/>
          </a:solidFill>
          <a:ln w="3175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lIns="90170" tIns="46990" rIns="90170" bIns="4699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00" b="1" noProof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残差</a:t>
            </a:r>
          </a:p>
        </p:txBody>
      </p:sp>
      <p:sp>
        <p:nvSpPr>
          <p:cNvPr id="13" name="圆角矩形 12"/>
          <p:cNvSpPr/>
          <p:nvPr/>
        </p:nvSpPr>
        <p:spPr>
          <a:xfrm>
            <a:off x="3677920" y="6293485"/>
            <a:ext cx="1439545" cy="288290"/>
          </a:xfrm>
          <a:prstGeom prst="roundRect">
            <a:avLst/>
          </a:prstGeom>
          <a:solidFill>
            <a:schemeClr val="bg1"/>
          </a:solidFill>
          <a:ln w="3175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lIns="90170" tIns="46990" rIns="90170" bIns="4699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00" b="1" noProof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费用</a:t>
            </a:r>
          </a:p>
        </p:txBody>
      </p:sp>
      <p:sp>
        <p:nvSpPr>
          <p:cNvPr id="14" name="圆角矩形 13"/>
          <p:cNvSpPr/>
          <p:nvPr/>
        </p:nvSpPr>
        <p:spPr>
          <a:xfrm>
            <a:off x="2014855" y="4185285"/>
            <a:ext cx="1439545" cy="288290"/>
          </a:xfrm>
          <a:prstGeom prst="roundRect">
            <a:avLst/>
          </a:prstGeom>
          <a:solidFill>
            <a:schemeClr val="bg1"/>
          </a:solidFill>
          <a:ln w="3175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lIns="90170" tIns="46990" rIns="90170" bIns="4699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1200" b="1" noProof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ETF</a:t>
            </a:r>
          </a:p>
        </p:txBody>
      </p:sp>
      <p:sp>
        <p:nvSpPr>
          <p:cNvPr id="15" name="圆角矩形 14"/>
          <p:cNvSpPr/>
          <p:nvPr/>
        </p:nvSpPr>
        <p:spPr>
          <a:xfrm>
            <a:off x="2014855" y="4626610"/>
            <a:ext cx="1439545" cy="288290"/>
          </a:xfrm>
          <a:prstGeom prst="roundRect">
            <a:avLst/>
          </a:prstGeom>
          <a:solidFill>
            <a:schemeClr val="bg1"/>
          </a:solidFill>
          <a:ln w="3175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lIns="90170" tIns="46990" rIns="90170" bIns="4699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1200" b="1" noProof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Reits</a:t>
            </a:r>
          </a:p>
        </p:txBody>
      </p:sp>
      <p:sp>
        <p:nvSpPr>
          <p:cNvPr id="16" name="圆角矩形 15"/>
          <p:cNvSpPr/>
          <p:nvPr/>
        </p:nvSpPr>
        <p:spPr>
          <a:xfrm>
            <a:off x="2014855" y="5067935"/>
            <a:ext cx="1439545" cy="288290"/>
          </a:xfrm>
          <a:prstGeom prst="roundRect">
            <a:avLst/>
          </a:prstGeom>
          <a:solidFill>
            <a:schemeClr val="bg1"/>
          </a:solidFill>
          <a:ln w="3175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lIns="90170" tIns="46990" rIns="90170" bIns="4699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1200" b="1" noProof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QD</a:t>
            </a:r>
          </a:p>
        </p:txBody>
      </p:sp>
      <p:sp>
        <p:nvSpPr>
          <p:cNvPr id="17" name="圆角矩形 16"/>
          <p:cNvSpPr/>
          <p:nvPr/>
        </p:nvSpPr>
        <p:spPr>
          <a:xfrm>
            <a:off x="2014855" y="5509260"/>
            <a:ext cx="1439545" cy="288290"/>
          </a:xfrm>
          <a:prstGeom prst="roundRect">
            <a:avLst/>
          </a:prstGeom>
          <a:solidFill>
            <a:schemeClr val="bg1"/>
          </a:solidFill>
          <a:ln w="3175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lIns="90170" tIns="46990" rIns="90170" bIns="4699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1200" b="1" noProof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FoF</a:t>
            </a:r>
          </a:p>
        </p:txBody>
      </p:sp>
      <p:sp>
        <p:nvSpPr>
          <p:cNvPr id="18" name="圆角矩形 17"/>
          <p:cNvSpPr/>
          <p:nvPr/>
        </p:nvSpPr>
        <p:spPr>
          <a:xfrm>
            <a:off x="5334635" y="4185285"/>
            <a:ext cx="1438910" cy="288290"/>
          </a:xfrm>
          <a:prstGeom prst="roundRect">
            <a:avLst/>
          </a:prstGeom>
          <a:solidFill>
            <a:schemeClr val="bg1"/>
          </a:solidFill>
          <a:ln w="3175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lIns="90170" tIns="46990" rIns="90170" bIns="4699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00" b="1" noProof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国债期货</a:t>
            </a:r>
          </a:p>
        </p:txBody>
      </p:sp>
      <p:sp>
        <p:nvSpPr>
          <p:cNvPr id="19" name="圆角矩形 18"/>
          <p:cNvSpPr/>
          <p:nvPr/>
        </p:nvSpPr>
        <p:spPr>
          <a:xfrm>
            <a:off x="5340985" y="4624705"/>
            <a:ext cx="1438910" cy="288290"/>
          </a:xfrm>
          <a:prstGeom prst="roundRect">
            <a:avLst/>
          </a:prstGeom>
          <a:solidFill>
            <a:schemeClr val="bg1"/>
          </a:solidFill>
          <a:ln w="3175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lIns="90170" tIns="46990" rIns="90170" bIns="4699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1200" b="1" noProof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IRS</a:t>
            </a:r>
          </a:p>
        </p:txBody>
      </p:sp>
      <p:sp>
        <p:nvSpPr>
          <p:cNvPr id="20" name="圆角矩形 19"/>
          <p:cNvSpPr/>
          <p:nvPr/>
        </p:nvSpPr>
        <p:spPr>
          <a:xfrm>
            <a:off x="5340985" y="5064125"/>
            <a:ext cx="1438910" cy="288290"/>
          </a:xfrm>
          <a:prstGeom prst="roundRect">
            <a:avLst/>
          </a:prstGeom>
          <a:solidFill>
            <a:schemeClr val="bg1"/>
          </a:solidFill>
          <a:ln w="3175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lIns="90170" tIns="46990" rIns="90170" bIns="46990" rtlCol="0" anchor="ctr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1200" b="1" noProof="0">
                <a:ln>
                  <a:noFill/>
                </a:ln>
                <a:solidFill>
                  <a:schemeClr val="bg2">
                    <a:lumMod val="25000"/>
                  </a:schemeClr>
                </a:solidFill>
                <a:effectLst/>
                <a:uLnTx/>
                <a:uFillTx/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TRS</a:t>
            </a:r>
          </a:p>
        </p:txBody>
      </p:sp>
      <p:sp>
        <p:nvSpPr>
          <p:cNvPr id="21" name="文本框 20"/>
          <p:cNvSpPr txBox="1"/>
          <p:nvPr/>
        </p:nvSpPr>
        <p:spPr>
          <a:xfrm>
            <a:off x="309880" y="2019300"/>
            <a:ext cx="1908175" cy="953515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 eaLnBrk="1" hangingPunct="1"/>
            <a:r>
              <a:rPr lang="zh-CN" altLang="en-US" sz="1400" b="1">
                <a:latin typeface="微软雅黑" panose="00000500000000000000" charset="-122"/>
                <a:cs typeface="微软雅黑" panose="00000500000000000000" charset="-122"/>
                <a:sym typeface="+mn-ea"/>
              </a:rPr>
              <a:t>精准评估</a:t>
            </a:r>
            <a:endParaRPr lang="zh-CN" altLang="en-US" sz="1400" b="1">
              <a:solidFill>
                <a:schemeClr val="tx1"/>
              </a:solidFill>
              <a:latin typeface="微软雅黑" panose="00000500000000000000" charset="-122"/>
              <a:cs typeface="微软雅黑" panose="00000500000000000000" charset="-122"/>
              <a:sym typeface="+mn-ea"/>
            </a:endParaRPr>
          </a:p>
          <a:p>
            <a:pPr algn="l" eaLnBrk="1" hangingPunct="1">
              <a:lnSpc>
                <a:spcPct val="150000"/>
              </a:lnSpc>
            </a:pPr>
            <a:r>
              <a:rPr lang="en-US" altLang="zh-CN" sz="1200">
                <a:latin typeface="微软雅黑" panose="00000500000000000000" charset="-122"/>
                <a:cs typeface="微软雅黑" panose="00000500000000000000" charset="-122"/>
                <a:sym typeface="+mn-ea"/>
              </a:rPr>
              <a:t>​​</a:t>
            </a:r>
            <a:r>
              <a:rPr lang="zh-CN" altLang="en-US" sz="1200">
                <a:latin typeface="微软雅黑" panose="00000500000000000000" charset="-122"/>
                <a:cs typeface="微软雅黑" panose="00000500000000000000" charset="-122"/>
                <a:sym typeface="+mn-ea"/>
              </a:rPr>
              <a:t>科学衡量投资团队的真实能力</a:t>
            </a:r>
          </a:p>
        </p:txBody>
      </p:sp>
      <p:sp>
        <p:nvSpPr>
          <p:cNvPr id="23" name="文本框 22"/>
          <p:cNvSpPr txBox="1"/>
          <p:nvPr/>
        </p:nvSpPr>
        <p:spPr>
          <a:xfrm>
            <a:off x="2587625" y="2019300"/>
            <a:ext cx="1908175" cy="953511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 eaLnBrk="1" hangingPunct="1"/>
            <a:r>
              <a:rPr lang="zh-CN" altLang="en-US" sz="1400" b="1">
                <a:latin typeface="微软雅黑" panose="00000500000000000000" charset="-122"/>
                <a:cs typeface="微软雅黑" panose="00000500000000000000" charset="-122"/>
                <a:sym typeface="+mn-ea"/>
              </a:rPr>
              <a:t>优化决策</a:t>
            </a:r>
            <a:endParaRPr lang="zh-CN" altLang="en-US" sz="1400" b="1">
              <a:solidFill>
                <a:schemeClr val="tx1"/>
              </a:solidFill>
              <a:latin typeface="微软雅黑" panose="00000500000000000000" charset="-122"/>
              <a:cs typeface="微软雅黑" panose="00000500000000000000" charset="-122"/>
              <a:sym typeface="+mn-ea"/>
            </a:endParaRPr>
          </a:p>
          <a:p>
            <a:pPr eaLnBrk="1" hangingPunct="1">
              <a:lnSpc>
                <a:spcPct val="150000"/>
              </a:lnSpc>
            </a:pPr>
            <a:r>
              <a:rPr lang="en-US" altLang="zh-CN" sz="1200">
                <a:latin typeface="微软雅黑" panose="00000500000000000000" charset="-122"/>
                <a:cs typeface="微软雅黑" panose="00000500000000000000" charset="-122"/>
                <a:sym typeface="+mn-ea"/>
              </a:rPr>
              <a:t>​​</a:t>
            </a:r>
            <a:r>
              <a:rPr lang="zh-CN" altLang="en-US" sz="1200">
                <a:latin typeface="微软雅黑" panose="00000500000000000000" charset="-122"/>
                <a:cs typeface="微软雅黑" panose="00000500000000000000" charset="-122"/>
                <a:sym typeface="+mn-ea"/>
              </a:rPr>
              <a:t>为策略调整和风险配置提供清晰指引</a:t>
            </a:r>
          </a:p>
        </p:txBody>
      </p:sp>
      <p:sp>
        <p:nvSpPr>
          <p:cNvPr id="24" name="文本框 23"/>
          <p:cNvSpPr txBox="1"/>
          <p:nvPr/>
        </p:nvSpPr>
        <p:spPr>
          <a:xfrm>
            <a:off x="4865370" y="2019300"/>
            <a:ext cx="1908175" cy="953517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 eaLnBrk="1" hangingPunct="1"/>
            <a:r>
              <a:rPr lang="zh-CN" altLang="en-US" sz="1400" b="1">
                <a:latin typeface="微软雅黑" panose="00000500000000000000" charset="-122"/>
                <a:cs typeface="微软雅黑" panose="00000500000000000000" charset="-122"/>
                <a:sym typeface="+mn-ea"/>
              </a:rPr>
              <a:t>赋能团队</a:t>
            </a:r>
            <a:endParaRPr lang="zh-CN" altLang="en-US" sz="1400" b="1">
              <a:solidFill>
                <a:schemeClr val="tx1"/>
              </a:solidFill>
              <a:latin typeface="微软雅黑" panose="00000500000000000000" charset="-122"/>
              <a:cs typeface="微软雅黑" panose="00000500000000000000" charset="-122"/>
              <a:sym typeface="+mn-ea"/>
            </a:endParaRPr>
          </a:p>
          <a:p>
            <a:pPr algn="l" eaLnBrk="1" hangingPunct="1">
              <a:lnSpc>
                <a:spcPct val="150000"/>
              </a:lnSpc>
            </a:pPr>
            <a:r>
              <a:rPr lang="en-US" altLang="zh-CN" sz="1200">
                <a:latin typeface="微软雅黑" panose="00000500000000000000" charset="-122"/>
                <a:cs typeface="微软雅黑" panose="00000500000000000000" charset="-122"/>
                <a:sym typeface="+mn-ea"/>
              </a:rPr>
              <a:t>​​</a:t>
            </a:r>
            <a:r>
              <a:rPr lang="zh-CN" altLang="en-US" sz="1200">
                <a:latin typeface="微软雅黑" panose="00000500000000000000" charset="-122"/>
                <a:cs typeface="微软雅黑" panose="00000500000000000000" charset="-122"/>
                <a:sym typeface="+mn-ea"/>
              </a:rPr>
              <a:t>科学衡量投资团队的真实能力</a:t>
            </a:r>
          </a:p>
        </p:txBody>
      </p:sp>
      <p:sp>
        <p:nvSpPr>
          <p:cNvPr id="25" name="Text 16"/>
          <p:cNvSpPr>
            <a:spLocks noChangeArrowheads="1"/>
          </p:cNvSpPr>
          <p:nvPr/>
        </p:nvSpPr>
        <p:spPr bwMode="auto">
          <a:xfrm>
            <a:off x="7368540" y="963930"/>
            <a:ext cx="4606290" cy="146939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round/>
              </a14:hiddenLine>
            </a:ext>
          </a:extLst>
        </p:spPr>
        <p:txBody>
          <a:bodyPr lIns="0" tIns="0" rIns="0" bIns="0" anchor="ctr" anchorCtr="1"/>
          <a:lstStyle>
            <a:lvl1pPr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9pPr>
          </a:lstStyle>
          <a:p>
            <a:pPr algn="ctr" eaLnBrk="1" hangingPunct="1">
              <a:lnSpc>
                <a:spcPct val="150000"/>
              </a:lnSpc>
            </a:pPr>
            <a:r>
              <a:rPr lang="zh-CN" altLang="zh-CN" sz="14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</a:rPr>
              <a:t>模型</a:t>
            </a:r>
          </a:p>
          <a:p>
            <a:pPr indent="0" fontAlgn="auto">
              <a:lnSpc>
                <a:spcPct val="130000"/>
              </a:lnSpc>
            </a:pPr>
            <a:r>
              <a:rPr lang="zh-CN" altLang="zh-CN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Campisi模型思路非常直观，能够较好地反映自上而下的债券投资逻辑。债券收益来源主要包括票息收入和资本利得收入，Campisi模型进一步细分将价格收入分解为国债变化效应、利差变化效应及择券效应。</a:t>
            </a:r>
            <a:endParaRPr lang="zh-CN" altLang="zh-CN" sz="1200">
              <a:solidFill>
                <a:schemeClr val="bg1"/>
              </a:solidFill>
              <a:latin typeface="微软雅黑" panose="00000500000000000000" charset="-122"/>
              <a:ea typeface="微软雅黑" panose="00000500000000000000" charset="-122"/>
              <a:cs typeface="微软雅黑" panose="00000500000000000000" charset="-122"/>
            </a:endParaRPr>
          </a:p>
        </p:txBody>
      </p:sp>
      <p:sp>
        <p:nvSpPr>
          <p:cNvPr id="26" name="Text 16"/>
          <p:cNvSpPr>
            <a:spLocks noChangeArrowheads="1"/>
          </p:cNvSpPr>
          <p:nvPr/>
        </p:nvSpPr>
        <p:spPr bwMode="auto">
          <a:xfrm>
            <a:off x="7368540" y="2717165"/>
            <a:ext cx="4606290" cy="168338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round/>
              </a14:hiddenLine>
            </a:ext>
          </a:extLst>
        </p:spPr>
        <p:txBody>
          <a:bodyPr lIns="0" tIns="0" rIns="0" bIns="0" anchor="ctr" anchorCtr="1"/>
          <a:lstStyle>
            <a:lvl1pPr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9pPr>
          </a:lstStyle>
          <a:p>
            <a:pPr algn="ctr" eaLnBrk="1" hangingPunct="1">
              <a:lnSpc>
                <a:spcPct val="150000"/>
              </a:lnSpc>
            </a:pPr>
            <a:r>
              <a:rPr lang="zh-CN" altLang="en-US" sz="14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利</a:t>
            </a:r>
            <a:r>
              <a:rPr lang="en-US" altLang="zh-CN" sz="14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率债</a:t>
            </a:r>
            <a:r>
              <a:rPr lang="zh-CN" altLang="en-US" sz="14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：利息</a:t>
            </a:r>
            <a:r>
              <a:rPr lang="en-US" altLang="zh-CN" sz="14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+</a:t>
            </a:r>
            <a:r>
              <a:rPr lang="zh-CN" altLang="en-US" sz="14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市场</a:t>
            </a:r>
            <a:r>
              <a:rPr lang="en-US" altLang="zh-CN" sz="14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+alpha</a:t>
            </a:r>
          </a:p>
          <a:p>
            <a:pPr algn="ctr" eaLnBrk="1" hangingPunct="1">
              <a:lnSpc>
                <a:spcPct val="150000"/>
              </a:lnSpc>
            </a:pPr>
            <a:r>
              <a:rPr lang="en-US" altLang="zh-CN" sz="1200" b="1">
                <a:solidFill>
                  <a:srgbClr val="F54D6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0000500000000000000" charset="-122"/>
              </a:rPr>
              <a:t>清晰区分</a:t>
            </a:r>
            <a:r>
              <a:rPr lang="zh-CN" altLang="zh-CN" sz="1200" b="1">
                <a:solidFill>
                  <a:srgbClr val="F54D6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0000500000000000000" charset="-122"/>
              </a:rPr>
              <a:t>，</a:t>
            </a:r>
            <a:r>
              <a:rPr lang="en-US" altLang="zh-CN" sz="1200" b="1">
                <a:solidFill>
                  <a:srgbClr val="F54D6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0000500000000000000" charset="-122"/>
              </a:rPr>
              <a:t>避免用单一盈亏结果评价投资经理</a:t>
            </a:r>
            <a:endParaRPr lang="zh-CN" altLang="zh-CN" sz="1200" b="1">
              <a:solidFill>
                <a:srgbClr val="F54D61"/>
              </a:solidFill>
              <a:latin typeface="微软雅黑" panose="00000500000000000000" charset="-122"/>
              <a:ea typeface="微软雅黑" panose="00000500000000000000" charset="-122"/>
              <a:cs typeface="微软雅黑" panose="00000500000000000000" charset="-122"/>
            </a:endParaRPr>
          </a:p>
          <a:p>
            <a:pPr marL="171450" indent="-171450" eaLnBrk="1" hangingPunct="1">
              <a:lnSpc>
                <a:spcPct val="150000"/>
              </a:lnSpc>
              <a:buClr>
                <a:srgbClr val="FFFFFF"/>
              </a:buClr>
              <a:buFont typeface="Arial" panose="020B0704020202020204" pitchFamily="34" charset="0"/>
              <a:buChar char="•"/>
            </a:pPr>
            <a:r>
              <a:rPr lang="en-US" altLang="zh-CN" sz="10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0000500000000000000" charset="-122"/>
              </a:rPr>
              <a:t>久期判断</a:t>
            </a:r>
            <a:r>
              <a:rPr lang="en-US" altLang="zh-CN" sz="10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0000500000000000000" charset="-122"/>
              </a:rPr>
              <a:t>：衡量对利率大势的判断能力，是盈亏的主要来源</a:t>
            </a:r>
            <a:r>
              <a:rPr lang="zh-CN" altLang="en-US" sz="10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0000500000000000000" charset="-122"/>
              </a:rPr>
              <a:t>；</a:t>
            </a:r>
            <a:endParaRPr lang="zh-CN" altLang="zh-CN" sz="1000">
              <a:solidFill>
                <a:schemeClr val="bg1"/>
              </a:solidFill>
              <a:latin typeface="微软雅黑" panose="00000500000000000000" charset="-122"/>
              <a:ea typeface="微软雅黑" panose="00000500000000000000" charset="-122"/>
              <a:cs typeface="微软雅黑" panose="00000500000000000000" charset="-122"/>
            </a:endParaRPr>
          </a:p>
          <a:p>
            <a:pPr marL="171450" indent="-171450" eaLnBrk="1" hangingPunct="1">
              <a:lnSpc>
                <a:spcPct val="150000"/>
              </a:lnSpc>
              <a:spcBef>
                <a:spcPts val="300"/>
              </a:spcBef>
              <a:buClr>
                <a:srgbClr val="FFFFFF"/>
              </a:buClr>
              <a:buFont typeface="Arial" panose="020B0704020202020204" pitchFamily="34" charset="0"/>
              <a:buChar char="•"/>
            </a:pPr>
            <a:r>
              <a:rPr lang="en-US" altLang="zh-CN" sz="10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0000500000000000000" charset="-122"/>
              </a:rPr>
              <a:t>​曲线形变</a:t>
            </a:r>
            <a:r>
              <a:rPr lang="en-US" altLang="zh-CN" sz="10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0000500000000000000" charset="-122"/>
              </a:rPr>
              <a:t>：评估通过预测收益率曲线形状变化（如变陡/变平）获取超额收益的能力</a:t>
            </a:r>
            <a:r>
              <a:rPr lang="zh-CN" altLang="en-US" sz="10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0000500000000000000" charset="-122"/>
              </a:rPr>
              <a:t>；</a:t>
            </a:r>
            <a:endParaRPr lang="zh-CN" altLang="zh-CN" sz="1000">
              <a:solidFill>
                <a:schemeClr val="bg1"/>
              </a:solidFill>
              <a:latin typeface="微软雅黑" panose="00000500000000000000" charset="-122"/>
              <a:ea typeface="微软雅黑" panose="00000500000000000000" charset="-122"/>
              <a:cs typeface="微软雅黑" panose="00000500000000000000" charset="-122"/>
            </a:endParaRPr>
          </a:p>
          <a:p>
            <a:pPr marL="171450" indent="-171450" eaLnBrk="1" hangingPunct="1">
              <a:lnSpc>
                <a:spcPct val="150000"/>
              </a:lnSpc>
              <a:spcBef>
                <a:spcPts val="300"/>
              </a:spcBef>
              <a:buClr>
                <a:srgbClr val="FFFFFF"/>
              </a:buClr>
              <a:buFont typeface="Arial" panose="020B0704020202020204" pitchFamily="34" charset="0"/>
              <a:buChar char="•"/>
            </a:pPr>
            <a:r>
              <a:rPr lang="en-US" altLang="zh-CN" sz="10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0000500000000000000" charset="-122"/>
              </a:rPr>
              <a:t>​交易择时</a:t>
            </a:r>
            <a:r>
              <a:rPr lang="en-US" altLang="zh-CN" sz="10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0000500000000000000" charset="-122"/>
              </a:rPr>
              <a:t>：​​ 衡量通过短期波段操作创造的价值。</a:t>
            </a:r>
          </a:p>
        </p:txBody>
      </p:sp>
      <p:sp>
        <p:nvSpPr>
          <p:cNvPr id="28" name="Text 16"/>
          <p:cNvSpPr>
            <a:spLocks noChangeArrowheads="1"/>
          </p:cNvSpPr>
          <p:nvPr/>
        </p:nvSpPr>
        <p:spPr bwMode="auto">
          <a:xfrm>
            <a:off x="7368540" y="4738370"/>
            <a:ext cx="4606290" cy="168338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round/>
              </a14:hiddenLine>
            </a:ext>
          </a:extLst>
        </p:spPr>
        <p:txBody>
          <a:bodyPr lIns="0" tIns="0" rIns="0" bIns="0" anchor="ctr" anchorCtr="1"/>
          <a:lstStyle>
            <a:lvl1pPr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9pPr>
          </a:lstStyle>
          <a:p>
            <a:pPr algn="ctr" eaLnBrk="1" hangingPunct="1">
              <a:lnSpc>
                <a:spcPct val="150000"/>
              </a:lnSpc>
            </a:pPr>
            <a:r>
              <a:rPr lang="zh-CN" altLang="en-US" sz="14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信用</a:t>
            </a:r>
            <a:r>
              <a:rPr lang="en-US" altLang="zh-CN" sz="14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债</a:t>
            </a:r>
            <a:r>
              <a:rPr lang="zh-CN" altLang="en-US" sz="14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：风险</a:t>
            </a:r>
            <a:r>
              <a:rPr lang="en-US" altLang="zh-CN" sz="14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+</a:t>
            </a:r>
            <a:r>
              <a:rPr lang="zh-CN" altLang="en-US" sz="14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收益双维度</a:t>
            </a:r>
            <a:endParaRPr lang="en-US" altLang="zh-CN" sz="1400" b="1">
              <a:solidFill>
                <a:schemeClr val="bg1"/>
              </a:solidFill>
              <a:latin typeface="微软雅黑" panose="00000500000000000000" charset="-122"/>
              <a:ea typeface="微软雅黑" panose="00000500000000000000" charset="-122"/>
              <a:cs typeface="微软雅黑" panose="00000500000000000000" charset="-122"/>
              <a:sym typeface="+mn-ea"/>
            </a:endParaRPr>
          </a:p>
          <a:p>
            <a:pPr algn="ctr" eaLnBrk="1" hangingPunct="1">
              <a:lnSpc>
                <a:spcPct val="150000"/>
              </a:lnSpc>
            </a:pPr>
            <a:r>
              <a:rPr lang="zh-CN" altLang="zh-CN" sz="1200" b="1">
                <a:solidFill>
                  <a:srgbClr val="F54D6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</a:rPr>
              <a:t>风险第一视角</a:t>
            </a:r>
          </a:p>
          <a:p>
            <a:pPr marL="171450" indent="-171450" algn="ctr" eaLnBrk="1" hangingPunct="1">
              <a:lnSpc>
                <a:spcPct val="150000"/>
              </a:lnSpc>
              <a:buClr>
                <a:srgbClr val="FFFFFF"/>
              </a:buClr>
              <a:buFont typeface="Arial" panose="020B0704020202020204" pitchFamily="34" charset="0"/>
              <a:buChar char="•"/>
            </a:pPr>
            <a:r>
              <a:rPr lang="zh-CN" altLang="en-US" sz="10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0000500000000000000" charset="-122"/>
              </a:rPr>
              <a:t>信用利差</a:t>
            </a:r>
            <a:r>
              <a:rPr lang="en-US" altLang="zh-CN" sz="10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0000500000000000000" charset="-122"/>
              </a:rPr>
              <a:t>：</a:t>
            </a:r>
            <a:r>
              <a:rPr lang="zh-CN" altLang="en-US" sz="10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0000500000000000000" charset="-122"/>
              </a:rPr>
              <a:t>市场整体风险偏好带来的系统性收益；</a:t>
            </a:r>
            <a:endParaRPr lang="zh-CN" altLang="zh-CN" sz="1000">
              <a:solidFill>
                <a:schemeClr val="bg1"/>
              </a:solidFill>
              <a:latin typeface="微软雅黑" panose="00000500000000000000" charset="-122"/>
              <a:ea typeface="微软雅黑" panose="00000500000000000000" charset="-122"/>
              <a:cs typeface="微软雅黑" panose="00000500000000000000" charset="-122"/>
            </a:endParaRPr>
          </a:p>
          <a:p>
            <a:pPr marL="171450" indent="-171450" algn="ctr" eaLnBrk="1" hangingPunct="1">
              <a:lnSpc>
                <a:spcPct val="150000"/>
              </a:lnSpc>
              <a:spcBef>
                <a:spcPts val="300"/>
              </a:spcBef>
              <a:buClr>
                <a:srgbClr val="FFFFFF"/>
              </a:buClr>
              <a:buFont typeface="Arial" panose="020B0704020202020204" pitchFamily="34" charset="0"/>
              <a:buChar char="•"/>
            </a:pPr>
            <a:r>
              <a:rPr lang="en-US" altLang="zh-CN" sz="10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0000500000000000000" charset="-122"/>
              </a:rPr>
              <a:t>​</a:t>
            </a:r>
            <a:r>
              <a:rPr lang="zh-CN" altLang="en-US" sz="10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0000500000000000000" charset="-122"/>
              </a:rPr>
              <a:t>行业</a:t>
            </a:r>
            <a:r>
              <a:rPr lang="en-US" altLang="zh-CN" sz="10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0000500000000000000" charset="-122"/>
              </a:rPr>
              <a:t>/</a:t>
            </a:r>
            <a:r>
              <a:rPr lang="zh-CN" altLang="en-US" sz="10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0000500000000000000" charset="-122"/>
              </a:rPr>
              <a:t>评级配置</a:t>
            </a:r>
            <a:r>
              <a:rPr lang="en-US" altLang="zh-CN" sz="10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0000500000000000000" charset="-122"/>
              </a:rPr>
              <a:t>：</a:t>
            </a:r>
            <a:r>
              <a:rPr lang="zh-CN" altLang="en-US" sz="10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</a:rPr>
              <a:t>通过行业轮动、评级下沉策略获得的超额收益；</a:t>
            </a:r>
          </a:p>
          <a:p>
            <a:pPr marL="171450" indent="-171450" algn="ctr" eaLnBrk="1" hangingPunct="1">
              <a:lnSpc>
                <a:spcPct val="150000"/>
              </a:lnSpc>
              <a:spcBef>
                <a:spcPts val="300"/>
              </a:spcBef>
              <a:buClr>
                <a:srgbClr val="FFFFFF"/>
              </a:buClr>
              <a:buFont typeface="Arial" panose="020B0704020202020204" pitchFamily="34" charset="0"/>
              <a:buChar char="•"/>
            </a:pPr>
            <a:r>
              <a:rPr lang="en-US" altLang="zh-CN" sz="10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0000500000000000000" charset="-122"/>
              </a:rPr>
              <a:t>​</a:t>
            </a:r>
            <a:r>
              <a:rPr lang="zh-CN" altLang="en-US" sz="10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0000500000000000000" charset="-122"/>
              </a:rPr>
              <a:t>个券选择</a:t>
            </a:r>
            <a:r>
              <a:rPr lang="zh-CN" altLang="en-US" sz="10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0000500000000000000" charset="-122"/>
              </a:rPr>
              <a:t>：通过深度研究，精选个体债券获得的纯粹超额收益。</a:t>
            </a:r>
            <a:r>
              <a:rPr lang="en-US" altLang="zh-CN" sz="10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0000500000000000000" charset="-122"/>
              </a:rPr>
              <a:t>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文本框 90"/>
          <p:cNvSpPr txBox="1"/>
          <p:nvPr/>
        </p:nvSpPr>
        <p:spPr>
          <a:xfrm>
            <a:off x="593090" y="289918"/>
            <a:ext cx="9825551" cy="46037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pPr algn="l" defTabSz="914400" eaLnBrk="1" fontAlgn="auto" hangingPunct="1"/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华锐</a:t>
            </a:r>
            <a:r>
              <a:rPr lang="en-US" altLang="zh-CN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FICC</a:t>
            </a:r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系统建设规划</a:t>
            </a:r>
            <a:r>
              <a:rPr lang="en-US" altLang="zh-CN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——</a:t>
            </a:r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自营投资</a:t>
            </a:r>
            <a:r>
              <a:rPr lang="zh-CN" altLang="en-US" sz="2400" b="1" kern="2000" dirty="0">
                <a:solidFill>
                  <a:schemeClr val="bg1"/>
                </a:solidFill>
                <a:latin typeface="Arial" panose="020B0704020202020204" pitchFamily="34" charset="0"/>
                <a:ea typeface="微软雅黑" panose="00000500000000000000" charset="-122"/>
                <a:sym typeface="+mn-ea"/>
              </a:rPr>
              <a:t>组合持仓敞口实时分析</a:t>
            </a:r>
          </a:p>
        </p:txBody>
      </p:sp>
      <p:cxnSp>
        <p:nvCxnSpPr>
          <p:cNvPr id="92" name="直线连接符 1"/>
          <p:cNvCxnSpPr/>
          <p:nvPr/>
        </p:nvCxnSpPr>
        <p:spPr>
          <a:xfrm>
            <a:off x="465823" y="349321"/>
            <a:ext cx="0" cy="431514"/>
          </a:xfrm>
          <a:prstGeom prst="line">
            <a:avLst/>
          </a:prstGeom>
          <a:ln w="762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400" name="Text 16"/>
          <p:cNvSpPr>
            <a:spLocks noChangeArrowheads="1"/>
          </p:cNvSpPr>
          <p:nvPr/>
        </p:nvSpPr>
        <p:spPr bwMode="auto">
          <a:xfrm>
            <a:off x="320358" y="900113"/>
            <a:ext cx="6513512" cy="898525"/>
          </a:xfrm>
          <a:prstGeom prst="roundRect">
            <a:avLst>
              <a:gd name="adj" fmla="val 0"/>
            </a:avLst>
          </a:prstGeom>
          <a:solidFill>
            <a:schemeClr val="accent1">
              <a:lumMod val="75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round/>
              </a14:hiddenLine>
            </a:ext>
          </a:extLst>
        </p:spPr>
        <p:txBody>
          <a:bodyPr lIns="0" tIns="0" rIns="0" bIns="0" anchor="ctr" anchorCtr="1"/>
          <a:lstStyle>
            <a:lvl1pPr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zh-CN" altLang="zh-CN" sz="1400" b="1">
                <a:solidFill>
                  <a:schemeClr val="bg1"/>
                </a:solidFill>
                <a:ea typeface="微软雅黑" panose="00000500000000000000" charset="-122"/>
              </a:rPr>
              <a:t>核心目标</a:t>
            </a:r>
          </a:p>
          <a:p>
            <a:pPr eaLnBrk="1" hangingPunct="1">
              <a:lnSpc>
                <a:spcPct val="150000"/>
              </a:lnSpc>
            </a:pPr>
            <a:r>
              <a:rPr lang="zh-CN" altLang="zh-CN" sz="1200">
                <a:solidFill>
                  <a:schemeClr val="bg1"/>
                </a:solidFill>
                <a:ea typeface="微软雅黑" panose="00000500000000000000" charset="-122"/>
              </a:rPr>
              <a:t>穿透式的实时持仓分析，可以是整个自营层面，交易台，直到单个投资经理</a:t>
            </a:r>
          </a:p>
        </p:txBody>
      </p:sp>
      <p:sp>
        <p:nvSpPr>
          <p:cNvPr id="59411" name="文本框 11"/>
          <p:cNvSpPr txBox="1">
            <a:spLocks noChangeArrowheads="1"/>
          </p:cNvSpPr>
          <p:nvPr/>
        </p:nvSpPr>
        <p:spPr bwMode="auto">
          <a:xfrm>
            <a:off x="7378065" y="1073150"/>
            <a:ext cx="1421765" cy="553085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9pPr>
          </a:lstStyle>
          <a:p>
            <a:pPr eaLnBrk="1" hangingPunct="1"/>
            <a:r>
              <a:rPr lang="zh-CN" altLang="en-US" sz="12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多维度</a:t>
            </a:r>
          </a:p>
          <a:p>
            <a:pPr eaLnBrk="1" hangingPunct="1">
              <a:lnSpc>
                <a:spcPct val="150000"/>
              </a:lnSpc>
            </a:pPr>
            <a:r>
              <a:rPr lang="en-US" altLang="zh-CN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​​</a:t>
            </a: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从交易品种到久期</a:t>
            </a:r>
          </a:p>
        </p:txBody>
      </p:sp>
      <p:sp>
        <p:nvSpPr>
          <p:cNvPr id="59412" name="文本框 12"/>
          <p:cNvSpPr txBox="1">
            <a:spLocks noChangeArrowheads="1"/>
          </p:cNvSpPr>
          <p:nvPr/>
        </p:nvSpPr>
        <p:spPr bwMode="auto">
          <a:xfrm>
            <a:off x="7378065" y="1718310"/>
            <a:ext cx="1582420" cy="64516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zh-CN" altLang="en-US" sz="12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穿透式</a:t>
            </a:r>
          </a:p>
          <a:p>
            <a:pPr eaLnBrk="1" hangingPunct="1">
              <a:lnSpc>
                <a:spcPct val="150000"/>
              </a:lnSpc>
            </a:pPr>
            <a:r>
              <a:rPr lang="en-US" altLang="zh-CN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​​</a:t>
            </a: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从品种穿透到单只券</a:t>
            </a:r>
          </a:p>
        </p:txBody>
      </p:sp>
      <p:sp>
        <p:nvSpPr>
          <p:cNvPr id="59413" name="文本框 13"/>
          <p:cNvSpPr txBox="1">
            <a:spLocks noChangeArrowheads="1"/>
          </p:cNvSpPr>
          <p:nvPr/>
        </p:nvSpPr>
        <p:spPr bwMode="auto">
          <a:xfrm>
            <a:off x="9344025" y="1073150"/>
            <a:ext cx="1582420" cy="119888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9pPr>
          </a:lstStyle>
          <a:p>
            <a:pPr eaLnBrk="1" hangingPunct="1">
              <a:lnSpc>
                <a:spcPct val="150000"/>
              </a:lnSpc>
            </a:pPr>
            <a:r>
              <a:rPr lang="zh-CN" altLang="en-US" sz="12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灵活组合</a:t>
            </a:r>
          </a:p>
          <a:p>
            <a:pPr eaLnBrk="1" hangingPunct="1">
              <a:lnSpc>
                <a:spcPct val="150000"/>
              </a:lnSpc>
            </a:pPr>
            <a:r>
              <a:rPr lang="en-US" altLang="zh-CN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​​</a:t>
            </a: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可以生成各种虚拟组合，来分析组合集中度分布</a:t>
            </a:r>
          </a:p>
        </p:txBody>
      </p:sp>
      <p:sp>
        <p:nvSpPr>
          <p:cNvPr id="59409" name="Text 16"/>
          <p:cNvSpPr>
            <a:spLocks noChangeArrowheads="1"/>
          </p:cNvSpPr>
          <p:nvPr/>
        </p:nvSpPr>
        <p:spPr bwMode="auto">
          <a:xfrm>
            <a:off x="385445" y="2453640"/>
            <a:ext cx="2160905" cy="615950"/>
          </a:xfrm>
          <a:prstGeom prst="roundRect">
            <a:avLst>
              <a:gd name="adj" fmla="val 0"/>
            </a:avLst>
          </a:prstGeom>
          <a:solidFill>
            <a:schemeClr val="accent1">
              <a:lumMod val="75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round/>
              </a14:hiddenLine>
            </a:ext>
          </a:extLst>
        </p:spPr>
        <p:txBody>
          <a:bodyPr lIns="0" tIns="0" rIns="0" bIns="0" anchor="t" anchorCtr="0"/>
          <a:lstStyle>
            <a:lvl1pPr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9pPr>
          </a:lstStyle>
          <a:p>
            <a:pPr algn="l" eaLnBrk="1" hangingPunct="1">
              <a:lnSpc>
                <a:spcPct val="150000"/>
              </a:lnSpc>
            </a:pPr>
            <a:r>
              <a:rPr lang="zh-CN" altLang="zh-CN" sz="1100">
                <a:solidFill>
                  <a:schemeClr val="bg1"/>
                </a:solidFill>
                <a:ea typeface="微软雅黑" panose="00000500000000000000" charset="-122"/>
              </a:rPr>
              <a:t>日期：</a:t>
            </a:r>
            <a:r>
              <a:rPr lang="en-US" altLang="zh-CN" sz="1100">
                <a:solidFill>
                  <a:schemeClr val="bg1"/>
                </a:solidFill>
                <a:ea typeface="微软雅黑" panose="00000500000000000000" charset="-122"/>
              </a:rPr>
              <a:t>2026-03-10</a:t>
            </a:r>
            <a:endParaRPr lang="zh-CN" altLang="zh-CN" sz="1100">
              <a:solidFill>
                <a:schemeClr val="bg1"/>
              </a:solidFill>
              <a:ea typeface="微软雅黑" panose="00000500000000000000" charset="-122"/>
            </a:endParaRPr>
          </a:p>
          <a:p>
            <a:pPr algn="l" eaLnBrk="1" hangingPunct="1">
              <a:lnSpc>
                <a:spcPct val="150000"/>
              </a:lnSpc>
            </a:pPr>
            <a:r>
              <a:rPr lang="zh-CN" altLang="zh-CN" sz="1100">
                <a:solidFill>
                  <a:schemeClr val="bg1"/>
                </a:solidFill>
                <a:ea typeface="微软雅黑" panose="00000500000000000000" charset="-122"/>
              </a:rPr>
              <a:t>组合：交易台</a:t>
            </a:r>
            <a:r>
              <a:rPr lang="en-US" altLang="zh-CN" sz="1100">
                <a:solidFill>
                  <a:schemeClr val="bg1"/>
                </a:solidFill>
                <a:ea typeface="微软雅黑" panose="00000500000000000000" charset="-122"/>
              </a:rPr>
              <a:t>-1</a:t>
            </a:r>
          </a:p>
        </p:txBody>
      </p:sp>
      <p:graphicFrame>
        <p:nvGraphicFramePr>
          <p:cNvPr id="2" name="表格 1"/>
          <p:cNvGraphicFramePr/>
          <p:nvPr>
            <p:custDataLst>
              <p:tags r:id="rId1"/>
            </p:custDataLst>
          </p:nvPr>
        </p:nvGraphicFramePr>
        <p:xfrm>
          <a:off x="320675" y="3353435"/>
          <a:ext cx="5193665" cy="29806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51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67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9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718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27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784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187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41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845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829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038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0386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445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50228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365760">
                <a:tc gridSpan="14"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资产风险分布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800"/>
                        <a:t>资产类别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/>
                        <a:t>DV01(</a:t>
                      </a:r>
                      <a:r>
                        <a:rPr lang="zh-CN" altLang="en-US" sz="800"/>
                        <a:t>万）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/>
                        <a:t>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/>
                        <a:t>1M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/>
                        <a:t>3M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/>
                        <a:t>6M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/>
                        <a:t>1Y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/>
                        <a:t>2Y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/>
                        <a:t>3Y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/>
                        <a:t>5Y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/>
                        <a:t>10Y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/>
                        <a:t>20Y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/>
                        <a:t>30Y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/>
                        <a:t>50Y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800"/>
                        <a:t>利率债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4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800"/>
                        <a:t>信用债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4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800"/>
                        <a:t>国债期货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44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/>
                        <a:t>TRS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44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/>
                        <a:t>IRS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44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800"/>
                        <a:t>总计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4" name="表格 3"/>
          <p:cNvGraphicFramePr/>
          <p:nvPr>
            <p:custDataLst>
              <p:tags r:id="rId2"/>
            </p:custDataLst>
          </p:nvPr>
        </p:nvGraphicFramePr>
        <p:xfrm>
          <a:off x="5735320" y="2604135"/>
          <a:ext cx="5407660" cy="4074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04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5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9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718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27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784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187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41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845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829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038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0386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445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50228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365760">
                <a:tc gridSpan="14"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债券风险分布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800"/>
                        <a:t>资产类别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/>
                        <a:t>DV01(</a:t>
                      </a:r>
                      <a:r>
                        <a:rPr lang="zh-CN" altLang="en-US" sz="800"/>
                        <a:t>万）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/>
                        <a:t>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/>
                        <a:t>1M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/>
                        <a:t>3M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/>
                        <a:t>6M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/>
                        <a:t>1Y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/>
                        <a:t>2Y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/>
                        <a:t>3Y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/>
                        <a:t>5Y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/>
                        <a:t>10Y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/>
                        <a:t>20Y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/>
                        <a:t>30Y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sz="800"/>
                        <a:t>50Y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52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800"/>
                        <a:t>国债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44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800"/>
                        <a:t>政金债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44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800"/>
                        <a:t>国债期货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44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800"/>
                        <a:t>地方债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44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800"/>
                        <a:t>金融机构债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44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800"/>
                        <a:t>短融中票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44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800"/>
                        <a:t>公司债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44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800"/>
                        <a:t>其他信用债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44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sz="800"/>
                        <a:t>总计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 sz="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/>
          <p:nvPr/>
        </p:nvSpPr>
        <p:spPr>
          <a:xfrm>
            <a:off x="775970" y="910590"/>
            <a:ext cx="1023556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</a:rPr>
              <a:t>核心功能：</a:t>
            </a:r>
          </a:p>
          <a:p>
            <a:pPr lvl="1"/>
            <a:r>
              <a:rPr lang="zh-CN" altLang="en-US" sz="14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</a:rPr>
              <a:t>统一的市场数据和基础数据。</a:t>
            </a:r>
          </a:p>
          <a:p>
            <a:pPr lvl="1"/>
            <a:r>
              <a:rPr lang="zh-CN" altLang="en-US" sz="14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</a:rPr>
              <a:t>金融品种覆盖权益，利率，大宗商品，外汇和衍生品，支持自定义结构化产品</a:t>
            </a:r>
            <a:r>
              <a:rPr lang="en-US" altLang="zh-CN" sz="14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</a:rPr>
              <a:t>。</a:t>
            </a:r>
          </a:p>
          <a:p>
            <a:pPr lvl="1"/>
            <a:r>
              <a:rPr lang="zh-CN" altLang="en-US" sz="14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</a:rPr>
              <a:t>分布式，高性能计算。</a:t>
            </a:r>
          </a:p>
          <a:p>
            <a:pPr lvl="1"/>
            <a:r>
              <a:rPr lang="zh-CN" altLang="en-US" sz="14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</a:rPr>
              <a:t>灵活的二次开发能力，可以是全平台级的，单独功能模块级的，系统框架级的。</a:t>
            </a:r>
          </a:p>
        </p:txBody>
      </p:sp>
      <p:grpSp>
        <p:nvGrpSpPr>
          <p:cNvPr id="2" name="组合 1"/>
          <p:cNvGrpSpPr/>
          <p:nvPr/>
        </p:nvGrpSpPr>
        <p:grpSpPr>
          <a:xfrm>
            <a:off x="1403985" y="2109470"/>
            <a:ext cx="9607550" cy="4547870"/>
            <a:chOff x="1539" y="3401"/>
            <a:chExt cx="13618" cy="7162"/>
          </a:xfrm>
        </p:grpSpPr>
        <p:sp>
          <p:nvSpPr>
            <p:cNvPr id="22" name="圆角矩形 60"/>
            <p:cNvSpPr/>
            <p:nvPr>
              <p:custDataLst>
                <p:tags r:id="rId1"/>
              </p:custDataLst>
            </p:nvPr>
          </p:nvSpPr>
          <p:spPr bwMode="auto">
            <a:xfrm>
              <a:off x="1540" y="8129"/>
              <a:ext cx="13581" cy="2434"/>
            </a:xfrm>
            <a:prstGeom prst="roundRect">
              <a:avLst>
                <a:gd name="adj" fmla="val 15167"/>
              </a:avLst>
            </a:prstGeom>
            <a:solidFill>
              <a:srgbClr val="225FD1"/>
            </a:solidFill>
            <a:ln w="9525" cap="flat" cmpd="sng" algn="ctr">
              <a:noFill/>
              <a:prstDash val="dash"/>
              <a:round/>
              <a:headEnd type="none" w="med" len="med"/>
              <a:tailEnd type="none" w="med" len="med"/>
            </a:ln>
          </p:spPr>
          <p:txBody>
            <a:bodyPr vert="horz" wrap="square" lIns="0" tIns="0" rIns="0" bIns="0" numCol="1" rtlCol="0" anchor="ctr" anchorCtr="0" compatLnSpc="1">
              <a:noAutofit/>
            </a:bodyPr>
            <a:lstStyle/>
            <a:p>
              <a:pPr lvl="0" algn="l" defTabSz="914400" eaLnBrk="1" fontAlgn="auto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defRPr/>
              </a:pPr>
              <a:r>
                <a:rPr lang="en-US" altLang="zh-CN" sz="1600" kern="0" dirty="0">
                  <a:solidFill>
                    <a:prstClr val="white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0000500000000000000" charset="-122"/>
                  <a:ea typeface="微软雅黑" panose="00000500000000000000" charset="-122"/>
                  <a:cs typeface="微软雅黑" panose="00000500000000000000" charset="-122"/>
                  <a:sym typeface="Arial" panose="020B0704020202020204" pitchFamily="34" charset="0"/>
                </a:rPr>
                <a:t> </a:t>
              </a:r>
              <a:r>
                <a:rPr lang="zh-CN" altLang="en-US" sz="1600" kern="0" dirty="0">
                  <a:solidFill>
                    <a:prstClr val="white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0000500000000000000" charset="-122"/>
                  <a:ea typeface="微软雅黑" panose="00000500000000000000" charset="-122"/>
                  <a:cs typeface="微软雅黑" panose="00000500000000000000" charset="-122"/>
                  <a:sym typeface="Arial" panose="020B0704020202020204" pitchFamily="34" charset="0"/>
                </a:rPr>
                <a:t>金融产品</a:t>
              </a:r>
            </a:p>
          </p:txBody>
        </p:sp>
        <p:grpSp>
          <p:nvGrpSpPr>
            <p:cNvPr id="191" name="组合 190"/>
            <p:cNvGrpSpPr/>
            <p:nvPr/>
          </p:nvGrpSpPr>
          <p:grpSpPr>
            <a:xfrm>
              <a:off x="11682" y="8385"/>
              <a:ext cx="3222" cy="1802"/>
              <a:chOff x="15158" y="6777"/>
              <a:chExt cx="3222" cy="1802"/>
            </a:xfrm>
          </p:grpSpPr>
          <p:sp>
            <p:nvSpPr>
              <p:cNvPr id="76" name="Rounded Rectangle 15"/>
              <p:cNvSpPr/>
              <p:nvPr>
                <p:custDataLst>
                  <p:tags r:id="rId52"/>
                </p:custDataLst>
              </p:nvPr>
            </p:nvSpPr>
            <p:spPr bwMode="auto">
              <a:xfrm>
                <a:off x="15158" y="6777"/>
                <a:ext cx="3223" cy="1803"/>
              </a:xfrm>
              <a:prstGeom prst="roundRect">
                <a:avLst>
                  <a:gd name="adj" fmla="val 9385"/>
                </a:avLst>
              </a:prstGeom>
              <a:solidFill>
                <a:schemeClr val="bg1">
                  <a:alpha val="50000"/>
                </a:scheme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vert="horz" wrap="square" lIns="90170" tIns="46990" rIns="90170" bIns="46990" numCol="1" rtlCol="0" anchor="t" anchorCtr="0" compatLnSpc="0">
                <a:noAutofit/>
              </a:bodyPr>
              <a:lstStyle/>
              <a:p>
                <a:pPr lvl="0" algn="ctr" defTabSz="914400" eaLnBrk="1" fontAlgn="auto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defRPr/>
                </a:pPr>
                <a:r>
                  <a:rPr lang="zh-CN" altLang="en-US" sz="1400" b="1" noProof="0" dirty="0">
                    <a:ln>
                      <a:noFill/>
                    </a:ln>
                    <a:solidFill>
                      <a:schemeClr val="accent1">
                        <a:lumMod val="75000"/>
                      </a:schemeClr>
                    </a:solidFill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期权收益结构</a:t>
                </a:r>
              </a:p>
            </p:txBody>
          </p:sp>
          <p:sp>
            <p:nvSpPr>
              <p:cNvPr id="87" name="圆角矩形 86"/>
              <p:cNvSpPr/>
              <p:nvPr>
                <p:custDataLst>
                  <p:tags r:id="rId53"/>
                </p:custDataLst>
              </p:nvPr>
            </p:nvSpPr>
            <p:spPr>
              <a:xfrm>
                <a:off x="15459" y="7228"/>
                <a:ext cx="1350" cy="342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2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香草期权</a:t>
                </a:r>
              </a:p>
            </p:txBody>
          </p:sp>
          <p:sp>
            <p:nvSpPr>
              <p:cNvPr id="35" name="圆角矩形 34"/>
              <p:cNvSpPr/>
              <p:nvPr>
                <p:custDataLst>
                  <p:tags r:id="rId54"/>
                </p:custDataLst>
              </p:nvPr>
            </p:nvSpPr>
            <p:spPr>
              <a:xfrm>
                <a:off x="16935" y="7228"/>
                <a:ext cx="1350" cy="342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2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价差期权</a:t>
                </a:r>
              </a:p>
            </p:txBody>
          </p:sp>
          <p:sp>
            <p:nvSpPr>
              <p:cNvPr id="37" name="圆角矩形 36"/>
              <p:cNvSpPr/>
              <p:nvPr>
                <p:custDataLst>
                  <p:tags r:id="rId55"/>
                </p:custDataLst>
              </p:nvPr>
            </p:nvSpPr>
            <p:spPr>
              <a:xfrm>
                <a:off x="15459" y="7618"/>
                <a:ext cx="1350" cy="342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2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欧式期权</a:t>
                </a:r>
              </a:p>
            </p:txBody>
          </p:sp>
          <p:sp>
            <p:nvSpPr>
              <p:cNvPr id="38" name="圆角矩形 37"/>
              <p:cNvSpPr/>
              <p:nvPr>
                <p:custDataLst>
                  <p:tags r:id="rId56"/>
                </p:custDataLst>
              </p:nvPr>
            </p:nvSpPr>
            <p:spPr>
              <a:xfrm>
                <a:off x="16935" y="7618"/>
                <a:ext cx="1350" cy="342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2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美式期权</a:t>
                </a:r>
              </a:p>
            </p:txBody>
          </p:sp>
          <p:sp>
            <p:nvSpPr>
              <p:cNvPr id="39" name="圆角矩形 38"/>
              <p:cNvSpPr/>
              <p:nvPr>
                <p:custDataLst>
                  <p:tags r:id="rId57"/>
                </p:custDataLst>
              </p:nvPr>
            </p:nvSpPr>
            <p:spPr>
              <a:xfrm>
                <a:off x="15459" y="8073"/>
                <a:ext cx="1350" cy="342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2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雪球期权</a:t>
                </a:r>
              </a:p>
            </p:txBody>
          </p:sp>
          <p:sp>
            <p:nvSpPr>
              <p:cNvPr id="40" name="圆角矩形 39"/>
              <p:cNvSpPr/>
              <p:nvPr>
                <p:custDataLst>
                  <p:tags r:id="rId58"/>
                </p:custDataLst>
              </p:nvPr>
            </p:nvSpPr>
            <p:spPr>
              <a:xfrm>
                <a:off x="16935" y="8073"/>
                <a:ext cx="1350" cy="342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2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自定义期权</a:t>
                </a:r>
              </a:p>
            </p:txBody>
          </p:sp>
        </p:grpSp>
        <p:grpSp>
          <p:nvGrpSpPr>
            <p:cNvPr id="189" name="组合 188"/>
            <p:cNvGrpSpPr/>
            <p:nvPr/>
          </p:nvGrpSpPr>
          <p:grpSpPr>
            <a:xfrm>
              <a:off x="6819" y="8385"/>
              <a:ext cx="4636" cy="1802"/>
              <a:chOff x="6819" y="8385"/>
              <a:chExt cx="4636" cy="1802"/>
            </a:xfrm>
          </p:grpSpPr>
          <p:sp>
            <p:nvSpPr>
              <p:cNvPr id="30" name="Rounded Rectangle 15"/>
              <p:cNvSpPr/>
              <p:nvPr>
                <p:custDataLst>
                  <p:tags r:id="rId42"/>
                </p:custDataLst>
              </p:nvPr>
            </p:nvSpPr>
            <p:spPr bwMode="auto">
              <a:xfrm>
                <a:off x="6819" y="8385"/>
                <a:ext cx="4636" cy="1802"/>
              </a:xfrm>
              <a:prstGeom prst="roundRect">
                <a:avLst>
                  <a:gd name="adj" fmla="val 9385"/>
                </a:avLst>
              </a:prstGeom>
              <a:solidFill>
                <a:schemeClr val="bg1">
                  <a:alpha val="50000"/>
                </a:scheme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vert="horz" wrap="square" lIns="90170" tIns="46990" rIns="90170" bIns="46990" numCol="1" rtlCol="0" anchor="t" anchorCtr="0" compatLnSpc="0">
                <a:noAutofit/>
              </a:bodyPr>
              <a:lstStyle/>
              <a:p>
                <a:pPr lvl="0" algn="ctr" defTabSz="914400" eaLnBrk="1" fontAlgn="auto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defRPr/>
                </a:pPr>
                <a:r>
                  <a:rPr lang="zh-CN" altLang="en-US" sz="1400" b="1" noProof="0" dirty="0">
                    <a:ln>
                      <a:noFill/>
                    </a:ln>
                    <a:solidFill>
                      <a:schemeClr val="accent1">
                        <a:lumMod val="75000"/>
                      </a:schemeClr>
                    </a:solidFill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挂钩标的</a:t>
                </a:r>
              </a:p>
            </p:txBody>
          </p:sp>
          <p:sp>
            <p:nvSpPr>
              <p:cNvPr id="45" name="圆角矩形 44"/>
              <p:cNvSpPr/>
              <p:nvPr>
                <p:custDataLst>
                  <p:tags r:id="rId43"/>
                </p:custDataLst>
              </p:nvPr>
            </p:nvSpPr>
            <p:spPr>
              <a:xfrm>
                <a:off x="6916" y="8824"/>
                <a:ext cx="1350" cy="342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2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固息国债</a:t>
                </a:r>
              </a:p>
            </p:txBody>
          </p:sp>
          <p:sp>
            <p:nvSpPr>
              <p:cNvPr id="46" name="圆角矩形 45"/>
              <p:cNvSpPr/>
              <p:nvPr>
                <p:custDataLst>
                  <p:tags r:id="rId44"/>
                </p:custDataLst>
              </p:nvPr>
            </p:nvSpPr>
            <p:spPr>
              <a:xfrm>
                <a:off x="8466" y="8824"/>
                <a:ext cx="1350" cy="342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2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浮息国债</a:t>
                </a:r>
              </a:p>
            </p:txBody>
          </p:sp>
          <p:sp>
            <p:nvSpPr>
              <p:cNvPr id="47" name="圆角矩形 46"/>
              <p:cNvSpPr/>
              <p:nvPr>
                <p:custDataLst>
                  <p:tags r:id="rId45"/>
                </p:custDataLst>
              </p:nvPr>
            </p:nvSpPr>
            <p:spPr>
              <a:xfrm>
                <a:off x="6916" y="9279"/>
                <a:ext cx="1350" cy="342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2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商品期货</a:t>
                </a:r>
              </a:p>
            </p:txBody>
          </p:sp>
          <p:sp>
            <p:nvSpPr>
              <p:cNvPr id="48" name="圆角矩形 47"/>
              <p:cNvSpPr/>
              <p:nvPr>
                <p:custDataLst>
                  <p:tags r:id="rId46"/>
                </p:custDataLst>
              </p:nvPr>
            </p:nvSpPr>
            <p:spPr>
              <a:xfrm>
                <a:off x="8466" y="9279"/>
                <a:ext cx="1350" cy="342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2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国债期货</a:t>
                </a:r>
              </a:p>
            </p:txBody>
          </p:sp>
          <p:sp>
            <p:nvSpPr>
              <p:cNvPr id="49" name="圆角矩形 48"/>
              <p:cNvSpPr/>
              <p:nvPr>
                <p:custDataLst>
                  <p:tags r:id="rId47"/>
                </p:custDataLst>
              </p:nvPr>
            </p:nvSpPr>
            <p:spPr>
              <a:xfrm>
                <a:off x="6916" y="9734"/>
                <a:ext cx="1350" cy="342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2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股指期货</a:t>
                </a:r>
              </a:p>
            </p:txBody>
          </p:sp>
          <p:sp>
            <p:nvSpPr>
              <p:cNvPr id="50" name="圆角矩形 49"/>
              <p:cNvSpPr/>
              <p:nvPr>
                <p:custDataLst>
                  <p:tags r:id="rId48"/>
                </p:custDataLst>
              </p:nvPr>
            </p:nvSpPr>
            <p:spPr>
              <a:xfrm>
                <a:off x="8466" y="9734"/>
                <a:ext cx="1350" cy="342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2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商品现货</a:t>
                </a:r>
              </a:p>
            </p:txBody>
          </p:sp>
          <p:sp>
            <p:nvSpPr>
              <p:cNvPr id="51" name="圆角矩形 50"/>
              <p:cNvSpPr/>
              <p:nvPr>
                <p:custDataLst>
                  <p:tags r:id="rId49"/>
                </p:custDataLst>
              </p:nvPr>
            </p:nvSpPr>
            <p:spPr>
              <a:xfrm>
                <a:off x="9952" y="8824"/>
                <a:ext cx="1350" cy="342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en-US" altLang="zh-CN" sz="12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ETF</a:t>
                </a:r>
                <a:r>
                  <a:rPr lang="zh-CN" altLang="en-US" sz="12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基金</a:t>
                </a:r>
              </a:p>
            </p:txBody>
          </p:sp>
          <p:sp>
            <p:nvSpPr>
              <p:cNvPr id="52" name="圆角矩形 51"/>
              <p:cNvSpPr/>
              <p:nvPr>
                <p:custDataLst>
                  <p:tags r:id="rId50"/>
                </p:custDataLst>
              </p:nvPr>
            </p:nvSpPr>
            <p:spPr>
              <a:xfrm>
                <a:off x="9952" y="9279"/>
                <a:ext cx="1350" cy="342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2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境内外股票</a:t>
                </a:r>
              </a:p>
            </p:txBody>
          </p:sp>
          <p:sp>
            <p:nvSpPr>
              <p:cNvPr id="53" name="圆角矩形 52"/>
              <p:cNvSpPr/>
              <p:nvPr>
                <p:custDataLst>
                  <p:tags r:id="rId51"/>
                </p:custDataLst>
              </p:nvPr>
            </p:nvSpPr>
            <p:spPr>
              <a:xfrm>
                <a:off x="9952" y="9734"/>
                <a:ext cx="1350" cy="342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2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境内外指数</a:t>
                </a:r>
              </a:p>
            </p:txBody>
          </p:sp>
        </p:grpSp>
        <p:grpSp>
          <p:nvGrpSpPr>
            <p:cNvPr id="187" name="组合 186"/>
            <p:cNvGrpSpPr/>
            <p:nvPr/>
          </p:nvGrpSpPr>
          <p:grpSpPr>
            <a:xfrm>
              <a:off x="3216" y="8385"/>
              <a:ext cx="3350" cy="1802"/>
              <a:chOff x="11607" y="8385"/>
              <a:chExt cx="3350" cy="1802"/>
            </a:xfrm>
          </p:grpSpPr>
          <p:sp>
            <p:nvSpPr>
              <p:cNvPr id="31" name="Rounded Rectangle 15"/>
              <p:cNvSpPr/>
              <p:nvPr>
                <p:custDataLst>
                  <p:tags r:id="rId35"/>
                </p:custDataLst>
              </p:nvPr>
            </p:nvSpPr>
            <p:spPr bwMode="auto">
              <a:xfrm>
                <a:off x="11607" y="8385"/>
                <a:ext cx="3351" cy="1803"/>
              </a:xfrm>
              <a:prstGeom prst="roundRect">
                <a:avLst>
                  <a:gd name="adj" fmla="val 9385"/>
                </a:avLst>
              </a:prstGeom>
              <a:solidFill>
                <a:schemeClr val="bg1">
                  <a:alpha val="50000"/>
                </a:scheme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vert="horz" wrap="square" lIns="90170" tIns="46990" rIns="90170" bIns="46990" numCol="1" rtlCol="0" anchor="t" anchorCtr="0" compatLnSpc="0">
                <a:noAutofit/>
              </a:bodyPr>
              <a:lstStyle/>
              <a:p>
                <a:pPr lvl="0" algn="ctr" defTabSz="914400" eaLnBrk="1" fontAlgn="auto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defRPr/>
                </a:pPr>
                <a:r>
                  <a:rPr lang="zh-CN" altLang="en-US" sz="1400" b="1" noProof="0" dirty="0">
                    <a:ln>
                      <a:noFill/>
                    </a:ln>
                    <a:solidFill>
                      <a:schemeClr val="accent1">
                        <a:lumMod val="75000"/>
                      </a:schemeClr>
                    </a:solidFill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产品结构</a:t>
                </a:r>
              </a:p>
            </p:txBody>
          </p:sp>
          <p:sp>
            <p:nvSpPr>
              <p:cNvPr id="61" name="圆角矩形 60"/>
              <p:cNvSpPr/>
              <p:nvPr>
                <p:custDataLst>
                  <p:tags r:id="rId36"/>
                </p:custDataLst>
              </p:nvPr>
            </p:nvSpPr>
            <p:spPr>
              <a:xfrm>
                <a:off x="11860" y="8937"/>
                <a:ext cx="1350" cy="342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2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场外期权</a:t>
                </a:r>
              </a:p>
            </p:txBody>
          </p:sp>
          <p:sp>
            <p:nvSpPr>
              <p:cNvPr id="69" name="圆角矩形 68"/>
              <p:cNvSpPr/>
              <p:nvPr>
                <p:custDataLst>
                  <p:tags r:id="rId37"/>
                </p:custDataLst>
              </p:nvPr>
            </p:nvSpPr>
            <p:spPr>
              <a:xfrm>
                <a:off x="11860" y="9734"/>
                <a:ext cx="1350" cy="342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2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远期交易</a:t>
                </a:r>
              </a:p>
            </p:txBody>
          </p:sp>
          <p:sp>
            <p:nvSpPr>
              <p:cNvPr id="70" name="圆角矩形 69"/>
              <p:cNvSpPr/>
              <p:nvPr>
                <p:custDataLst>
                  <p:tags r:id="rId38"/>
                </p:custDataLst>
              </p:nvPr>
            </p:nvSpPr>
            <p:spPr>
              <a:xfrm>
                <a:off x="11860" y="9342"/>
                <a:ext cx="1350" cy="342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2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收益凭证</a:t>
                </a:r>
              </a:p>
            </p:txBody>
          </p:sp>
          <p:grpSp>
            <p:nvGrpSpPr>
              <p:cNvPr id="78" name="组合 77"/>
              <p:cNvGrpSpPr/>
              <p:nvPr/>
            </p:nvGrpSpPr>
            <p:grpSpPr>
              <a:xfrm>
                <a:off x="13329" y="8937"/>
                <a:ext cx="1524" cy="1180"/>
                <a:chOff x="12356" y="3001"/>
                <a:chExt cx="1524" cy="1180"/>
              </a:xfrm>
            </p:grpSpPr>
            <p:sp>
              <p:nvSpPr>
                <p:cNvPr id="27" name="Rounded Rectangle 15"/>
                <p:cNvSpPr/>
                <p:nvPr>
                  <p:custDataLst>
                    <p:tags r:id="rId39"/>
                  </p:custDataLst>
                </p:nvPr>
              </p:nvSpPr>
              <p:spPr bwMode="auto">
                <a:xfrm>
                  <a:off x="12356" y="3001"/>
                  <a:ext cx="1524" cy="1180"/>
                </a:xfrm>
                <a:prstGeom prst="roundRect">
                  <a:avLst>
                    <a:gd name="adj" fmla="val 9385"/>
                  </a:avLst>
                </a:prstGeom>
                <a:solidFill>
                  <a:srgbClr val="379DFF"/>
                </a:solidFill>
                <a:ln w="63500" cmpd="sng">
                  <a:noFill/>
                </a:ln>
              </p:spPr>
              <p:txBody>
                <a:bodyPr vert="horz" wrap="square" lIns="0" tIns="0" rIns="0" bIns="0" numCol="1" rtlCol="0" anchor="t" anchorCtr="0" compatLnSpc="1">
                  <a:noAutofit/>
                </a:bodyPr>
                <a:lstStyle/>
                <a:p>
                  <a:pPr algn="ctr" defTabSz="914400" eaLnBrk="1" fontAlgn="auto" hangingPunct="1"/>
                  <a:r>
                    <a:rPr lang="zh-CN" altLang="en-US" sz="1200" dirty="0">
                      <a:solidFill>
                        <a:schemeClr val="bg1"/>
                      </a:solidFill>
                      <a:effectLst>
                        <a:outerShdw blurRad="50800" dist="38100" dir="2700000" algn="tl" rotWithShape="0">
                          <a:prstClr val="black">
                            <a:alpha val="40000"/>
                          </a:prstClr>
                        </a:outerShdw>
                      </a:effectLst>
                      <a:latin typeface="微软雅黑" panose="00000500000000000000" charset="-122"/>
                      <a:ea typeface="微软雅黑" panose="00000500000000000000" charset="-122"/>
                      <a:sym typeface="+mn-ea"/>
                    </a:rPr>
                    <a:t>收益互换</a:t>
                  </a:r>
                </a:p>
              </p:txBody>
            </p:sp>
            <p:sp>
              <p:nvSpPr>
                <p:cNvPr id="44" name="圆角矩形 43"/>
                <p:cNvSpPr/>
                <p:nvPr>
                  <p:custDataLst>
                    <p:tags r:id="rId40"/>
                  </p:custDataLst>
                </p:nvPr>
              </p:nvSpPr>
              <p:spPr>
                <a:xfrm>
                  <a:off x="12443" y="3287"/>
                  <a:ext cx="1350" cy="342"/>
                </a:xfrm>
                <a:prstGeom prst="roundRect">
                  <a:avLst>
                    <a:gd name="adj" fmla="val 29484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 defTabSz="914400" eaLnBrk="1" fontAlgn="auto" hangingPunct="1">
                    <a:buClrTx/>
                    <a:buSzTx/>
                    <a:buFontTx/>
                  </a:pPr>
                  <a:r>
                    <a:rPr lang="zh-CN" altLang="en-US" sz="1200">
                      <a:solidFill>
                        <a:schemeClr val="tx1"/>
                      </a:solidFill>
                      <a:latin typeface="微软雅黑" panose="00000500000000000000" charset="-122"/>
                      <a:ea typeface="微软雅黑" panose="00000500000000000000" charset="-122"/>
                      <a:sym typeface="+mn-ea"/>
                    </a:rPr>
                    <a:t>融资融券</a:t>
                  </a:r>
                </a:p>
              </p:txBody>
            </p:sp>
            <p:sp>
              <p:nvSpPr>
                <p:cNvPr id="73" name="圆角矩形 72"/>
                <p:cNvSpPr/>
                <p:nvPr>
                  <p:custDataLst>
                    <p:tags r:id="rId41"/>
                  </p:custDataLst>
                </p:nvPr>
              </p:nvSpPr>
              <p:spPr>
                <a:xfrm>
                  <a:off x="12443" y="3742"/>
                  <a:ext cx="1350" cy="342"/>
                </a:xfrm>
                <a:prstGeom prst="roundRect">
                  <a:avLst>
                    <a:gd name="adj" fmla="val 29484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 defTabSz="914400" eaLnBrk="1" fontAlgn="auto" hangingPunct="1">
                    <a:buClrTx/>
                    <a:buSzTx/>
                    <a:buFontTx/>
                  </a:pPr>
                  <a:r>
                    <a:rPr lang="zh-CN" altLang="en-US" sz="1200">
                      <a:solidFill>
                        <a:schemeClr val="tx1"/>
                      </a:solidFill>
                      <a:latin typeface="微软雅黑" panose="00000500000000000000" charset="-122"/>
                      <a:ea typeface="微软雅黑" panose="00000500000000000000" charset="-122"/>
                      <a:sym typeface="+mn-ea"/>
                    </a:rPr>
                    <a:t>合约型互换</a:t>
                  </a:r>
                </a:p>
              </p:txBody>
            </p:sp>
          </p:grpSp>
        </p:grpSp>
        <p:grpSp>
          <p:nvGrpSpPr>
            <p:cNvPr id="111" name="组合 110"/>
            <p:cNvGrpSpPr/>
            <p:nvPr/>
          </p:nvGrpSpPr>
          <p:grpSpPr>
            <a:xfrm>
              <a:off x="1540" y="5981"/>
              <a:ext cx="13580" cy="896"/>
              <a:chOff x="1540" y="7095"/>
              <a:chExt cx="13580" cy="896"/>
            </a:xfrm>
          </p:grpSpPr>
          <p:sp>
            <p:nvSpPr>
              <p:cNvPr id="82" name="圆角矩形 60"/>
              <p:cNvSpPr/>
              <p:nvPr>
                <p:custDataLst>
                  <p:tags r:id="rId28"/>
                </p:custDataLst>
              </p:nvPr>
            </p:nvSpPr>
            <p:spPr bwMode="auto">
              <a:xfrm>
                <a:off x="1540" y="7095"/>
                <a:ext cx="13581" cy="896"/>
              </a:xfrm>
              <a:prstGeom prst="roundRect">
                <a:avLst>
                  <a:gd name="adj" fmla="val 15167"/>
                </a:avLst>
              </a:prstGeom>
              <a:solidFill>
                <a:srgbClr val="225FD1"/>
              </a:solidFill>
              <a:ln w="9525" cap="flat" cmpd="sng" algn="ctr">
                <a:noFill/>
                <a:prstDash val="dash"/>
                <a:round/>
                <a:headEnd type="none" w="med" len="med"/>
                <a:tailEnd type="none" w="med" len="med"/>
              </a:ln>
            </p:spPr>
            <p:txBody>
              <a:bodyPr vert="horz" wrap="square" lIns="0" tIns="0" rIns="0" bIns="0" numCol="1" rtlCol="0" anchor="ctr" anchorCtr="0" compatLnSpc="1">
                <a:noAutofit/>
              </a:bodyPr>
              <a:lstStyle/>
              <a:p>
                <a:pPr lvl="0" algn="l" defTabSz="914400" eaLnBrk="1" fontAlgn="auto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defRPr/>
                </a:pPr>
                <a:r>
                  <a:rPr lang="en-US" altLang="zh-CN" sz="1600" kern="0" dirty="0">
                    <a:solidFill>
                      <a:prstClr val="white"/>
                    </a:solidFill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Arial" panose="020B0704020202020204" pitchFamily="34" charset="0"/>
                  </a:rPr>
                  <a:t> </a:t>
                </a:r>
                <a:r>
                  <a:rPr lang="zh-CN" altLang="en-US" sz="1600" kern="0" dirty="0">
                    <a:solidFill>
                      <a:prstClr val="white"/>
                    </a:solidFill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Arial" panose="020B0704020202020204" pitchFamily="34" charset="0"/>
                  </a:rPr>
                  <a:t>预处理</a:t>
                </a:r>
              </a:p>
            </p:txBody>
          </p:sp>
          <p:sp>
            <p:nvSpPr>
              <p:cNvPr id="83" name="圆角矩形 82"/>
              <p:cNvSpPr/>
              <p:nvPr>
                <p:custDataLst>
                  <p:tags r:id="rId29"/>
                </p:custDataLst>
              </p:nvPr>
            </p:nvSpPr>
            <p:spPr>
              <a:xfrm>
                <a:off x="2969" y="7452"/>
                <a:ext cx="1665" cy="342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2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利率曲线</a:t>
                </a:r>
              </a:p>
            </p:txBody>
          </p:sp>
          <p:sp>
            <p:nvSpPr>
              <p:cNvPr id="85" name="圆角矩形 84"/>
              <p:cNvSpPr/>
              <p:nvPr>
                <p:custDataLst>
                  <p:tags r:id="rId30"/>
                </p:custDataLst>
              </p:nvPr>
            </p:nvSpPr>
            <p:spPr>
              <a:xfrm>
                <a:off x="11004" y="7452"/>
                <a:ext cx="1762" cy="342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2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红利曲线</a:t>
                </a:r>
              </a:p>
            </p:txBody>
          </p:sp>
          <p:sp>
            <p:nvSpPr>
              <p:cNvPr id="99" name="圆角矩形 98"/>
              <p:cNvSpPr/>
              <p:nvPr>
                <p:custDataLst>
                  <p:tags r:id="rId31"/>
                </p:custDataLst>
              </p:nvPr>
            </p:nvSpPr>
            <p:spPr>
              <a:xfrm>
                <a:off x="6886" y="7452"/>
                <a:ext cx="1780" cy="342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2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波动率曲面</a:t>
                </a:r>
              </a:p>
            </p:txBody>
          </p:sp>
          <p:sp>
            <p:nvSpPr>
              <p:cNvPr id="106" name="圆角矩形 105"/>
              <p:cNvSpPr/>
              <p:nvPr>
                <p:custDataLst>
                  <p:tags r:id="rId32"/>
                </p:custDataLst>
              </p:nvPr>
            </p:nvSpPr>
            <p:spPr>
              <a:xfrm>
                <a:off x="8966" y="7452"/>
                <a:ext cx="1738" cy="342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2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汇率曲线</a:t>
                </a:r>
              </a:p>
            </p:txBody>
          </p:sp>
          <p:sp>
            <p:nvSpPr>
              <p:cNvPr id="107" name="圆角矩形 106"/>
              <p:cNvSpPr/>
              <p:nvPr>
                <p:custDataLst>
                  <p:tags r:id="rId33"/>
                </p:custDataLst>
              </p:nvPr>
            </p:nvSpPr>
            <p:spPr>
              <a:xfrm>
                <a:off x="13066" y="7452"/>
                <a:ext cx="1701" cy="342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2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违约曲线</a:t>
                </a:r>
              </a:p>
            </p:txBody>
          </p:sp>
          <p:sp>
            <p:nvSpPr>
              <p:cNvPr id="109" name="圆角矩形 108"/>
              <p:cNvSpPr/>
              <p:nvPr>
                <p:custDataLst>
                  <p:tags r:id="rId34"/>
                </p:custDataLst>
              </p:nvPr>
            </p:nvSpPr>
            <p:spPr>
              <a:xfrm>
                <a:off x="4934" y="7452"/>
                <a:ext cx="1652" cy="342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2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利差曲线</a:t>
                </a:r>
              </a:p>
            </p:txBody>
          </p:sp>
        </p:grpSp>
        <p:grpSp>
          <p:nvGrpSpPr>
            <p:cNvPr id="142" name="组合 141"/>
            <p:cNvGrpSpPr/>
            <p:nvPr/>
          </p:nvGrpSpPr>
          <p:grpSpPr>
            <a:xfrm>
              <a:off x="1539" y="7054"/>
              <a:ext cx="13580" cy="896"/>
              <a:chOff x="1643" y="5988"/>
              <a:chExt cx="13580" cy="896"/>
            </a:xfrm>
          </p:grpSpPr>
          <p:sp>
            <p:nvSpPr>
              <p:cNvPr id="116" name="圆角矩形 60"/>
              <p:cNvSpPr/>
              <p:nvPr>
                <p:custDataLst>
                  <p:tags r:id="rId21"/>
                </p:custDataLst>
              </p:nvPr>
            </p:nvSpPr>
            <p:spPr bwMode="auto">
              <a:xfrm>
                <a:off x="1643" y="5988"/>
                <a:ext cx="13581" cy="896"/>
              </a:xfrm>
              <a:prstGeom prst="roundRect">
                <a:avLst>
                  <a:gd name="adj" fmla="val 15167"/>
                </a:avLst>
              </a:prstGeom>
              <a:solidFill>
                <a:srgbClr val="225FD1"/>
              </a:solidFill>
              <a:ln w="9525" cap="flat" cmpd="sng" algn="ctr">
                <a:noFill/>
                <a:prstDash val="dash"/>
                <a:round/>
                <a:headEnd type="none" w="med" len="med"/>
                <a:tailEnd type="none" w="med" len="med"/>
              </a:ln>
            </p:spPr>
            <p:txBody>
              <a:bodyPr vert="horz" wrap="square" lIns="0" tIns="0" rIns="0" bIns="0" numCol="1" rtlCol="0" anchor="ctr" anchorCtr="0" compatLnSpc="1">
                <a:noAutofit/>
              </a:bodyPr>
              <a:lstStyle/>
              <a:p>
                <a:pPr lvl="0" algn="l" defTabSz="914400" eaLnBrk="1" fontAlgn="auto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defRPr/>
                </a:pPr>
                <a:r>
                  <a:rPr lang="en-US" altLang="zh-CN" sz="1600" kern="0" dirty="0">
                    <a:solidFill>
                      <a:prstClr val="white"/>
                    </a:solidFill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Arial" panose="020B0704020202020204" pitchFamily="34" charset="0"/>
                  </a:rPr>
                  <a:t> </a:t>
                </a:r>
                <a:r>
                  <a:rPr lang="zh-CN" altLang="en-US" sz="1600" kern="0" dirty="0">
                    <a:solidFill>
                      <a:prstClr val="white"/>
                    </a:solidFill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Arial" panose="020B0704020202020204" pitchFamily="34" charset="0"/>
                  </a:rPr>
                  <a:t>市场数据</a:t>
                </a:r>
              </a:p>
            </p:txBody>
          </p:sp>
          <p:sp>
            <p:nvSpPr>
              <p:cNvPr id="117" name="圆角矩形 116"/>
              <p:cNvSpPr/>
              <p:nvPr>
                <p:custDataLst>
                  <p:tags r:id="rId22"/>
                </p:custDataLst>
              </p:nvPr>
            </p:nvSpPr>
            <p:spPr>
              <a:xfrm>
                <a:off x="3072" y="6345"/>
                <a:ext cx="1665" cy="342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2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权益</a:t>
                </a:r>
              </a:p>
            </p:txBody>
          </p:sp>
          <p:sp>
            <p:nvSpPr>
              <p:cNvPr id="118" name="圆角矩形 117"/>
              <p:cNvSpPr/>
              <p:nvPr>
                <p:custDataLst>
                  <p:tags r:id="rId23"/>
                </p:custDataLst>
              </p:nvPr>
            </p:nvSpPr>
            <p:spPr>
              <a:xfrm>
                <a:off x="11107" y="6345"/>
                <a:ext cx="1762" cy="342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2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境内外资讯</a:t>
                </a:r>
              </a:p>
            </p:txBody>
          </p:sp>
          <p:sp>
            <p:nvSpPr>
              <p:cNvPr id="138" name="圆角矩形 137"/>
              <p:cNvSpPr/>
              <p:nvPr>
                <p:custDataLst>
                  <p:tags r:id="rId24"/>
                </p:custDataLst>
              </p:nvPr>
            </p:nvSpPr>
            <p:spPr>
              <a:xfrm>
                <a:off x="6989" y="6345"/>
                <a:ext cx="1780" cy="342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2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外汇</a:t>
                </a:r>
              </a:p>
            </p:txBody>
          </p:sp>
          <p:sp>
            <p:nvSpPr>
              <p:cNvPr id="139" name="圆角矩形 138"/>
              <p:cNvSpPr/>
              <p:nvPr>
                <p:custDataLst>
                  <p:tags r:id="rId25"/>
                </p:custDataLst>
              </p:nvPr>
            </p:nvSpPr>
            <p:spPr>
              <a:xfrm>
                <a:off x="9069" y="6345"/>
                <a:ext cx="1738" cy="342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2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债券</a:t>
                </a:r>
              </a:p>
            </p:txBody>
          </p:sp>
          <p:sp>
            <p:nvSpPr>
              <p:cNvPr id="140" name="圆角矩形 139"/>
              <p:cNvSpPr/>
              <p:nvPr>
                <p:custDataLst>
                  <p:tags r:id="rId26"/>
                </p:custDataLst>
              </p:nvPr>
            </p:nvSpPr>
            <p:spPr>
              <a:xfrm>
                <a:off x="13169" y="6345"/>
                <a:ext cx="1701" cy="342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2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数据清洗</a:t>
                </a:r>
              </a:p>
            </p:txBody>
          </p:sp>
          <p:sp>
            <p:nvSpPr>
              <p:cNvPr id="141" name="圆角矩形 140"/>
              <p:cNvSpPr/>
              <p:nvPr>
                <p:custDataLst>
                  <p:tags r:id="rId27"/>
                </p:custDataLst>
              </p:nvPr>
            </p:nvSpPr>
            <p:spPr>
              <a:xfrm>
                <a:off x="5037" y="6345"/>
                <a:ext cx="1652" cy="342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2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商品</a:t>
                </a:r>
              </a:p>
            </p:txBody>
          </p:sp>
        </p:grpSp>
        <p:grpSp>
          <p:nvGrpSpPr>
            <p:cNvPr id="165" name="组合 164"/>
            <p:cNvGrpSpPr/>
            <p:nvPr/>
          </p:nvGrpSpPr>
          <p:grpSpPr>
            <a:xfrm>
              <a:off x="1539" y="4642"/>
              <a:ext cx="13580" cy="1112"/>
              <a:chOff x="1540" y="4210"/>
              <a:chExt cx="13580" cy="1112"/>
            </a:xfrm>
          </p:grpSpPr>
          <p:sp>
            <p:nvSpPr>
              <p:cNvPr id="144" name="圆角矩形 60"/>
              <p:cNvSpPr/>
              <p:nvPr>
                <p:custDataLst>
                  <p:tags r:id="rId10"/>
                </p:custDataLst>
              </p:nvPr>
            </p:nvSpPr>
            <p:spPr bwMode="auto">
              <a:xfrm>
                <a:off x="1540" y="4210"/>
                <a:ext cx="13581" cy="1112"/>
              </a:xfrm>
              <a:prstGeom prst="roundRect">
                <a:avLst>
                  <a:gd name="adj" fmla="val 15167"/>
                </a:avLst>
              </a:prstGeom>
              <a:solidFill>
                <a:srgbClr val="225FD1"/>
              </a:solidFill>
              <a:ln w="9525" cap="flat" cmpd="sng" algn="ctr">
                <a:noFill/>
                <a:prstDash val="dash"/>
                <a:round/>
                <a:headEnd type="none" w="med" len="med"/>
                <a:tailEnd type="none" w="med" len="med"/>
              </a:ln>
            </p:spPr>
            <p:txBody>
              <a:bodyPr vert="horz" wrap="square" lIns="0" tIns="0" rIns="0" bIns="0" numCol="1" rtlCol="0" anchor="ctr" anchorCtr="0" compatLnSpc="1">
                <a:noAutofit/>
              </a:bodyPr>
              <a:lstStyle/>
              <a:p>
                <a:pPr lvl="0" algn="l" defTabSz="914400" eaLnBrk="1" fontAlgn="auto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defRPr/>
                </a:pPr>
                <a:r>
                  <a:rPr lang="en-US" altLang="zh-CN" sz="1600" kern="0" dirty="0">
                    <a:solidFill>
                      <a:prstClr val="white"/>
                    </a:solidFill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Arial" panose="020B0704020202020204" pitchFamily="34" charset="0"/>
                  </a:rPr>
                  <a:t> </a:t>
                </a:r>
                <a:r>
                  <a:rPr lang="zh-CN" altLang="en-US" sz="1600" kern="0" dirty="0">
                    <a:solidFill>
                      <a:prstClr val="white"/>
                    </a:solidFill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Arial" panose="020B0704020202020204" pitchFamily="34" charset="0"/>
                  </a:rPr>
                  <a:t>定价模型</a:t>
                </a:r>
              </a:p>
            </p:txBody>
          </p:sp>
          <p:sp>
            <p:nvSpPr>
              <p:cNvPr id="43" name="圆角矩形 42"/>
              <p:cNvSpPr/>
              <p:nvPr>
                <p:custDataLst>
                  <p:tags r:id="rId11"/>
                </p:custDataLst>
              </p:nvPr>
            </p:nvSpPr>
            <p:spPr>
              <a:xfrm>
                <a:off x="11784" y="4469"/>
                <a:ext cx="1480" cy="619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en-US" altLang="zh-CN" sz="12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Monte Carlo</a:t>
                </a:r>
              </a:p>
            </p:txBody>
          </p:sp>
          <p:sp>
            <p:nvSpPr>
              <p:cNvPr id="145" name="圆角矩形 144"/>
              <p:cNvSpPr/>
              <p:nvPr>
                <p:custDataLst>
                  <p:tags r:id="rId12"/>
                </p:custDataLst>
              </p:nvPr>
            </p:nvSpPr>
            <p:spPr>
              <a:xfrm>
                <a:off x="4730" y="4499"/>
                <a:ext cx="1488" cy="559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en-US" altLang="zh-CN" sz="12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Black Scholes</a:t>
                </a:r>
              </a:p>
            </p:txBody>
          </p:sp>
          <p:grpSp>
            <p:nvGrpSpPr>
              <p:cNvPr id="164" name="组合 163"/>
              <p:cNvGrpSpPr/>
              <p:nvPr/>
            </p:nvGrpSpPr>
            <p:grpSpPr>
              <a:xfrm>
                <a:off x="6506" y="4397"/>
                <a:ext cx="1490" cy="763"/>
                <a:chOff x="6347" y="4433"/>
                <a:chExt cx="1490" cy="763"/>
              </a:xfrm>
            </p:grpSpPr>
            <p:sp>
              <p:nvSpPr>
                <p:cNvPr id="147" name="圆角矩形 146"/>
                <p:cNvSpPr/>
                <p:nvPr>
                  <p:custDataLst>
                    <p:tags r:id="rId19"/>
                  </p:custDataLst>
                </p:nvPr>
              </p:nvSpPr>
              <p:spPr>
                <a:xfrm>
                  <a:off x="6347" y="4433"/>
                  <a:ext cx="1490" cy="342"/>
                </a:xfrm>
                <a:prstGeom prst="roundRect">
                  <a:avLst>
                    <a:gd name="adj" fmla="val 29484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 defTabSz="914400" eaLnBrk="1" fontAlgn="auto" hangingPunct="1">
                    <a:buClrTx/>
                    <a:buSzTx/>
                    <a:buFontTx/>
                  </a:pPr>
                  <a:r>
                    <a:rPr lang="en-US" altLang="zh-CN" sz="1200">
                      <a:solidFill>
                        <a:schemeClr val="tx1"/>
                      </a:solidFill>
                      <a:latin typeface="微软雅黑" panose="00000500000000000000" charset="-122"/>
                      <a:ea typeface="微软雅黑" panose="00000500000000000000" charset="-122"/>
                      <a:sym typeface="+mn-ea"/>
                    </a:rPr>
                    <a:t>Hull White</a:t>
                  </a:r>
                </a:p>
              </p:txBody>
            </p:sp>
            <p:sp>
              <p:nvSpPr>
                <p:cNvPr id="148" name="圆角矩形 147"/>
                <p:cNvSpPr/>
                <p:nvPr>
                  <p:custDataLst>
                    <p:tags r:id="rId20"/>
                  </p:custDataLst>
                </p:nvPr>
              </p:nvSpPr>
              <p:spPr>
                <a:xfrm>
                  <a:off x="6347" y="4854"/>
                  <a:ext cx="1490" cy="342"/>
                </a:xfrm>
                <a:prstGeom prst="roundRect">
                  <a:avLst>
                    <a:gd name="adj" fmla="val 29484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 defTabSz="914400" eaLnBrk="1" fontAlgn="auto" hangingPunct="1">
                    <a:buClrTx/>
                    <a:buSzTx/>
                    <a:buFontTx/>
                  </a:pPr>
                  <a:r>
                    <a:rPr lang="en-US" altLang="zh-CN" sz="1200">
                      <a:solidFill>
                        <a:schemeClr val="tx1"/>
                      </a:solidFill>
                      <a:latin typeface="微软雅黑" panose="00000500000000000000" charset="-122"/>
                      <a:ea typeface="微软雅黑" panose="00000500000000000000" charset="-122"/>
                      <a:sym typeface="+mn-ea"/>
                    </a:rPr>
                    <a:t>Sabr Model</a:t>
                  </a:r>
                </a:p>
              </p:txBody>
            </p:sp>
          </p:grpSp>
          <p:grpSp>
            <p:nvGrpSpPr>
              <p:cNvPr id="163" name="组合 162"/>
              <p:cNvGrpSpPr/>
              <p:nvPr/>
            </p:nvGrpSpPr>
            <p:grpSpPr>
              <a:xfrm>
                <a:off x="8284" y="4397"/>
                <a:ext cx="1462" cy="763"/>
                <a:chOff x="7863" y="4433"/>
                <a:chExt cx="1462" cy="763"/>
              </a:xfrm>
            </p:grpSpPr>
            <p:sp>
              <p:nvSpPr>
                <p:cNvPr id="146" name="圆角矩形 145"/>
                <p:cNvSpPr/>
                <p:nvPr>
                  <p:custDataLst>
                    <p:tags r:id="rId17"/>
                  </p:custDataLst>
                </p:nvPr>
              </p:nvSpPr>
              <p:spPr>
                <a:xfrm>
                  <a:off x="7863" y="4433"/>
                  <a:ext cx="1462" cy="342"/>
                </a:xfrm>
                <a:prstGeom prst="roundRect">
                  <a:avLst>
                    <a:gd name="adj" fmla="val 29484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 defTabSz="914400" eaLnBrk="1" fontAlgn="auto" hangingPunct="1">
                    <a:buClrTx/>
                    <a:buSzTx/>
                    <a:buFontTx/>
                  </a:pPr>
                  <a:r>
                    <a:rPr lang="zh-CN" altLang="en-US" sz="1200">
                      <a:solidFill>
                        <a:schemeClr val="tx1"/>
                      </a:solidFill>
                      <a:latin typeface="微软雅黑" panose="00000500000000000000" charset="-122"/>
                      <a:ea typeface="微软雅黑" panose="00000500000000000000" charset="-122"/>
                      <a:sym typeface="+mn-ea"/>
                    </a:rPr>
                    <a:t>解析解</a:t>
                  </a:r>
                </a:p>
              </p:txBody>
            </p:sp>
            <p:sp>
              <p:nvSpPr>
                <p:cNvPr id="155" name="圆角矩形 154"/>
                <p:cNvSpPr/>
                <p:nvPr>
                  <p:custDataLst>
                    <p:tags r:id="rId18"/>
                  </p:custDataLst>
                </p:nvPr>
              </p:nvSpPr>
              <p:spPr>
                <a:xfrm>
                  <a:off x="7863" y="4854"/>
                  <a:ext cx="1462" cy="342"/>
                </a:xfrm>
                <a:prstGeom prst="roundRect">
                  <a:avLst>
                    <a:gd name="adj" fmla="val 29484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 defTabSz="914400" eaLnBrk="1" fontAlgn="auto" hangingPunct="1">
                    <a:buClrTx/>
                    <a:buSzTx/>
                    <a:buFontTx/>
                  </a:pPr>
                  <a:r>
                    <a:rPr lang="zh-CN" altLang="en-US" sz="1200">
                      <a:solidFill>
                        <a:schemeClr val="tx1"/>
                      </a:solidFill>
                      <a:latin typeface="微软雅黑" panose="00000500000000000000" charset="-122"/>
                      <a:ea typeface="微软雅黑" panose="00000500000000000000" charset="-122"/>
                      <a:sym typeface="+mn-ea"/>
                    </a:rPr>
                    <a:t>数值解</a:t>
                  </a:r>
                </a:p>
              </p:txBody>
            </p:sp>
          </p:grpSp>
          <p:sp>
            <p:nvSpPr>
              <p:cNvPr id="156" name="圆角矩形 155"/>
              <p:cNvSpPr/>
              <p:nvPr>
                <p:custDataLst>
                  <p:tags r:id="rId13"/>
                </p:custDataLst>
              </p:nvPr>
            </p:nvSpPr>
            <p:spPr>
              <a:xfrm>
                <a:off x="2995" y="4499"/>
                <a:ext cx="1447" cy="560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en-US" altLang="zh-CN" sz="12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Local Volatility</a:t>
                </a:r>
              </a:p>
            </p:txBody>
          </p:sp>
          <p:sp>
            <p:nvSpPr>
              <p:cNvPr id="159" name="圆角矩形 158"/>
              <p:cNvSpPr/>
              <p:nvPr>
                <p:custDataLst>
                  <p:tags r:id="rId14"/>
                </p:custDataLst>
              </p:nvPr>
            </p:nvSpPr>
            <p:spPr>
              <a:xfrm>
                <a:off x="13552" y="4487"/>
                <a:ext cx="1407" cy="584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2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自定义模型</a:t>
                </a:r>
              </a:p>
            </p:txBody>
          </p:sp>
          <p:grpSp>
            <p:nvGrpSpPr>
              <p:cNvPr id="162" name="组合 161"/>
              <p:cNvGrpSpPr/>
              <p:nvPr/>
            </p:nvGrpSpPr>
            <p:grpSpPr>
              <a:xfrm>
                <a:off x="10034" y="4397"/>
                <a:ext cx="1462" cy="763"/>
                <a:chOff x="9432" y="4433"/>
                <a:chExt cx="1462" cy="763"/>
              </a:xfrm>
            </p:grpSpPr>
            <p:sp>
              <p:nvSpPr>
                <p:cNvPr id="160" name="圆角矩形 159"/>
                <p:cNvSpPr/>
                <p:nvPr>
                  <p:custDataLst>
                    <p:tags r:id="rId15"/>
                  </p:custDataLst>
                </p:nvPr>
              </p:nvSpPr>
              <p:spPr>
                <a:xfrm>
                  <a:off x="9432" y="4433"/>
                  <a:ext cx="1462" cy="342"/>
                </a:xfrm>
                <a:prstGeom prst="roundRect">
                  <a:avLst>
                    <a:gd name="adj" fmla="val 29484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 defTabSz="914400" eaLnBrk="1" fontAlgn="auto" hangingPunct="1">
                    <a:buClrTx/>
                    <a:buSzTx/>
                    <a:buFontTx/>
                  </a:pPr>
                  <a:r>
                    <a:rPr lang="zh-CN" altLang="en-US" sz="1200">
                      <a:solidFill>
                        <a:schemeClr val="tx1"/>
                      </a:solidFill>
                      <a:latin typeface="微软雅黑" panose="00000500000000000000" charset="-122"/>
                      <a:ea typeface="微软雅黑" panose="00000500000000000000" charset="-122"/>
                      <a:sym typeface="+mn-ea"/>
                    </a:rPr>
                    <a:t>二叉树</a:t>
                  </a:r>
                </a:p>
              </p:txBody>
            </p:sp>
            <p:sp>
              <p:nvSpPr>
                <p:cNvPr id="161" name="圆角矩形 160"/>
                <p:cNvSpPr/>
                <p:nvPr>
                  <p:custDataLst>
                    <p:tags r:id="rId16"/>
                  </p:custDataLst>
                </p:nvPr>
              </p:nvSpPr>
              <p:spPr>
                <a:xfrm>
                  <a:off x="9432" y="4854"/>
                  <a:ext cx="1462" cy="342"/>
                </a:xfrm>
                <a:prstGeom prst="roundRect">
                  <a:avLst>
                    <a:gd name="adj" fmla="val 29484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 defTabSz="914400" eaLnBrk="1" fontAlgn="auto" hangingPunct="1">
                    <a:buClrTx/>
                    <a:buSzTx/>
                    <a:buFontTx/>
                  </a:pPr>
                  <a:r>
                    <a:rPr lang="zh-CN" altLang="en-US" sz="1200">
                      <a:solidFill>
                        <a:schemeClr val="tx1"/>
                      </a:solidFill>
                      <a:latin typeface="微软雅黑" panose="00000500000000000000" charset="-122"/>
                      <a:ea typeface="微软雅黑" panose="00000500000000000000" charset="-122"/>
                      <a:sym typeface="+mn-ea"/>
                    </a:rPr>
                    <a:t>三叉树</a:t>
                  </a:r>
                </a:p>
              </p:txBody>
            </p:sp>
          </p:grpSp>
        </p:grpSp>
        <p:sp>
          <p:nvSpPr>
            <p:cNvPr id="167" name="圆角矩形 60"/>
            <p:cNvSpPr/>
            <p:nvPr>
              <p:custDataLst>
                <p:tags r:id="rId2"/>
              </p:custDataLst>
            </p:nvPr>
          </p:nvSpPr>
          <p:spPr bwMode="auto">
            <a:xfrm>
              <a:off x="1577" y="3401"/>
              <a:ext cx="13581" cy="1112"/>
            </a:xfrm>
            <a:prstGeom prst="roundRect">
              <a:avLst>
                <a:gd name="adj" fmla="val 15167"/>
              </a:avLst>
            </a:prstGeom>
            <a:solidFill>
              <a:srgbClr val="225FD1"/>
            </a:solidFill>
            <a:ln w="9525" cap="flat" cmpd="sng" algn="ctr">
              <a:noFill/>
              <a:prstDash val="dash"/>
              <a:round/>
              <a:headEnd type="none" w="med" len="med"/>
              <a:tailEnd type="none" w="med" len="med"/>
            </a:ln>
          </p:spPr>
          <p:txBody>
            <a:bodyPr vert="horz" wrap="square" lIns="0" tIns="0" rIns="0" bIns="0" numCol="1" rtlCol="0" anchor="ctr" anchorCtr="0" compatLnSpc="1">
              <a:noAutofit/>
            </a:bodyPr>
            <a:lstStyle/>
            <a:p>
              <a:pPr lvl="0" algn="l" defTabSz="914400" eaLnBrk="1" fontAlgn="auto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defRPr/>
              </a:pPr>
              <a:r>
                <a:rPr lang="zh-CN" altLang="en-US" sz="1600" kern="0" dirty="0">
                  <a:solidFill>
                    <a:prstClr val="white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0000500000000000000" charset="-122"/>
                  <a:ea typeface="微软雅黑" panose="00000500000000000000" charset="-122"/>
                  <a:cs typeface="Arial" panose="020B0704020202020204" pitchFamily="34" charset="0"/>
                  <a:sym typeface="Arial" panose="020B0704020202020204" pitchFamily="34" charset="0"/>
                </a:rPr>
                <a:t>应用场景</a:t>
              </a:r>
            </a:p>
          </p:txBody>
        </p:sp>
        <p:sp>
          <p:nvSpPr>
            <p:cNvPr id="171" name="圆角矩形 170"/>
            <p:cNvSpPr/>
            <p:nvPr>
              <p:custDataLst>
                <p:tags r:id="rId3"/>
              </p:custDataLst>
            </p:nvPr>
          </p:nvSpPr>
          <p:spPr>
            <a:xfrm>
              <a:off x="3143" y="3786"/>
              <a:ext cx="1490" cy="342"/>
            </a:xfrm>
            <a:prstGeom prst="roundRect">
              <a:avLst>
                <a:gd name="adj" fmla="val 29484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 defTabSz="914400" eaLnBrk="1" fontAlgn="auto" hangingPunct="1">
                <a:buClrTx/>
                <a:buSzTx/>
                <a:buFontTx/>
              </a:pPr>
              <a:r>
                <a:rPr lang="zh-CN" altLang="en-US" sz="1200">
                  <a:solidFill>
                    <a:schemeClr val="tx1"/>
                  </a:solidFill>
                  <a:latin typeface="微软雅黑" panose="00000500000000000000" charset="-122"/>
                  <a:ea typeface="微软雅黑" panose="00000500000000000000" charset="-122"/>
                  <a:sym typeface="+mn-ea"/>
                </a:rPr>
                <a:t>结构化计算</a:t>
              </a:r>
            </a:p>
          </p:txBody>
        </p:sp>
        <p:sp>
          <p:nvSpPr>
            <p:cNvPr id="181" name="圆角矩形 180"/>
            <p:cNvSpPr/>
            <p:nvPr>
              <p:custDataLst>
                <p:tags r:id="rId4"/>
              </p:custDataLst>
            </p:nvPr>
          </p:nvSpPr>
          <p:spPr>
            <a:xfrm>
              <a:off x="4855" y="3786"/>
              <a:ext cx="1490" cy="342"/>
            </a:xfrm>
            <a:prstGeom prst="roundRect">
              <a:avLst>
                <a:gd name="adj" fmla="val 29484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 defTabSz="914400" eaLnBrk="1" fontAlgn="auto" hangingPunct="1">
                <a:buClrTx/>
                <a:buSzTx/>
                <a:buFontTx/>
              </a:pPr>
              <a:r>
                <a:rPr lang="zh-CN" altLang="en-US" sz="1200">
                  <a:solidFill>
                    <a:schemeClr val="tx1"/>
                  </a:solidFill>
                  <a:latin typeface="微软雅黑" panose="00000500000000000000" charset="-122"/>
                  <a:ea typeface="微软雅黑" panose="00000500000000000000" charset="-122"/>
                  <a:sym typeface="+mn-ea"/>
                </a:rPr>
                <a:t>定价计算</a:t>
              </a:r>
            </a:p>
          </p:txBody>
        </p:sp>
        <p:sp>
          <p:nvSpPr>
            <p:cNvPr id="182" name="圆角矩形 181"/>
            <p:cNvSpPr/>
            <p:nvPr>
              <p:custDataLst>
                <p:tags r:id="rId5"/>
              </p:custDataLst>
            </p:nvPr>
          </p:nvSpPr>
          <p:spPr>
            <a:xfrm>
              <a:off x="6567" y="3786"/>
              <a:ext cx="1490" cy="342"/>
            </a:xfrm>
            <a:prstGeom prst="roundRect">
              <a:avLst>
                <a:gd name="adj" fmla="val 29484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 defTabSz="914400" eaLnBrk="1" fontAlgn="auto" hangingPunct="1">
                <a:buClrTx/>
                <a:buSzTx/>
                <a:buFontTx/>
              </a:pPr>
              <a:r>
                <a:rPr lang="zh-CN" altLang="en-US" sz="1200">
                  <a:solidFill>
                    <a:schemeClr val="tx1"/>
                  </a:solidFill>
                  <a:latin typeface="微软雅黑" panose="00000500000000000000" charset="-122"/>
                  <a:ea typeface="微软雅黑" panose="00000500000000000000" charset="-122"/>
                  <a:sym typeface="+mn-ea"/>
                </a:rPr>
                <a:t>估值计算</a:t>
              </a:r>
            </a:p>
          </p:txBody>
        </p:sp>
        <p:sp>
          <p:nvSpPr>
            <p:cNvPr id="183" name="圆角矩形 182"/>
            <p:cNvSpPr/>
            <p:nvPr>
              <p:custDataLst>
                <p:tags r:id="rId6"/>
              </p:custDataLst>
            </p:nvPr>
          </p:nvSpPr>
          <p:spPr>
            <a:xfrm>
              <a:off x="8279" y="3786"/>
              <a:ext cx="1490" cy="342"/>
            </a:xfrm>
            <a:prstGeom prst="roundRect">
              <a:avLst>
                <a:gd name="adj" fmla="val 29484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 defTabSz="914400" eaLnBrk="1" fontAlgn="auto" hangingPunct="1">
                <a:buClrTx/>
                <a:buSzTx/>
                <a:buFontTx/>
              </a:pPr>
              <a:r>
                <a:rPr lang="zh-CN" altLang="en-US" sz="1200">
                  <a:solidFill>
                    <a:schemeClr val="tx1"/>
                  </a:solidFill>
                  <a:latin typeface="微软雅黑" panose="00000500000000000000" charset="-122"/>
                  <a:ea typeface="微软雅黑" panose="00000500000000000000" charset="-122"/>
                  <a:sym typeface="+mn-ea"/>
                </a:rPr>
                <a:t>情景计算</a:t>
              </a:r>
            </a:p>
          </p:txBody>
        </p:sp>
        <p:sp>
          <p:nvSpPr>
            <p:cNvPr id="184" name="圆角矩形 183"/>
            <p:cNvSpPr/>
            <p:nvPr>
              <p:custDataLst>
                <p:tags r:id="rId7"/>
              </p:custDataLst>
            </p:nvPr>
          </p:nvSpPr>
          <p:spPr>
            <a:xfrm>
              <a:off x="9991" y="3786"/>
              <a:ext cx="1490" cy="342"/>
            </a:xfrm>
            <a:prstGeom prst="roundRect">
              <a:avLst>
                <a:gd name="adj" fmla="val 29484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 defTabSz="914400" eaLnBrk="1" fontAlgn="auto" hangingPunct="1">
                <a:buClrTx/>
                <a:buSzTx/>
                <a:buFontTx/>
              </a:pPr>
              <a:r>
                <a:rPr lang="zh-CN" altLang="en-US" sz="1200">
                  <a:solidFill>
                    <a:schemeClr val="tx1"/>
                  </a:solidFill>
                  <a:latin typeface="微软雅黑" panose="00000500000000000000" charset="-122"/>
                  <a:ea typeface="微软雅黑" panose="00000500000000000000" charset="-122"/>
                  <a:sym typeface="+mn-ea"/>
                </a:rPr>
                <a:t>风控计算</a:t>
              </a:r>
            </a:p>
          </p:txBody>
        </p:sp>
        <p:sp>
          <p:nvSpPr>
            <p:cNvPr id="185" name="圆角矩形 184"/>
            <p:cNvSpPr/>
            <p:nvPr>
              <p:custDataLst>
                <p:tags r:id="rId8"/>
              </p:custDataLst>
            </p:nvPr>
          </p:nvSpPr>
          <p:spPr>
            <a:xfrm>
              <a:off x="11703" y="3786"/>
              <a:ext cx="1490" cy="342"/>
            </a:xfrm>
            <a:prstGeom prst="roundRect">
              <a:avLst>
                <a:gd name="adj" fmla="val 29484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 defTabSz="914400" eaLnBrk="1" fontAlgn="auto" hangingPunct="1">
                <a:buClrTx/>
                <a:buSzTx/>
                <a:buFontTx/>
              </a:pPr>
              <a:r>
                <a:rPr lang="zh-CN" altLang="en-US" sz="1200">
                  <a:solidFill>
                    <a:schemeClr val="tx1"/>
                  </a:solidFill>
                  <a:latin typeface="微软雅黑" panose="00000500000000000000" charset="-122"/>
                  <a:ea typeface="微软雅黑" panose="00000500000000000000" charset="-122"/>
                  <a:sym typeface="+mn-ea"/>
                </a:rPr>
                <a:t>保证金计算</a:t>
              </a:r>
            </a:p>
          </p:txBody>
        </p:sp>
        <p:sp>
          <p:nvSpPr>
            <p:cNvPr id="186" name="圆角矩形 185"/>
            <p:cNvSpPr/>
            <p:nvPr>
              <p:custDataLst>
                <p:tags r:id="rId9"/>
              </p:custDataLst>
            </p:nvPr>
          </p:nvSpPr>
          <p:spPr>
            <a:xfrm>
              <a:off x="13415" y="3786"/>
              <a:ext cx="1490" cy="342"/>
            </a:xfrm>
            <a:prstGeom prst="roundRect">
              <a:avLst>
                <a:gd name="adj" fmla="val 29484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 defTabSz="914400" eaLnBrk="1" fontAlgn="auto" hangingPunct="1">
                <a:buClrTx/>
                <a:buSzTx/>
                <a:buFontTx/>
              </a:pPr>
              <a:r>
                <a:rPr lang="zh-CN" altLang="en-US" sz="1200">
                  <a:solidFill>
                    <a:schemeClr val="tx1"/>
                  </a:solidFill>
                  <a:latin typeface="微软雅黑" panose="00000500000000000000" charset="-122"/>
                  <a:ea typeface="微软雅黑" panose="00000500000000000000" charset="-122"/>
                  <a:sym typeface="+mn-ea"/>
                </a:rPr>
                <a:t>客需报价</a:t>
              </a:r>
            </a:p>
          </p:txBody>
        </p:sp>
      </p:grpSp>
      <p:cxnSp>
        <p:nvCxnSpPr>
          <p:cNvPr id="15" name="直线连接符 1"/>
          <p:cNvCxnSpPr/>
          <p:nvPr/>
        </p:nvCxnSpPr>
        <p:spPr>
          <a:xfrm>
            <a:off x="465823" y="344764"/>
            <a:ext cx="0" cy="442042"/>
          </a:xfrm>
          <a:prstGeom prst="line">
            <a:avLst/>
          </a:prstGeom>
          <a:ln w="762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/>
          <p:cNvSpPr txBox="1"/>
          <p:nvPr/>
        </p:nvSpPr>
        <p:spPr>
          <a:xfrm>
            <a:off x="572770" y="344805"/>
            <a:ext cx="993902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华锐</a:t>
            </a:r>
            <a:r>
              <a:rPr lang="en-US" altLang="zh-CN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FICC</a:t>
            </a:r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系统建设规划</a:t>
            </a:r>
            <a:r>
              <a:rPr lang="en-US" altLang="zh-CN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——</a:t>
            </a:r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定价平台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302240" y="269240"/>
            <a:ext cx="3170555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200"/>
              </a:spcBef>
              <a:spcAft>
                <a:spcPts val="200"/>
              </a:spcAft>
              <a:defRPr sz="2800" b="1">
                <a:solidFill>
                  <a:srgbClr val="003366"/>
                </a:solidFill>
              </a:defRPr>
            </a:pPr>
            <a:r>
              <a:rPr lang="zh-CN"/>
              <a:t>风险管理系统</a:t>
            </a:r>
          </a:p>
        </p:txBody>
      </p:sp>
      <p:cxnSp>
        <p:nvCxnSpPr>
          <p:cNvPr id="38" name="直线连接符 1"/>
          <p:cNvCxnSpPr/>
          <p:nvPr/>
        </p:nvCxnSpPr>
        <p:spPr>
          <a:xfrm>
            <a:off x="465823" y="344764"/>
            <a:ext cx="0" cy="442042"/>
          </a:xfrm>
          <a:prstGeom prst="line">
            <a:avLst/>
          </a:prstGeom>
          <a:ln w="762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/>
          <p:cNvSpPr txBox="1"/>
          <p:nvPr/>
        </p:nvSpPr>
        <p:spPr>
          <a:xfrm>
            <a:off x="572770" y="344805"/>
            <a:ext cx="993902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华锐</a:t>
            </a:r>
            <a:r>
              <a:rPr lang="en-US" altLang="zh-CN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FICC</a:t>
            </a:r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系统建设规划</a:t>
            </a:r>
            <a:r>
              <a:rPr lang="en-US" altLang="zh-CN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——</a:t>
            </a:r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风险管理系统</a:t>
            </a:r>
          </a:p>
        </p:txBody>
      </p:sp>
      <p:grpSp>
        <p:nvGrpSpPr>
          <p:cNvPr id="73" name="组合 72"/>
          <p:cNvGrpSpPr/>
          <p:nvPr/>
        </p:nvGrpSpPr>
        <p:grpSpPr>
          <a:xfrm>
            <a:off x="465455" y="911860"/>
            <a:ext cx="11252835" cy="5798185"/>
            <a:chOff x="733" y="1436"/>
            <a:chExt cx="17721" cy="9131"/>
          </a:xfrm>
        </p:grpSpPr>
        <p:sp>
          <p:nvSpPr>
            <p:cNvPr id="12" name="Rounded Rectangle 11"/>
            <p:cNvSpPr/>
            <p:nvPr/>
          </p:nvSpPr>
          <p:spPr>
            <a:xfrm>
              <a:off x="733" y="1436"/>
              <a:ext cx="8428" cy="417"/>
            </a:xfrm>
            <a:prstGeom prst="roundRect">
              <a:avLst/>
            </a:prstGeom>
            <a:solidFill>
              <a:srgbClr val="0070C0"/>
            </a:solidFill>
            <a:ln w="25400"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400" b="1">
                  <a:solidFill>
                    <a:srgbClr val="FFFFFF"/>
                  </a:solidFill>
                </a:defRPr>
              </a:pPr>
              <a:r>
                <a:rPr lang="zh-CN" altLang="en-US"/>
                <a:t>投前风险分析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80" y="1979"/>
              <a:ext cx="4627" cy="1455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329632"/>
              </a:solidFill>
            </a:ln>
          </p:spPr>
          <p:txBody>
            <a:bodyPr wrap="square">
              <a:noAutofit/>
            </a:bodyPr>
            <a:lstStyle/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rPr lang="en-US" altLang="zh-CN"/>
                <a:t> </a:t>
              </a:r>
              <a:r>
                <a:rPr lang="zh-CN"/>
                <a:t>组合分析</a:t>
              </a:r>
            </a:p>
            <a:p>
              <a:pPr algn="just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• What-if scenario modeling</a:t>
              </a:r>
              <a:r>
                <a:rPr lang="en-US"/>
                <a:t>      </a:t>
              </a:r>
              <a:r>
                <a:t>• Duration &amp; Convexity impact</a:t>
              </a:r>
            </a:p>
            <a:p>
              <a:pPr algn="just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• VaR contribution changes</a:t>
              </a:r>
              <a:r>
                <a:rPr lang="en-US"/>
                <a:t>        </a:t>
              </a:r>
              <a:r>
                <a:t>• Risk factor exposures</a:t>
              </a:r>
            </a:p>
            <a:p>
              <a:pPr algn="just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• Concentration analysis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550" y="1999"/>
              <a:ext cx="3612" cy="1455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329632"/>
              </a:solidFill>
            </a:ln>
          </p:spPr>
          <p:txBody>
            <a:bodyPr wrap="square">
              <a:noAutofit/>
            </a:bodyPr>
            <a:lstStyle/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rPr lang="zh-CN"/>
                <a:t>授权敞口分析</a:t>
              </a:r>
            </a:p>
            <a:p>
              <a:pPr indent="0" algn="just" fontAlgn="auto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• Pre-trade limit validation</a:t>
              </a:r>
              <a:r>
                <a:rPr lang="en-US"/>
                <a:t>      </a:t>
              </a:r>
              <a:r>
                <a:t>• Counterparty limits</a:t>
              </a:r>
            </a:p>
            <a:p>
              <a:pPr algn="just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• Concentration limits</a:t>
              </a:r>
              <a:r>
                <a:rPr lang="en-US"/>
                <a:t>       </a:t>
              </a:r>
              <a:r>
                <a:t>• Regulatory limits</a:t>
              </a:r>
            </a:p>
            <a:p>
              <a:pPr algn="just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• Portfolio constraints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80" y="3552"/>
              <a:ext cx="8389" cy="1381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329632"/>
              </a:solidFill>
            </a:ln>
          </p:spPr>
          <p:txBody>
            <a:bodyPr wrap="square">
              <a:noAutofit/>
            </a:bodyPr>
            <a:lstStyle/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rPr lang="zh-CN"/>
                <a:t>投资决策</a:t>
              </a:r>
              <a:r>
                <a:t> &amp; </a:t>
              </a:r>
              <a:r>
                <a:rPr lang="zh-CN"/>
                <a:t>投资预测分析</a:t>
              </a:r>
            </a:p>
            <a:p>
              <a:pPr algn="just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Predictive modeling: Forecast P&amp;L &amp; risk attribution</a:t>
              </a:r>
            </a:p>
            <a:p>
              <a:pPr algn="just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rPr lang="en-US"/>
                <a:t> </a:t>
              </a:r>
              <a:r>
                <a:t>Risk factor projections: Yield curves, spreads, volatility</a:t>
              </a:r>
            </a:p>
            <a:p>
              <a:pPr algn="just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Optimization: Portfolio construction &amp; trade optimization</a:t>
              </a:r>
            </a:p>
            <a:p>
              <a:pPr algn="just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Scenario comparison: Multiple what-if analysis side-by-side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780" y="5092"/>
              <a:ext cx="8380" cy="385"/>
            </a:xfrm>
            <a:prstGeom prst="roundRect">
              <a:avLst/>
            </a:prstGeom>
            <a:solidFill>
              <a:srgbClr val="3264B4"/>
            </a:solidFill>
            <a:ln w="25400"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400" b="1">
                  <a:solidFill>
                    <a:srgbClr val="FFFFFF"/>
                  </a:solidFill>
                </a:defRPr>
              </a:pPr>
              <a:r>
                <a:rPr lang="zh-CN" altLang="en-US">
                  <a:sym typeface="+mn-ea"/>
                </a:rPr>
                <a:t>投中实时风险监控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62" y="5498"/>
              <a:ext cx="2860" cy="1711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3264B4"/>
              </a:solidFill>
            </a:ln>
          </p:spPr>
          <p:txBody>
            <a:bodyPr wrap="square">
              <a:spAutoFit/>
            </a:bodyPr>
            <a:lstStyle/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rPr lang="zh-CN"/>
                <a:t>实时风险计量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Real-time DV01/CS01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Live VaR calculations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Dynamic Greeks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Intraday P&amp;L &amp; attribution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Risk limit utilization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3756" y="5498"/>
              <a:ext cx="2640" cy="1711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3264B4"/>
              </a:solidFill>
            </a:ln>
          </p:spPr>
          <p:txBody>
            <a:bodyPr wrap="square">
              <a:spAutoFit/>
            </a:bodyPr>
            <a:lstStyle/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rPr lang="zh-CN"/>
                <a:t>交易对手风险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Live exposure calculation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Collateral monitoring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Credit limit usage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Settlement risk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Netting agreements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530" y="5510"/>
              <a:ext cx="2640" cy="1711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3264B4"/>
              </a:solidFill>
            </a:ln>
          </p:spPr>
          <p:txBody>
            <a:bodyPr wrap="square">
              <a:spAutoFit/>
            </a:bodyPr>
            <a:lstStyle/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rPr lang="zh-CN"/>
                <a:t>流动性分析</a:t>
              </a:r>
              <a:r>
                <a:t> &amp; </a:t>
              </a:r>
              <a:r>
                <a:rPr lang="zh-CN"/>
                <a:t>交易成本计算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Execution risk monitoring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Market impact analysis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Liquidity cost tracking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Slippage measurement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Best execution compliance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762" y="7295"/>
              <a:ext cx="8400" cy="61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3264B4"/>
              </a:solidFill>
            </a:ln>
          </p:spPr>
          <p:txBody>
            <a:bodyPr wrap="square">
              <a:spAutoFit/>
            </a:bodyPr>
            <a:lstStyle/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rPr lang="zh-CN"/>
                <a:t>实时风险全景图</a:t>
              </a:r>
            </a:p>
            <a:p>
              <a:pPr algn="just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Live position tracking | Streaming risk metrics | Real-time limit monitoring | Alert management | Exception tracking</a:t>
              </a:r>
            </a:p>
          </p:txBody>
        </p:sp>
        <p:sp>
          <p:nvSpPr>
            <p:cNvPr id="42" name="Rounded Rectangle 4"/>
            <p:cNvSpPr/>
            <p:nvPr/>
          </p:nvSpPr>
          <p:spPr>
            <a:xfrm>
              <a:off x="9819" y="4266"/>
              <a:ext cx="8635" cy="417"/>
            </a:xfrm>
            <a:prstGeom prst="roundRect">
              <a:avLst/>
            </a:prstGeom>
            <a:solidFill>
              <a:schemeClr val="accent4">
                <a:lumMod val="75000"/>
              </a:schemeClr>
            </a:solidFill>
            <a:ln w="25400"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400" b="1">
                  <a:solidFill>
                    <a:srgbClr val="FFFFFF"/>
                  </a:solidFill>
                </a:defRPr>
              </a:pPr>
              <a:r>
                <a:rPr lang="zh-CN"/>
                <a:t>风控引擎</a:t>
              </a:r>
            </a:p>
          </p:txBody>
        </p:sp>
        <p:sp>
          <p:nvSpPr>
            <p:cNvPr id="43" name="TextBox 5"/>
            <p:cNvSpPr txBox="1"/>
            <p:nvPr/>
          </p:nvSpPr>
          <p:spPr>
            <a:xfrm>
              <a:off x="9820" y="4719"/>
              <a:ext cx="2641" cy="170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chemeClr val="accent4">
                  <a:lumMod val="75000"/>
                </a:schemeClr>
              </a:solidFill>
            </a:ln>
          </p:spPr>
          <p:txBody>
            <a:bodyPr wrap="square">
              <a:noAutofit/>
            </a:bodyPr>
            <a:lstStyle/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DV01/CS01 </a:t>
              </a:r>
              <a:r>
                <a:rPr lang="zh-CN"/>
                <a:t>计算</a:t>
              </a:r>
            </a:p>
            <a:p>
              <a:pPr algn="just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• DV01: dPV/dy (Price sensitivity)</a:t>
              </a:r>
            </a:p>
            <a:p>
              <a:pPr algn="just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• CS01: Credit spread sensitivity</a:t>
              </a:r>
            </a:p>
            <a:p>
              <a:pPr algn="just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• Bucketed shift</a:t>
              </a:r>
              <a:r>
                <a:rPr lang="en-US"/>
                <a:t> </a:t>
              </a:r>
              <a:r>
                <a:t>s &amp; Key rates</a:t>
              </a:r>
            </a:p>
            <a:p>
              <a:pPr algn="just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• Parallel &amp; non-parallel shocks</a:t>
              </a:r>
              <a:r>
                <a:rPr lang="en-US"/>
                <a:t> </a:t>
              </a:r>
            </a:p>
          </p:txBody>
        </p:sp>
        <p:sp>
          <p:nvSpPr>
            <p:cNvPr id="49" name="TextBox 6"/>
            <p:cNvSpPr txBox="1"/>
            <p:nvPr/>
          </p:nvSpPr>
          <p:spPr>
            <a:xfrm>
              <a:off x="12955" y="4719"/>
              <a:ext cx="2595" cy="1711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chemeClr val="accent4">
                  <a:lumMod val="75000"/>
                </a:schemeClr>
              </a:solidFill>
            </a:ln>
          </p:spPr>
          <p:txBody>
            <a:bodyPr wrap="square">
              <a:noAutofit/>
            </a:bodyPr>
            <a:lstStyle/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rPr lang="zh-CN"/>
                <a:t>希腊字母</a:t>
              </a:r>
              <a:r>
                <a:t> &amp; </a:t>
              </a:r>
              <a:r>
                <a:rPr lang="zh-CN"/>
                <a:t>敏感度计算</a:t>
              </a:r>
            </a:p>
            <a:p>
              <a:pPr algn="just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• Delta (Δ): Price sensitivity</a:t>
              </a:r>
            </a:p>
            <a:p>
              <a:pPr algn="just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• Gamma (Γ): Rate of change</a:t>
              </a:r>
            </a:p>
            <a:p>
              <a:pPr algn="just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• Vega (ν): Volatility sensitivity</a:t>
              </a:r>
            </a:p>
            <a:p>
              <a:pPr algn="just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• Theta (θ): Time decay</a:t>
              </a:r>
            </a:p>
            <a:p>
              <a:pPr algn="just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• Rho (ρ): Interest rate sensitivity</a:t>
              </a:r>
            </a:p>
          </p:txBody>
        </p:sp>
        <p:sp>
          <p:nvSpPr>
            <p:cNvPr id="50" name="TextBox 7"/>
            <p:cNvSpPr txBox="1"/>
            <p:nvPr/>
          </p:nvSpPr>
          <p:spPr>
            <a:xfrm>
              <a:off x="16044" y="4719"/>
              <a:ext cx="2391" cy="171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chemeClr val="accent4">
                  <a:lumMod val="75000"/>
                </a:schemeClr>
              </a:solidFill>
            </a:ln>
          </p:spPr>
          <p:txBody>
            <a:bodyPr wrap="square">
              <a:noAutofit/>
            </a:bodyPr>
            <a:lstStyle/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VaR </a:t>
              </a:r>
              <a:r>
                <a:rPr lang="zh-CN"/>
                <a:t>模型</a:t>
              </a:r>
            </a:p>
            <a:p>
              <a:pPr algn="just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• Parametric VaR</a:t>
              </a:r>
            </a:p>
            <a:p>
              <a:pPr algn="just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• Historical VaR</a:t>
              </a:r>
            </a:p>
            <a:p>
              <a:pPr algn="just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• Monte Carlo VaR</a:t>
              </a:r>
            </a:p>
            <a:p>
              <a:pPr algn="just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• Expected Shortfall (ES)</a:t>
              </a:r>
            </a:p>
            <a:p>
              <a:pPr algn="just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• Backtesting &amp; exceptions</a:t>
              </a:r>
            </a:p>
          </p:txBody>
        </p:sp>
        <p:sp>
          <p:nvSpPr>
            <p:cNvPr id="51" name="TextBox 8"/>
            <p:cNvSpPr txBox="1"/>
            <p:nvPr/>
          </p:nvSpPr>
          <p:spPr>
            <a:xfrm>
              <a:off x="9820" y="6488"/>
              <a:ext cx="4057" cy="1455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chemeClr val="accent4">
                  <a:lumMod val="75000"/>
                </a:schemeClr>
              </a:solidFill>
            </a:ln>
          </p:spPr>
          <p:txBody>
            <a:bodyPr wrap="square">
              <a:noAutofit/>
            </a:bodyPr>
            <a:lstStyle/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rPr lang="zh-CN"/>
                <a:t>压力测试</a:t>
              </a:r>
              <a:r>
                <a:t> &amp; </a:t>
              </a:r>
              <a:r>
                <a:rPr lang="zh-CN"/>
                <a:t>情景分析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Historical scenarios: GFC, COVID-19, Rate shocks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Hypothetical: Curve twists, Spread widenings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Reverse stress testing, Factor shocks</a:t>
              </a:r>
            </a:p>
          </p:txBody>
        </p:sp>
        <p:sp>
          <p:nvSpPr>
            <p:cNvPr id="52" name="TextBox 9"/>
            <p:cNvSpPr txBox="1"/>
            <p:nvPr/>
          </p:nvSpPr>
          <p:spPr>
            <a:xfrm>
              <a:off x="14201" y="6506"/>
              <a:ext cx="4234" cy="1413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chemeClr val="accent4">
                  <a:lumMod val="75000"/>
                </a:schemeClr>
              </a:solidFill>
            </a:ln>
          </p:spPr>
          <p:txBody>
            <a:bodyPr wrap="square">
              <a:noAutofit/>
            </a:bodyPr>
            <a:lstStyle/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rPr lang="zh-CN"/>
                <a:t>估值计算</a:t>
              </a:r>
              <a:r>
                <a:t> &amp; </a:t>
              </a:r>
              <a:r>
                <a:rPr lang="zh-CN"/>
                <a:t>净盈亏</a:t>
              </a:r>
              <a:r>
                <a:rPr lang="en-US" altLang="zh-CN"/>
                <a:t>/</a:t>
              </a:r>
              <a:r>
                <a:rPr lang="zh-CN" altLang="en-US"/>
                <a:t>浮</a:t>
              </a:r>
              <a:r>
                <a:rPr lang="zh-CN">
                  <a:sym typeface="+mn-ea"/>
                </a:rPr>
                <a:t>盈亏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Carry + Roll down, Curve effects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Spread (Credit, Sector), Selection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Security &amp; issuer contributions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Factor-based decomposition</a:t>
              </a:r>
            </a:p>
          </p:txBody>
        </p:sp>
        <p:sp>
          <p:nvSpPr>
            <p:cNvPr id="55" name="Rounded Rectangle 22"/>
            <p:cNvSpPr/>
            <p:nvPr/>
          </p:nvSpPr>
          <p:spPr>
            <a:xfrm>
              <a:off x="9820" y="1436"/>
              <a:ext cx="8615" cy="417"/>
            </a:xfrm>
            <a:prstGeom prst="roundRect">
              <a:avLst/>
            </a:prstGeom>
            <a:solidFill>
              <a:srgbClr val="00B0F0"/>
            </a:solidFill>
            <a:ln w="25400"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400" b="1">
                  <a:solidFill>
                    <a:srgbClr val="FFFFFF"/>
                  </a:solidFill>
                </a:defRPr>
              </a:pPr>
              <a:r>
                <a:rPr lang="zh-CN"/>
                <a:t>投后风险分析</a:t>
              </a:r>
            </a:p>
          </p:txBody>
        </p:sp>
        <p:sp>
          <p:nvSpPr>
            <p:cNvPr id="56" name="TextBox 23"/>
            <p:cNvSpPr txBox="1"/>
            <p:nvPr/>
          </p:nvSpPr>
          <p:spPr>
            <a:xfrm>
              <a:off x="9819" y="2005"/>
              <a:ext cx="4274" cy="12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0B0F0"/>
              </a:solidFill>
            </a:ln>
          </p:spPr>
          <p:txBody>
            <a:bodyPr wrap="square">
              <a:noAutofit/>
            </a:bodyPr>
            <a:lstStyle/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rPr lang="en-US" altLang="zh-CN"/>
                <a:t> </a:t>
              </a:r>
              <a:r>
                <a:rPr lang="zh-CN"/>
                <a:t>历史风险分析</a:t>
              </a:r>
            </a:p>
            <a:p>
              <a:pPr indent="0" algn="just" fontAlgn="auto">
                <a:spcBef>
                  <a:spcPts val="200"/>
                </a:spcBef>
                <a:spcAft>
                  <a:spcPts val="200"/>
                </a:spcAft>
                <a:buNone/>
                <a:defRPr sz="800" b="0">
                  <a:solidFill>
                    <a:srgbClr val="323232"/>
                  </a:solidFill>
                </a:defRPr>
              </a:pPr>
              <a:r>
                <a:t>Historical VaR calculation</a:t>
              </a:r>
              <a:r>
                <a:rPr lang="en-US"/>
                <a:t>      </a:t>
              </a:r>
              <a:r>
                <a:t>Stress test results</a:t>
              </a:r>
            </a:p>
            <a:p>
              <a:pPr indent="0" algn="just" fontAlgn="auto">
                <a:spcBef>
                  <a:spcPts val="200"/>
                </a:spcBef>
                <a:spcAft>
                  <a:spcPts val="200"/>
                </a:spcAft>
                <a:buNone/>
                <a:defRPr sz="800" b="0">
                  <a:solidFill>
                    <a:srgbClr val="323232"/>
                  </a:solidFill>
                </a:defRPr>
              </a:pPr>
              <a:r>
                <a:t>Risk trend analysis</a:t>
              </a:r>
              <a:r>
                <a:rPr lang="en-US"/>
                <a:t>                 </a:t>
              </a:r>
              <a:r>
                <a:t>Limit exceptions</a:t>
              </a:r>
            </a:p>
            <a:p>
              <a:pPr indent="0" algn="just" fontAlgn="auto">
                <a:spcBef>
                  <a:spcPts val="200"/>
                </a:spcBef>
                <a:spcAft>
                  <a:spcPts val="200"/>
                </a:spcAft>
                <a:buNone/>
                <a:defRPr sz="800" b="0">
                  <a:solidFill>
                    <a:srgbClr val="323232"/>
                  </a:solidFill>
                </a:defRPr>
              </a:pPr>
              <a:r>
                <a:t>VaR backtesting</a:t>
              </a:r>
              <a:r>
                <a:rPr lang="en-US"/>
                <a:t>    </a:t>
              </a:r>
            </a:p>
          </p:txBody>
        </p:sp>
        <p:sp>
          <p:nvSpPr>
            <p:cNvPr id="57" name="TextBox 24"/>
            <p:cNvSpPr txBox="1"/>
            <p:nvPr/>
          </p:nvSpPr>
          <p:spPr>
            <a:xfrm>
              <a:off x="14319" y="2028"/>
              <a:ext cx="4134" cy="1215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0B0F0"/>
              </a:solidFill>
            </a:ln>
          </p:spPr>
          <p:txBody>
            <a:bodyPr wrap="square">
              <a:noAutofit/>
            </a:bodyPr>
            <a:lstStyle/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rPr lang="zh-CN"/>
                <a:t>绩效归因</a:t>
              </a:r>
              <a:r>
                <a:rPr lang="en-US" altLang="zh-CN"/>
                <a:t>&amp;</a:t>
              </a:r>
              <a:r>
                <a:rPr lang="zh-CN" altLang="en-US"/>
                <a:t>风险计量</a:t>
              </a:r>
            </a:p>
            <a:p>
              <a:pPr indent="0" algn="just" fontAlgn="auto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Yield curve effects       </a:t>
              </a:r>
              <a:r>
                <a:rPr lang="en-US"/>
                <a:t>   </a:t>
              </a:r>
              <a:r>
                <a:t>Credit spread decomposition          </a:t>
              </a:r>
            </a:p>
            <a:p>
              <a:pPr indent="0" algn="just" fontAlgn="auto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Sector allocation effects        </a:t>
              </a:r>
              <a:r>
                <a:rPr lang="en-US"/>
                <a:t>    </a:t>
              </a:r>
              <a:r>
                <a:t> Security selection         </a:t>
              </a:r>
            </a:p>
            <a:p>
              <a:pPr indent="0" algn="just" fontAlgn="auto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Carry &amp; roll-down contributions</a:t>
              </a:r>
            </a:p>
          </p:txBody>
        </p:sp>
        <p:sp>
          <p:nvSpPr>
            <p:cNvPr id="58" name="TextBox 25"/>
            <p:cNvSpPr txBox="1"/>
            <p:nvPr/>
          </p:nvSpPr>
          <p:spPr>
            <a:xfrm>
              <a:off x="9819" y="3316"/>
              <a:ext cx="8635" cy="80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00B0F0"/>
              </a:solidFill>
            </a:ln>
          </p:spPr>
          <p:txBody>
            <a:bodyPr wrap="square">
              <a:noAutofit/>
            </a:bodyPr>
            <a:lstStyle/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rPr lang="zh-CN"/>
                <a:t>监管报表</a:t>
              </a:r>
              <a:r>
                <a:t> &amp; </a:t>
              </a:r>
              <a:r>
                <a:rPr lang="zh-CN"/>
                <a:t>风控日报</a:t>
              </a:r>
            </a:p>
            <a:p>
              <a:pPr algn="just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Daily/Weekly/Monthly risk reports | Regulatory capital calculations | Stress test summaries | Risk attribution dashboards</a:t>
              </a:r>
            </a:p>
          </p:txBody>
        </p:sp>
        <p:sp>
          <p:nvSpPr>
            <p:cNvPr id="62" name="Rounded Rectangle 27"/>
            <p:cNvSpPr/>
            <p:nvPr/>
          </p:nvSpPr>
          <p:spPr>
            <a:xfrm>
              <a:off x="762" y="8044"/>
              <a:ext cx="17692" cy="443"/>
            </a:xfrm>
            <a:prstGeom prst="roundRect">
              <a:avLst/>
            </a:prstGeom>
            <a:solidFill>
              <a:srgbClr val="6464B4"/>
            </a:solidFill>
            <a:ln w="25400">
              <a:solidFill>
                <a:srgbClr val="32323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>
                <a:defRPr sz="1400" b="1">
                  <a:solidFill>
                    <a:srgbClr val="FFFFFF"/>
                  </a:solidFill>
                </a:defRPr>
              </a:pPr>
              <a:r>
                <a:rPr lang="zh-CN"/>
                <a:t>风控基础功能</a:t>
              </a:r>
              <a:r>
                <a:t> &amp; </a:t>
              </a:r>
              <a:r>
                <a:rPr lang="zh-CN"/>
                <a:t>数据底座</a:t>
              </a:r>
            </a:p>
          </p:txBody>
        </p:sp>
        <p:sp>
          <p:nvSpPr>
            <p:cNvPr id="63" name="TextBox 28"/>
            <p:cNvSpPr txBox="1"/>
            <p:nvPr/>
          </p:nvSpPr>
          <p:spPr>
            <a:xfrm>
              <a:off x="780" y="8487"/>
              <a:ext cx="3386" cy="136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6464B4"/>
              </a:solidFill>
            </a:ln>
          </p:spPr>
          <p:txBody>
            <a:bodyPr wrap="square">
              <a:noAutofit/>
            </a:bodyPr>
            <a:lstStyle/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rPr lang="en-US"/>
                <a:t>I</a:t>
              </a:r>
              <a:r>
                <a:t>BOR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Investment Book of Record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Live position tracking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Event sourcing architecture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Firm-wide position aggregation</a:t>
              </a:r>
            </a:p>
          </p:txBody>
        </p:sp>
        <p:sp>
          <p:nvSpPr>
            <p:cNvPr id="64" name="TextBox 29"/>
            <p:cNvSpPr txBox="1"/>
            <p:nvPr/>
          </p:nvSpPr>
          <p:spPr>
            <a:xfrm>
              <a:off x="4481" y="8487"/>
              <a:ext cx="3386" cy="137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6464B4"/>
              </a:solidFill>
            </a:ln>
          </p:spPr>
          <p:txBody>
            <a:bodyPr wrap="square">
              <a:noAutofit/>
            </a:bodyPr>
            <a:lstStyle/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rPr lang="zh-CN"/>
                <a:t>收益率曲线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Yield curve construction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Volatility surfaces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Credit spread curves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Firm-wide consistency</a:t>
              </a:r>
            </a:p>
          </p:txBody>
        </p:sp>
        <p:sp>
          <p:nvSpPr>
            <p:cNvPr id="65" name="TextBox 30"/>
            <p:cNvSpPr txBox="1"/>
            <p:nvPr/>
          </p:nvSpPr>
          <p:spPr>
            <a:xfrm>
              <a:off x="8182" y="8487"/>
              <a:ext cx="3386" cy="1381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6464B4"/>
              </a:solidFill>
            </a:ln>
          </p:spPr>
          <p:txBody>
            <a:bodyPr wrap="square">
              <a:noAutofit/>
            </a:bodyPr>
            <a:lstStyle/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HPC </a:t>
              </a:r>
              <a:r>
                <a:rPr lang="zh-CN"/>
                <a:t>计算网格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Distributed calculation engine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Parallel processing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Monte Carlo simulations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Stress test scenarios</a:t>
              </a:r>
            </a:p>
          </p:txBody>
        </p:sp>
        <p:sp>
          <p:nvSpPr>
            <p:cNvPr id="66" name="TextBox 31"/>
            <p:cNvSpPr txBox="1"/>
            <p:nvPr/>
          </p:nvSpPr>
          <p:spPr>
            <a:xfrm>
              <a:off x="11883" y="8487"/>
              <a:ext cx="3160" cy="136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6464B4"/>
              </a:solidFill>
            </a:ln>
          </p:spPr>
          <p:txBody>
            <a:bodyPr wrap="square">
              <a:noAutofit/>
            </a:bodyPr>
            <a:lstStyle/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AI </a:t>
              </a:r>
              <a:r>
                <a:rPr lang="zh-CN"/>
                <a:t>风险预警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Anomaly detection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Predictive analytics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Pattern recognition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Smart alerting</a:t>
              </a:r>
            </a:p>
          </p:txBody>
        </p:sp>
        <p:sp>
          <p:nvSpPr>
            <p:cNvPr id="67" name="TextBox 32"/>
            <p:cNvSpPr txBox="1"/>
            <p:nvPr/>
          </p:nvSpPr>
          <p:spPr>
            <a:xfrm>
              <a:off x="15358" y="8487"/>
              <a:ext cx="3047" cy="1381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6464B4"/>
              </a:solidFill>
            </a:ln>
          </p:spPr>
          <p:txBody>
            <a:bodyPr wrap="square">
              <a:noAutofit/>
            </a:bodyPr>
            <a:lstStyle/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rPr lang="zh-CN"/>
                <a:t>数据底座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Real-time validation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Automated cleansing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Exception management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Audit trails</a:t>
              </a:r>
            </a:p>
          </p:txBody>
        </p:sp>
        <p:sp>
          <p:nvSpPr>
            <p:cNvPr id="68" name="TextBox 33"/>
            <p:cNvSpPr txBox="1"/>
            <p:nvPr/>
          </p:nvSpPr>
          <p:spPr>
            <a:xfrm>
              <a:off x="780" y="9955"/>
              <a:ext cx="5078" cy="61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6464B4"/>
              </a:solidFill>
            </a:ln>
          </p:spPr>
          <p:txBody>
            <a:bodyPr wrap="square">
              <a:spAutoFit/>
            </a:bodyPr>
            <a:lstStyle/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rPr lang="zh-CN"/>
                <a:t>风险模块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Market Risk | Credit Risk | Liquidity Risk | Operational Risk</a:t>
              </a:r>
            </a:p>
          </p:txBody>
        </p:sp>
        <p:sp>
          <p:nvSpPr>
            <p:cNvPr id="69" name="TextBox 34"/>
            <p:cNvSpPr txBox="1"/>
            <p:nvPr/>
          </p:nvSpPr>
          <p:spPr>
            <a:xfrm>
              <a:off x="6115" y="9955"/>
              <a:ext cx="5198" cy="61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6464B4"/>
              </a:solidFill>
            </a:ln>
          </p:spPr>
          <p:txBody>
            <a:bodyPr wrap="square">
              <a:spAutoFit/>
            </a:bodyPr>
            <a:lstStyle/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rPr lang="zh-CN"/>
                <a:t>风险计算模型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Factor risk models | Copula dependency | Extreme value theory</a:t>
              </a:r>
            </a:p>
          </p:txBody>
        </p:sp>
        <p:sp>
          <p:nvSpPr>
            <p:cNvPr id="70" name="TextBox 35"/>
            <p:cNvSpPr txBox="1"/>
            <p:nvPr/>
          </p:nvSpPr>
          <p:spPr>
            <a:xfrm>
              <a:off x="11570" y="9955"/>
              <a:ext cx="6816" cy="61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6464B4"/>
              </a:solidFill>
            </a:ln>
          </p:spPr>
          <p:txBody>
            <a:bodyPr wrap="square">
              <a:spAutoFit/>
            </a:bodyPr>
            <a:lstStyle/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rPr lang="zh-CN"/>
                <a:t>合格库</a:t>
              </a:r>
              <a:r>
                <a:t> &amp; </a:t>
              </a:r>
              <a:r>
                <a:rPr lang="zh-CN"/>
                <a:t>风险管理机制</a:t>
              </a:r>
            </a:p>
            <a:p>
              <a:pPr algn="ctr">
                <a:spcBef>
                  <a:spcPts val="200"/>
                </a:spcBef>
                <a:spcAft>
                  <a:spcPts val="200"/>
                </a:spcAft>
                <a:defRPr sz="800" b="0">
                  <a:solidFill>
                    <a:srgbClr val="323232"/>
                  </a:solidFill>
                </a:defRPr>
              </a:pPr>
              <a:r>
                <a:t>Regulatory reporting (Basel Ⅲ/FRTB) | Model validation | Audit trails | Change management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圆角矩形 60"/>
          <p:cNvSpPr/>
          <p:nvPr>
            <p:custDataLst>
              <p:tags r:id="rId1"/>
            </p:custDataLst>
          </p:nvPr>
        </p:nvSpPr>
        <p:spPr bwMode="auto">
          <a:xfrm>
            <a:off x="943610" y="1174750"/>
            <a:ext cx="9825355" cy="4860925"/>
          </a:xfrm>
          <a:prstGeom prst="roundRect">
            <a:avLst>
              <a:gd name="adj" fmla="val 1499"/>
            </a:avLst>
          </a:prstGeom>
          <a:solidFill>
            <a:srgbClr val="15438F"/>
          </a:solidFill>
          <a:ln>
            <a:noFill/>
            <a:prstDash val="dash"/>
          </a:ln>
        </p:spPr>
        <p:txBody>
          <a:bodyPr vert="horz" wrap="square" lIns="91440" tIns="45720" rIns="91440" bIns="45720" numCol="1" anchor="t" anchorCtr="0" compatLnSpc="1"/>
          <a:lstStyle/>
          <a:p>
            <a:pPr algn="ctr" defTabSz="914400" eaLnBrk="1" fontAlgn="auto" hangingPunct="1"/>
            <a:r>
              <a:rPr lang="zh-CN" altLang="en-US" sz="18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0000500000000000000" charset="-122"/>
                <a:ea typeface="微软雅黑" panose="00000500000000000000" charset="-122"/>
                <a:sym typeface="+mn-ea"/>
              </a:rPr>
              <a:t>策略流程</a:t>
            </a:r>
          </a:p>
        </p:txBody>
      </p:sp>
      <p:sp>
        <p:nvSpPr>
          <p:cNvPr id="91" name="文本框 90"/>
          <p:cNvSpPr txBox="1"/>
          <p:nvPr/>
        </p:nvSpPr>
        <p:spPr>
          <a:xfrm>
            <a:off x="593090" y="289918"/>
            <a:ext cx="9825551" cy="46037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pPr algn="l" defTabSz="914400" eaLnBrk="1" fontAlgn="auto" hangingPunct="1"/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华锐</a:t>
            </a:r>
            <a:r>
              <a:rPr lang="en-US" altLang="zh-CN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FICC</a:t>
            </a:r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系统建设规划</a:t>
            </a:r>
            <a:r>
              <a:rPr lang="en-US" altLang="zh-CN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——</a:t>
            </a:r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自营投资</a:t>
            </a:r>
            <a:r>
              <a:rPr lang="en-US" altLang="zh-CN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-</a:t>
            </a:r>
            <a:r>
              <a:rPr lang="zh-CN" altLang="en-US" sz="2400" b="1" kern="2000" dirty="0">
                <a:solidFill>
                  <a:schemeClr val="bg1"/>
                </a:solidFill>
                <a:latin typeface="Arial" panose="020B0704020202020204" pitchFamily="34" charset="0"/>
                <a:ea typeface="微软雅黑" panose="00000500000000000000" charset="-122"/>
                <a:sym typeface="+mn-ea"/>
              </a:rPr>
              <a:t>策略投资</a:t>
            </a:r>
          </a:p>
        </p:txBody>
      </p:sp>
      <p:cxnSp>
        <p:nvCxnSpPr>
          <p:cNvPr id="92" name="直线连接符 1"/>
          <p:cNvCxnSpPr/>
          <p:nvPr/>
        </p:nvCxnSpPr>
        <p:spPr>
          <a:xfrm>
            <a:off x="465823" y="349321"/>
            <a:ext cx="0" cy="431514"/>
          </a:xfrm>
          <a:prstGeom prst="line">
            <a:avLst/>
          </a:prstGeom>
          <a:ln w="762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图片 11" descr="10741943950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3670300" y="1987550"/>
            <a:ext cx="242570" cy="242570"/>
          </a:xfrm>
          <a:prstGeom prst="rect">
            <a:avLst/>
          </a:prstGeom>
        </p:spPr>
      </p:pic>
      <p:grpSp>
        <p:nvGrpSpPr>
          <p:cNvPr id="142" name="组合 141"/>
          <p:cNvGrpSpPr/>
          <p:nvPr/>
        </p:nvGrpSpPr>
        <p:grpSpPr>
          <a:xfrm>
            <a:off x="8715375" y="1487805"/>
            <a:ext cx="1918335" cy="3282842"/>
            <a:chOff x="13725" y="2645"/>
            <a:chExt cx="3021" cy="5282"/>
          </a:xfrm>
        </p:grpSpPr>
        <p:grpSp>
          <p:nvGrpSpPr>
            <p:cNvPr id="140" name="组合 139"/>
            <p:cNvGrpSpPr/>
            <p:nvPr/>
          </p:nvGrpSpPr>
          <p:grpSpPr>
            <a:xfrm>
              <a:off x="13725" y="2645"/>
              <a:ext cx="3021" cy="5282"/>
              <a:chOff x="13390" y="2645"/>
              <a:chExt cx="3356" cy="6073"/>
            </a:xfrm>
          </p:grpSpPr>
          <p:sp>
            <p:nvSpPr>
              <p:cNvPr id="30" name="圆角矩形 60"/>
              <p:cNvSpPr/>
              <p:nvPr>
                <p:custDataLst>
                  <p:tags r:id="rId46"/>
                </p:custDataLst>
              </p:nvPr>
            </p:nvSpPr>
            <p:spPr bwMode="auto">
              <a:xfrm>
                <a:off x="13390" y="2645"/>
                <a:ext cx="3356" cy="6073"/>
              </a:xfrm>
              <a:prstGeom prst="roundRect">
                <a:avLst>
                  <a:gd name="adj" fmla="val 2712"/>
                </a:avLst>
              </a:prstGeom>
              <a:solidFill>
                <a:srgbClr val="225FD1"/>
              </a:solidFill>
              <a:ln w="9525" cap="flat" cmpd="sng" algn="ctr">
                <a:noFill/>
                <a:prstDash val="dash"/>
                <a:round/>
                <a:headEnd type="none" w="med" len="med"/>
                <a:tailEnd type="none" w="med" len="med"/>
              </a:ln>
            </p:spPr>
            <p:txBody>
              <a:bodyPr vert="horz" wrap="square" lIns="0" tIns="0" rIns="0" bIns="0" numCol="1" rtlCol="0" anchor="t" anchorCtr="0" compatLnSpc="1">
                <a:noAutofit/>
              </a:bodyPr>
              <a:lstStyle/>
              <a:p>
                <a:pPr algn="ctr" defTabSz="914400" eaLnBrk="1" fontAlgn="auto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FontTx/>
                  <a:buNone/>
                  <a:defRPr/>
                </a:pPr>
                <a:r>
                  <a:rPr lang="en-US" altLang="zh-CN" sz="1400" kern="0" dirty="0">
                    <a:solidFill>
                      <a:prstClr val="white"/>
                    </a:solidFill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latin typeface="微软雅黑" panose="00000500000000000000" charset="-122"/>
                    <a:ea typeface="微软雅黑" panose="00000500000000000000" charset="-122"/>
                    <a:cs typeface="Arial" panose="020B0704020202020204" pitchFamily="34" charset="0"/>
                    <a:sym typeface="Arial" panose="020B0704020202020204" pitchFamily="34" charset="0"/>
                  </a:rPr>
                  <a:t>    </a:t>
                </a:r>
                <a:r>
                  <a:rPr lang="zh-CN" altLang="en-US" sz="1400" kern="0" dirty="0">
                    <a:solidFill>
                      <a:prstClr val="white"/>
                    </a:solidFill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latin typeface="微软雅黑" panose="00000500000000000000" charset="-122"/>
                    <a:ea typeface="微软雅黑" panose="00000500000000000000" charset="-122"/>
                    <a:cs typeface="Arial" panose="020B0704020202020204" pitchFamily="34" charset="0"/>
                    <a:sym typeface="Arial" panose="020B0704020202020204" pitchFamily="34" charset="0"/>
                  </a:rPr>
                  <a:t>策略管理</a:t>
                </a:r>
              </a:p>
            </p:txBody>
          </p:sp>
          <p:grpSp>
            <p:nvGrpSpPr>
              <p:cNvPr id="44" name="组合 43"/>
              <p:cNvGrpSpPr/>
              <p:nvPr/>
            </p:nvGrpSpPr>
            <p:grpSpPr>
              <a:xfrm>
                <a:off x="14116" y="3284"/>
                <a:ext cx="2097" cy="3035"/>
                <a:chOff x="14116" y="3724"/>
                <a:chExt cx="2097" cy="3035"/>
              </a:xfrm>
            </p:grpSpPr>
            <p:sp>
              <p:nvSpPr>
                <p:cNvPr id="110" name="Rounded Rectangle 15"/>
                <p:cNvSpPr/>
                <p:nvPr>
                  <p:custDataLst>
                    <p:tags r:id="rId47"/>
                  </p:custDataLst>
                </p:nvPr>
              </p:nvSpPr>
              <p:spPr bwMode="auto">
                <a:xfrm>
                  <a:off x="14116" y="3724"/>
                  <a:ext cx="2097" cy="3035"/>
                </a:xfrm>
                <a:prstGeom prst="roundRect">
                  <a:avLst>
                    <a:gd name="adj" fmla="val 9385"/>
                  </a:avLst>
                </a:prstGeom>
                <a:solidFill>
                  <a:schemeClr val="bg1">
                    <a:alpha val="50000"/>
                  </a:schemeClr>
                </a:solidFill>
                <a:ln w="19050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vert="horz" wrap="square" lIns="90170" tIns="46990" rIns="90170" bIns="46990" numCol="1" rtlCol="0" anchor="t" anchorCtr="0" compatLnSpc="0">
                  <a:noAutofit/>
                </a:bodyPr>
                <a:lstStyle/>
                <a:p>
                  <a:pPr lvl="0" algn="ctr" defTabSz="914400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defRPr/>
                  </a:pPr>
                  <a:r>
                    <a:rPr lang="zh-CN" sz="1200" b="1" noProof="0" dirty="0">
                      <a:ln>
                        <a:noFill/>
                      </a:ln>
                      <a:solidFill>
                        <a:schemeClr val="accent1">
                          <a:lumMod val="75000"/>
                        </a:schemeClr>
                      </a:solidFill>
                      <a:effectLst>
                        <a:outerShdw blurRad="50800" dist="38100" dir="2700000" algn="tl" rotWithShape="0">
                          <a:prstClr val="black">
                            <a:alpha val="40000"/>
                          </a:prstClr>
                        </a:outerShdw>
                      </a:effectLst>
                      <a:uLnTx/>
                      <a:uFillTx/>
                      <a:latin typeface="微软雅黑" panose="00000500000000000000" charset="-122"/>
                      <a:ea typeface="微软雅黑" panose="00000500000000000000" charset="-122"/>
                      <a:cs typeface="微软雅黑" panose="00000500000000000000" charset="-122"/>
                      <a:sym typeface="+mn-ea"/>
                    </a:rPr>
                    <a:t>模拟盘</a:t>
                  </a:r>
                </a:p>
              </p:txBody>
            </p:sp>
            <p:sp>
              <p:nvSpPr>
                <p:cNvPr id="123" name="圆角矩形 122"/>
                <p:cNvSpPr/>
                <p:nvPr>
                  <p:custDataLst>
                    <p:tags r:id="rId48"/>
                  </p:custDataLst>
                </p:nvPr>
              </p:nvSpPr>
              <p:spPr>
                <a:xfrm>
                  <a:off x="14415" y="4598"/>
                  <a:ext cx="1498" cy="407"/>
                </a:xfrm>
                <a:prstGeom prst="roundRect">
                  <a:avLst>
                    <a:gd name="adj" fmla="val 29484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 defTabSz="914400" eaLnBrk="1" fontAlgn="auto" hangingPunct="1">
                    <a:buClrTx/>
                    <a:buSzTx/>
                    <a:buFontTx/>
                  </a:pPr>
                  <a:r>
                    <a:rPr lang="zh-CN" altLang="en-US" sz="1000">
                      <a:solidFill>
                        <a:schemeClr val="tx1"/>
                      </a:solidFill>
                      <a:latin typeface="微软雅黑" panose="00000500000000000000" charset="-122"/>
                      <a:ea typeface="微软雅黑" panose="00000500000000000000" charset="-122"/>
                      <a:sym typeface="+mn-ea"/>
                    </a:rPr>
                    <a:t>情景模拟</a:t>
                  </a:r>
                </a:p>
              </p:txBody>
            </p:sp>
            <p:sp>
              <p:nvSpPr>
                <p:cNvPr id="34" name="圆角矩形 33"/>
                <p:cNvSpPr/>
                <p:nvPr>
                  <p:custDataLst>
                    <p:tags r:id="rId49"/>
                  </p:custDataLst>
                </p:nvPr>
              </p:nvSpPr>
              <p:spPr>
                <a:xfrm>
                  <a:off x="14415" y="5205"/>
                  <a:ext cx="1498" cy="407"/>
                </a:xfrm>
                <a:prstGeom prst="roundRect">
                  <a:avLst>
                    <a:gd name="adj" fmla="val 29484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 defTabSz="914400" eaLnBrk="1" fontAlgn="auto" hangingPunct="1">
                    <a:buClrTx/>
                    <a:buSzTx/>
                    <a:buFontTx/>
                  </a:pPr>
                  <a:r>
                    <a:rPr lang="zh-CN" altLang="en-US" sz="1000">
                      <a:solidFill>
                        <a:schemeClr val="tx1"/>
                      </a:solidFill>
                      <a:latin typeface="微软雅黑" panose="00000500000000000000" charset="-122"/>
                      <a:ea typeface="微软雅黑" panose="00000500000000000000" charset="-122"/>
                      <a:sym typeface="+mn-ea"/>
                    </a:rPr>
                    <a:t>敏感度模拟</a:t>
                  </a:r>
                </a:p>
              </p:txBody>
            </p:sp>
            <p:sp>
              <p:nvSpPr>
                <p:cNvPr id="35" name="圆角矩形 34"/>
                <p:cNvSpPr/>
                <p:nvPr>
                  <p:custDataLst>
                    <p:tags r:id="rId50"/>
                  </p:custDataLst>
                </p:nvPr>
              </p:nvSpPr>
              <p:spPr>
                <a:xfrm>
                  <a:off x="14230" y="5696"/>
                  <a:ext cx="1789" cy="406"/>
                </a:xfrm>
                <a:prstGeom prst="roundRect">
                  <a:avLst>
                    <a:gd name="adj" fmla="val 29484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 defTabSz="914400" eaLnBrk="1" fontAlgn="auto" hangingPunct="1">
                    <a:buClrTx/>
                    <a:buSzTx/>
                    <a:buFontTx/>
                  </a:pPr>
                  <a:r>
                    <a:rPr lang="zh-CN" altLang="en-US" sz="1000">
                      <a:solidFill>
                        <a:schemeClr val="tx1"/>
                      </a:solidFill>
                      <a:latin typeface="微软雅黑" panose="00000500000000000000" charset="-122"/>
                      <a:ea typeface="微软雅黑" panose="00000500000000000000" charset="-122"/>
                      <a:sym typeface="+mn-ea"/>
                    </a:rPr>
                    <a:t>极端场景模拟</a:t>
                  </a:r>
                </a:p>
              </p:txBody>
            </p:sp>
            <p:sp>
              <p:nvSpPr>
                <p:cNvPr id="38" name="圆角矩形 37"/>
                <p:cNvSpPr/>
                <p:nvPr>
                  <p:custDataLst>
                    <p:tags r:id="rId51"/>
                  </p:custDataLst>
                </p:nvPr>
              </p:nvSpPr>
              <p:spPr>
                <a:xfrm>
                  <a:off x="14308" y="6187"/>
                  <a:ext cx="1711" cy="407"/>
                </a:xfrm>
                <a:prstGeom prst="roundRect">
                  <a:avLst>
                    <a:gd name="adj" fmla="val 29484"/>
                  </a:avLst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 defTabSz="914400" eaLnBrk="1" fontAlgn="auto" hangingPunct="1">
                    <a:buClrTx/>
                    <a:buSzTx/>
                    <a:buFontTx/>
                  </a:pPr>
                  <a:r>
                    <a:rPr lang="zh-CN" altLang="en-US" sz="1000">
                      <a:solidFill>
                        <a:schemeClr val="tx1"/>
                      </a:solidFill>
                      <a:latin typeface="微软雅黑" panose="00000500000000000000" charset="-122"/>
                      <a:ea typeface="微软雅黑" panose="00000500000000000000" charset="-122"/>
                      <a:sym typeface="+mn-ea"/>
                    </a:rPr>
                    <a:t>性能测试</a:t>
                  </a:r>
                </a:p>
              </p:txBody>
            </p:sp>
          </p:grpSp>
        </p:grpSp>
        <p:grpSp>
          <p:nvGrpSpPr>
            <p:cNvPr id="141" name="组合 140"/>
            <p:cNvGrpSpPr/>
            <p:nvPr/>
          </p:nvGrpSpPr>
          <p:grpSpPr>
            <a:xfrm>
              <a:off x="14310" y="5922"/>
              <a:ext cx="2096" cy="1964"/>
              <a:chOff x="14169" y="6532"/>
              <a:chExt cx="2096" cy="1964"/>
            </a:xfrm>
          </p:grpSpPr>
          <p:sp>
            <p:nvSpPr>
              <p:cNvPr id="37" name="Rounded Rectangle 15"/>
              <p:cNvSpPr/>
              <p:nvPr>
                <p:custDataLst>
                  <p:tags r:id="rId42"/>
                </p:custDataLst>
              </p:nvPr>
            </p:nvSpPr>
            <p:spPr bwMode="auto">
              <a:xfrm>
                <a:off x="14169" y="6532"/>
                <a:ext cx="2097" cy="1964"/>
              </a:xfrm>
              <a:prstGeom prst="roundRect">
                <a:avLst>
                  <a:gd name="adj" fmla="val 9385"/>
                </a:avLst>
              </a:prstGeom>
              <a:solidFill>
                <a:schemeClr val="bg1">
                  <a:alpha val="50000"/>
                </a:scheme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vert="horz" wrap="square" lIns="90170" tIns="46990" rIns="90170" bIns="46990" numCol="1" rtlCol="0" anchor="t" anchorCtr="0" compatLnSpc="0">
                <a:noAutofit/>
              </a:bodyPr>
              <a:lstStyle/>
              <a:p>
                <a:pPr lvl="0" algn="ctr" defTabSz="914400" eaLnBrk="1" fontAlgn="auto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defRPr/>
                </a:pPr>
                <a:r>
                  <a:rPr lang="zh-CN" sz="1200" b="1" noProof="0" dirty="0">
                    <a:ln>
                      <a:noFill/>
                    </a:ln>
                    <a:solidFill>
                      <a:schemeClr val="accent1">
                        <a:lumMod val="75000"/>
                      </a:schemeClr>
                    </a:solidFill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实盘</a:t>
                </a:r>
              </a:p>
            </p:txBody>
          </p:sp>
          <p:sp>
            <p:nvSpPr>
              <p:cNvPr id="31" name="圆角矩形 30"/>
              <p:cNvSpPr/>
              <p:nvPr>
                <p:custDataLst>
                  <p:tags r:id="rId43"/>
                </p:custDataLst>
              </p:nvPr>
            </p:nvSpPr>
            <p:spPr>
              <a:xfrm>
                <a:off x="14415" y="7017"/>
                <a:ext cx="1498" cy="407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0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上线前审批</a:t>
                </a:r>
              </a:p>
            </p:txBody>
          </p:sp>
          <p:sp>
            <p:nvSpPr>
              <p:cNvPr id="39" name="圆角矩形 38"/>
              <p:cNvSpPr/>
              <p:nvPr>
                <p:custDataLst>
                  <p:tags r:id="rId44"/>
                </p:custDataLst>
              </p:nvPr>
            </p:nvSpPr>
            <p:spPr>
              <a:xfrm>
                <a:off x="14415" y="7521"/>
                <a:ext cx="1609" cy="407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0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策略运行管理</a:t>
                </a:r>
              </a:p>
            </p:txBody>
          </p:sp>
          <p:sp>
            <p:nvSpPr>
              <p:cNvPr id="40" name="圆角矩形 39"/>
              <p:cNvSpPr/>
              <p:nvPr>
                <p:custDataLst>
                  <p:tags r:id="rId45"/>
                </p:custDataLst>
              </p:nvPr>
            </p:nvSpPr>
            <p:spPr>
              <a:xfrm>
                <a:off x="14415" y="8089"/>
                <a:ext cx="1609" cy="407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0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策略绩效分析</a:t>
                </a:r>
              </a:p>
            </p:txBody>
          </p:sp>
        </p:grpSp>
      </p:grpSp>
      <p:grpSp>
        <p:nvGrpSpPr>
          <p:cNvPr id="139" name="组合 138"/>
          <p:cNvGrpSpPr/>
          <p:nvPr/>
        </p:nvGrpSpPr>
        <p:grpSpPr>
          <a:xfrm>
            <a:off x="6666230" y="1555115"/>
            <a:ext cx="1878330" cy="3271520"/>
            <a:chOff x="9585" y="2750"/>
            <a:chExt cx="3356" cy="6090"/>
          </a:xfrm>
        </p:grpSpPr>
        <p:sp>
          <p:nvSpPr>
            <p:cNvPr id="27" name="圆角矩形 60"/>
            <p:cNvSpPr/>
            <p:nvPr>
              <p:custDataLst>
                <p:tags r:id="rId33"/>
              </p:custDataLst>
            </p:nvPr>
          </p:nvSpPr>
          <p:spPr bwMode="auto">
            <a:xfrm>
              <a:off x="9585" y="2750"/>
              <a:ext cx="3356" cy="6090"/>
            </a:xfrm>
            <a:prstGeom prst="roundRect">
              <a:avLst>
                <a:gd name="adj" fmla="val 2712"/>
              </a:avLst>
            </a:prstGeom>
            <a:solidFill>
              <a:srgbClr val="225FD1"/>
            </a:solidFill>
            <a:ln w="9525" cap="flat" cmpd="sng" algn="ctr">
              <a:noFill/>
              <a:prstDash val="dash"/>
              <a:round/>
              <a:headEnd type="none" w="med" len="med"/>
              <a:tailEnd type="none" w="med" len="med"/>
            </a:ln>
          </p:spPr>
          <p:txBody>
            <a:bodyPr vert="horz" wrap="square" lIns="0" tIns="0" rIns="0" bIns="0" numCol="1" rtlCol="0" anchor="t" anchorCtr="0" compatLnSpc="1">
              <a:noAutofit/>
            </a:bodyPr>
            <a:lstStyle/>
            <a:p>
              <a:pPr algn="ctr" defTabSz="914400" eaLnBrk="1" fontAlgn="auto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zh-CN" sz="1400" kern="0" dirty="0">
                  <a:solidFill>
                    <a:prstClr val="white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0000500000000000000" charset="-122"/>
                  <a:ea typeface="微软雅黑" panose="00000500000000000000" charset="-122"/>
                  <a:cs typeface="Arial" panose="020B0704020202020204" pitchFamily="34" charset="0"/>
                  <a:sym typeface="Arial" panose="020B0704020202020204" pitchFamily="34" charset="0"/>
                </a:rPr>
                <a:t>    </a:t>
              </a:r>
              <a:r>
                <a:rPr lang="zh-CN" altLang="en-US" sz="1400" kern="0" dirty="0">
                  <a:solidFill>
                    <a:prstClr val="white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0000500000000000000" charset="-122"/>
                  <a:ea typeface="微软雅黑" panose="00000500000000000000" charset="-122"/>
                  <a:cs typeface="Arial" panose="020B0704020202020204" pitchFamily="34" charset="0"/>
                  <a:sym typeface="Arial" panose="020B0704020202020204" pitchFamily="34" charset="0"/>
                </a:rPr>
                <a:t>策略开发</a:t>
              </a:r>
            </a:p>
          </p:txBody>
        </p:sp>
        <p:grpSp>
          <p:nvGrpSpPr>
            <p:cNvPr id="53" name="组合 52"/>
            <p:cNvGrpSpPr/>
            <p:nvPr/>
          </p:nvGrpSpPr>
          <p:grpSpPr>
            <a:xfrm>
              <a:off x="10351" y="3383"/>
              <a:ext cx="2096" cy="2364"/>
              <a:chOff x="10351" y="3383"/>
              <a:chExt cx="2096" cy="2364"/>
            </a:xfrm>
          </p:grpSpPr>
          <p:sp>
            <p:nvSpPr>
              <p:cNvPr id="46" name="Rounded Rectangle 15"/>
              <p:cNvSpPr/>
              <p:nvPr>
                <p:custDataLst>
                  <p:tags r:id="rId38"/>
                </p:custDataLst>
              </p:nvPr>
            </p:nvSpPr>
            <p:spPr bwMode="auto">
              <a:xfrm>
                <a:off x="10351" y="3383"/>
                <a:ext cx="2097" cy="2364"/>
              </a:xfrm>
              <a:prstGeom prst="roundRect">
                <a:avLst>
                  <a:gd name="adj" fmla="val 9385"/>
                </a:avLst>
              </a:prstGeom>
              <a:solidFill>
                <a:schemeClr val="bg1">
                  <a:alpha val="50000"/>
                </a:scheme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vert="horz" wrap="square" lIns="90170" tIns="46990" rIns="90170" bIns="46990" numCol="1" rtlCol="0" anchor="t" anchorCtr="0" compatLnSpc="0">
                <a:noAutofit/>
              </a:bodyPr>
              <a:lstStyle/>
              <a:p>
                <a:pPr lvl="0" algn="ctr" defTabSz="914400" eaLnBrk="1" fontAlgn="auto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defRPr/>
                </a:pPr>
                <a:r>
                  <a:rPr lang="zh-CN" altLang="en-US" sz="1200" b="1" noProof="0" dirty="0">
                    <a:ln>
                      <a:noFill/>
                    </a:ln>
                    <a:solidFill>
                      <a:schemeClr val="accent1">
                        <a:lumMod val="75000"/>
                      </a:schemeClr>
                    </a:solidFill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策略管理</a:t>
                </a:r>
              </a:p>
            </p:txBody>
          </p:sp>
          <p:sp>
            <p:nvSpPr>
              <p:cNvPr id="47" name="圆角矩形 46"/>
              <p:cNvSpPr/>
              <p:nvPr>
                <p:custDataLst>
                  <p:tags r:id="rId39"/>
                </p:custDataLst>
              </p:nvPr>
            </p:nvSpPr>
            <p:spPr>
              <a:xfrm>
                <a:off x="10650" y="4006"/>
                <a:ext cx="1498" cy="407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0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策略编写</a:t>
                </a:r>
              </a:p>
            </p:txBody>
          </p:sp>
          <p:sp>
            <p:nvSpPr>
              <p:cNvPr id="48" name="圆角矩形 47"/>
              <p:cNvSpPr/>
              <p:nvPr>
                <p:custDataLst>
                  <p:tags r:id="rId40"/>
                </p:custDataLst>
              </p:nvPr>
            </p:nvSpPr>
            <p:spPr>
              <a:xfrm>
                <a:off x="10599" y="5137"/>
                <a:ext cx="1633" cy="512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0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策略版本管理</a:t>
                </a:r>
              </a:p>
            </p:txBody>
          </p:sp>
          <p:sp>
            <p:nvSpPr>
              <p:cNvPr id="49" name="圆角矩形 48"/>
              <p:cNvSpPr/>
              <p:nvPr>
                <p:custDataLst>
                  <p:tags r:id="rId41"/>
                </p:custDataLst>
              </p:nvPr>
            </p:nvSpPr>
            <p:spPr>
              <a:xfrm>
                <a:off x="10460" y="4497"/>
                <a:ext cx="1912" cy="556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en-US" altLang="zh-CN" sz="10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AI</a:t>
                </a:r>
                <a:r>
                  <a:rPr lang="zh-CN" altLang="en-US" sz="10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辅助策略开发</a:t>
                </a:r>
              </a:p>
            </p:txBody>
          </p:sp>
        </p:grpSp>
        <p:grpSp>
          <p:nvGrpSpPr>
            <p:cNvPr id="70" name="组合 69"/>
            <p:cNvGrpSpPr/>
            <p:nvPr/>
          </p:nvGrpSpPr>
          <p:grpSpPr>
            <a:xfrm>
              <a:off x="10351" y="6001"/>
              <a:ext cx="2097" cy="2364"/>
              <a:chOff x="2727" y="5256"/>
              <a:chExt cx="2097" cy="2364"/>
            </a:xfrm>
          </p:grpSpPr>
          <p:sp>
            <p:nvSpPr>
              <p:cNvPr id="52" name="Rounded Rectangle 15"/>
              <p:cNvSpPr/>
              <p:nvPr>
                <p:custDataLst>
                  <p:tags r:id="rId34"/>
                </p:custDataLst>
              </p:nvPr>
            </p:nvSpPr>
            <p:spPr bwMode="auto">
              <a:xfrm>
                <a:off x="2727" y="5256"/>
                <a:ext cx="2097" cy="2364"/>
              </a:xfrm>
              <a:prstGeom prst="roundRect">
                <a:avLst>
                  <a:gd name="adj" fmla="val 9385"/>
                </a:avLst>
              </a:prstGeom>
              <a:solidFill>
                <a:schemeClr val="bg1">
                  <a:alpha val="50000"/>
                </a:scheme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vert="horz" wrap="square" lIns="90170" tIns="46990" rIns="90170" bIns="46990" numCol="1" rtlCol="0" anchor="t" anchorCtr="0" compatLnSpc="0">
                <a:noAutofit/>
              </a:bodyPr>
              <a:lstStyle/>
              <a:p>
                <a:pPr lvl="0" algn="ctr" defTabSz="914400" eaLnBrk="1" fontAlgn="auto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defRPr/>
                </a:pPr>
                <a:r>
                  <a:rPr lang="zh-CN" altLang="en-US" sz="1200" b="1" noProof="0" dirty="0">
                    <a:ln>
                      <a:noFill/>
                    </a:ln>
                    <a:solidFill>
                      <a:schemeClr val="accent1">
                        <a:lumMod val="75000"/>
                      </a:schemeClr>
                    </a:solidFill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回测管理</a:t>
                </a:r>
              </a:p>
            </p:txBody>
          </p:sp>
          <p:sp>
            <p:nvSpPr>
              <p:cNvPr id="59" name="圆角矩形 58"/>
              <p:cNvSpPr/>
              <p:nvPr>
                <p:custDataLst>
                  <p:tags r:id="rId35"/>
                </p:custDataLst>
              </p:nvPr>
            </p:nvSpPr>
            <p:spPr>
              <a:xfrm>
                <a:off x="3067" y="5747"/>
                <a:ext cx="1498" cy="407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0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风险计量</a:t>
                </a:r>
              </a:p>
            </p:txBody>
          </p:sp>
          <p:sp>
            <p:nvSpPr>
              <p:cNvPr id="61" name="圆角矩形 60"/>
              <p:cNvSpPr/>
              <p:nvPr>
                <p:custDataLst>
                  <p:tags r:id="rId36"/>
                </p:custDataLst>
              </p:nvPr>
            </p:nvSpPr>
            <p:spPr>
              <a:xfrm>
                <a:off x="2958" y="6319"/>
                <a:ext cx="1498" cy="407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0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绩效归因</a:t>
                </a:r>
              </a:p>
            </p:txBody>
          </p:sp>
          <p:sp>
            <p:nvSpPr>
              <p:cNvPr id="69" name="圆角矩形 68"/>
              <p:cNvSpPr/>
              <p:nvPr>
                <p:custDataLst>
                  <p:tags r:id="rId37"/>
                </p:custDataLst>
              </p:nvPr>
            </p:nvSpPr>
            <p:spPr>
              <a:xfrm>
                <a:off x="2958" y="6891"/>
                <a:ext cx="1787" cy="582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en-US" altLang="zh-CN" sz="10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AlphaLens</a:t>
                </a:r>
                <a:r>
                  <a:rPr lang="zh-CN" altLang="en-US" sz="10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分析</a:t>
                </a:r>
              </a:p>
            </p:txBody>
          </p:sp>
        </p:grpSp>
      </p:grpSp>
      <p:grpSp>
        <p:nvGrpSpPr>
          <p:cNvPr id="138" name="组合 137"/>
          <p:cNvGrpSpPr/>
          <p:nvPr/>
        </p:nvGrpSpPr>
        <p:grpSpPr>
          <a:xfrm>
            <a:off x="4648200" y="1555115"/>
            <a:ext cx="1869440" cy="3260725"/>
            <a:chOff x="5780" y="2751"/>
            <a:chExt cx="3356" cy="6161"/>
          </a:xfrm>
        </p:grpSpPr>
        <p:sp>
          <p:nvSpPr>
            <p:cNvPr id="22" name="圆角矩形 60"/>
            <p:cNvSpPr/>
            <p:nvPr>
              <p:custDataLst>
                <p:tags r:id="rId27"/>
              </p:custDataLst>
            </p:nvPr>
          </p:nvSpPr>
          <p:spPr bwMode="auto">
            <a:xfrm>
              <a:off x="5780" y="2751"/>
              <a:ext cx="3356" cy="6161"/>
            </a:xfrm>
            <a:prstGeom prst="roundRect">
              <a:avLst>
                <a:gd name="adj" fmla="val 2712"/>
              </a:avLst>
            </a:prstGeom>
            <a:solidFill>
              <a:srgbClr val="225FD1"/>
            </a:solidFill>
            <a:ln w="9525" cap="flat" cmpd="sng" algn="ctr">
              <a:noFill/>
              <a:prstDash val="dash"/>
              <a:round/>
              <a:headEnd type="none" w="med" len="med"/>
              <a:tailEnd type="none" w="med" len="med"/>
            </a:ln>
          </p:spPr>
          <p:txBody>
            <a:bodyPr vert="horz" wrap="square" lIns="0" tIns="0" rIns="0" bIns="0" numCol="1" rtlCol="0" anchor="t" anchorCtr="0" compatLnSpc="1">
              <a:noAutofit/>
            </a:bodyPr>
            <a:lstStyle/>
            <a:p>
              <a:pPr algn="ctr" defTabSz="914400" eaLnBrk="1" fontAlgn="auto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zh-CN" sz="1400" kern="0" dirty="0">
                  <a:solidFill>
                    <a:prstClr val="white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0000500000000000000" charset="-122"/>
                  <a:ea typeface="微软雅黑" panose="00000500000000000000" charset="-122"/>
                  <a:cs typeface="Arial" panose="020B0704020202020204" pitchFamily="34" charset="0"/>
                  <a:sym typeface="Arial" panose="020B0704020202020204" pitchFamily="34" charset="0"/>
                </a:rPr>
                <a:t>    </a:t>
              </a:r>
              <a:r>
                <a:rPr lang="zh-CN" altLang="en-US" sz="1400" kern="0" dirty="0">
                  <a:solidFill>
                    <a:prstClr val="white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0000500000000000000" charset="-122"/>
                  <a:ea typeface="微软雅黑" panose="00000500000000000000" charset="-122"/>
                  <a:cs typeface="Arial" panose="020B0704020202020204" pitchFamily="34" charset="0"/>
                  <a:sym typeface="Arial" panose="020B0704020202020204" pitchFamily="34" charset="0"/>
                </a:rPr>
                <a:t>因子挖掘</a:t>
              </a:r>
            </a:p>
          </p:txBody>
        </p:sp>
        <p:sp>
          <p:nvSpPr>
            <p:cNvPr id="78" name="圆角矩形 77"/>
            <p:cNvSpPr/>
            <p:nvPr>
              <p:custDataLst>
                <p:tags r:id="rId28"/>
              </p:custDataLst>
            </p:nvPr>
          </p:nvSpPr>
          <p:spPr>
            <a:xfrm>
              <a:off x="6912" y="3751"/>
              <a:ext cx="1498" cy="407"/>
            </a:xfrm>
            <a:prstGeom prst="roundRect">
              <a:avLst>
                <a:gd name="adj" fmla="val 29484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 defTabSz="914400" eaLnBrk="1" fontAlgn="auto" hangingPunct="1">
                <a:buClrTx/>
                <a:buSzTx/>
                <a:buFontTx/>
              </a:pPr>
              <a:r>
                <a:rPr lang="zh-CN" altLang="en-US" sz="1000">
                  <a:solidFill>
                    <a:schemeClr val="tx1"/>
                  </a:solidFill>
                  <a:latin typeface="微软雅黑" panose="00000500000000000000" charset="-122"/>
                  <a:ea typeface="微软雅黑" panose="00000500000000000000" charset="-122"/>
                  <a:sym typeface="+mn-ea"/>
                </a:rPr>
                <a:t>因子编写</a:t>
              </a:r>
              <a:endParaRPr lang="en-US" altLang="zh-CN" sz="1000">
                <a:solidFill>
                  <a:schemeClr val="tx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endParaRPr>
            </a:p>
          </p:txBody>
        </p:sp>
        <p:sp>
          <p:nvSpPr>
            <p:cNvPr id="79" name="圆角矩形 78"/>
            <p:cNvSpPr/>
            <p:nvPr>
              <p:custDataLst>
                <p:tags r:id="rId29"/>
              </p:custDataLst>
            </p:nvPr>
          </p:nvSpPr>
          <p:spPr>
            <a:xfrm>
              <a:off x="6919" y="4700"/>
              <a:ext cx="1498" cy="407"/>
            </a:xfrm>
            <a:prstGeom prst="roundRect">
              <a:avLst>
                <a:gd name="adj" fmla="val 29484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 defTabSz="914400" eaLnBrk="1" fontAlgn="auto" hangingPunct="1">
                <a:buClrTx/>
                <a:buSzTx/>
                <a:buFontTx/>
              </a:pPr>
              <a:r>
                <a:rPr lang="zh-CN" altLang="en-US" sz="1000">
                  <a:solidFill>
                    <a:schemeClr val="tx1"/>
                  </a:solidFill>
                  <a:latin typeface="微软雅黑" panose="00000500000000000000" charset="-122"/>
                  <a:ea typeface="微软雅黑" panose="00000500000000000000" charset="-122"/>
                  <a:sym typeface="+mn-ea"/>
                </a:rPr>
                <a:t>信号生成</a:t>
              </a:r>
            </a:p>
          </p:txBody>
        </p:sp>
        <p:sp>
          <p:nvSpPr>
            <p:cNvPr id="82" name="圆角矩形 81"/>
            <p:cNvSpPr/>
            <p:nvPr>
              <p:custDataLst>
                <p:tags r:id="rId30"/>
              </p:custDataLst>
            </p:nvPr>
          </p:nvSpPr>
          <p:spPr>
            <a:xfrm>
              <a:off x="6796" y="5224"/>
              <a:ext cx="1787" cy="407"/>
            </a:xfrm>
            <a:prstGeom prst="roundRect">
              <a:avLst>
                <a:gd name="adj" fmla="val 29484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 defTabSz="914400" eaLnBrk="1" fontAlgn="auto" hangingPunct="1">
                <a:buClrTx/>
                <a:buSzTx/>
                <a:buFontTx/>
              </a:pPr>
              <a:r>
                <a:rPr lang="zh-CN" altLang="en-US" sz="1000">
                  <a:solidFill>
                    <a:schemeClr val="tx1"/>
                  </a:solidFill>
                  <a:latin typeface="微软雅黑" panose="00000500000000000000" charset="-122"/>
                  <a:ea typeface="微软雅黑" panose="00000500000000000000" charset="-122"/>
                  <a:sym typeface="+mn-ea"/>
                </a:rPr>
                <a:t>因子库</a:t>
              </a:r>
            </a:p>
          </p:txBody>
        </p:sp>
        <p:sp>
          <p:nvSpPr>
            <p:cNvPr id="83" name="圆角矩形 82"/>
            <p:cNvSpPr/>
            <p:nvPr>
              <p:custDataLst>
                <p:tags r:id="rId31"/>
              </p:custDataLst>
            </p:nvPr>
          </p:nvSpPr>
          <p:spPr>
            <a:xfrm>
              <a:off x="6796" y="4226"/>
              <a:ext cx="1621" cy="407"/>
            </a:xfrm>
            <a:prstGeom prst="roundRect">
              <a:avLst>
                <a:gd name="adj" fmla="val 29484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 defTabSz="914400" eaLnBrk="1" fontAlgn="auto" hangingPunct="1">
                <a:buClrTx/>
                <a:buSzTx/>
                <a:buFontTx/>
              </a:pPr>
              <a:r>
                <a:rPr lang="en-US" altLang="zh-CN" sz="1000">
                  <a:solidFill>
                    <a:schemeClr val="tx1"/>
                  </a:solidFill>
                  <a:latin typeface="微软雅黑" panose="00000500000000000000" charset="-122"/>
                  <a:ea typeface="微软雅黑" panose="00000500000000000000" charset="-122"/>
                  <a:sym typeface="+mn-ea"/>
                </a:rPr>
                <a:t>AI</a:t>
              </a:r>
              <a:r>
                <a:rPr lang="zh-CN" altLang="en-US" sz="1000">
                  <a:solidFill>
                    <a:schemeClr val="tx1"/>
                  </a:solidFill>
                  <a:latin typeface="微软雅黑" panose="00000500000000000000" charset="-122"/>
                  <a:ea typeface="微软雅黑" panose="00000500000000000000" charset="-122"/>
                  <a:sym typeface="+mn-ea"/>
                </a:rPr>
                <a:t>因子生成</a:t>
              </a:r>
              <a:endParaRPr lang="en-US" altLang="zh-CN" sz="1000">
                <a:solidFill>
                  <a:schemeClr val="tx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endParaRPr>
            </a:p>
          </p:txBody>
        </p:sp>
        <p:sp>
          <p:nvSpPr>
            <p:cNvPr id="85" name="圆角矩形 84"/>
            <p:cNvSpPr/>
            <p:nvPr>
              <p:custDataLst>
                <p:tags r:id="rId32"/>
              </p:custDataLst>
            </p:nvPr>
          </p:nvSpPr>
          <p:spPr>
            <a:xfrm>
              <a:off x="6796" y="5748"/>
              <a:ext cx="1787" cy="407"/>
            </a:xfrm>
            <a:prstGeom prst="roundRect">
              <a:avLst>
                <a:gd name="adj" fmla="val 29484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lstStyle/>
            <a:p>
              <a:pPr lvl="0" algn="ctr" defTabSz="914400" eaLnBrk="1" fontAlgn="auto" hangingPunct="1">
                <a:buClrTx/>
                <a:buSzTx/>
                <a:buFontTx/>
              </a:pPr>
              <a:r>
                <a:rPr lang="zh-CN" altLang="en-US" sz="1000">
                  <a:solidFill>
                    <a:schemeClr val="tx1"/>
                  </a:solidFill>
                  <a:latin typeface="微软雅黑" panose="00000500000000000000" charset="-122"/>
                  <a:ea typeface="微软雅黑" panose="00000500000000000000" charset="-122"/>
                  <a:sym typeface="+mn-ea"/>
                </a:rPr>
                <a:t>量化模型库</a:t>
              </a:r>
            </a:p>
          </p:txBody>
        </p:sp>
      </p:grpSp>
      <p:grpSp>
        <p:nvGrpSpPr>
          <p:cNvPr id="118" name="组合 117"/>
          <p:cNvGrpSpPr/>
          <p:nvPr/>
        </p:nvGrpSpPr>
        <p:grpSpPr>
          <a:xfrm>
            <a:off x="2511425" y="1539240"/>
            <a:ext cx="1920240" cy="3287395"/>
            <a:chOff x="1975" y="2697"/>
            <a:chExt cx="3356" cy="6162"/>
          </a:xfrm>
        </p:grpSpPr>
        <p:sp>
          <p:nvSpPr>
            <p:cNvPr id="41" name="圆角矩形 60"/>
            <p:cNvSpPr/>
            <p:nvPr>
              <p:custDataLst>
                <p:tags r:id="rId16"/>
              </p:custDataLst>
            </p:nvPr>
          </p:nvSpPr>
          <p:spPr bwMode="auto">
            <a:xfrm>
              <a:off x="1975" y="2697"/>
              <a:ext cx="3356" cy="6162"/>
            </a:xfrm>
            <a:prstGeom prst="roundRect">
              <a:avLst>
                <a:gd name="adj" fmla="val 2712"/>
              </a:avLst>
            </a:prstGeom>
            <a:solidFill>
              <a:srgbClr val="225FD1"/>
            </a:solidFill>
            <a:ln w="9525" cap="flat" cmpd="sng" algn="ctr">
              <a:noFill/>
              <a:prstDash val="dash"/>
              <a:round/>
              <a:headEnd type="none" w="med" len="med"/>
              <a:tailEnd type="none" w="med" len="med"/>
            </a:ln>
          </p:spPr>
          <p:txBody>
            <a:bodyPr vert="horz" wrap="square" lIns="0" tIns="0" rIns="0" bIns="0" numCol="1" rtlCol="0" anchor="t" anchorCtr="0" compatLnSpc="1">
              <a:noAutofit/>
            </a:bodyPr>
            <a:lstStyle/>
            <a:p>
              <a:pPr algn="ctr" defTabSz="914400" eaLnBrk="1" fontAlgn="auto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zh-CN" sz="1400" kern="0" dirty="0">
                  <a:solidFill>
                    <a:prstClr val="white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0000500000000000000" charset="-122"/>
                  <a:ea typeface="微软雅黑" panose="00000500000000000000" charset="-122"/>
                  <a:cs typeface="Arial" panose="020B0704020202020204" pitchFamily="34" charset="0"/>
                  <a:sym typeface="Arial" panose="020B0704020202020204" pitchFamily="34" charset="0"/>
                </a:rPr>
                <a:t>    </a:t>
              </a:r>
              <a:r>
                <a:rPr lang="zh-CN" altLang="en-US" sz="1400" kern="0" dirty="0">
                  <a:solidFill>
                    <a:prstClr val="white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0000500000000000000" charset="-122"/>
                  <a:ea typeface="微软雅黑" panose="00000500000000000000" charset="-122"/>
                  <a:cs typeface="Arial" panose="020B0704020202020204" pitchFamily="34" charset="0"/>
                  <a:sym typeface="Arial" panose="020B0704020202020204" pitchFamily="34" charset="0"/>
                </a:rPr>
                <a:t>行情分析</a:t>
              </a:r>
            </a:p>
          </p:txBody>
        </p:sp>
        <p:grpSp>
          <p:nvGrpSpPr>
            <p:cNvPr id="103" name="组合 102"/>
            <p:cNvGrpSpPr/>
            <p:nvPr/>
          </p:nvGrpSpPr>
          <p:grpSpPr>
            <a:xfrm>
              <a:off x="2727" y="3383"/>
              <a:ext cx="2097" cy="2499"/>
              <a:chOff x="2683" y="4565"/>
              <a:chExt cx="2097" cy="2499"/>
            </a:xfrm>
          </p:grpSpPr>
          <p:sp>
            <p:nvSpPr>
              <p:cNvPr id="76" name="Rounded Rectangle 15"/>
              <p:cNvSpPr/>
              <p:nvPr>
                <p:custDataLst>
                  <p:tags r:id="rId22"/>
                </p:custDataLst>
              </p:nvPr>
            </p:nvSpPr>
            <p:spPr bwMode="auto">
              <a:xfrm>
                <a:off x="2683" y="4565"/>
                <a:ext cx="2097" cy="2499"/>
              </a:xfrm>
              <a:prstGeom prst="roundRect">
                <a:avLst>
                  <a:gd name="adj" fmla="val 9385"/>
                </a:avLst>
              </a:prstGeom>
              <a:solidFill>
                <a:schemeClr val="bg1">
                  <a:alpha val="50000"/>
                </a:scheme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vert="horz" wrap="square" lIns="90170" tIns="46990" rIns="90170" bIns="46990" numCol="1" rtlCol="0" anchor="t" anchorCtr="0" compatLnSpc="0">
                <a:noAutofit/>
              </a:bodyPr>
              <a:lstStyle/>
              <a:p>
                <a:pPr lvl="0" algn="ctr" defTabSz="914400" eaLnBrk="1" fontAlgn="auto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defRPr/>
                </a:pPr>
                <a:r>
                  <a:rPr lang="zh-CN" altLang="en-US" sz="1200" b="1" noProof="0" dirty="0">
                    <a:ln>
                      <a:noFill/>
                    </a:ln>
                    <a:solidFill>
                      <a:schemeClr val="accent1">
                        <a:lumMod val="75000"/>
                      </a:schemeClr>
                    </a:solidFill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实时行情</a:t>
                </a:r>
              </a:p>
            </p:txBody>
          </p:sp>
          <p:sp>
            <p:nvSpPr>
              <p:cNvPr id="87" name="圆角矩形 86"/>
              <p:cNvSpPr/>
              <p:nvPr>
                <p:custDataLst>
                  <p:tags r:id="rId23"/>
                </p:custDataLst>
              </p:nvPr>
            </p:nvSpPr>
            <p:spPr>
              <a:xfrm>
                <a:off x="2958" y="5056"/>
                <a:ext cx="1498" cy="407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0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现券行情</a:t>
                </a:r>
              </a:p>
            </p:txBody>
          </p:sp>
          <p:sp>
            <p:nvSpPr>
              <p:cNvPr id="88" name="圆角矩形 87"/>
              <p:cNvSpPr/>
              <p:nvPr>
                <p:custDataLst>
                  <p:tags r:id="rId24"/>
                </p:custDataLst>
              </p:nvPr>
            </p:nvSpPr>
            <p:spPr>
              <a:xfrm>
                <a:off x="2871" y="5594"/>
                <a:ext cx="1884" cy="407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0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国债期货行情</a:t>
                </a:r>
              </a:p>
            </p:txBody>
          </p:sp>
          <p:sp>
            <p:nvSpPr>
              <p:cNvPr id="89" name="圆角矩形 88"/>
              <p:cNvSpPr/>
              <p:nvPr>
                <p:custDataLst>
                  <p:tags r:id="rId25"/>
                </p:custDataLst>
              </p:nvPr>
            </p:nvSpPr>
            <p:spPr>
              <a:xfrm>
                <a:off x="2958" y="6092"/>
                <a:ext cx="1498" cy="407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0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股票行情</a:t>
                </a:r>
              </a:p>
            </p:txBody>
          </p:sp>
          <p:sp>
            <p:nvSpPr>
              <p:cNvPr id="96" name="圆角矩形 95"/>
              <p:cNvSpPr/>
              <p:nvPr>
                <p:custDataLst>
                  <p:tags r:id="rId26"/>
                </p:custDataLst>
              </p:nvPr>
            </p:nvSpPr>
            <p:spPr>
              <a:xfrm>
                <a:off x="2958" y="6610"/>
                <a:ext cx="1498" cy="407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0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商品行情</a:t>
                </a:r>
              </a:p>
            </p:txBody>
          </p:sp>
        </p:grpSp>
        <p:grpSp>
          <p:nvGrpSpPr>
            <p:cNvPr id="117" name="组合 116"/>
            <p:cNvGrpSpPr/>
            <p:nvPr/>
          </p:nvGrpSpPr>
          <p:grpSpPr>
            <a:xfrm>
              <a:off x="2702" y="6001"/>
              <a:ext cx="2096" cy="2498"/>
              <a:chOff x="2702" y="6001"/>
              <a:chExt cx="2096" cy="2498"/>
            </a:xfrm>
          </p:grpSpPr>
          <p:sp>
            <p:nvSpPr>
              <p:cNvPr id="107" name="Rounded Rectangle 15"/>
              <p:cNvSpPr/>
              <p:nvPr>
                <p:custDataLst>
                  <p:tags r:id="rId17"/>
                </p:custDataLst>
              </p:nvPr>
            </p:nvSpPr>
            <p:spPr bwMode="auto">
              <a:xfrm>
                <a:off x="2702" y="6001"/>
                <a:ext cx="2097" cy="2499"/>
              </a:xfrm>
              <a:prstGeom prst="roundRect">
                <a:avLst>
                  <a:gd name="adj" fmla="val 9385"/>
                </a:avLst>
              </a:prstGeom>
              <a:solidFill>
                <a:schemeClr val="bg1">
                  <a:alpha val="50000"/>
                </a:scheme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vert="horz" wrap="square" lIns="90170" tIns="46990" rIns="90170" bIns="46990" numCol="1" rtlCol="0" anchor="t" anchorCtr="0" compatLnSpc="0">
                <a:noAutofit/>
              </a:bodyPr>
              <a:lstStyle/>
              <a:p>
                <a:pPr lvl="0" algn="ctr" defTabSz="914400" eaLnBrk="1" fontAlgn="auto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defRPr/>
                </a:pPr>
                <a:r>
                  <a:rPr lang="zh-CN" altLang="en-US" sz="1200" b="1" noProof="0" dirty="0">
                    <a:ln>
                      <a:noFill/>
                    </a:ln>
                    <a:solidFill>
                      <a:schemeClr val="accent1">
                        <a:lumMod val="75000"/>
                      </a:schemeClr>
                    </a:solidFill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历史行情回放</a:t>
                </a:r>
              </a:p>
            </p:txBody>
          </p:sp>
          <p:sp>
            <p:nvSpPr>
              <p:cNvPr id="109" name="圆角矩形 108"/>
              <p:cNvSpPr/>
              <p:nvPr>
                <p:custDataLst>
                  <p:tags r:id="rId18"/>
                </p:custDataLst>
              </p:nvPr>
            </p:nvSpPr>
            <p:spPr>
              <a:xfrm>
                <a:off x="3002" y="6506"/>
                <a:ext cx="1498" cy="407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0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现券行情</a:t>
                </a:r>
              </a:p>
            </p:txBody>
          </p:sp>
          <p:sp>
            <p:nvSpPr>
              <p:cNvPr id="111" name="圆角矩形 110"/>
              <p:cNvSpPr/>
              <p:nvPr>
                <p:custDataLst>
                  <p:tags r:id="rId19"/>
                </p:custDataLst>
              </p:nvPr>
            </p:nvSpPr>
            <p:spPr>
              <a:xfrm>
                <a:off x="3002" y="7017"/>
                <a:ext cx="1606" cy="407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0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国债期货行情</a:t>
                </a:r>
              </a:p>
            </p:txBody>
          </p:sp>
          <p:sp>
            <p:nvSpPr>
              <p:cNvPr id="112" name="圆角矩形 111"/>
              <p:cNvSpPr/>
              <p:nvPr>
                <p:custDataLst>
                  <p:tags r:id="rId20"/>
                </p:custDataLst>
              </p:nvPr>
            </p:nvSpPr>
            <p:spPr>
              <a:xfrm>
                <a:off x="3002" y="7521"/>
                <a:ext cx="1498" cy="407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0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股票行情</a:t>
                </a:r>
              </a:p>
            </p:txBody>
          </p:sp>
          <p:sp>
            <p:nvSpPr>
              <p:cNvPr id="116" name="圆角矩形 115"/>
              <p:cNvSpPr/>
              <p:nvPr>
                <p:custDataLst>
                  <p:tags r:id="rId21"/>
                </p:custDataLst>
              </p:nvPr>
            </p:nvSpPr>
            <p:spPr>
              <a:xfrm>
                <a:off x="3002" y="8043"/>
                <a:ext cx="1498" cy="407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0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商品行情</a:t>
                </a:r>
              </a:p>
            </p:txBody>
          </p:sp>
        </p:grpSp>
      </p:grpSp>
      <p:grpSp>
        <p:nvGrpSpPr>
          <p:cNvPr id="154" name="组合 153"/>
          <p:cNvGrpSpPr/>
          <p:nvPr/>
        </p:nvGrpSpPr>
        <p:grpSpPr>
          <a:xfrm>
            <a:off x="2435225" y="4885055"/>
            <a:ext cx="8023860" cy="494030"/>
            <a:chOff x="3955" y="8086"/>
            <a:chExt cx="12636" cy="778"/>
          </a:xfrm>
        </p:grpSpPr>
        <p:sp>
          <p:nvSpPr>
            <p:cNvPr id="24" name="圆角矩形 60"/>
            <p:cNvSpPr/>
            <p:nvPr>
              <p:custDataLst>
                <p:tags r:id="rId9"/>
              </p:custDataLst>
            </p:nvPr>
          </p:nvSpPr>
          <p:spPr bwMode="auto">
            <a:xfrm>
              <a:off x="3955" y="8086"/>
              <a:ext cx="12636" cy="778"/>
            </a:xfrm>
            <a:prstGeom prst="roundRect">
              <a:avLst>
                <a:gd name="adj" fmla="val 15167"/>
              </a:avLst>
            </a:prstGeom>
            <a:solidFill>
              <a:srgbClr val="225FD1"/>
            </a:solidFill>
            <a:ln w="9525" cap="flat" cmpd="sng" algn="ctr">
              <a:noFill/>
              <a:prstDash val="dash"/>
              <a:round/>
              <a:headEnd type="none" w="med" len="med"/>
              <a:tailEnd type="none" w="med" len="med"/>
            </a:ln>
          </p:spPr>
          <p:txBody>
            <a:bodyPr vert="horz" wrap="square" lIns="0" tIns="0" rIns="0" bIns="0" numCol="1" rtlCol="0" anchor="ctr" anchorCtr="0" compatLnSpc="1">
              <a:noAutofit/>
            </a:bodyPr>
            <a:lstStyle/>
            <a:p>
              <a:pPr lvl="0" algn="l" defTabSz="914400" eaLnBrk="1" fontAlgn="auto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defRPr/>
              </a:pPr>
              <a:r>
                <a:rPr lang="en-US" altLang="zh-CN" sz="1400" kern="0" dirty="0">
                  <a:solidFill>
                    <a:prstClr val="white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0000500000000000000" charset="-122"/>
                  <a:ea typeface="微软雅黑" panose="00000500000000000000" charset="-122"/>
                  <a:cs typeface="Arial" panose="020B0704020202020204" pitchFamily="34" charset="0"/>
                  <a:sym typeface="Arial" panose="020B0704020202020204" pitchFamily="34" charset="0"/>
                </a:rPr>
                <a:t> </a:t>
              </a:r>
              <a:r>
                <a:rPr lang="zh-CN" altLang="en-US" sz="1400" kern="0" dirty="0">
                  <a:solidFill>
                    <a:prstClr val="white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0000500000000000000" charset="-122"/>
                  <a:ea typeface="微软雅黑" panose="00000500000000000000" charset="-122"/>
                  <a:cs typeface="Arial" panose="020B0704020202020204" pitchFamily="34" charset="0"/>
                  <a:sym typeface="Arial" panose="020B0704020202020204" pitchFamily="34" charset="0"/>
                </a:rPr>
                <a:t>策略</a:t>
              </a:r>
            </a:p>
          </p:txBody>
        </p:sp>
        <p:sp>
          <p:nvSpPr>
            <p:cNvPr id="136" name="Rounded Rectangle 15"/>
            <p:cNvSpPr/>
            <p:nvPr>
              <p:custDataLst>
                <p:tags r:id="rId10"/>
              </p:custDataLst>
            </p:nvPr>
          </p:nvSpPr>
          <p:spPr bwMode="auto">
            <a:xfrm>
              <a:off x="5055" y="8248"/>
              <a:ext cx="1832" cy="454"/>
            </a:xfrm>
            <a:prstGeom prst="roundRect">
              <a:avLst>
                <a:gd name="adj" fmla="val 9385"/>
              </a:avLst>
            </a:prstGeom>
            <a:solidFill>
              <a:srgbClr val="379DFF"/>
            </a:solidFill>
            <a:ln w="63500" cmpd="sng">
              <a:noFill/>
            </a:ln>
          </p:spPr>
          <p:txBody>
            <a:bodyPr vert="horz" wrap="square" lIns="0" tIns="0" rIns="0" bIns="0" numCol="1" rtlCol="0" anchor="ctr" anchorCtr="0" compatLnSpc="1">
              <a:noAutofit/>
            </a:bodyPr>
            <a:lstStyle/>
            <a:p>
              <a:pPr algn="ctr" defTabSz="914400" eaLnBrk="1" fontAlgn="auto" hangingPunct="1"/>
              <a:r>
                <a:rPr lang="zh-CN" altLang="en-US" sz="12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0000500000000000000" charset="-122"/>
                  <a:ea typeface="微软雅黑" panose="00000500000000000000" charset="-122"/>
                  <a:sym typeface="+mn-ea"/>
                </a:rPr>
                <a:t>利差策略</a:t>
              </a:r>
            </a:p>
          </p:txBody>
        </p:sp>
        <p:sp>
          <p:nvSpPr>
            <p:cNvPr id="149" name="Rounded Rectangle 15"/>
            <p:cNvSpPr/>
            <p:nvPr>
              <p:custDataLst>
                <p:tags r:id="rId11"/>
              </p:custDataLst>
            </p:nvPr>
          </p:nvSpPr>
          <p:spPr bwMode="auto">
            <a:xfrm>
              <a:off x="6979" y="8248"/>
              <a:ext cx="1832" cy="454"/>
            </a:xfrm>
            <a:prstGeom prst="roundRect">
              <a:avLst>
                <a:gd name="adj" fmla="val 9385"/>
              </a:avLst>
            </a:prstGeom>
            <a:solidFill>
              <a:srgbClr val="379DFF"/>
            </a:solidFill>
            <a:ln w="63500" cmpd="sng">
              <a:noFill/>
            </a:ln>
          </p:spPr>
          <p:txBody>
            <a:bodyPr vert="horz" wrap="square" lIns="0" tIns="0" rIns="0" bIns="0" numCol="1" rtlCol="0" anchor="ctr" anchorCtr="0" compatLnSpc="1">
              <a:noAutofit/>
            </a:bodyPr>
            <a:lstStyle/>
            <a:p>
              <a:pPr algn="ctr" defTabSz="914400" eaLnBrk="1" fontAlgn="auto" hangingPunct="1"/>
              <a:r>
                <a:rPr lang="zh-CN" altLang="en-US" sz="12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0000500000000000000" charset="-122"/>
                  <a:ea typeface="微软雅黑" panose="00000500000000000000" charset="-122"/>
                  <a:sym typeface="+mn-ea"/>
                </a:rPr>
                <a:t>基差策略</a:t>
              </a:r>
            </a:p>
          </p:txBody>
        </p:sp>
        <p:sp>
          <p:nvSpPr>
            <p:cNvPr id="150" name="Rounded Rectangle 15"/>
            <p:cNvSpPr/>
            <p:nvPr>
              <p:custDataLst>
                <p:tags r:id="rId12"/>
              </p:custDataLst>
            </p:nvPr>
          </p:nvSpPr>
          <p:spPr bwMode="auto">
            <a:xfrm>
              <a:off x="8890" y="8248"/>
              <a:ext cx="1969" cy="454"/>
            </a:xfrm>
            <a:prstGeom prst="roundRect">
              <a:avLst>
                <a:gd name="adj" fmla="val 9385"/>
              </a:avLst>
            </a:prstGeom>
            <a:solidFill>
              <a:srgbClr val="379DFF"/>
            </a:solidFill>
            <a:ln w="63500" cmpd="sng">
              <a:noFill/>
            </a:ln>
          </p:spPr>
          <p:txBody>
            <a:bodyPr vert="horz" wrap="square" lIns="0" tIns="0" rIns="0" bIns="0" numCol="1" rtlCol="0" anchor="ctr" anchorCtr="0" compatLnSpc="1">
              <a:noAutofit/>
            </a:bodyPr>
            <a:lstStyle/>
            <a:p>
              <a:pPr algn="ctr" defTabSz="914400" eaLnBrk="1" fontAlgn="auto" hangingPunct="1"/>
              <a:r>
                <a:rPr lang="zh-CN" altLang="en-US" sz="12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0000500000000000000" charset="-122"/>
                  <a:ea typeface="微软雅黑" panose="00000500000000000000" charset="-122"/>
                  <a:sym typeface="+mn-ea"/>
                </a:rPr>
                <a:t>跨市场套利策略</a:t>
              </a:r>
            </a:p>
          </p:txBody>
        </p:sp>
        <p:sp>
          <p:nvSpPr>
            <p:cNvPr id="151" name="Rounded Rectangle 15"/>
            <p:cNvSpPr/>
            <p:nvPr>
              <p:custDataLst>
                <p:tags r:id="rId13"/>
              </p:custDataLst>
            </p:nvPr>
          </p:nvSpPr>
          <p:spPr bwMode="auto">
            <a:xfrm>
              <a:off x="10983" y="8248"/>
              <a:ext cx="1969" cy="454"/>
            </a:xfrm>
            <a:prstGeom prst="roundRect">
              <a:avLst>
                <a:gd name="adj" fmla="val 9385"/>
              </a:avLst>
            </a:prstGeom>
            <a:solidFill>
              <a:srgbClr val="379DFF"/>
            </a:solidFill>
            <a:ln w="63500" cmpd="sng">
              <a:noFill/>
            </a:ln>
          </p:spPr>
          <p:txBody>
            <a:bodyPr vert="horz" wrap="square" lIns="0" tIns="0" rIns="0" bIns="0" numCol="1" rtlCol="0" anchor="ctr" anchorCtr="0" compatLnSpc="1">
              <a:noAutofit/>
            </a:bodyPr>
            <a:lstStyle/>
            <a:p>
              <a:pPr algn="ctr" defTabSz="914400" eaLnBrk="1" fontAlgn="auto" hangingPunct="1"/>
              <a:r>
                <a:rPr lang="zh-CN" altLang="en-US" sz="12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0000500000000000000" charset="-122"/>
                  <a:ea typeface="微软雅黑" panose="00000500000000000000" charset="-122"/>
                  <a:sym typeface="+mn-ea"/>
                </a:rPr>
                <a:t>网格策略</a:t>
              </a:r>
            </a:p>
          </p:txBody>
        </p:sp>
        <p:sp>
          <p:nvSpPr>
            <p:cNvPr id="152" name="Rounded Rectangle 15"/>
            <p:cNvSpPr/>
            <p:nvPr>
              <p:custDataLst>
                <p:tags r:id="rId14"/>
              </p:custDataLst>
            </p:nvPr>
          </p:nvSpPr>
          <p:spPr bwMode="auto">
            <a:xfrm>
              <a:off x="13021" y="8248"/>
              <a:ext cx="1969" cy="454"/>
            </a:xfrm>
            <a:prstGeom prst="roundRect">
              <a:avLst>
                <a:gd name="adj" fmla="val 9385"/>
              </a:avLst>
            </a:prstGeom>
            <a:solidFill>
              <a:srgbClr val="379DFF"/>
            </a:solidFill>
            <a:ln w="63500" cmpd="sng">
              <a:noFill/>
            </a:ln>
          </p:spPr>
          <p:txBody>
            <a:bodyPr vert="horz" wrap="square" lIns="0" tIns="0" rIns="0" bIns="0" numCol="1" rtlCol="0" anchor="ctr" anchorCtr="0" compatLnSpc="1">
              <a:noAutofit/>
            </a:bodyPr>
            <a:lstStyle/>
            <a:p>
              <a:pPr algn="ctr" defTabSz="914400" eaLnBrk="1" fontAlgn="auto" hangingPunct="1"/>
              <a:r>
                <a:rPr lang="zh-CN" altLang="en-US" sz="12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0000500000000000000" charset="-122"/>
                  <a:ea typeface="微软雅黑" panose="00000500000000000000" charset="-122"/>
                  <a:sym typeface="+mn-ea"/>
                </a:rPr>
                <a:t>固收</a:t>
              </a:r>
              <a:r>
                <a:rPr lang="en-US" altLang="zh-CN" sz="12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0000500000000000000" charset="-122"/>
                  <a:ea typeface="微软雅黑" panose="00000500000000000000" charset="-122"/>
                  <a:sym typeface="+mn-ea"/>
                </a:rPr>
                <a:t>+</a:t>
              </a:r>
              <a:r>
                <a:rPr lang="zh-CN" altLang="en-US" sz="12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0000500000000000000" charset="-122"/>
                  <a:ea typeface="微软雅黑" panose="00000500000000000000" charset="-122"/>
                  <a:sym typeface="+mn-ea"/>
                </a:rPr>
                <a:t>策略</a:t>
              </a:r>
            </a:p>
          </p:txBody>
        </p:sp>
        <p:sp>
          <p:nvSpPr>
            <p:cNvPr id="153" name="Rounded Rectangle 15"/>
            <p:cNvSpPr/>
            <p:nvPr>
              <p:custDataLst>
                <p:tags r:id="rId15"/>
              </p:custDataLst>
            </p:nvPr>
          </p:nvSpPr>
          <p:spPr bwMode="auto">
            <a:xfrm>
              <a:off x="14990" y="8248"/>
              <a:ext cx="1481" cy="454"/>
            </a:xfrm>
            <a:prstGeom prst="roundRect">
              <a:avLst>
                <a:gd name="adj" fmla="val 9385"/>
              </a:avLst>
            </a:prstGeom>
            <a:solidFill>
              <a:srgbClr val="379DFF"/>
            </a:solidFill>
            <a:ln w="63500" cmpd="sng">
              <a:noFill/>
            </a:ln>
          </p:spPr>
          <p:txBody>
            <a:bodyPr vert="horz" wrap="square" lIns="0" tIns="0" rIns="0" bIns="0" numCol="1" rtlCol="0" anchor="ctr" anchorCtr="0" compatLnSpc="1">
              <a:noAutofit/>
            </a:bodyPr>
            <a:lstStyle/>
            <a:p>
              <a:pPr algn="ctr" defTabSz="914400" eaLnBrk="1" fontAlgn="auto" hangingPunct="1"/>
              <a:r>
                <a:rPr lang="zh-CN" altLang="en-US" sz="12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0000500000000000000" charset="-122"/>
                  <a:ea typeface="微软雅黑" panose="00000500000000000000" charset="-122"/>
                  <a:sym typeface="+mn-ea"/>
                </a:rPr>
                <a:t>量价策略</a:t>
              </a:r>
            </a:p>
          </p:txBody>
        </p:sp>
      </p:grpSp>
      <p:sp>
        <p:nvSpPr>
          <p:cNvPr id="156" name="圆角矩形 60"/>
          <p:cNvSpPr/>
          <p:nvPr>
            <p:custDataLst>
              <p:tags r:id="rId2"/>
            </p:custDataLst>
          </p:nvPr>
        </p:nvSpPr>
        <p:spPr bwMode="auto">
          <a:xfrm>
            <a:off x="2434590" y="5459095"/>
            <a:ext cx="8075295" cy="494030"/>
          </a:xfrm>
          <a:prstGeom prst="roundRect">
            <a:avLst>
              <a:gd name="adj" fmla="val 15167"/>
            </a:avLst>
          </a:prstGeom>
          <a:solidFill>
            <a:srgbClr val="225FD1"/>
          </a:solidFill>
          <a:ln w="9525" cap="flat" cmpd="sng" algn="ctr">
            <a:noFill/>
            <a:prstDash val="dash"/>
            <a:round/>
            <a:headEnd type="none" w="med" len="med"/>
            <a:tailEnd type="none" w="med" len="med"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lvl="0" algn="l" defTabSz="914400"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defRPr/>
            </a:pPr>
            <a:r>
              <a:rPr lang="en-US" altLang="zh-CN" sz="1400" kern="0" dirty="0"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0000500000000000000" charset="-122"/>
                <a:ea typeface="微软雅黑" panose="00000500000000000000" charset="-122"/>
                <a:cs typeface="Arial" panose="020B0704020202020204" pitchFamily="34" charset="0"/>
                <a:sym typeface="Arial" panose="020B0704020202020204" pitchFamily="34" charset="0"/>
              </a:rPr>
              <a:t> </a:t>
            </a:r>
            <a:r>
              <a:rPr lang="zh-CN" altLang="en-US" sz="1400" kern="0" dirty="0"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0000500000000000000" charset="-122"/>
                <a:ea typeface="微软雅黑" panose="00000500000000000000" charset="-122"/>
                <a:cs typeface="Arial" panose="020B0704020202020204" pitchFamily="34" charset="0"/>
                <a:sym typeface="Arial" panose="020B0704020202020204" pitchFamily="34" charset="0"/>
              </a:rPr>
              <a:t>辅助功能</a:t>
            </a:r>
          </a:p>
        </p:txBody>
      </p:sp>
      <p:sp>
        <p:nvSpPr>
          <p:cNvPr id="159" name="Rounded Rectangle 15"/>
          <p:cNvSpPr/>
          <p:nvPr>
            <p:custDataLst>
              <p:tags r:id="rId3"/>
            </p:custDataLst>
          </p:nvPr>
        </p:nvSpPr>
        <p:spPr bwMode="auto">
          <a:xfrm>
            <a:off x="3372485" y="5561965"/>
            <a:ext cx="1275715" cy="288290"/>
          </a:xfrm>
          <a:prstGeom prst="roundRect">
            <a:avLst>
              <a:gd name="adj" fmla="val 9385"/>
            </a:avLst>
          </a:prstGeom>
          <a:solidFill>
            <a:srgbClr val="379DFF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 defTabSz="914400" eaLnBrk="1" fontAlgn="auto" hangingPunct="1"/>
            <a:r>
              <a:rPr lang="en-US" altLang="zh-CN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0000500000000000000" charset="-122"/>
                <a:ea typeface="微软雅黑" panose="00000500000000000000" charset="-122"/>
                <a:sym typeface="+mn-ea"/>
              </a:rPr>
              <a:t>CEP</a:t>
            </a:r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0000500000000000000" charset="-122"/>
                <a:ea typeface="微软雅黑" panose="00000500000000000000" charset="-122"/>
                <a:sym typeface="+mn-ea"/>
              </a:rPr>
              <a:t>流引擎</a:t>
            </a:r>
          </a:p>
        </p:txBody>
      </p:sp>
      <p:sp>
        <p:nvSpPr>
          <p:cNvPr id="160" name="Rounded Rectangle 15"/>
          <p:cNvSpPr/>
          <p:nvPr>
            <p:custDataLst>
              <p:tags r:id="rId4"/>
            </p:custDataLst>
          </p:nvPr>
        </p:nvSpPr>
        <p:spPr bwMode="auto">
          <a:xfrm>
            <a:off x="4697730" y="5561965"/>
            <a:ext cx="1250315" cy="288290"/>
          </a:xfrm>
          <a:prstGeom prst="roundRect">
            <a:avLst>
              <a:gd name="adj" fmla="val 9385"/>
            </a:avLst>
          </a:prstGeom>
          <a:solidFill>
            <a:srgbClr val="379DFF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 defTabSz="914400" eaLnBrk="1" fontAlgn="auto" hangingPunct="1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0000500000000000000" charset="-122"/>
                <a:ea typeface="微软雅黑" panose="00000500000000000000" charset="-122"/>
                <a:sym typeface="+mn-ea"/>
              </a:rPr>
              <a:t>债券曲线模型</a:t>
            </a:r>
          </a:p>
        </p:txBody>
      </p:sp>
      <p:sp>
        <p:nvSpPr>
          <p:cNvPr id="161" name="Rounded Rectangle 15"/>
          <p:cNvSpPr/>
          <p:nvPr>
            <p:custDataLst>
              <p:tags r:id="rId5"/>
            </p:custDataLst>
          </p:nvPr>
        </p:nvSpPr>
        <p:spPr bwMode="auto">
          <a:xfrm>
            <a:off x="5974080" y="5561965"/>
            <a:ext cx="1120140" cy="288290"/>
          </a:xfrm>
          <a:prstGeom prst="roundRect">
            <a:avLst>
              <a:gd name="adj" fmla="val 9385"/>
            </a:avLst>
          </a:prstGeom>
          <a:solidFill>
            <a:srgbClr val="379DFF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 defTabSz="914400" eaLnBrk="1" fontAlgn="auto" hangingPunct="1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0000500000000000000" charset="-122"/>
                <a:ea typeface="微软雅黑" panose="00000500000000000000" charset="-122"/>
                <a:sym typeface="+mn-ea"/>
              </a:rPr>
              <a:t>宏观因子库</a:t>
            </a:r>
          </a:p>
        </p:txBody>
      </p:sp>
      <p:sp>
        <p:nvSpPr>
          <p:cNvPr id="162" name="Rounded Rectangle 15"/>
          <p:cNvSpPr/>
          <p:nvPr>
            <p:custDataLst>
              <p:tags r:id="rId6"/>
            </p:custDataLst>
          </p:nvPr>
        </p:nvSpPr>
        <p:spPr bwMode="auto">
          <a:xfrm>
            <a:off x="7155815" y="5561965"/>
            <a:ext cx="1155700" cy="288290"/>
          </a:xfrm>
          <a:prstGeom prst="roundRect">
            <a:avLst>
              <a:gd name="adj" fmla="val 9385"/>
            </a:avLst>
          </a:prstGeom>
          <a:solidFill>
            <a:srgbClr val="379DFF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 defTabSz="914400" eaLnBrk="1" fontAlgn="auto" hangingPunct="1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0000500000000000000" charset="-122"/>
                <a:ea typeface="微软雅黑" panose="00000500000000000000" charset="-122"/>
                <a:sym typeface="+mn-ea"/>
              </a:rPr>
              <a:t>估值数据</a:t>
            </a:r>
          </a:p>
        </p:txBody>
      </p:sp>
      <p:sp>
        <p:nvSpPr>
          <p:cNvPr id="164" name="Rounded Rectangle 15"/>
          <p:cNvSpPr/>
          <p:nvPr>
            <p:custDataLst>
              <p:tags r:id="rId7"/>
            </p:custDataLst>
          </p:nvPr>
        </p:nvSpPr>
        <p:spPr bwMode="auto">
          <a:xfrm>
            <a:off x="8376920" y="5561965"/>
            <a:ext cx="1065530" cy="288290"/>
          </a:xfrm>
          <a:prstGeom prst="roundRect">
            <a:avLst>
              <a:gd name="adj" fmla="val 9385"/>
            </a:avLst>
          </a:prstGeom>
          <a:solidFill>
            <a:srgbClr val="379DFF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 defTabSz="914400" eaLnBrk="1" fontAlgn="auto" hangingPunct="1"/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0000500000000000000" charset="-122"/>
                <a:ea typeface="微软雅黑" panose="00000500000000000000" charset="-122"/>
                <a:sym typeface="+mn-ea"/>
              </a:rPr>
              <a:t>账户权限</a:t>
            </a:r>
          </a:p>
        </p:txBody>
      </p:sp>
      <p:sp>
        <p:nvSpPr>
          <p:cNvPr id="165" name="Rounded Rectangle 15"/>
          <p:cNvSpPr/>
          <p:nvPr>
            <p:custDataLst>
              <p:tags r:id="rId8"/>
            </p:custDataLst>
          </p:nvPr>
        </p:nvSpPr>
        <p:spPr bwMode="auto">
          <a:xfrm>
            <a:off x="9444355" y="5561965"/>
            <a:ext cx="939165" cy="288290"/>
          </a:xfrm>
          <a:prstGeom prst="roundRect">
            <a:avLst>
              <a:gd name="adj" fmla="val 9385"/>
            </a:avLst>
          </a:prstGeom>
          <a:solidFill>
            <a:srgbClr val="379DFF"/>
          </a:solidFill>
          <a:ln w="63500" cmpd="sng">
            <a:noFill/>
          </a:ln>
        </p:spPr>
        <p:txBody>
          <a:bodyPr vert="horz" wrap="square" lIns="0" tIns="0" rIns="0" bIns="0" numCol="1" rtlCol="0" anchor="ctr" anchorCtr="0" compatLnSpc="1">
            <a:noAutofit/>
          </a:bodyPr>
          <a:lstStyle/>
          <a:p>
            <a:pPr algn="ctr" defTabSz="914400" eaLnBrk="1" fontAlgn="auto" hangingPunct="1"/>
            <a:r>
              <a:rPr lang="en-US" altLang="zh-CN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0000500000000000000" charset="-122"/>
                <a:ea typeface="微软雅黑" panose="00000500000000000000" charset="-122"/>
                <a:sym typeface="+mn-ea"/>
              </a:rPr>
              <a:t>AI</a:t>
            </a:r>
            <a:r>
              <a: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0000500000000000000" charset="-122"/>
                <a:ea typeface="微软雅黑" panose="00000500000000000000" charset="-122"/>
                <a:sym typeface="+mn-ea"/>
              </a:rPr>
              <a:t>引擎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 descr="10741943950"/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3670300" y="1987550"/>
            <a:ext cx="242570" cy="242570"/>
          </a:xfrm>
          <a:prstGeom prst="rect">
            <a:avLst/>
          </a:prstGeom>
        </p:spPr>
      </p:pic>
      <p:grpSp>
        <p:nvGrpSpPr>
          <p:cNvPr id="195" name="组合 194"/>
          <p:cNvGrpSpPr/>
          <p:nvPr/>
        </p:nvGrpSpPr>
        <p:grpSpPr>
          <a:xfrm>
            <a:off x="1054735" y="1762760"/>
            <a:ext cx="725170" cy="2712720"/>
            <a:chOff x="1661" y="2776"/>
            <a:chExt cx="1142" cy="4272"/>
          </a:xfrm>
        </p:grpSpPr>
        <p:sp>
          <p:nvSpPr>
            <p:cNvPr id="166" name="圆柱形 1"/>
            <p:cNvSpPr/>
            <p:nvPr/>
          </p:nvSpPr>
          <p:spPr>
            <a:xfrm>
              <a:off x="1661" y="2776"/>
              <a:ext cx="1140" cy="1186"/>
            </a:xfrm>
            <a:prstGeom prst="can">
              <a:avLst/>
            </a:prstGeom>
            <a:solidFill>
              <a:srgbClr val="00377C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000"/>
                <a:t>外部信用数据服务</a:t>
              </a:r>
            </a:p>
          </p:txBody>
        </p:sp>
        <p:sp>
          <p:nvSpPr>
            <p:cNvPr id="167" name="圆柱形 2"/>
            <p:cNvSpPr/>
            <p:nvPr/>
          </p:nvSpPr>
          <p:spPr>
            <a:xfrm>
              <a:off x="1663" y="4204"/>
              <a:ext cx="1140" cy="1212"/>
            </a:xfrm>
            <a:prstGeom prst="can">
              <a:avLst/>
            </a:prstGeom>
            <a:solidFill>
              <a:srgbClr val="00377C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000"/>
                <a:t>内部数据</a:t>
              </a:r>
            </a:p>
          </p:txBody>
        </p:sp>
        <p:sp>
          <p:nvSpPr>
            <p:cNvPr id="168" name="圆柱形 5"/>
            <p:cNvSpPr/>
            <p:nvPr/>
          </p:nvSpPr>
          <p:spPr>
            <a:xfrm>
              <a:off x="1661" y="5848"/>
              <a:ext cx="1141" cy="1200"/>
            </a:xfrm>
            <a:prstGeom prst="can">
              <a:avLst/>
            </a:prstGeom>
            <a:solidFill>
              <a:srgbClr val="00377C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000"/>
                <a:t>其他外部数据</a:t>
              </a:r>
            </a:p>
          </p:txBody>
        </p:sp>
      </p:grpSp>
      <p:sp>
        <p:nvSpPr>
          <p:cNvPr id="36868" name="文本框 8"/>
          <p:cNvSpPr txBox="1">
            <a:spLocks noChangeArrowheads="1"/>
          </p:cNvSpPr>
          <p:nvPr/>
        </p:nvSpPr>
        <p:spPr bwMode="auto">
          <a:xfrm>
            <a:off x="9321165" y="1210310"/>
            <a:ext cx="2094865" cy="44367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179705" tIns="179705" rIns="179705" bIns="179705"/>
          <a:lstStyle>
            <a:lvl1pPr marL="285750" indent="-28575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9pPr>
          </a:lstStyle>
          <a:p>
            <a:pPr eaLnBrk="1" hangingPunct="1">
              <a:lnSpc>
                <a:spcPct val="150000"/>
              </a:lnSpc>
              <a:buFont typeface="Wingdings" panose="05000000000000000000" pitchFamily="2" charset="2"/>
              <a:buChar char=""/>
            </a:pPr>
            <a:r>
              <a:rPr lang="zh-CN" altLang="en-US" sz="1600" b="1">
                <a:solidFill>
                  <a:schemeClr val="bg1"/>
                </a:solidFill>
                <a:latin typeface="微软雅黑" panose="00000500000000000000" charset="-122"/>
                <a:ea typeface="楷体" panose="02010609060101010101" pitchFamily="49" charset="-122"/>
                <a:sym typeface="+mn-ea"/>
              </a:rPr>
              <a:t>信用风险管理</a:t>
            </a:r>
            <a:endParaRPr lang="zh-CN" altLang="en-US" sz="1600" b="1">
              <a:solidFill>
                <a:schemeClr val="bg1"/>
              </a:solidFill>
              <a:latin typeface="微软雅黑" panose="00000500000000000000" charset="-122"/>
              <a:ea typeface="楷体" panose="02010609060101010101" pitchFamily="49" charset="-122"/>
            </a:endParaRPr>
          </a:p>
          <a:p>
            <a:pPr eaLnBrk="1" hangingPunct="1">
              <a:lnSpc>
                <a:spcPct val="130000"/>
              </a:lnSpc>
              <a:buFont typeface="Wingdings" panose="05000000000000000000" pitchFamily="2" charset="2"/>
              <a:buNone/>
            </a:pP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楷体" panose="02010609060101010101" pitchFamily="49" charset="-122"/>
                <a:sym typeface="+mn-ea"/>
              </a:rPr>
              <a:t>打通从</a:t>
            </a:r>
            <a:r>
              <a:rPr lang="zh-CN" altLang="en-US" sz="1200" b="1">
                <a:solidFill>
                  <a:schemeClr val="bg1"/>
                </a:solidFill>
                <a:latin typeface="微软雅黑" panose="00000500000000000000" charset="-122"/>
                <a:ea typeface="楷体" panose="02010609060101010101" pitchFamily="49" charset="-122"/>
                <a:sym typeface="+mn-ea"/>
              </a:rPr>
              <a:t>信用评级、池管理、审批</a:t>
            </a: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楷体" panose="02010609060101010101" pitchFamily="49" charset="-122"/>
                <a:sym typeface="+mn-ea"/>
              </a:rPr>
              <a:t>到交易下单、持仓管理的全链路。</a:t>
            </a:r>
            <a:endParaRPr lang="zh-CN" altLang="en-US" sz="1200">
              <a:solidFill>
                <a:schemeClr val="bg1"/>
              </a:solidFill>
              <a:latin typeface="微软雅黑" panose="00000500000000000000" charset="-122"/>
              <a:ea typeface="楷体" panose="02010609060101010101" pitchFamily="49" charset="-122"/>
            </a:endParaRPr>
          </a:p>
          <a:p>
            <a:pPr eaLnBrk="1" hangingPunct="1">
              <a:lnSpc>
                <a:spcPct val="150000"/>
              </a:lnSpc>
              <a:buFont typeface="Wingdings" panose="05000000000000000000" pitchFamily="2" charset="2"/>
              <a:buChar char=""/>
            </a:pPr>
            <a:r>
              <a:rPr lang="zh-CN" altLang="en-US" sz="1600" b="1">
                <a:solidFill>
                  <a:schemeClr val="bg1"/>
                </a:solidFill>
                <a:latin typeface="微软雅黑" panose="00000500000000000000" charset="-122"/>
                <a:ea typeface="楷体" panose="02010609060101010101" pitchFamily="49" charset="-122"/>
              </a:rPr>
              <a:t>信用风险分析</a:t>
            </a:r>
          </a:p>
          <a:p>
            <a:pPr eaLnBrk="1" hangingPunct="1">
              <a:lnSpc>
                <a:spcPct val="130000"/>
              </a:lnSpc>
              <a:buFont typeface="Wingdings" panose="05000000000000000000" pitchFamily="2" charset="2"/>
              <a:buNone/>
            </a:pP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楷体" panose="02010609060101010101" pitchFamily="49" charset="-122"/>
              </a:rPr>
              <a:t>多维度</a:t>
            </a: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楷体" panose="02010609060101010101" pitchFamily="49" charset="-122"/>
                <a:sym typeface="+mn-ea"/>
              </a:rPr>
              <a:t>风险指标体系</a:t>
            </a: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楷体" panose="02010609060101010101" pitchFamily="49" charset="-122"/>
              </a:rPr>
              <a:t>覆盖各种发债主体和上市公司。</a:t>
            </a:r>
          </a:p>
          <a:p>
            <a:pPr eaLnBrk="1" hangingPunct="1">
              <a:lnSpc>
                <a:spcPct val="150000"/>
              </a:lnSpc>
              <a:buFont typeface="Wingdings" panose="05000000000000000000" pitchFamily="2" charset="2"/>
              <a:buChar char=""/>
            </a:pPr>
            <a:r>
              <a:rPr lang="zh-CN" altLang="en-US" sz="1600" b="1">
                <a:solidFill>
                  <a:schemeClr val="bg1"/>
                </a:solidFill>
                <a:latin typeface="微软雅黑" panose="00000500000000000000" charset="-122"/>
                <a:ea typeface="楷体" panose="02010609060101010101" pitchFamily="49" charset="-122"/>
              </a:rPr>
              <a:t>全生命周期信用风险管理</a:t>
            </a:r>
          </a:p>
          <a:p>
            <a:pPr eaLnBrk="1" hangingPunct="1">
              <a:lnSpc>
                <a:spcPct val="130000"/>
              </a:lnSpc>
              <a:buFont typeface="Wingdings" panose="05000000000000000000" pitchFamily="2" charset="2"/>
              <a:buNone/>
            </a:pP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楷体" panose="02010609060101010101" pitchFamily="49" charset="-122"/>
              </a:rPr>
              <a:t>自动处理市场数据和预警，动态管理投前评级和准入、投中审批管理、投后预警跟踪和信号处理。</a:t>
            </a:r>
          </a:p>
        </p:txBody>
      </p:sp>
      <p:sp>
        <p:nvSpPr>
          <p:cNvPr id="36877" name="文本框 14"/>
          <p:cNvSpPr txBox="1">
            <a:spLocks noChangeArrowheads="1"/>
          </p:cNvSpPr>
          <p:nvPr/>
        </p:nvSpPr>
        <p:spPr bwMode="auto">
          <a:xfrm>
            <a:off x="2650490" y="1467485"/>
            <a:ext cx="2067560" cy="2755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9pPr>
          </a:lstStyle>
          <a:p>
            <a:pPr eaLnBrk="1" hangingPunct="1"/>
            <a:r>
              <a:rPr lang="zh-CN" altLang="en-US" sz="1200" b="1">
                <a:solidFill>
                  <a:schemeClr val="bg1"/>
                </a:solidFill>
                <a:ea typeface="微软雅黑" panose="00000500000000000000" charset="-122"/>
              </a:rPr>
              <a:t>信用风险数据接受处理</a:t>
            </a:r>
            <a:endParaRPr lang="en-US" altLang="zh-CN" sz="1200" b="1">
              <a:solidFill>
                <a:schemeClr val="bg1"/>
              </a:solidFill>
              <a:ea typeface="微软雅黑" panose="00000500000000000000" charset="-122"/>
            </a:endParaRPr>
          </a:p>
        </p:txBody>
      </p:sp>
      <p:sp>
        <p:nvSpPr>
          <p:cNvPr id="169" name="文本框 15"/>
          <p:cNvSpPr txBox="1"/>
          <p:nvPr/>
        </p:nvSpPr>
        <p:spPr>
          <a:xfrm>
            <a:off x="2352675" y="2177733"/>
            <a:ext cx="769938" cy="46037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200">
                <a:solidFill>
                  <a:schemeClr val="bg1"/>
                </a:solidFill>
                <a:latin typeface="+mn-lt"/>
                <a:ea typeface="+mn-ea"/>
              </a:rPr>
              <a:t>数据质量检查 </a:t>
            </a:r>
          </a:p>
        </p:txBody>
      </p:sp>
      <p:sp>
        <p:nvSpPr>
          <p:cNvPr id="170" name="文本框 75"/>
          <p:cNvSpPr txBox="1"/>
          <p:nvPr/>
        </p:nvSpPr>
        <p:spPr>
          <a:xfrm>
            <a:off x="3150870" y="2177733"/>
            <a:ext cx="519113" cy="46037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200">
                <a:solidFill>
                  <a:schemeClr val="bg1"/>
                </a:solidFill>
                <a:latin typeface="+mn-lt"/>
                <a:ea typeface="+mn-ea"/>
                <a:sym typeface="+mn-ea"/>
              </a:rPr>
              <a:t>数据整合</a:t>
            </a:r>
          </a:p>
        </p:txBody>
      </p:sp>
      <p:sp>
        <p:nvSpPr>
          <p:cNvPr id="171" name="文本框 81"/>
          <p:cNvSpPr txBox="1"/>
          <p:nvPr/>
        </p:nvSpPr>
        <p:spPr>
          <a:xfrm>
            <a:off x="3832225" y="2177733"/>
            <a:ext cx="831850" cy="460375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200">
                <a:solidFill>
                  <a:schemeClr val="bg1"/>
                </a:solidFill>
                <a:latin typeface="+mn-lt"/>
                <a:ea typeface="+mn-ea"/>
                <a:sym typeface="+mn-ea"/>
              </a:rPr>
              <a:t>信用风险数据集市</a:t>
            </a:r>
          </a:p>
        </p:txBody>
      </p:sp>
      <p:sp>
        <p:nvSpPr>
          <p:cNvPr id="172" name="右箭头 93"/>
          <p:cNvSpPr/>
          <p:nvPr/>
        </p:nvSpPr>
        <p:spPr>
          <a:xfrm>
            <a:off x="3055620" y="2976563"/>
            <a:ext cx="254000" cy="444500"/>
          </a:xfrm>
          <a:prstGeom prst="rightArrow">
            <a:avLst>
              <a:gd name="adj1" fmla="val 50000"/>
              <a:gd name="adj2" fmla="val 72714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altLang="zh-CN">
              <a:solidFill>
                <a:schemeClr val="bg1"/>
              </a:solidFill>
            </a:endParaRPr>
          </a:p>
        </p:txBody>
      </p:sp>
      <p:pic>
        <p:nvPicPr>
          <p:cNvPr id="36898" name="图片 97" descr="3b333530343139323bb5fcb4fad3c5bbaf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1370" y="2895918"/>
            <a:ext cx="571500" cy="573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6903" name="图片 127" descr="3b333530363633363bcdb6d7cabcc6bbae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5695" y="2895918"/>
            <a:ext cx="573088" cy="573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3" name="右箭头 128"/>
          <p:cNvSpPr/>
          <p:nvPr/>
        </p:nvSpPr>
        <p:spPr>
          <a:xfrm>
            <a:off x="3977005" y="3024188"/>
            <a:ext cx="254000" cy="444500"/>
          </a:xfrm>
          <a:prstGeom prst="rightArrow">
            <a:avLst>
              <a:gd name="adj1" fmla="val 50000"/>
              <a:gd name="adj2" fmla="val 72714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altLang="zh-CN">
              <a:solidFill>
                <a:schemeClr val="bg1"/>
              </a:solidFill>
            </a:endParaRPr>
          </a:p>
        </p:txBody>
      </p:sp>
      <p:pic>
        <p:nvPicPr>
          <p:cNvPr id="36906" name="图片 130" descr="343435383235323b333634343635383bc9ccb5ea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5140" y="2895918"/>
            <a:ext cx="590550" cy="592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36889" name="组合 131"/>
          <p:cNvGrpSpPr/>
          <p:nvPr/>
        </p:nvGrpSpPr>
        <p:grpSpPr bwMode="auto">
          <a:xfrm>
            <a:off x="5890895" y="2001520"/>
            <a:ext cx="1130306" cy="2844165"/>
            <a:chOff x="8049" y="4070"/>
            <a:chExt cx="1402" cy="4479"/>
          </a:xfrm>
        </p:grpSpPr>
        <p:sp>
          <p:nvSpPr>
            <p:cNvPr id="36907" name="文本框 13"/>
            <p:cNvSpPr txBox="1">
              <a:spLocks noChangeArrowheads="1"/>
            </p:cNvSpPr>
            <p:nvPr/>
          </p:nvSpPr>
          <p:spPr bwMode="auto">
            <a:xfrm>
              <a:off x="8049" y="4070"/>
              <a:ext cx="1261" cy="4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9pPr>
            </a:lstStyle>
            <a:p>
              <a:pPr eaLnBrk="1" hangingPunct="1"/>
              <a:r>
                <a:rPr lang="zh-CN" altLang="en-US" sz="1200">
                  <a:solidFill>
                    <a:schemeClr val="bg1"/>
                  </a:solidFill>
                  <a:ea typeface="微软雅黑" panose="00000500000000000000" charset="-122"/>
                </a:rPr>
                <a:t>信用评价</a:t>
              </a:r>
            </a:p>
          </p:txBody>
        </p:sp>
        <p:sp>
          <p:nvSpPr>
            <p:cNvPr id="36908" name="文本框 69"/>
            <p:cNvSpPr txBox="1">
              <a:spLocks noChangeArrowheads="1"/>
            </p:cNvSpPr>
            <p:nvPr/>
          </p:nvSpPr>
          <p:spPr bwMode="auto">
            <a:xfrm>
              <a:off x="8049" y="7824"/>
              <a:ext cx="1296" cy="7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9pPr>
            </a:lstStyle>
            <a:p>
              <a:pPr eaLnBrk="1" hangingPunct="1"/>
              <a:r>
                <a:rPr lang="zh-CN" altLang="en-US" sz="1200">
                  <a:solidFill>
                    <a:schemeClr val="bg1"/>
                  </a:solidFill>
                  <a:ea typeface="微软雅黑" panose="00000500000000000000" charset="-122"/>
                  <a:sym typeface="+mn-ea"/>
                </a:rPr>
                <a:t>持续迭代评价引擎</a:t>
              </a:r>
            </a:p>
          </p:txBody>
        </p:sp>
        <p:sp>
          <p:nvSpPr>
            <p:cNvPr id="36909" name="文本框 70"/>
            <p:cNvSpPr txBox="1">
              <a:spLocks noChangeArrowheads="1"/>
            </p:cNvSpPr>
            <p:nvPr/>
          </p:nvSpPr>
          <p:spPr bwMode="auto">
            <a:xfrm>
              <a:off x="8049" y="6785"/>
              <a:ext cx="1376" cy="4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9pPr>
            </a:lstStyle>
            <a:p>
              <a:pPr eaLnBrk="1" hangingPunct="1"/>
              <a:r>
                <a:rPr lang="zh-CN" altLang="en-US" sz="1200">
                  <a:solidFill>
                    <a:schemeClr val="bg1"/>
                  </a:solidFill>
                  <a:ea typeface="微软雅黑" panose="00000500000000000000" charset="-122"/>
                  <a:sym typeface="+mn-ea"/>
                </a:rPr>
                <a:t>资产证券化</a:t>
              </a:r>
            </a:p>
          </p:txBody>
        </p:sp>
        <p:sp>
          <p:nvSpPr>
            <p:cNvPr id="36910" name="文本框 71"/>
            <p:cNvSpPr txBox="1">
              <a:spLocks noChangeArrowheads="1"/>
            </p:cNvSpPr>
            <p:nvPr/>
          </p:nvSpPr>
          <p:spPr bwMode="auto">
            <a:xfrm>
              <a:off x="8049" y="5894"/>
              <a:ext cx="1338" cy="4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9pPr>
            </a:lstStyle>
            <a:p>
              <a:pPr eaLnBrk="1" hangingPunct="1"/>
              <a:r>
                <a:rPr lang="zh-CN" altLang="en-US" sz="1200">
                  <a:solidFill>
                    <a:schemeClr val="bg1"/>
                  </a:solidFill>
                  <a:ea typeface="微软雅黑" panose="00000500000000000000" charset="-122"/>
                  <a:sym typeface="+mn-ea"/>
                </a:rPr>
                <a:t>信用预警</a:t>
              </a:r>
            </a:p>
          </p:txBody>
        </p:sp>
        <p:sp>
          <p:nvSpPr>
            <p:cNvPr id="36911" name="文本框 73"/>
            <p:cNvSpPr txBox="1">
              <a:spLocks noChangeArrowheads="1"/>
            </p:cNvSpPr>
            <p:nvPr/>
          </p:nvSpPr>
          <p:spPr bwMode="auto">
            <a:xfrm>
              <a:off x="8049" y="4799"/>
              <a:ext cx="1402" cy="43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9pPr>
            </a:lstStyle>
            <a:p>
              <a:pPr eaLnBrk="1" hangingPunct="1"/>
              <a:r>
                <a:rPr lang="zh-CN" altLang="en-US" sz="1200">
                  <a:solidFill>
                    <a:schemeClr val="bg1"/>
                  </a:solidFill>
                  <a:ea typeface="微软雅黑" panose="00000500000000000000" charset="-122"/>
                  <a:sym typeface="+mn-ea"/>
                </a:rPr>
                <a:t>交易对手评价</a:t>
              </a:r>
            </a:p>
          </p:txBody>
        </p:sp>
      </p:grpSp>
      <p:sp>
        <p:nvSpPr>
          <p:cNvPr id="36893" name="文本框 89"/>
          <p:cNvSpPr txBox="1">
            <a:spLocks noChangeArrowheads="1"/>
          </p:cNvSpPr>
          <p:nvPr/>
        </p:nvSpPr>
        <p:spPr bwMode="auto">
          <a:xfrm>
            <a:off x="5592445" y="1467485"/>
            <a:ext cx="1128395" cy="2755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9pPr>
          </a:lstStyle>
          <a:p>
            <a:pPr eaLnBrk="1" hangingPunct="1"/>
            <a:r>
              <a:rPr lang="zh-CN" altLang="en-US" sz="1200" b="1">
                <a:solidFill>
                  <a:schemeClr val="bg1"/>
                </a:solidFill>
                <a:ea typeface="微软雅黑" panose="00000500000000000000" charset="-122"/>
                <a:sym typeface="+mn-ea"/>
              </a:rPr>
              <a:t>信用评估引擎</a:t>
            </a:r>
            <a:endParaRPr lang="en-US" altLang="zh-CN" sz="1200" b="1">
              <a:solidFill>
                <a:schemeClr val="bg1"/>
              </a:solidFill>
              <a:ea typeface="微软雅黑" panose="00000500000000000000" charset="-122"/>
              <a:sym typeface="+mn-ea"/>
            </a:endParaRPr>
          </a:p>
        </p:txBody>
      </p:sp>
      <p:pic>
        <p:nvPicPr>
          <p:cNvPr id="36899" name="图片 111" descr="3b333437313230323bced2b5c4d7cab2fa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4008" y="3825558"/>
            <a:ext cx="311150" cy="309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6900" name="图片 114" descr="3b343532353932323bcffbcfa2cce1d0d1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4008" y="3206433"/>
            <a:ext cx="311150" cy="3127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6901" name="图片 119" descr="3b333437313234343bd5aec8af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4008" y="4443095"/>
            <a:ext cx="311150" cy="312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6902" name="图片 120" descr="3b333437313236313bd6a4c8afbbfab9b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3533" y="1988820"/>
            <a:ext cx="292100" cy="290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6905" name="图片 129" descr="3b333530343433323bd6b0d2b5b9e6bbae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4008" y="2585720"/>
            <a:ext cx="311150" cy="3127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74" name="右箭头 128"/>
          <p:cNvSpPr/>
          <p:nvPr/>
        </p:nvSpPr>
        <p:spPr>
          <a:xfrm>
            <a:off x="5013325" y="2976563"/>
            <a:ext cx="254000" cy="444500"/>
          </a:xfrm>
          <a:prstGeom prst="rightArrow">
            <a:avLst>
              <a:gd name="adj1" fmla="val 50000"/>
              <a:gd name="adj2" fmla="val 72714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altLang="zh-CN">
              <a:solidFill>
                <a:schemeClr val="bg1"/>
              </a:solidFill>
            </a:endParaRPr>
          </a:p>
        </p:txBody>
      </p:sp>
      <p:sp>
        <p:nvSpPr>
          <p:cNvPr id="175" name="文本框 12"/>
          <p:cNvSpPr txBox="1"/>
          <p:nvPr/>
        </p:nvSpPr>
        <p:spPr>
          <a:xfrm>
            <a:off x="7232650" y="1832928"/>
            <a:ext cx="1825625" cy="3392487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marL="342900" indent="-342900"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AutoNum type="arabicPeriod"/>
              <a:defRPr/>
            </a:pPr>
            <a:r>
              <a:rPr lang="zh-CN" altLang="en-US" sz="1300">
                <a:solidFill>
                  <a:schemeClr val="bg1"/>
                </a:solidFill>
                <a:latin typeface="+mn-lt"/>
                <a:ea typeface="+mn-ea"/>
              </a:rPr>
              <a:t>信息管理</a:t>
            </a:r>
          </a:p>
          <a:p>
            <a:pPr marL="342900" indent="-342900"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AutoNum type="arabicPeriod"/>
              <a:defRPr/>
            </a:pPr>
            <a:r>
              <a:rPr lang="zh-CN" altLang="en-US" sz="1300">
                <a:solidFill>
                  <a:schemeClr val="bg1"/>
                </a:solidFill>
                <a:latin typeface="+mn-lt"/>
                <a:ea typeface="+mn-ea"/>
              </a:rPr>
              <a:t>持仓信息管理</a:t>
            </a:r>
          </a:p>
          <a:p>
            <a:pPr marL="342900" indent="-342900"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AutoNum type="arabicPeriod"/>
              <a:defRPr/>
            </a:pPr>
            <a:r>
              <a:rPr lang="zh-CN" altLang="en-US" sz="1300">
                <a:solidFill>
                  <a:schemeClr val="bg1"/>
                </a:solidFill>
                <a:latin typeface="+mn-lt"/>
                <a:ea typeface="+mn-ea"/>
              </a:rPr>
              <a:t>投资池管理</a:t>
            </a:r>
          </a:p>
          <a:p>
            <a:pPr marL="342900" indent="-342900"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AutoNum type="arabicPeriod"/>
              <a:defRPr/>
            </a:pPr>
            <a:r>
              <a:rPr lang="zh-CN" altLang="en-US" sz="1300">
                <a:solidFill>
                  <a:schemeClr val="bg1"/>
                </a:solidFill>
                <a:latin typeface="+mn-lt"/>
                <a:ea typeface="+mn-ea"/>
              </a:rPr>
              <a:t>评级管理</a:t>
            </a:r>
          </a:p>
          <a:p>
            <a:pPr marL="342900" indent="-342900"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AutoNum type="arabicPeriod"/>
              <a:defRPr/>
            </a:pPr>
            <a:r>
              <a:rPr lang="zh-CN" altLang="en-US" sz="1300">
                <a:solidFill>
                  <a:schemeClr val="bg1"/>
                </a:solidFill>
                <a:latin typeface="+mn-lt"/>
                <a:ea typeface="+mn-ea"/>
              </a:rPr>
              <a:t>债券池管理</a:t>
            </a:r>
          </a:p>
          <a:p>
            <a:pPr marL="342900" indent="-342900"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AutoNum type="arabicPeriod"/>
              <a:defRPr/>
            </a:pPr>
            <a:r>
              <a:rPr lang="zh-CN" altLang="en-US" sz="1300">
                <a:solidFill>
                  <a:schemeClr val="bg1"/>
                </a:solidFill>
                <a:latin typeface="+mn-lt"/>
                <a:ea typeface="+mn-ea"/>
              </a:rPr>
              <a:t>信用风险管理</a:t>
            </a:r>
          </a:p>
          <a:p>
            <a:pPr marL="342900" indent="-342900"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AutoNum type="arabicPeriod"/>
              <a:defRPr/>
            </a:pPr>
            <a:r>
              <a:rPr lang="zh-CN" altLang="en-US" sz="1300">
                <a:solidFill>
                  <a:schemeClr val="bg1"/>
                </a:solidFill>
                <a:latin typeface="+mn-lt"/>
                <a:ea typeface="+mn-ea"/>
              </a:rPr>
              <a:t>预警管理</a:t>
            </a:r>
          </a:p>
          <a:p>
            <a:pPr marL="342900" indent="-342900"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AutoNum type="arabicPeriod"/>
              <a:defRPr/>
            </a:pPr>
            <a:r>
              <a:rPr lang="zh-CN" altLang="en-US" sz="1300">
                <a:solidFill>
                  <a:schemeClr val="bg1"/>
                </a:solidFill>
                <a:latin typeface="+mn-lt"/>
                <a:ea typeface="+mn-ea"/>
              </a:rPr>
              <a:t>查询统计</a:t>
            </a:r>
          </a:p>
          <a:p>
            <a:pPr marL="342900" indent="-342900"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AutoNum type="arabicPeriod"/>
              <a:defRPr/>
            </a:pPr>
            <a:r>
              <a:rPr lang="zh-CN" altLang="en-US" sz="1300">
                <a:solidFill>
                  <a:schemeClr val="bg1"/>
                </a:solidFill>
                <a:latin typeface="+mn-lt"/>
                <a:ea typeface="+mn-ea"/>
              </a:rPr>
              <a:t>指标监控</a:t>
            </a:r>
          </a:p>
          <a:p>
            <a:pPr marL="342900" indent="-342900"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AutoNum type="arabicPeriod"/>
              <a:defRPr/>
            </a:pPr>
            <a:r>
              <a:rPr lang="zh-CN" altLang="en-US" sz="1300">
                <a:solidFill>
                  <a:schemeClr val="bg1"/>
                </a:solidFill>
                <a:latin typeface="+mn-lt"/>
                <a:ea typeface="+mn-ea"/>
              </a:rPr>
              <a:t>违约管理</a:t>
            </a:r>
          </a:p>
          <a:p>
            <a:pPr marL="342900" indent="-342900"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Tx/>
              <a:buAutoNum type="arabicPeriod"/>
              <a:defRPr/>
            </a:pPr>
            <a:r>
              <a:rPr lang="zh-CN" altLang="en-US" sz="1300">
                <a:solidFill>
                  <a:schemeClr val="bg1"/>
                </a:solidFill>
                <a:latin typeface="+mn-lt"/>
                <a:ea typeface="+mn-ea"/>
              </a:rPr>
              <a:t>黑名单管理</a:t>
            </a:r>
          </a:p>
        </p:txBody>
      </p:sp>
      <p:sp>
        <p:nvSpPr>
          <p:cNvPr id="36892" name="文本框 88"/>
          <p:cNvSpPr txBox="1">
            <a:spLocks noChangeArrowheads="1"/>
          </p:cNvSpPr>
          <p:nvPr/>
        </p:nvSpPr>
        <p:spPr bwMode="auto">
          <a:xfrm>
            <a:off x="7437755" y="1466533"/>
            <a:ext cx="906463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9pPr>
          </a:lstStyle>
          <a:p>
            <a:pPr eaLnBrk="1" hangingPunct="1"/>
            <a:r>
              <a:rPr lang="zh-CN" altLang="en-US" sz="1200" b="1">
                <a:solidFill>
                  <a:schemeClr val="bg1"/>
                </a:solidFill>
                <a:ea typeface="微软雅黑" panose="00000500000000000000" charset="-122"/>
                <a:sym typeface="+mn-ea"/>
              </a:rPr>
              <a:t>应用分析</a:t>
            </a:r>
          </a:p>
        </p:txBody>
      </p:sp>
      <p:sp>
        <p:nvSpPr>
          <p:cNvPr id="176" name="右箭头 93"/>
          <p:cNvSpPr/>
          <p:nvPr/>
        </p:nvSpPr>
        <p:spPr>
          <a:xfrm>
            <a:off x="1986915" y="2898458"/>
            <a:ext cx="254000" cy="444500"/>
          </a:xfrm>
          <a:prstGeom prst="rightArrow">
            <a:avLst>
              <a:gd name="adj1" fmla="val 50000"/>
              <a:gd name="adj2" fmla="val 72714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altLang="zh-CN">
              <a:solidFill>
                <a:schemeClr val="bg1"/>
              </a:solidFill>
            </a:endParaRPr>
          </a:p>
        </p:txBody>
      </p:sp>
      <p:grpSp>
        <p:nvGrpSpPr>
          <p:cNvPr id="194" name="组合 193"/>
          <p:cNvGrpSpPr/>
          <p:nvPr/>
        </p:nvGrpSpPr>
        <p:grpSpPr>
          <a:xfrm>
            <a:off x="873125" y="5398770"/>
            <a:ext cx="8448040" cy="494030"/>
            <a:chOff x="1255" y="9800"/>
            <a:chExt cx="13304" cy="778"/>
          </a:xfrm>
        </p:grpSpPr>
        <p:sp>
          <p:nvSpPr>
            <p:cNvPr id="187" name="圆角矩形 60"/>
            <p:cNvSpPr/>
            <p:nvPr>
              <p:custDataLst>
                <p:tags r:id="rId1"/>
              </p:custDataLst>
            </p:nvPr>
          </p:nvSpPr>
          <p:spPr bwMode="auto">
            <a:xfrm>
              <a:off x="1255" y="9800"/>
              <a:ext cx="13305" cy="778"/>
            </a:xfrm>
            <a:prstGeom prst="roundRect">
              <a:avLst>
                <a:gd name="adj" fmla="val 15167"/>
              </a:avLst>
            </a:prstGeom>
            <a:solidFill>
              <a:srgbClr val="225FD1"/>
            </a:solidFill>
            <a:ln w="9525" cap="flat" cmpd="sng" algn="ctr">
              <a:noFill/>
              <a:prstDash val="dash"/>
              <a:round/>
              <a:headEnd type="none" w="med" len="med"/>
              <a:tailEnd type="none" w="med" len="med"/>
            </a:ln>
          </p:spPr>
          <p:txBody>
            <a:bodyPr vert="horz" wrap="square" lIns="0" tIns="0" rIns="0" bIns="0" numCol="1" rtlCol="0" anchor="ctr" anchorCtr="0" compatLnSpc="1">
              <a:noAutofit/>
            </a:bodyPr>
            <a:lstStyle/>
            <a:p>
              <a:pPr lvl="0" algn="l" defTabSz="914400" eaLnBrk="1" fontAlgn="auto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defRPr/>
              </a:pPr>
              <a:r>
                <a:rPr lang="en-US" altLang="zh-CN" sz="1400" kern="0" dirty="0">
                  <a:solidFill>
                    <a:prstClr val="white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0000500000000000000" charset="-122"/>
                  <a:ea typeface="微软雅黑" panose="00000500000000000000" charset="-122"/>
                  <a:cs typeface="Arial" panose="020B0704020202020204" pitchFamily="34" charset="0"/>
                  <a:sym typeface="Arial" panose="020B0704020202020204" pitchFamily="34" charset="0"/>
                </a:rPr>
                <a:t> </a:t>
              </a:r>
              <a:r>
                <a:rPr lang="zh-CN" altLang="en-US" sz="1400" kern="0" dirty="0">
                  <a:solidFill>
                    <a:prstClr val="white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0000500000000000000" charset="-122"/>
                  <a:ea typeface="微软雅黑" panose="00000500000000000000" charset="-122"/>
                  <a:cs typeface="Arial" panose="020B0704020202020204" pitchFamily="34" charset="0"/>
                  <a:sym typeface="Arial" panose="020B0704020202020204" pitchFamily="34" charset="0"/>
                </a:rPr>
                <a:t>配置管理</a:t>
              </a:r>
            </a:p>
          </p:txBody>
        </p:sp>
        <p:sp>
          <p:nvSpPr>
            <p:cNvPr id="188" name="Rounded Rectangle 15"/>
            <p:cNvSpPr/>
            <p:nvPr>
              <p:custDataLst>
                <p:tags r:id="rId2"/>
              </p:custDataLst>
            </p:nvPr>
          </p:nvSpPr>
          <p:spPr bwMode="auto">
            <a:xfrm>
              <a:off x="3024" y="9962"/>
              <a:ext cx="1832" cy="454"/>
            </a:xfrm>
            <a:prstGeom prst="roundRect">
              <a:avLst>
                <a:gd name="adj" fmla="val 9385"/>
              </a:avLst>
            </a:prstGeom>
            <a:solidFill>
              <a:srgbClr val="379DFF"/>
            </a:solidFill>
            <a:ln w="63500" cmpd="sng">
              <a:noFill/>
            </a:ln>
          </p:spPr>
          <p:txBody>
            <a:bodyPr vert="horz" wrap="square" lIns="0" tIns="0" rIns="0" bIns="0" numCol="1" rtlCol="0" anchor="ctr" anchorCtr="0" compatLnSpc="1">
              <a:noAutofit/>
            </a:bodyPr>
            <a:lstStyle/>
            <a:p>
              <a:pPr algn="ctr" defTabSz="914400" eaLnBrk="1" fontAlgn="auto" hangingPunct="1"/>
              <a:r>
                <a:rPr lang="zh-CN" altLang="en-US" sz="12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0000500000000000000" charset="-122"/>
                  <a:ea typeface="微软雅黑" panose="00000500000000000000" charset="-122"/>
                  <a:sym typeface="+mn-ea"/>
                </a:rPr>
                <a:t>敞口管理</a:t>
              </a:r>
            </a:p>
          </p:txBody>
        </p:sp>
        <p:sp>
          <p:nvSpPr>
            <p:cNvPr id="189" name="Rounded Rectangle 15"/>
            <p:cNvSpPr/>
            <p:nvPr>
              <p:custDataLst>
                <p:tags r:id="rId3"/>
              </p:custDataLst>
            </p:nvPr>
          </p:nvSpPr>
          <p:spPr bwMode="auto">
            <a:xfrm>
              <a:off x="4948" y="9962"/>
              <a:ext cx="1832" cy="454"/>
            </a:xfrm>
            <a:prstGeom prst="roundRect">
              <a:avLst>
                <a:gd name="adj" fmla="val 9385"/>
              </a:avLst>
            </a:prstGeom>
            <a:solidFill>
              <a:srgbClr val="379DFF"/>
            </a:solidFill>
            <a:ln w="63500" cmpd="sng">
              <a:noFill/>
            </a:ln>
          </p:spPr>
          <p:txBody>
            <a:bodyPr vert="horz" wrap="square" lIns="0" tIns="0" rIns="0" bIns="0" numCol="1" rtlCol="0" anchor="ctr" anchorCtr="0" compatLnSpc="1">
              <a:noAutofit/>
            </a:bodyPr>
            <a:lstStyle/>
            <a:p>
              <a:pPr algn="ctr" defTabSz="914400" eaLnBrk="1" fontAlgn="auto" hangingPunct="1"/>
              <a:r>
                <a:rPr lang="zh-CN" altLang="en-US" sz="1200">
                  <a:solidFill>
                    <a:schemeClr val="bg1"/>
                  </a:solidFill>
                  <a:sym typeface="+mn-ea"/>
                </a:rPr>
                <a:t>评级模型管理</a:t>
              </a:r>
              <a:endPara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0000500000000000000" charset="-122"/>
                <a:ea typeface="微软雅黑" panose="00000500000000000000" charset="-122"/>
                <a:sym typeface="+mn-ea"/>
              </a:endParaRPr>
            </a:p>
          </p:txBody>
        </p:sp>
        <p:sp>
          <p:nvSpPr>
            <p:cNvPr id="190" name="Rounded Rectangle 15"/>
            <p:cNvSpPr/>
            <p:nvPr>
              <p:custDataLst>
                <p:tags r:id="rId4"/>
              </p:custDataLst>
            </p:nvPr>
          </p:nvSpPr>
          <p:spPr bwMode="auto">
            <a:xfrm>
              <a:off x="6859" y="9962"/>
              <a:ext cx="1969" cy="454"/>
            </a:xfrm>
            <a:prstGeom prst="roundRect">
              <a:avLst>
                <a:gd name="adj" fmla="val 9385"/>
              </a:avLst>
            </a:prstGeom>
            <a:solidFill>
              <a:srgbClr val="379DFF"/>
            </a:solidFill>
            <a:ln w="63500" cmpd="sng">
              <a:noFill/>
            </a:ln>
          </p:spPr>
          <p:txBody>
            <a:bodyPr vert="horz" wrap="square" lIns="0" tIns="0" rIns="0" bIns="0" numCol="1" rtlCol="0" anchor="ctr" anchorCtr="0" compatLnSpc="1">
              <a:noAutofit/>
            </a:bodyPr>
            <a:lstStyle/>
            <a:p>
              <a:pPr algn="ctr" defTabSz="914400" eaLnBrk="1" fontAlgn="auto" hangingPunct="1"/>
              <a:r>
                <a:rPr lang="zh-CN" altLang="en-US" sz="1200">
                  <a:solidFill>
                    <a:schemeClr val="bg1"/>
                  </a:solidFill>
                  <a:sym typeface="+mn-ea"/>
                </a:rPr>
                <a:t>预警规则配置</a:t>
              </a:r>
              <a:endPara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0000500000000000000" charset="-122"/>
                <a:ea typeface="微软雅黑" panose="00000500000000000000" charset="-122"/>
                <a:sym typeface="+mn-ea"/>
              </a:endParaRPr>
            </a:p>
          </p:txBody>
        </p:sp>
        <p:sp>
          <p:nvSpPr>
            <p:cNvPr id="191" name="Rounded Rectangle 15"/>
            <p:cNvSpPr/>
            <p:nvPr>
              <p:custDataLst>
                <p:tags r:id="rId5"/>
              </p:custDataLst>
            </p:nvPr>
          </p:nvSpPr>
          <p:spPr bwMode="auto">
            <a:xfrm>
              <a:off x="8952" y="9962"/>
              <a:ext cx="1969" cy="454"/>
            </a:xfrm>
            <a:prstGeom prst="roundRect">
              <a:avLst>
                <a:gd name="adj" fmla="val 9385"/>
              </a:avLst>
            </a:prstGeom>
            <a:solidFill>
              <a:srgbClr val="379DFF"/>
            </a:solidFill>
            <a:ln w="63500" cmpd="sng">
              <a:noFill/>
            </a:ln>
          </p:spPr>
          <p:txBody>
            <a:bodyPr vert="horz" wrap="square" lIns="0" tIns="0" rIns="0" bIns="0" numCol="1" rtlCol="0" anchor="ctr" anchorCtr="0" compatLnSpc="1">
              <a:noAutofit/>
            </a:bodyPr>
            <a:lstStyle/>
            <a:p>
              <a:pPr algn="ctr" defTabSz="914400" eaLnBrk="1" fontAlgn="auto" hangingPunct="1"/>
              <a:r>
                <a:rPr lang="zh-CN" altLang="en-US" sz="1200">
                  <a:solidFill>
                    <a:schemeClr val="bg1"/>
                  </a:solidFill>
                  <a:sym typeface="+mn-ea"/>
                </a:rPr>
                <a:t>指标库管理</a:t>
              </a:r>
              <a:endPara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0000500000000000000" charset="-122"/>
                <a:ea typeface="微软雅黑" panose="00000500000000000000" charset="-122"/>
                <a:sym typeface="+mn-ea"/>
              </a:endParaRPr>
            </a:p>
          </p:txBody>
        </p:sp>
        <p:sp>
          <p:nvSpPr>
            <p:cNvPr id="192" name="Rounded Rectangle 15"/>
            <p:cNvSpPr/>
            <p:nvPr>
              <p:custDataLst>
                <p:tags r:id="rId6"/>
              </p:custDataLst>
            </p:nvPr>
          </p:nvSpPr>
          <p:spPr bwMode="auto">
            <a:xfrm>
              <a:off x="10990" y="9962"/>
              <a:ext cx="1969" cy="454"/>
            </a:xfrm>
            <a:prstGeom prst="roundRect">
              <a:avLst>
                <a:gd name="adj" fmla="val 9385"/>
              </a:avLst>
            </a:prstGeom>
            <a:solidFill>
              <a:srgbClr val="379DFF"/>
            </a:solidFill>
            <a:ln w="63500" cmpd="sng">
              <a:noFill/>
            </a:ln>
          </p:spPr>
          <p:txBody>
            <a:bodyPr vert="horz" wrap="square" lIns="0" tIns="0" rIns="0" bIns="0" numCol="1" rtlCol="0" anchor="ctr" anchorCtr="0" compatLnSpc="1">
              <a:noAutofit/>
            </a:bodyPr>
            <a:lstStyle/>
            <a:p>
              <a:pPr algn="ctr" defTabSz="914400" eaLnBrk="1" fontAlgn="auto" hangingPunct="1"/>
              <a:r>
                <a:rPr lang="zh-CN" altLang="en-US" sz="1200">
                  <a:solidFill>
                    <a:schemeClr val="bg1"/>
                  </a:solidFill>
                  <a:sym typeface="+mn-ea"/>
                </a:rPr>
                <a:t>用户权限管理</a:t>
              </a:r>
              <a:endParaRPr lang="zh-CN" altLang="en-US" sz="12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0000500000000000000" charset="-122"/>
                <a:ea typeface="微软雅黑" panose="00000500000000000000" charset="-122"/>
                <a:sym typeface="+mn-ea"/>
              </a:endParaRPr>
            </a:p>
          </p:txBody>
        </p:sp>
        <p:sp>
          <p:nvSpPr>
            <p:cNvPr id="193" name="Rounded Rectangle 15"/>
            <p:cNvSpPr/>
            <p:nvPr>
              <p:custDataLst>
                <p:tags r:id="rId7"/>
              </p:custDataLst>
            </p:nvPr>
          </p:nvSpPr>
          <p:spPr bwMode="auto">
            <a:xfrm>
              <a:off x="12959" y="9962"/>
              <a:ext cx="1481" cy="454"/>
            </a:xfrm>
            <a:prstGeom prst="roundRect">
              <a:avLst>
                <a:gd name="adj" fmla="val 9385"/>
              </a:avLst>
            </a:prstGeom>
            <a:solidFill>
              <a:srgbClr val="379DFF"/>
            </a:solidFill>
            <a:ln w="63500" cmpd="sng">
              <a:noFill/>
            </a:ln>
          </p:spPr>
          <p:txBody>
            <a:bodyPr vert="horz" wrap="square" lIns="0" tIns="0" rIns="0" bIns="0" numCol="1" rtlCol="0" anchor="ctr" anchorCtr="0" compatLnSpc="1">
              <a:noAutofit/>
            </a:bodyPr>
            <a:lstStyle/>
            <a:p>
              <a:pPr algn="ctr" defTabSz="914400" eaLnBrk="1" fontAlgn="auto" hangingPunct="1"/>
              <a:r>
                <a:rPr lang="zh-CN" altLang="en-US" sz="12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0000500000000000000" charset="-122"/>
                  <a:ea typeface="微软雅黑" panose="00000500000000000000" charset="-122"/>
                  <a:sym typeface="+mn-ea"/>
                </a:rPr>
                <a:t>债券池配置</a:t>
              </a:r>
            </a:p>
          </p:txBody>
        </p:sp>
      </p:grpSp>
      <p:sp>
        <p:nvSpPr>
          <p:cNvPr id="91" name="文本框 90"/>
          <p:cNvSpPr txBox="1"/>
          <p:nvPr/>
        </p:nvSpPr>
        <p:spPr>
          <a:xfrm>
            <a:off x="593090" y="289918"/>
            <a:ext cx="9825551" cy="46037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pPr algn="l" defTabSz="914400" eaLnBrk="1" fontAlgn="auto" hangingPunct="1"/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华锐</a:t>
            </a:r>
            <a:r>
              <a:rPr lang="en-US" altLang="zh-CN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FICC</a:t>
            </a:r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系统建设规划</a:t>
            </a:r>
            <a:r>
              <a:rPr lang="en-US" altLang="zh-CN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——</a:t>
            </a:r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自营投资</a:t>
            </a:r>
            <a:r>
              <a:rPr lang="en-US" altLang="zh-CN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-</a:t>
            </a:r>
            <a:r>
              <a:rPr lang="zh-CN" altLang="en-US" sz="2400" b="1" kern="2000" dirty="0">
                <a:solidFill>
                  <a:schemeClr val="bg1"/>
                </a:solidFill>
                <a:latin typeface="Arial" panose="020B0704020202020204" pitchFamily="34" charset="0"/>
                <a:ea typeface="微软雅黑" panose="00000500000000000000" charset="-122"/>
                <a:sym typeface="+mn-ea"/>
              </a:rPr>
              <a:t>信用债投资</a:t>
            </a:r>
          </a:p>
        </p:txBody>
      </p:sp>
      <p:cxnSp>
        <p:nvCxnSpPr>
          <p:cNvPr id="92" name="直线连接符 1"/>
          <p:cNvCxnSpPr/>
          <p:nvPr/>
        </p:nvCxnSpPr>
        <p:spPr>
          <a:xfrm>
            <a:off x="465823" y="349321"/>
            <a:ext cx="0" cy="431514"/>
          </a:xfrm>
          <a:prstGeom prst="line">
            <a:avLst/>
          </a:prstGeom>
          <a:ln w="762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/>
          <p:cNvGrpSpPr/>
          <p:nvPr/>
        </p:nvGrpSpPr>
        <p:grpSpPr>
          <a:xfrm>
            <a:off x="927735" y="1270000"/>
            <a:ext cx="1920240" cy="5394960"/>
            <a:chOff x="3692" y="1620"/>
            <a:chExt cx="3024" cy="8496"/>
          </a:xfrm>
        </p:grpSpPr>
        <p:sp>
          <p:nvSpPr>
            <p:cNvPr id="41" name="圆角矩形 60"/>
            <p:cNvSpPr/>
            <p:nvPr>
              <p:custDataLst>
                <p:tags r:id="rId2"/>
              </p:custDataLst>
            </p:nvPr>
          </p:nvSpPr>
          <p:spPr bwMode="auto">
            <a:xfrm>
              <a:off x="3692" y="1620"/>
              <a:ext cx="3024" cy="8497"/>
            </a:xfrm>
            <a:prstGeom prst="roundRect">
              <a:avLst>
                <a:gd name="adj" fmla="val 2712"/>
              </a:avLst>
            </a:prstGeom>
            <a:solidFill>
              <a:srgbClr val="225FD1"/>
            </a:solidFill>
            <a:ln w="9525" cap="flat" cmpd="sng" algn="ctr">
              <a:noFill/>
              <a:prstDash val="dash"/>
              <a:round/>
              <a:headEnd type="none" w="med" len="med"/>
              <a:tailEnd type="none" w="med" len="med"/>
            </a:ln>
          </p:spPr>
          <p:txBody>
            <a:bodyPr vert="horz" wrap="square" lIns="0" tIns="0" rIns="0" bIns="0" numCol="1" rtlCol="0" anchor="t" anchorCtr="0" compatLnSpc="1">
              <a:noAutofit/>
            </a:bodyPr>
            <a:lstStyle/>
            <a:p>
              <a:pPr algn="ctr" defTabSz="914400" eaLnBrk="1" fontAlgn="auto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zh-CN" sz="1400" kern="0" dirty="0">
                  <a:solidFill>
                    <a:prstClr val="white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0000500000000000000" charset="-122"/>
                  <a:ea typeface="微软雅黑" panose="00000500000000000000" charset="-122"/>
                  <a:cs typeface="Arial" panose="020B0704020202020204" pitchFamily="34" charset="0"/>
                  <a:sym typeface="Arial" panose="020B0704020202020204" pitchFamily="34" charset="0"/>
                </a:rPr>
                <a:t>    </a:t>
              </a:r>
              <a:r>
                <a:rPr lang="zh-CN" altLang="en-US" sz="1400" kern="0" dirty="0">
                  <a:solidFill>
                    <a:prstClr val="white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0000500000000000000" charset="-122"/>
                  <a:ea typeface="微软雅黑" panose="00000500000000000000" charset="-122"/>
                  <a:cs typeface="Arial" panose="020B0704020202020204" pitchFamily="34" charset="0"/>
                  <a:sym typeface="Arial" panose="020B0704020202020204" pitchFamily="34" charset="0"/>
                </a:rPr>
                <a:t>系统功能</a:t>
              </a:r>
            </a:p>
          </p:txBody>
        </p:sp>
        <p:grpSp>
          <p:nvGrpSpPr>
            <p:cNvPr id="4" name="组合 3"/>
            <p:cNvGrpSpPr/>
            <p:nvPr/>
          </p:nvGrpSpPr>
          <p:grpSpPr>
            <a:xfrm>
              <a:off x="4117" y="2381"/>
              <a:ext cx="2220" cy="2100"/>
              <a:chOff x="9600" y="2381"/>
              <a:chExt cx="2220" cy="2100"/>
            </a:xfrm>
          </p:grpSpPr>
          <p:sp>
            <p:nvSpPr>
              <p:cNvPr id="76" name="Rounded Rectangle 15"/>
              <p:cNvSpPr/>
              <p:nvPr>
                <p:custDataLst>
                  <p:tags r:id="rId11"/>
                </p:custDataLst>
              </p:nvPr>
            </p:nvSpPr>
            <p:spPr bwMode="auto">
              <a:xfrm>
                <a:off x="9600" y="2381"/>
                <a:ext cx="2221" cy="2100"/>
              </a:xfrm>
              <a:prstGeom prst="roundRect">
                <a:avLst>
                  <a:gd name="adj" fmla="val 9385"/>
                </a:avLst>
              </a:prstGeom>
              <a:solidFill>
                <a:schemeClr val="bg1">
                  <a:alpha val="50000"/>
                </a:scheme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vert="horz" wrap="square" lIns="90170" tIns="46990" rIns="90170" bIns="46990" numCol="1" rtlCol="0" anchor="t" anchorCtr="0" compatLnSpc="0">
                <a:noAutofit/>
              </a:bodyPr>
              <a:lstStyle/>
              <a:p>
                <a:pPr lvl="0" algn="ctr" defTabSz="914400" eaLnBrk="1" fontAlgn="auto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defRPr/>
                </a:pPr>
                <a:r>
                  <a:rPr lang="zh-CN" altLang="en-US" sz="1200" b="1" noProof="0" dirty="0">
                    <a:ln>
                      <a:noFill/>
                    </a:ln>
                    <a:solidFill>
                      <a:schemeClr val="accent1">
                        <a:lumMod val="75000"/>
                      </a:schemeClr>
                    </a:solidFill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基础信息管理</a:t>
                </a:r>
              </a:p>
            </p:txBody>
          </p:sp>
          <p:sp>
            <p:nvSpPr>
              <p:cNvPr id="87" name="圆角矩形 86"/>
              <p:cNvSpPr/>
              <p:nvPr>
                <p:custDataLst>
                  <p:tags r:id="rId12"/>
                </p:custDataLst>
              </p:nvPr>
            </p:nvSpPr>
            <p:spPr>
              <a:xfrm>
                <a:off x="10001" y="2942"/>
                <a:ext cx="1620" cy="342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0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管理人黑名单</a:t>
                </a:r>
              </a:p>
            </p:txBody>
          </p:sp>
          <p:sp>
            <p:nvSpPr>
              <p:cNvPr id="88" name="圆角矩形 87"/>
              <p:cNvSpPr/>
              <p:nvPr>
                <p:custDataLst>
                  <p:tags r:id="rId13"/>
                </p:custDataLst>
              </p:nvPr>
            </p:nvSpPr>
            <p:spPr>
              <a:xfrm>
                <a:off x="10001" y="3480"/>
                <a:ext cx="1698" cy="491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0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资产信息等管理</a:t>
                </a:r>
              </a:p>
            </p:txBody>
          </p:sp>
        </p:grpSp>
        <p:grpSp>
          <p:nvGrpSpPr>
            <p:cNvPr id="32" name="组合 31"/>
            <p:cNvGrpSpPr/>
            <p:nvPr/>
          </p:nvGrpSpPr>
          <p:grpSpPr>
            <a:xfrm>
              <a:off x="4064" y="8526"/>
              <a:ext cx="2420" cy="1406"/>
              <a:chOff x="9139" y="3480"/>
              <a:chExt cx="2420" cy="1406"/>
            </a:xfrm>
          </p:grpSpPr>
          <p:sp>
            <p:nvSpPr>
              <p:cNvPr id="29" name="Rounded Rectangle 15"/>
              <p:cNvSpPr/>
              <p:nvPr>
                <p:custDataLst>
                  <p:tags r:id="rId9"/>
                </p:custDataLst>
              </p:nvPr>
            </p:nvSpPr>
            <p:spPr bwMode="auto">
              <a:xfrm>
                <a:off x="9139" y="3480"/>
                <a:ext cx="2421" cy="1406"/>
              </a:xfrm>
              <a:prstGeom prst="roundRect">
                <a:avLst>
                  <a:gd name="adj" fmla="val 9385"/>
                </a:avLst>
              </a:prstGeom>
              <a:solidFill>
                <a:schemeClr val="bg1">
                  <a:alpha val="50000"/>
                </a:scheme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vert="horz" wrap="square" lIns="90170" tIns="46990" rIns="90170" bIns="46990" numCol="1" rtlCol="0" anchor="t" anchorCtr="0" compatLnSpc="0">
                <a:noAutofit/>
              </a:bodyPr>
              <a:lstStyle/>
              <a:p>
                <a:pPr lvl="0" algn="ctr" defTabSz="914400" eaLnBrk="1" fontAlgn="auto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defRPr/>
                </a:pPr>
                <a:r>
                  <a:rPr lang="zh-CN" altLang="en-US" sz="1200" b="1" noProof="0" dirty="0">
                    <a:ln>
                      <a:noFill/>
                    </a:ln>
                    <a:solidFill>
                      <a:schemeClr val="accent1">
                        <a:lumMod val="75000"/>
                      </a:schemeClr>
                    </a:solidFill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资产信息获取</a:t>
                </a:r>
              </a:p>
            </p:txBody>
          </p:sp>
          <p:sp>
            <p:nvSpPr>
              <p:cNvPr id="89" name="圆角矩形 88"/>
              <p:cNvSpPr/>
              <p:nvPr>
                <p:custDataLst>
                  <p:tags r:id="rId10"/>
                </p:custDataLst>
              </p:nvPr>
            </p:nvSpPr>
            <p:spPr>
              <a:xfrm>
                <a:off x="9568" y="4026"/>
                <a:ext cx="1710" cy="571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0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邮箱获取基金资产信息</a:t>
                </a:r>
              </a:p>
            </p:txBody>
          </p:sp>
        </p:grpSp>
        <p:grpSp>
          <p:nvGrpSpPr>
            <p:cNvPr id="26" name="组合 25"/>
            <p:cNvGrpSpPr/>
            <p:nvPr/>
          </p:nvGrpSpPr>
          <p:grpSpPr>
            <a:xfrm>
              <a:off x="4148" y="4598"/>
              <a:ext cx="2220" cy="1783"/>
              <a:chOff x="10273" y="2572"/>
              <a:chExt cx="1890" cy="1783"/>
            </a:xfrm>
          </p:grpSpPr>
          <p:sp>
            <p:nvSpPr>
              <p:cNvPr id="20" name="Rounded Rectangle 15"/>
              <p:cNvSpPr/>
              <p:nvPr>
                <p:custDataLst>
                  <p:tags r:id="rId6"/>
                </p:custDataLst>
              </p:nvPr>
            </p:nvSpPr>
            <p:spPr bwMode="auto">
              <a:xfrm>
                <a:off x="10273" y="2572"/>
                <a:ext cx="1890" cy="1783"/>
              </a:xfrm>
              <a:prstGeom prst="roundRect">
                <a:avLst>
                  <a:gd name="adj" fmla="val 9385"/>
                </a:avLst>
              </a:prstGeom>
              <a:solidFill>
                <a:schemeClr val="bg1">
                  <a:alpha val="50000"/>
                </a:scheme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vert="horz" wrap="square" lIns="90170" tIns="46990" rIns="90170" bIns="46990" numCol="1" rtlCol="0" anchor="t" anchorCtr="0" compatLnSpc="0">
                <a:noAutofit/>
              </a:bodyPr>
              <a:lstStyle/>
              <a:p>
                <a:pPr lvl="0" algn="ctr" defTabSz="914400" eaLnBrk="1" fontAlgn="auto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defRPr/>
                </a:pPr>
                <a:r>
                  <a:rPr lang="zh-CN" altLang="en-US" sz="1200" b="1" noProof="0" dirty="0">
                    <a:ln>
                      <a:noFill/>
                    </a:ln>
                    <a:solidFill>
                      <a:schemeClr val="accent1">
                        <a:lumMod val="75000"/>
                      </a:schemeClr>
                    </a:solidFill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交易录入及审核</a:t>
                </a:r>
              </a:p>
            </p:txBody>
          </p:sp>
          <p:sp>
            <p:nvSpPr>
              <p:cNvPr id="21" name="圆角矩形 20"/>
              <p:cNvSpPr/>
              <p:nvPr>
                <p:custDataLst>
                  <p:tags r:id="rId7"/>
                </p:custDataLst>
              </p:nvPr>
            </p:nvSpPr>
            <p:spPr>
              <a:xfrm>
                <a:off x="10730" y="3354"/>
                <a:ext cx="1350" cy="342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0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交易明细</a:t>
                </a:r>
              </a:p>
            </p:txBody>
          </p:sp>
          <p:sp>
            <p:nvSpPr>
              <p:cNvPr id="22" name="圆角矩形 21"/>
              <p:cNvSpPr/>
              <p:nvPr>
                <p:custDataLst>
                  <p:tags r:id="rId8"/>
                </p:custDataLst>
              </p:nvPr>
            </p:nvSpPr>
            <p:spPr>
              <a:xfrm>
                <a:off x="10730" y="3854"/>
                <a:ext cx="1350" cy="342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0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交易审核</a:t>
                </a:r>
              </a:p>
            </p:txBody>
          </p:sp>
        </p:grpSp>
        <p:grpSp>
          <p:nvGrpSpPr>
            <p:cNvPr id="30" name="组合 29"/>
            <p:cNvGrpSpPr/>
            <p:nvPr/>
          </p:nvGrpSpPr>
          <p:grpSpPr>
            <a:xfrm>
              <a:off x="4064" y="6498"/>
              <a:ext cx="2304" cy="1783"/>
              <a:chOff x="9621" y="2508"/>
              <a:chExt cx="1890" cy="1783"/>
            </a:xfrm>
          </p:grpSpPr>
          <p:sp>
            <p:nvSpPr>
              <p:cNvPr id="23" name="Rounded Rectangle 15"/>
              <p:cNvSpPr/>
              <p:nvPr>
                <p:custDataLst>
                  <p:tags r:id="rId3"/>
                </p:custDataLst>
              </p:nvPr>
            </p:nvSpPr>
            <p:spPr bwMode="auto">
              <a:xfrm>
                <a:off x="9621" y="2508"/>
                <a:ext cx="1890" cy="1783"/>
              </a:xfrm>
              <a:prstGeom prst="roundRect">
                <a:avLst>
                  <a:gd name="adj" fmla="val 9385"/>
                </a:avLst>
              </a:prstGeom>
              <a:solidFill>
                <a:schemeClr val="bg1">
                  <a:alpha val="50000"/>
                </a:scheme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vert="horz" wrap="square" lIns="90170" tIns="46990" rIns="90170" bIns="46990" numCol="1" rtlCol="0" anchor="t" anchorCtr="0" compatLnSpc="0">
                <a:noAutofit/>
              </a:bodyPr>
              <a:lstStyle/>
              <a:p>
                <a:pPr lvl="0" algn="ctr" defTabSz="914400" eaLnBrk="1" fontAlgn="auto" hangingPunct="1"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defRPr/>
                </a:pPr>
                <a:r>
                  <a:rPr lang="zh-CN" altLang="en-US" sz="1200" b="1" noProof="0" dirty="0">
                    <a:ln>
                      <a:noFill/>
                    </a:ln>
                    <a:solidFill>
                      <a:schemeClr val="accent1">
                        <a:lumMod val="75000"/>
                      </a:schemeClr>
                    </a:solidFill>
                    <a:effectLst>
                      <a:outerShdw blurRad="50800" dist="38100" dir="2700000" algn="tl" rotWithShape="0">
                        <a:prstClr val="black">
                          <a:alpha val="40000"/>
                        </a:prstClr>
                      </a:outerShdw>
                    </a:effectLst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生成组合风控报告</a:t>
                </a:r>
              </a:p>
            </p:txBody>
          </p:sp>
          <p:sp>
            <p:nvSpPr>
              <p:cNvPr id="27" name="圆角矩形 26"/>
              <p:cNvSpPr/>
              <p:nvPr>
                <p:custDataLst>
                  <p:tags r:id="rId4"/>
                </p:custDataLst>
              </p:nvPr>
            </p:nvSpPr>
            <p:spPr>
              <a:xfrm>
                <a:off x="10136" y="3369"/>
                <a:ext cx="1350" cy="342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0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风控日报</a:t>
                </a:r>
              </a:p>
            </p:txBody>
          </p:sp>
          <p:sp>
            <p:nvSpPr>
              <p:cNvPr id="28" name="圆角矩形 27"/>
              <p:cNvSpPr/>
              <p:nvPr>
                <p:custDataLst>
                  <p:tags r:id="rId5"/>
                </p:custDataLst>
              </p:nvPr>
            </p:nvSpPr>
            <p:spPr>
              <a:xfrm>
                <a:off x="10136" y="3854"/>
                <a:ext cx="1350" cy="342"/>
              </a:xfrm>
              <a:prstGeom prst="roundRect">
                <a:avLst>
                  <a:gd name="adj" fmla="val 29484"/>
                </a:avLst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 defTabSz="914400" eaLnBrk="1" fontAlgn="auto" hangingPunct="1">
                  <a:buClrTx/>
                  <a:buSzTx/>
                  <a:buFontTx/>
                </a:pPr>
                <a:r>
                  <a:rPr lang="zh-CN" altLang="en-US" sz="10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风控周报</a:t>
                </a:r>
              </a:p>
            </p:txBody>
          </p:sp>
        </p:grpSp>
      </p:grpSp>
      <p:grpSp>
        <p:nvGrpSpPr>
          <p:cNvPr id="38" name="组合 37"/>
          <p:cNvGrpSpPr/>
          <p:nvPr/>
        </p:nvGrpSpPr>
        <p:grpSpPr>
          <a:xfrm>
            <a:off x="9340850" y="1363980"/>
            <a:ext cx="2217420" cy="5394960"/>
            <a:chOff x="13549" y="1768"/>
            <a:chExt cx="3492" cy="8496"/>
          </a:xfrm>
        </p:grpSpPr>
        <p:sp>
          <p:nvSpPr>
            <p:cNvPr id="35" name="圆角矩形 60"/>
            <p:cNvSpPr/>
            <p:nvPr>
              <p:custDataLst>
                <p:tags r:id="rId1"/>
              </p:custDataLst>
            </p:nvPr>
          </p:nvSpPr>
          <p:spPr bwMode="auto">
            <a:xfrm>
              <a:off x="13549" y="1768"/>
              <a:ext cx="3493" cy="8497"/>
            </a:xfrm>
            <a:prstGeom prst="roundRect">
              <a:avLst>
                <a:gd name="adj" fmla="val 2712"/>
              </a:avLst>
            </a:prstGeom>
            <a:solidFill>
              <a:srgbClr val="225FD1"/>
            </a:solidFill>
            <a:ln w="9525" cap="flat" cmpd="sng" algn="ctr">
              <a:noFill/>
              <a:prstDash val="dash"/>
              <a:round/>
              <a:headEnd type="none" w="med" len="med"/>
              <a:tailEnd type="none" w="med" len="med"/>
            </a:ln>
          </p:spPr>
          <p:txBody>
            <a:bodyPr vert="horz" wrap="square" lIns="0" tIns="0" rIns="0" bIns="0" numCol="1" rtlCol="0" anchor="t" anchorCtr="0" compatLnSpc="1">
              <a:noAutofit/>
            </a:bodyPr>
            <a:lstStyle/>
            <a:p>
              <a:pPr algn="ctr" defTabSz="914400" eaLnBrk="1" fontAlgn="auto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FontTx/>
                <a:buNone/>
                <a:defRPr/>
              </a:pPr>
              <a:r>
                <a:rPr lang="en-US" altLang="zh-CN" sz="1400" kern="0" dirty="0">
                  <a:solidFill>
                    <a:prstClr val="white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0000500000000000000" charset="-122"/>
                  <a:ea typeface="微软雅黑" panose="00000500000000000000" charset="-122"/>
                  <a:cs typeface="Arial" panose="020B0704020202020204" pitchFamily="34" charset="0"/>
                  <a:sym typeface="Arial" panose="020B0704020202020204" pitchFamily="34" charset="0"/>
                </a:rPr>
                <a:t>    </a:t>
              </a:r>
              <a:r>
                <a:rPr lang="zh-CN" altLang="en-US" sz="1400" kern="0" dirty="0">
                  <a:solidFill>
                    <a:prstClr val="white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微软雅黑" panose="00000500000000000000" charset="-122"/>
                  <a:ea typeface="微软雅黑" panose="00000500000000000000" charset="-122"/>
                  <a:cs typeface="Arial" panose="020B0704020202020204" pitchFamily="34" charset="0"/>
                  <a:sym typeface="Arial" panose="020B0704020202020204" pitchFamily="34" charset="0"/>
                </a:rPr>
                <a:t>系统目的</a:t>
              </a:r>
            </a:p>
          </p:txBody>
        </p:sp>
        <p:sp>
          <p:nvSpPr>
            <p:cNvPr id="163" name="文本框 90"/>
            <p:cNvSpPr txBox="1"/>
            <p:nvPr/>
          </p:nvSpPr>
          <p:spPr>
            <a:xfrm>
              <a:off x="13756" y="2579"/>
              <a:ext cx="3078" cy="697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eaLnBrk="1" fontAlgn="auto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200" dirty="0">
                  <a:solidFill>
                    <a:schemeClr val="bg1"/>
                  </a:solidFill>
                  <a:latin typeface="微软雅黑" panose="00000500000000000000" charset="-122"/>
                  <a:cs typeface="微软雅黑" panose="00000500000000000000" charset="-122"/>
                </a:rPr>
                <a:t>实现了</a:t>
              </a:r>
              <a:r>
                <a:rPr lang="en-US" altLang="zh-CN" sz="1200" dirty="0">
                  <a:solidFill>
                    <a:schemeClr val="bg1"/>
                  </a:solidFill>
                  <a:latin typeface="微软雅黑" panose="00000500000000000000" charset="-122"/>
                  <a:cs typeface="微软雅黑" panose="00000500000000000000" charset="-122"/>
                </a:rPr>
                <a:t>FOF</a:t>
              </a:r>
              <a:r>
                <a:rPr lang="zh-CN" altLang="en-US" sz="1200" dirty="0">
                  <a:solidFill>
                    <a:schemeClr val="bg1"/>
                  </a:solidFill>
                  <a:latin typeface="微软雅黑" panose="00000500000000000000" charset="-122"/>
                  <a:cs typeface="微软雅黑" panose="00000500000000000000" charset="-122"/>
                </a:rPr>
                <a:t>业务的系统化、数字化管理，有效提升</a:t>
              </a:r>
              <a:r>
                <a:rPr lang="en-US" altLang="zh-CN" sz="1200" dirty="0">
                  <a:solidFill>
                    <a:schemeClr val="bg1"/>
                  </a:solidFill>
                  <a:latin typeface="微软雅黑" panose="00000500000000000000" charset="-122"/>
                  <a:cs typeface="微软雅黑" panose="00000500000000000000" charset="-122"/>
                </a:rPr>
                <a:t>FOF</a:t>
              </a:r>
              <a:r>
                <a:rPr lang="zh-CN" altLang="en-US" sz="1200" dirty="0">
                  <a:solidFill>
                    <a:schemeClr val="bg1"/>
                  </a:solidFill>
                  <a:latin typeface="微软雅黑" panose="00000500000000000000" charset="-122"/>
                  <a:cs typeface="微软雅黑" panose="00000500000000000000" charset="-122"/>
                </a:rPr>
                <a:t>交易管理效率，提高对</a:t>
              </a:r>
              <a:r>
                <a:rPr lang="en-US" altLang="zh-CN" sz="1200" dirty="0">
                  <a:solidFill>
                    <a:schemeClr val="bg1"/>
                  </a:solidFill>
                  <a:latin typeface="微软雅黑" panose="00000500000000000000" charset="-122"/>
                  <a:cs typeface="微软雅黑" panose="00000500000000000000" charset="-122"/>
                </a:rPr>
                <a:t>FOF</a:t>
              </a:r>
              <a:r>
                <a:rPr lang="zh-CN" altLang="en-US" sz="1200" dirty="0">
                  <a:solidFill>
                    <a:schemeClr val="bg1"/>
                  </a:solidFill>
                  <a:latin typeface="微软雅黑" panose="00000500000000000000" charset="-122"/>
                  <a:cs typeface="微软雅黑" panose="00000500000000000000" charset="-122"/>
                </a:rPr>
                <a:t>交易的风控能力与水平；</a:t>
              </a:r>
            </a:p>
            <a:p>
              <a:pPr eaLnBrk="1" fontAlgn="auto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200" dirty="0">
                <a:solidFill>
                  <a:schemeClr val="bg1"/>
                </a:solidFill>
                <a:latin typeface="微软雅黑" panose="00000500000000000000" charset="-122"/>
                <a:cs typeface="微软雅黑" panose="00000500000000000000" charset="-122"/>
              </a:endParaRPr>
            </a:p>
            <a:p>
              <a:pPr marL="171450" indent="-171450" eaLnBrk="1" fontAlgn="auto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Font typeface="Wingdings" panose="05000000000000000000" charset="0"/>
                <a:buChar char=""/>
                <a:defRPr/>
              </a:pPr>
              <a:r>
                <a:rPr lang="en-US" altLang="zh-CN" sz="1200" b="1" dirty="0">
                  <a:solidFill>
                    <a:schemeClr val="bg1"/>
                  </a:solidFill>
                  <a:latin typeface="微软雅黑" panose="00000500000000000000" charset="-122"/>
                  <a:cs typeface="微软雅黑" panose="00000500000000000000" charset="-122"/>
                </a:rPr>
                <a:t>FOF</a:t>
              </a:r>
              <a:r>
                <a:rPr lang="zh-CN" altLang="en-US" sz="1200" b="1" dirty="0">
                  <a:solidFill>
                    <a:schemeClr val="bg1"/>
                  </a:solidFill>
                  <a:latin typeface="微软雅黑" panose="00000500000000000000" charset="-122"/>
                  <a:cs typeface="微软雅黑" panose="00000500000000000000" charset="-122"/>
                </a:rPr>
                <a:t>基础信息管理</a:t>
              </a:r>
            </a:p>
            <a:p>
              <a:pPr eaLnBrk="1" fontAlgn="auto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200" dirty="0">
                  <a:solidFill>
                    <a:schemeClr val="bg1"/>
                  </a:solidFill>
                  <a:latin typeface="微软雅黑" panose="00000500000000000000" charset="-122"/>
                  <a:cs typeface="微软雅黑" panose="00000500000000000000" charset="-122"/>
                </a:rPr>
                <a:t>详细记录管理人发行的</a:t>
              </a:r>
              <a:r>
                <a:rPr lang="en-US" altLang="zh-CN" sz="1200" dirty="0">
                  <a:solidFill>
                    <a:schemeClr val="bg1"/>
                  </a:solidFill>
                  <a:latin typeface="微软雅黑" panose="00000500000000000000" charset="-122"/>
                  <a:cs typeface="微软雅黑" panose="00000500000000000000" charset="-122"/>
                </a:rPr>
                <a:t>FOF</a:t>
              </a:r>
              <a:r>
                <a:rPr lang="zh-CN" altLang="en-US" sz="1200" dirty="0">
                  <a:solidFill>
                    <a:schemeClr val="bg1"/>
                  </a:solidFill>
                  <a:latin typeface="微软雅黑" panose="00000500000000000000" charset="-122"/>
                  <a:cs typeface="微软雅黑" panose="00000500000000000000" charset="-122"/>
                </a:rPr>
                <a:t>基金各类信息，如管理人策略分类、基金资产信息等；</a:t>
              </a:r>
            </a:p>
            <a:p>
              <a:pPr marL="171450" indent="-171450" eaLnBrk="1" fontAlgn="auto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Font typeface="Wingdings" panose="05000000000000000000" charset="0"/>
                <a:buChar char=""/>
                <a:defRPr/>
              </a:pPr>
              <a:r>
                <a:rPr lang="zh-CN" altLang="en-US" sz="1200" b="1" dirty="0">
                  <a:solidFill>
                    <a:schemeClr val="bg1"/>
                  </a:solidFill>
                  <a:latin typeface="微软雅黑" panose="00000500000000000000" charset="-122"/>
                  <a:cs typeface="微软雅黑" panose="00000500000000000000" charset="-122"/>
                </a:rPr>
                <a:t>交易明细管理</a:t>
              </a:r>
              <a:r>
                <a:rPr lang="en-US" altLang="zh-CN" sz="1200" b="1" dirty="0">
                  <a:solidFill>
                    <a:schemeClr val="bg1"/>
                  </a:solidFill>
                  <a:latin typeface="微软雅黑" panose="00000500000000000000" charset="-122"/>
                  <a:cs typeface="微软雅黑" panose="00000500000000000000" charset="-122"/>
                </a:rPr>
                <a:t>/</a:t>
              </a:r>
              <a:r>
                <a:rPr lang="zh-CN" altLang="en-US" sz="1200" b="1" dirty="0">
                  <a:solidFill>
                    <a:schemeClr val="bg1"/>
                  </a:solidFill>
                  <a:latin typeface="微软雅黑" panose="00000500000000000000" charset="-122"/>
                  <a:cs typeface="微软雅黑" panose="00000500000000000000" charset="-122"/>
                </a:rPr>
                <a:t>复核</a:t>
              </a:r>
            </a:p>
            <a:p>
              <a:pPr eaLnBrk="1" fontAlgn="auto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Font typeface="Wingdings" panose="05000000000000000000" charset="0"/>
                <a:buNone/>
                <a:defRPr/>
              </a:pPr>
              <a:r>
                <a:rPr lang="zh-CN" altLang="en-US" sz="1200" dirty="0">
                  <a:solidFill>
                    <a:schemeClr val="bg1"/>
                  </a:solidFill>
                  <a:latin typeface="微软雅黑" panose="00000500000000000000" charset="-122"/>
                  <a:cs typeface="微软雅黑" panose="00000500000000000000" charset="-122"/>
                </a:rPr>
                <a:t>提高对交易明细进行录入、查询、复核功能；</a:t>
              </a:r>
            </a:p>
            <a:p>
              <a:pPr marL="171450" indent="-171450" eaLnBrk="1" fontAlgn="auto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Font typeface="Wingdings" panose="05000000000000000000" charset="0"/>
                <a:buChar char=""/>
                <a:defRPr/>
              </a:pPr>
              <a:r>
                <a:rPr lang="zh-CN" altLang="en-US" sz="1200" b="1" dirty="0">
                  <a:solidFill>
                    <a:schemeClr val="bg1"/>
                  </a:solidFill>
                  <a:latin typeface="微软雅黑" panose="00000500000000000000" charset="-122"/>
                  <a:cs typeface="微软雅黑" panose="00000500000000000000" charset="-122"/>
                </a:rPr>
                <a:t>风控组合报表</a:t>
              </a:r>
            </a:p>
            <a:p>
              <a:pPr eaLnBrk="1" fontAlgn="auto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200" dirty="0">
                  <a:solidFill>
                    <a:schemeClr val="bg1"/>
                  </a:solidFill>
                  <a:latin typeface="微软雅黑" panose="00000500000000000000" charset="-122"/>
                  <a:cs typeface="微软雅黑" panose="00000500000000000000" charset="-122"/>
                </a:rPr>
                <a:t>包含管理人策略限制、投资占比限制、白名单分类、子基金申赎情况等；</a:t>
              </a:r>
            </a:p>
          </p:txBody>
        </p:sp>
      </p:grpSp>
      <p:sp>
        <p:nvSpPr>
          <p:cNvPr id="34" name="Rounded Rectangle 29"/>
          <p:cNvSpPr/>
          <p:nvPr/>
        </p:nvSpPr>
        <p:spPr>
          <a:xfrm>
            <a:off x="5302250" y="925830"/>
            <a:ext cx="2368550" cy="519113"/>
          </a:xfrm>
          <a:prstGeom prst="roundRect">
            <a:avLst>
              <a:gd name="adj" fmla="val 7934"/>
            </a:avLst>
          </a:prstGeom>
          <a:gradFill flip="none" rotWithShape="1">
            <a:gsLst>
              <a:gs pos="0">
                <a:schemeClr val="tx2">
                  <a:lumMod val="75000"/>
                </a:schemeClr>
              </a:gs>
              <a:gs pos="97000">
                <a:srgbClr val="376499"/>
              </a:gs>
            </a:gsLst>
            <a:lin ang="150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buClr>
                <a:srgbClr val="FFC000"/>
              </a:buClr>
              <a:defRPr/>
            </a:pPr>
            <a:r>
              <a:rPr lang="zh-CN" altLang="en-US" sz="1500" b="1" kern="0" dirty="0">
                <a:solidFill>
                  <a:schemeClr val="bg1"/>
                </a:solidFill>
                <a:latin typeface="微软雅黑" panose="00000500000000000000" charset="-122"/>
                <a:cs typeface="微软雅黑" panose="00000500000000000000" charset="-122"/>
                <a:sym typeface="+mn-ea"/>
              </a:rPr>
              <a:t>业务流程</a:t>
            </a:r>
          </a:p>
        </p:txBody>
      </p:sp>
      <p:sp>
        <p:nvSpPr>
          <p:cNvPr id="146" name="椭圆 20"/>
          <p:cNvSpPr/>
          <p:nvPr/>
        </p:nvSpPr>
        <p:spPr>
          <a:xfrm>
            <a:off x="2847658" y="1793240"/>
            <a:ext cx="765175" cy="771525"/>
          </a:xfrm>
          <a:prstGeom prst="ellipse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200" dirty="0">
                <a:solidFill>
                  <a:schemeClr val="bg1"/>
                </a:solidFill>
                <a:latin typeface="微软雅黑" panose="00000500000000000000" charset="-122"/>
              </a:rPr>
              <a:t>投资</a:t>
            </a:r>
            <a:endParaRPr lang="en-US" altLang="zh-CN" sz="1200" dirty="0">
              <a:solidFill>
                <a:schemeClr val="bg1"/>
              </a:solidFill>
              <a:latin typeface="微软雅黑" panose="00000500000000000000" charset="-122"/>
            </a:endParaRPr>
          </a:p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200" dirty="0">
                <a:solidFill>
                  <a:schemeClr val="bg1"/>
                </a:solidFill>
                <a:latin typeface="微软雅黑" panose="00000500000000000000" charset="-122"/>
              </a:rPr>
              <a:t>助理</a:t>
            </a:r>
          </a:p>
        </p:txBody>
      </p:sp>
      <p:sp>
        <p:nvSpPr>
          <p:cNvPr id="147" name="椭圆 21"/>
          <p:cNvSpPr/>
          <p:nvPr/>
        </p:nvSpPr>
        <p:spPr>
          <a:xfrm>
            <a:off x="8375333" y="1837690"/>
            <a:ext cx="776287" cy="754063"/>
          </a:xfrm>
          <a:prstGeom prst="ellipse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zh-CN" sz="1200" dirty="0">
                <a:solidFill>
                  <a:schemeClr val="bg1"/>
                </a:solidFill>
                <a:latin typeface="微软雅黑" panose="00000500000000000000" charset="-122"/>
              </a:rPr>
              <a:t>风控</a:t>
            </a:r>
            <a:r>
              <a:rPr lang="zh-CN" altLang="en-US" sz="1200" dirty="0">
                <a:solidFill>
                  <a:schemeClr val="bg1"/>
                </a:solidFill>
                <a:latin typeface="微软雅黑" panose="00000500000000000000" charset="-122"/>
              </a:rPr>
              <a:t>岗</a:t>
            </a:r>
          </a:p>
        </p:txBody>
      </p:sp>
      <p:sp>
        <p:nvSpPr>
          <p:cNvPr id="148" name="圆角矩形 22"/>
          <p:cNvSpPr/>
          <p:nvPr/>
        </p:nvSpPr>
        <p:spPr>
          <a:xfrm>
            <a:off x="6251258" y="1959928"/>
            <a:ext cx="1546225" cy="431800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200" dirty="0">
                <a:solidFill>
                  <a:schemeClr val="bg1"/>
                </a:solidFill>
                <a:latin typeface="微软雅黑" panose="00000500000000000000" charset="-122"/>
              </a:rPr>
              <a:t>同步基础</a:t>
            </a:r>
            <a:r>
              <a:rPr lang="zh-CN" altLang="zh-CN" sz="1200" dirty="0">
                <a:solidFill>
                  <a:schemeClr val="bg1"/>
                </a:solidFill>
                <a:latin typeface="微软雅黑" panose="00000500000000000000" charset="-122"/>
              </a:rPr>
              <a:t>信息</a:t>
            </a:r>
            <a:endParaRPr lang="zh-CN" altLang="en-US" sz="1200" dirty="0">
              <a:solidFill>
                <a:schemeClr val="bg1"/>
              </a:solidFill>
              <a:latin typeface="微软雅黑" panose="00000500000000000000" charset="-122"/>
            </a:endParaRPr>
          </a:p>
        </p:txBody>
      </p:sp>
      <p:sp>
        <p:nvSpPr>
          <p:cNvPr id="149" name="圆角矩形 23"/>
          <p:cNvSpPr/>
          <p:nvPr/>
        </p:nvSpPr>
        <p:spPr>
          <a:xfrm>
            <a:off x="4103370" y="1961515"/>
            <a:ext cx="1752600" cy="4318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zh-CN" sz="1200" dirty="0">
                <a:solidFill>
                  <a:schemeClr val="bg1"/>
                </a:solidFill>
                <a:latin typeface="微软雅黑" panose="00000500000000000000" charset="-122"/>
              </a:rPr>
              <a:t>录入基础信息</a:t>
            </a:r>
          </a:p>
        </p:txBody>
      </p:sp>
      <p:sp>
        <p:nvSpPr>
          <p:cNvPr id="151" name="圆角矩形 1"/>
          <p:cNvSpPr/>
          <p:nvPr/>
        </p:nvSpPr>
        <p:spPr>
          <a:xfrm>
            <a:off x="4116070" y="3903028"/>
            <a:ext cx="1752600" cy="4318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200" dirty="0">
                <a:solidFill>
                  <a:schemeClr val="bg1"/>
                </a:solidFill>
                <a:latin typeface="微软雅黑" panose="00000500000000000000" charset="-122"/>
              </a:rPr>
              <a:t>交易信息复核</a:t>
            </a:r>
          </a:p>
        </p:txBody>
      </p:sp>
      <p:sp>
        <p:nvSpPr>
          <p:cNvPr id="152" name="圆角矩形 11"/>
          <p:cNvSpPr/>
          <p:nvPr/>
        </p:nvSpPr>
        <p:spPr>
          <a:xfrm>
            <a:off x="4116070" y="4538028"/>
            <a:ext cx="1751013" cy="4318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200" dirty="0">
                <a:solidFill>
                  <a:schemeClr val="bg1"/>
                </a:solidFill>
                <a:latin typeface="微软雅黑" panose="00000500000000000000" charset="-122"/>
              </a:rPr>
              <a:t>生成组合风控报告</a:t>
            </a:r>
            <a:endParaRPr lang="en-US" altLang="zh-CN" sz="1200" dirty="0">
              <a:solidFill>
                <a:schemeClr val="bg1"/>
              </a:solidFill>
              <a:latin typeface="微软雅黑" panose="00000500000000000000" charset="-122"/>
            </a:endParaRPr>
          </a:p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200" dirty="0">
                <a:solidFill>
                  <a:schemeClr val="bg1"/>
                </a:solidFill>
                <a:latin typeface="微软雅黑" panose="00000500000000000000" charset="-122"/>
              </a:rPr>
              <a:t>（日报</a:t>
            </a:r>
            <a:r>
              <a:rPr lang="en-US" altLang="zh-CN" sz="1200" dirty="0">
                <a:solidFill>
                  <a:schemeClr val="bg1"/>
                </a:solidFill>
                <a:latin typeface="微软雅黑" panose="00000500000000000000" charset="-122"/>
              </a:rPr>
              <a:t>/</a:t>
            </a:r>
            <a:r>
              <a:rPr lang="zh-CN" altLang="en-US" sz="1200" dirty="0">
                <a:solidFill>
                  <a:schemeClr val="bg1"/>
                </a:solidFill>
                <a:latin typeface="微软雅黑" panose="00000500000000000000" charset="-122"/>
              </a:rPr>
              <a:t>周报）</a:t>
            </a:r>
          </a:p>
        </p:txBody>
      </p:sp>
      <p:sp>
        <p:nvSpPr>
          <p:cNvPr id="153" name="圆角矩形 12"/>
          <p:cNvSpPr/>
          <p:nvPr/>
        </p:nvSpPr>
        <p:spPr>
          <a:xfrm>
            <a:off x="4116070" y="5230178"/>
            <a:ext cx="1751013" cy="4318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200" dirty="0">
                <a:solidFill>
                  <a:schemeClr val="bg1"/>
                </a:solidFill>
                <a:latin typeface="微软雅黑" panose="00000500000000000000" charset="-122"/>
              </a:rPr>
              <a:t>查看组合风控报告</a:t>
            </a:r>
            <a:endParaRPr lang="en-US" altLang="zh-CN" sz="1200" dirty="0">
              <a:solidFill>
                <a:schemeClr val="bg1"/>
              </a:solidFill>
              <a:latin typeface="微软雅黑" panose="00000500000000000000" charset="-122"/>
            </a:endParaRPr>
          </a:p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200" dirty="0">
                <a:solidFill>
                  <a:schemeClr val="bg1"/>
                </a:solidFill>
                <a:latin typeface="微软雅黑" panose="00000500000000000000" charset="-122"/>
              </a:rPr>
              <a:t>下载组合风控报告</a:t>
            </a:r>
          </a:p>
        </p:txBody>
      </p:sp>
      <p:cxnSp>
        <p:nvCxnSpPr>
          <p:cNvPr id="154" name="肘形连接符 13"/>
          <p:cNvCxnSpPr>
            <a:stCxn id="146" idx="4"/>
            <a:endCxn id="152" idx="1"/>
          </p:cNvCxnSpPr>
          <p:nvPr/>
        </p:nvCxnSpPr>
        <p:spPr>
          <a:xfrm rot="16200000" flipH="1">
            <a:off x="2578576" y="3216434"/>
            <a:ext cx="2189163" cy="885825"/>
          </a:xfrm>
          <a:prstGeom prst="bentConnector2">
            <a:avLst/>
          </a:prstGeom>
          <a:ln>
            <a:solidFill>
              <a:schemeClr val="bg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肘形连接符 14"/>
          <p:cNvCxnSpPr>
            <a:stCxn id="147" idx="4"/>
            <a:endCxn id="153" idx="3"/>
          </p:cNvCxnSpPr>
          <p:nvPr/>
        </p:nvCxnSpPr>
        <p:spPr>
          <a:xfrm rot="5400000">
            <a:off x="5887720" y="2571116"/>
            <a:ext cx="2854325" cy="2895600"/>
          </a:xfrm>
          <a:prstGeom prst="bentConnector2">
            <a:avLst/>
          </a:prstGeom>
          <a:ln>
            <a:solidFill>
              <a:schemeClr val="bg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圆角矩形 16"/>
          <p:cNvSpPr/>
          <p:nvPr/>
        </p:nvSpPr>
        <p:spPr>
          <a:xfrm>
            <a:off x="4112895" y="2626678"/>
            <a:ext cx="1743075" cy="4318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zh-CN" sz="1200" dirty="0">
                <a:solidFill>
                  <a:schemeClr val="bg1"/>
                </a:solidFill>
                <a:latin typeface="微软雅黑" panose="00000500000000000000" charset="-122"/>
              </a:rPr>
              <a:t>查看</a:t>
            </a:r>
            <a:r>
              <a:rPr lang="zh-CN" altLang="en-US" sz="1200" dirty="0">
                <a:solidFill>
                  <a:schemeClr val="bg1"/>
                </a:solidFill>
                <a:latin typeface="微软雅黑" panose="00000500000000000000" charset="-122"/>
              </a:rPr>
              <a:t>基础</a:t>
            </a:r>
            <a:r>
              <a:rPr lang="zh-CN" altLang="zh-CN" sz="1200" dirty="0">
                <a:solidFill>
                  <a:schemeClr val="bg1"/>
                </a:solidFill>
                <a:latin typeface="微软雅黑" panose="00000500000000000000" charset="-122"/>
              </a:rPr>
              <a:t>信息</a:t>
            </a:r>
            <a:endParaRPr lang="zh-CN" altLang="en-US" sz="1200" dirty="0">
              <a:solidFill>
                <a:schemeClr val="bg1"/>
              </a:solidFill>
              <a:latin typeface="微软雅黑" panose="00000500000000000000" charset="-122"/>
            </a:endParaRPr>
          </a:p>
        </p:txBody>
      </p:sp>
      <p:cxnSp>
        <p:nvCxnSpPr>
          <p:cNvPr id="157" name="肘形连接符 17"/>
          <p:cNvCxnSpPr>
            <a:stCxn id="147" idx="4"/>
            <a:endCxn id="156" idx="3"/>
          </p:cNvCxnSpPr>
          <p:nvPr/>
        </p:nvCxnSpPr>
        <p:spPr>
          <a:xfrm rot="5400000">
            <a:off x="7183914" y="1263809"/>
            <a:ext cx="250825" cy="2906713"/>
          </a:xfrm>
          <a:prstGeom prst="bentConnector2">
            <a:avLst/>
          </a:prstGeom>
          <a:ln>
            <a:solidFill>
              <a:schemeClr val="bg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肘形连接符 18"/>
          <p:cNvCxnSpPr>
            <a:stCxn id="147" idx="4"/>
            <a:endCxn id="151" idx="3"/>
          </p:cNvCxnSpPr>
          <p:nvPr/>
        </p:nvCxnSpPr>
        <p:spPr>
          <a:xfrm rot="5400000">
            <a:off x="6552089" y="1908334"/>
            <a:ext cx="1527175" cy="2894013"/>
          </a:xfrm>
          <a:prstGeom prst="bentConnector2">
            <a:avLst/>
          </a:prstGeom>
          <a:ln>
            <a:solidFill>
              <a:schemeClr val="bg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直接箭头连接符 42"/>
          <p:cNvCxnSpPr>
            <a:stCxn id="146" idx="6"/>
            <a:endCxn id="149" idx="1"/>
          </p:cNvCxnSpPr>
          <p:nvPr/>
        </p:nvCxnSpPr>
        <p:spPr>
          <a:xfrm flipV="1">
            <a:off x="3612833" y="2177415"/>
            <a:ext cx="490537" cy="1588"/>
          </a:xfrm>
          <a:prstGeom prst="straightConnector1">
            <a:avLst/>
          </a:prstGeom>
          <a:ln>
            <a:solidFill>
              <a:schemeClr val="bg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直接箭头连接符 47"/>
          <p:cNvCxnSpPr/>
          <p:nvPr/>
        </p:nvCxnSpPr>
        <p:spPr>
          <a:xfrm flipV="1">
            <a:off x="5741035" y="2179003"/>
            <a:ext cx="395288" cy="1587"/>
          </a:xfrm>
          <a:prstGeom prst="straightConnector1">
            <a:avLst/>
          </a:prstGeom>
          <a:ln>
            <a:solidFill>
              <a:schemeClr val="bg1"/>
            </a:solidFill>
            <a:prstDash val="lg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圆角矩形 89"/>
          <p:cNvSpPr/>
          <p:nvPr/>
        </p:nvSpPr>
        <p:spPr>
          <a:xfrm>
            <a:off x="4112895" y="3241040"/>
            <a:ext cx="1752600" cy="431800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zh-CN" sz="1200" dirty="0">
                <a:solidFill>
                  <a:schemeClr val="bg1"/>
                </a:solidFill>
                <a:latin typeface="微软雅黑" panose="00000500000000000000" charset="-122"/>
              </a:rPr>
              <a:t>录入</a:t>
            </a:r>
            <a:r>
              <a:rPr lang="zh-CN" altLang="en-US" sz="1200" dirty="0">
                <a:solidFill>
                  <a:schemeClr val="bg1"/>
                </a:solidFill>
                <a:latin typeface="微软雅黑" panose="00000500000000000000" charset="-122"/>
              </a:rPr>
              <a:t>交易明细</a:t>
            </a:r>
          </a:p>
        </p:txBody>
      </p:sp>
      <p:cxnSp>
        <p:nvCxnSpPr>
          <p:cNvPr id="40" name="直接箭头连接符 91"/>
          <p:cNvCxnSpPr>
            <a:stCxn id="39" idx="2"/>
            <a:endCxn id="151" idx="0"/>
          </p:cNvCxnSpPr>
          <p:nvPr/>
        </p:nvCxnSpPr>
        <p:spPr>
          <a:xfrm>
            <a:off x="4989195" y="3672840"/>
            <a:ext cx="3175" cy="230188"/>
          </a:xfrm>
          <a:prstGeom prst="straightConnector1">
            <a:avLst/>
          </a:prstGeom>
          <a:ln w="9525" cap="flat" cmpd="sng" algn="ctr">
            <a:solidFill>
              <a:schemeClr val="bg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2" name="直接箭头连接符 92"/>
          <p:cNvCxnSpPr>
            <a:endCxn id="39" idx="1"/>
          </p:cNvCxnSpPr>
          <p:nvPr/>
        </p:nvCxnSpPr>
        <p:spPr>
          <a:xfrm>
            <a:off x="3228658" y="3456940"/>
            <a:ext cx="884237" cy="0"/>
          </a:xfrm>
          <a:prstGeom prst="straightConnector1">
            <a:avLst/>
          </a:prstGeom>
          <a:ln>
            <a:solidFill>
              <a:schemeClr val="bg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箭头连接符 93"/>
          <p:cNvCxnSpPr>
            <a:stCxn id="149" idx="2"/>
            <a:endCxn id="156" idx="0"/>
          </p:cNvCxnSpPr>
          <p:nvPr/>
        </p:nvCxnSpPr>
        <p:spPr>
          <a:xfrm>
            <a:off x="4979670" y="2393315"/>
            <a:ext cx="4763" cy="233363"/>
          </a:xfrm>
          <a:prstGeom prst="straightConnector1">
            <a:avLst/>
          </a:prstGeom>
          <a:ln w="9525" cap="flat" cmpd="sng" algn="ctr">
            <a:solidFill>
              <a:schemeClr val="bg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4" name="直接箭头连接符 94"/>
          <p:cNvCxnSpPr>
            <a:stCxn id="152" idx="2"/>
            <a:endCxn id="153" idx="0"/>
          </p:cNvCxnSpPr>
          <p:nvPr/>
        </p:nvCxnSpPr>
        <p:spPr>
          <a:xfrm>
            <a:off x="4990783" y="4969828"/>
            <a:ext cx="1587" cy="260350"/>
          </a:xfrm>
          <a:prstGeom prst="straightConnector1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5" name="圆角矩形 95"/>
          <p:cNvSpPr/>
          <p:nvPr/>
        </p:nvSpPr>
        <p:spPr>
          <a:xfrm>
            <a:off x="6257608" y="3237865"/>
            <a:ext cx="1539875" cy="431800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200" dirty="0">
                <a:solidFill>
                  <a:schemeClr val="bg1"/>
                </a:solidFill>
                <a:latin typeface="微软雅黑" panose="00000500000000000000" charset="-122"/>
              </a:rPr>
              <a:t>同步交易明细</a:t>
            </a:r>
          </a:p>
        </p:txBody>
      </p:sp>
      <p:cxnSp>
        <p:nvCxnSpPr>
          <p:cNvPr id="46" name="直接箭头连接符 96"/>
          <p:cNvCxnSpPr/>
          <p:nvPr/>
        </p:nvCxnSpPr>
        <p:spPr>
          <a:xfrm flipV="1">
            <a:off x="5741035" y="3456940"/>
            <a:ext cx="392113" cy="3175"/>
          </a:xfrm>
          <a:prstGeom prst="straightConnector1">
            <a:avLst/>
          </a:prstGeom>
          <a:ln>
            <a:solidFill>
              <a:schemeClr val="bg1"/>
            </a:solidFill>
            <a:prstDash val="lg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圆角矩形 97"/>
          <p:cNvSpPr/>
          <p:nvPr/>
        </p:nvSpPr>
        <p:spPr>
          <a:xfrm>
            <a:off x="4103370" y="5922328"/>
            <a:ext cx="1752600" cy="433387"/>
          </a:xfrm>
          <a:prstGeom prst="round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200" dirty="0">
                <a:solidFill>
                  <a:schemeClr val="bg1"/>
                </a:solidFill>
                <a:latin typeface="微软雅黑" panose="00000500000000000000" charset="-122"/>
              </a:rPr>
              <a:t>基金资产信息获取</a:t>
            </a:r>
            <a:r>
              <a:rPr lang="en-US" altLang="zh-CN" sz="1200" dirty="0">
                <a:solidFill>
                  <a:schemeClr val="bg1"/>
                </a:solidFill>
                <a:latin typeface="微软雅黑" panose="00000500000000000000" charset="-122"/>
              </a:rPr>
              <a:t>/</a:t>
            </a:r>
            <a:r>
              <a:rPr lang="zh-CN" altLang="en-US" sz="1200" dirty="0">
                <a:solidFill>
                  <a:schemeClr val="bg1"/>
                </a:solidFill>
                <a:latin typeface="微软雅黑" panose="00000500000000000000" charset="-122"/>
              </a:rPr>
              <a:t>导入</a:t>
            </a:r>
            <a:endParaRPr lang="en-US" altLang="zh-CN" sz="1200" dirty="0">
              <a:solidFill>
                <a:schemeClr val="bg1"/>
              </a:solidFill>
              <a:latin typeface="微软雅黑" panose="00000500000000000000" charset="-122"/>
            </a:endParaRPr>
          </a:p>
        </p:txBody>
      </p:sp>
      <p:cxnSp>
        <p:nvCxnSpPr>
          <p:cNvPr id="48" name="肘形连接符 14"/>
          <p:cNvCxnSpPr/>
          <p:nvPr/>
        </p:nvCxnSpPr>
        <p:spPr>
          <a:xfrm rot="5400000">
            <a:off x="5517515" y="2903220"/>
            <a:ext cx="3574415" cy="2896870"/>
          </a:xfrm>
          <a:prstGeom prst="bentConnector2">
            <a:avLst/>
          </a:prstGeom>
          <a:ln>
            <a:solidFill>
              <a:schemeClr val="bg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文本框 90"/>
          <p:cNvSpPr txBox="1"/>
          <p:nvPr/>
        </p:nvSpPr>
        <p:spPr>
          <a:xfrm>
            <a:off x="593090" y="289918"/>
            <a:ext cx="9825551" cy="46037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pPr algn="l" defTabSz="914400" eaLnBrk="1" fontAlgn="auto" hangingPunct="1"/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华锐</a:t>
            </a:r>
            <a:r>
              <a:rPr lang="en-US" altLang="zh-CN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FICC</a:t>
            </a:r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系统建设规划</a:t>
            </a:r>
            <a:r>
              <a:rPr lang="en-US" altLang="zh-CN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——</a:t>
            </a:r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自营投资</a:t>
            </a:r>
            <a:r>
              <a:rPr lang="en-US" altLang="zh-CN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-</a:t>
            </a:r>
            <a:r>
              <a:rPr lang="en-US" altLang="zh-CN" sz="2400" b="1" kern="2000" dirty="0">
                <a:solidFill>
                  <a:schemeClr val="bg1"/>
                </a:solidFill>
                <a:latin typeface="Arial" panose="020B0704020202020204" pitchFamily="34" charset="0"/>
                <a:ea typeface="微软雅黑" panose="00000500000000000000" charset="-122"/>
                <a:sym typeface="+mn-ea"/>
              </a:rPr>
              <a:t>FOF</a:t>
            </a:r>
          </a:p>
        </p:txBody>
      </p:sp>
      <p:cxnSp>
        <p:nvCxnSpPr>
          <p:cNvPr id="92" name="直线连接符 1"/>
          <p:cNvCxnSpPr/>
          <p:nvPr/>
        </p:nvCxnSpPr>
        <p:spPr>
          <a:xfrm>
            <a:off x="465823" y="349321"/>
            <a:ext cx="0" cy="431514"/>
          </a:xfrm>
          <a:prstGeom prst="line">
            <a:avLst/>
          </a:prstGeom>
          <a:ln w="762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448310" y="902335"/>
            <a:ext cx="5715635" cy="864235"/>
          </a:xfrm>
          <a:prstGeom prst="rect">
            <a:avLst/>
          </a:prstGeom>
          <a:solidFill>
            <a:srgbClr val="0070C0"/>
          </a:solidFill>
          <a:ln w="3175" cap="flat" cmpd="sng" algn="ctr">
            <a:noFill/>
            <a:prstDash val="solid"/>
            <a:miter lim="800000"/>
          </a:ln>
          <a:effectLst/>
        </p:spPr>
        <p:txBody>
          <a:bodyPr lIns="90170" tIns="46990" rIns="90170" bIns="4699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00" b="1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核心目标：</a:t>
            </a:r>
          </a:p>
          <a:p>
            <a:pPr algn="l" eaLnBrk="1" hangingPunct="1">
              <a:lnSpc>
                <a:spcPct val="150000"/>
              </a:lnSpc>
            </a:pP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实现全资产、全市场、全生命周期的投资数据统一簿记。</a:t>
            </a:r>
          </a:p>
          <a:p>
            <a:pPr algn="l" eaLnBrk="1" hangingPunct="1">
              <a:lnSpc>
                <a:spcPct val="150000"/>
              </a:lnSpc>
            </a:pP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sym typeface="+mn-ea"/>
              </a:rPr>
              <a:t>是投资交易的中枢神经系统，是实现投研、投管、投交一体化的最核心基础设施</a:t>
            </a:r>
            <a:endParaRPr lang="zh-CN" altLang="en-US" sz="1200" b="1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微软雅黑" panose="00000500000000000000" charset="-122"/>
              <a:ea typeface="微软雅黑" panose="00000500000000000000" charset="-122"/>
              <a:cs typeface="微软雅黑" panose="00000500000000000000" charset="-122"/>
              <a:sym typeface="+mn-ea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448310" y="1893570"/>
            <a:ext cx="5715635" cy="1424305"/>
          </a:xfrm>
          <a:prstGeom prst="rect">
            <a:avLst/>
          </a:prstGeom>
          <a:solidFill>
            <a:srgbClr val="0070C0"/>
          </a:solidFill>
          <a:ln w="3175" cap="flat" cmpd="sng" algn="ctr">
            <a:noFill/>
            <a:prstDash val="solid"/>
            <a:miter lim="800000"/>
          </a:ln>
          <a:effectLst/>
        </p:spPr>
        <p:txBody>
          <a:bodyPr lIns="90170" tIns="46990" rIns="90170" bIns="4699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00" b="1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核心价值：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前，中，后台一体化：：实时头寸、盈亏、敞口数据支持快速调仓、套利、对冲决</a:t>
            </a:r>
            <a:endParaRPr lang="zh-CN" altLang="en-US" sz="1200" b="1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微软雅黑" panose="00000500000000000000" charset="-122"/>
              <a:ea typeface="微软雅黑" panose="00000500000000000000" charset="-122"/>
              <a:cs typeface="微软雅黑" panose="00000500000000000000" charset="-122"/>
              <a:sym typeface="+mn-e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合规风控实时化：</a:t>
            </a:r>
            <a:r>
              <a:rPr lang="en-US" altLang="zh-CN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 </a:t>
            </a: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实时限额监控、 VaR/ES 计算、异常交易预警，满足监管“穿透式”要求</a:t>
            </a:r>
            <a:endParaRPr lang="zh-CN" altLang="en-US" sz="1200" b="0" i="0">
              <a:solidFill>
                <a:schemeClr val="bg1"/>
              </a:solidFill>
              <a:latin typeface="微软雅黑" panose="00000500000000000000" charset="-122"/>
              <a:ea typeface="微软雅黑" panose="00000500000000000000" charset="-122"/>
              <a:cs typeface="微软雅黑" panose="00000500000000000000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打破数据孤岛：取代各种系统的数据层，降低系统维护，数据割裂</a:t>
            </a:r>
            <a:endParaRPr lang="zh-CN" altLang="en-US" sz="1200" b="0" i="0">
              <a:solidFill>
                <a:schemeClr val="bg1"/>
              </a:solidFill>
              <a:latin typeface="微软雅黑" panose="00000500000000000000" charset="-122"/>
              <a:ea typeface="微软雅黑" panose="00000500000000000000" charset="-122"/>
              <a:cs typeface="微软雅黑" panose="00000500000000000000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数据资产积累：统一数据标准，统一数据模型，为大数据分析，AI训练、智能投研、量化分析提供高质量数据基础</a:t>
            </a:r>
            <a:endParaRPr lang="zh-CN" altLang="en-US" sz="1200" b="0" i="0">
              <a:latin typeface="微软雅黑" panose="00000500000000000000" charset="-122"/>
              <a:ea typeface="微软雅黑" panose="00000500000000000000" charset="-122"/>
              <a:cs typeface="微软雅黑" panose="00000500000000000000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00" b="0" i="0"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</a:rPr>
              <a:t>：</a:t>
            </a:r>
            <a:r>
              <a:rPr lang="en-US" altLang="zh-CN" sz="1200" b="0" i="0"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</a:rPr>
              <a:t> </a:t>
            </a:r>
            <a:endParaRPr lang="zh-CN" altLang="en-US" sz="1200" b="0" i="0">
              <a:latin typeface="微软雅黑" panose="00000500000000000000" charset="-122"/>
              <a:ea typeface="微软雅黑" panose="00000500000000000000" charset="-122"/>
              <a:cs typeface="微软雅黑" panose="00000500000000000000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00" b="0" i="0"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</a:rPr>
              <a:t>：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sz="1200" b="1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：</a:t>
            </a:r>
            <a:r>
              <a:rPr lang="en-US" altLang="zh-CN" sz="1200" b="1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 </a:t>
            </a:r>
          </a:p>
        </p:txBody>
      </p:sp>
      <p:sp>
        <p:nvSpPr>
          <p:cNvPr id="20" name="矩形 19"/>
          <p:cNvSpPr/>
          <p:nvPr/>
        </p:nvSpPr>
        <p:spPr>
          <a:xfrm>
            <a:off x="466090" y="3381375"/>
            <a:ext cx="5715000" cy="3220720"/>
          </a:xfrm>
          <a:prstGeom prst="rect">
            <a:avLst/>
          </a:prstGeom>
          <a:solidFill>
            <a:srgbClr val="0070C0"/>
          </a:solidFill>
          <a:ln w="3175" cap="flat" cmpd="sng" algn="ctr">
            <a:noFill/>
            <a:prstDash val="solid"/>
            <a:miter lim="800000"/>
          </a:ln>
          <a:effectLst/>
        </p:spPr>
        <p:txBody>
          <a:bodyPr lIns="90170" tIns="46990" rIns="90170" bIns="46990" rtlCol="0" anchor="t" anchorCtr="0"/>
          <a:lstStyle/>
          <a:p>
            <a:pPr>
              <a:lnSpc>
                <a:spcPct val="150000"/>
              </a:lnSpc>
            </a:pPr>
            <a:r>
              <a:rPr lang="zh-CN" altLang="en-US" sz="1200" b="1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监管要求：</a:t>
            </a:r>
          </a:p>
          <a:p>
            <a:pPr>
              <a:lnSpc>
                <a:spcPct val="150000"/>
              </a:lnSpc>
            </a:pPr>
            <a:r>
              <a:rPr lang="en-US" altLang="zh-CN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“</a:t>
            </a: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十五五</a:t>
            </a:r>
            <a:r>
              <a:rPr lang="en-US" altLang="zh-CN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”</a:t>
            </a: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规划期，金融监管总局与证监会已明确将</a:t>
            </a:r>
            <a:r>
              <a:rPr lang="zh-CN" altLang="en-US" sz="14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金融机构数字化转型</a:t>
            </a: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列为重点方向，核心目标包括：</a:t>
            </a:r>
            <a:endParaRPr lang="zh-CN" altLang="en-US" sz="1200">
              <a:solidFill>
                <a:schemeClr val="bg1"/>
              </a:solidFill>
              <a:latin typeface="微软雅黑" panose="00000500000000000000" charset="-122"/>
              <a:ea typeface="微软雅黑" panose="00000500000000000000" charset="-122"/>
              <a:cs typeface="微软雅黑" panose="00000500000000000000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charset="0"/>
              <a:buChar char="l"/>
            </a:pPr>
            <a:r>
              <a:rPr lang="zh-CN" altLang="en-US" sz="12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构建统一的投资数据底座</a:t>
            </a: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，提升市场透明度与风险识别能力；</a:t>
            </a:r>
            <a:endParaRPr lang="zh-CN" altLang="en-US" sz="1200">
              <a:solidFill>
                <a:schemeClr val="bg1"/>
              </a:solidFill>
              <a:latin typeface="微软雅黑" panose="00000500000000000000" charset="-122"/>
              <a:ea typeface="微软雅黑" panose="00000500000000000000" charset="-122"/>
              <a:cs typeface="微软雅黑" panose="00000500000000000000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charset="0"/>
              <a:buChar char="l"/>
            </a:pPr>
            <a:r>
              <a:rPr lang="zh-CN" altLang="en-US" sz="12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推动实时风控系统建设</a:t>
            </a: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，实现从事后监管向事中、事前转变；</a:t>
            </a:r>
            <a:endParaRPr lang="zh-CN" altLang="en-US" sz="1200">
              <a:solidFill>
                <a:schemeClr val="bg1"/>
              </a:solidFill>
              <a:latin typeface="微软雅黑" panose="00000500000000000000" charset="-122"/>
              <a:ea typeface="微软雅黑" panose="00000500000000000000" charset="-122"/>
              <a:cs typeface="微软雅黑" panose="00000500000000000000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charset="0"/>
              <a:buChar char="l"/>
            </a:pPr>
            <a:r>
              <a:rPr lang="zh-CN" altLang="en-US" sz="12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加快信创替代与自主可控</a:t>
            </a: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，鼓励采用国产化操作系统、数据库、中间件；</a:t>
            </a:r>
            <a:endParaRPr lang="zh-CN" altLang="en-US" sz="1200">
              <a:solidFill>
                <a:schemeClr val="bg1"/>
              </a:solidFill>
              <a:latin typeface="微软雅黑" panose="00000500000000000000" charset="-122"/>
              <a:ea typeface="微软雅黑" panose="00000500000000000000" charset="-122"/>
              <a:cs typeface="微软雅黑" panose="00000500000000000000" charset="-122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charset="0"/>
              <a:buChar char="l"/>
            </a:pPr>
            <a:r>
              <a:rPr lang="zh-CN" altLang="en-US" sz="12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强化</a:t>
            </a:r>
            <a:r>
              <a:rPr lang="en-US" altLang="zh-CN" sz="12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AI</a:t>
            </a:r>
            <a:r>
              <a:rPr lang="zh-CN" altLang="en-US" sz="12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在金融领域的合规应用</a:t>
            </a: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，支持智能投研、智能风控、智能合规等场景落地。</a:t>
            </a:r>
          </a:p>
          <a:p>
            <a:pPr marL="285750" indent="-285750">
              <a:lnSpc>
                <a:spcPct val="150000"/>
              </a:lnSpc>
              <a:buFont typeface="Wingdings" panose="05000000000000000000" charset="0"/>
              <a:buChar char="l"/>
            </a:pPr>
            <a:r>
              <a:rPr lang="en-US" altLang="zh-CN" sz="12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IBOR</a:t>
            </a:r>
            <a:r>
              <a:rPr lang="zh-CN" altLang="en-US" sz="12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的关键作用</a:t>
            </a: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：</a:t>
            </a:r>
            <a:r>
              <a:rPr lang="en-US" altLang="zh-CN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IBOR</a:t>
            </a: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正是对接上述政策要求的关键抓手，其具备的统一簿记、实时计算、信创适配、</a:t>
            </a:r>
            <a:r>
              <a:rPr lang="en-US" altLang="zh-CN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AI</a:t>
            </a: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扩展等能力，完全符合</a:t>
            </a:r>
            <a:r>
              <a:rPr lang="en-US" altLang="zh-CN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“</a:t>
            </a: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十五五</a:t>
            </a:r>
            <a:r>
              <a:rPr lang="en-US" altLang="zh-CN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”</a:t>
            </a: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金融科技发展方向。</a:t>
            </a:r>
            <a:endParaRPr lang="zh-CN" altLang="en-US" sz="1200" b="1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微软雅黑" panose="00000500000000000000" charset="-122"/>
              <a:ea typeface="微软雅黑" panose="00000500000000000000" charset="-122"/>
              <a:cs typeface="微软雅黑" panose="00000500000000000000" charset="-122"/>
              <a:sym typeface="+mn-ea"/>
            </a:endParaRPr>
          </a:p>
        </p:txBody>
      </p:sp>
      <p:grpSp>
        <p:nvGrpSpPr>
          <p:cNvPr id="117" name="组合 116"/>
          <p:cNvGrpSpPr/>
          <p:nvPr/>
        </p:nvGrpSpPr>
        <p:grpSpPr>
          <a:xfrm>
            <a:off x="6344920" y="1449705"/>
            <a:ext cx="5716229" cy="4841930"/>
            <a:chOff x="8818" y="1169"/>
            <a:chExt cx="9629" cy="7016"/>
          </a:xfrm>
        </p:grpSpPr>
        <p:grpSp>
          <p:nvGrpSpPr>
            <p:cNvPr id="70" name="组合 69"/>
            <p:cNvGrpSpPr/>
            <p:nvPr/>
          </p:nvGrpSpPr>
          <p:grpSpPr>
            <a:xfrm>
              <a:off x="8818" y="2518"/>
              <a:ext cx="6279" cy="5584"/>
              <a:chOff x="10928" y="2961"/>
              <a:chExt cx="6279" cy="5584"/>
            </a:xfrm>
          </p:grpSpPr>
          <p:grpSp>
            <p:nvGrpSpPr>
              <p:cNvPr id="68" name="组合 67"/>
              <p:cNvGrpSpPr/>
              <p:nvPr/>
            </p:nvGrpSpPr>
            <p:grpSpPr>
              <a:xfrm>
                <a:off x="11555" y="5001"/>
                <a:ext cx="5078" cy="1286"/>
                <a:chOff x="11555" y="5001"/>
                <a:chExt cx="5078" cy="1286"/>
              </a:xfrm>
            </p:grpSpPr>
            <p:sp>
              <p:nvSpPr>
                <p:cNvPr id="59412" name="文本框 12"/>
                <p:cNvSpPr txBox="1">
                  <a:spLocks noChangeArrowheads="1"/>
                </p:cNvSpPr>
                <p:nvPr/>
              </p:nvSpPr>
              <p:spPr bwMode="auto">
                <a:xfrm>
                  <a:off x="11555" y="5001"/>
                  <a:ext cx="5078" cy="128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noAutofit/>
                </a:bodyPr>
                <a:lstStyle>
                  <a:lvl1pPr>
                    <a:defRPr>
                      <a:solidFill>
                        <a:schemeClr val="tx1"/>
                      </a:solidFill>
                      <a:latin typeface="Calibri" charset="0"/>
                      <a:ea typeface="微软雅黑" panose="020B0503020204020204" charset="-122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Calibri" charset="0"/>
                      <a:ea typeface="微软雅黑" panose="020B0503020204020204" charset="-122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Calibri" charset="0"/>
                      <a:ea typeface="微软雅黑" panose="020B0503020204020204" charset="-122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Calibri" charset="0"/>
                      <a:ea typeface="微软雅黑" panose="020B0503020204020204" charset="-122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Calibri" charset="0"/>
                      <a:ea typeface="微软雅黑" panose="020B0503020204020204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Calibri" charset="0"/>
                      <a:ea typeface="微软雅黑" panose="020B0503020204020204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Calibri" charset="0"/>
                      <a:ea typeface="微软雅黑" panose="020B0503020204020204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Calibri" charset="0"/>
                      <a:ea typeface="微软雅黑" panose="020B0503020204020204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Calibri" charset="0"/>
                      <a:ea typeface="微软雅黑" panose="020B0503020204020204" charset="-122"/>
                    </a:defRPr>
                  </a:lvl9pPr>
                </a:lstStyle>
                <a:p>
                  <a:pPr algn="ctr" eaLnBrk="1" hangingPunct="1">
                    <a:lnSpc>
                      <a:spcPct val="150000"/>
                    </a:lnSpc>
                  </a:pPr>
                  <a:r>
                    <a:rPr lang="en-US" altLang="zh-CN" sz="1000">
                      <a:solidFill>
                        <a:schemeClr val="tx1"/>
                      </a:solidFill>
                      <a:latin typeface="微软雅黑" panose="00000500000000000000" charset="-122"/>
                      <a:ea typeface="微软雅黑" panose="00000500000000000000" charset="-122"/>
                      <a:cs typeface="微软雅黑" panose="00000500000000000000" charset="-122"/>
                      <a:sym typeface="+mn-ea"/>
                    </a:rPr>
                    <a:t>IBOR</a:t>
                  </a:r>
                  <a:r>
                    <a:rPr lang="zh-CN" altLang="en-US" sz="1000">
                      <a:solidFill>
                        <a:schemeClr val="tx1"/>
                      </a:solidFill>
                      <a:latin typeface="微软雅黑" panose="00000500000000000000" charset="-122"/>
                      <a:ea typeface="微软雅黑" panose="00000500000000000000" charset="-122"/>
                      <a:cs typeface="微软雅黑" panose="00000500000000000000" charset="-122"/>
                      <a:sym typeface="+mn-ea"/>
                    </a:rPr>
                    <a:t>核心层</a:t>
                  </a:r>
                </a:p>
              </p:txBody>
            </p:sp>
            <p:sp>
              <p:nvSpPr>
                <p:cNvPr id="22" name="圆角矩形 21"/>
                <p:cNvSpPr/>
                <p:nvPr/>
              </p:nvSpPr>
              <p:spPr>
                <a:xfrm>
                  <a:off x="11769" y="5480"/>
                  <a:ext cx="1496" cy="310"/>
                </a:xfrm>
                <a:prstGeom prst="roundRect">
                  <a:avLst/>
                </a:prstGeom>
                <a:solidFill>
                  <a:srgbClr val="379DFF"/>
                </a:solidFill>
                <a:ln w="3175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90170" tIns="46990" rIns="90170" bIns="46990" rtlCol="0" anchor="ctr" anchorCtr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lang="zh-CN" altLang="en-US" sz="1000" b="1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微软雅黑" panose="00000500000000000000" charset="-122"/>
                      <a:ea typeface="微软雅黑" panose="00000500000000000000" charset="-122"/>
                      <a:cs typeface="微软雅黑" panose="00000500000000000000" charset="-122"/>
                      <a:sym typeface="+mn-ea"/>
                    </a:rPr>
                    <a:t>持仓</a:t>
                  </a:r>
                </a:p>
              </p:txBody>
            </p:sp>
            <p:sp>
              <p:nvSpPr>
                <p:cNvPr id="27" name="圆角矩形 26"/>
                <p:cNvSpPr/>
                <p:nvPr/>
              </p:nvSpPr>
              <p:spPr>
                <a:xfrm>
                  <a:off x="13362" y="5480"/>
                  <a:ext cx="1496" cy="310"/>
                </a:xfrm>
                <a:prstGeom prst="roundRect">
                  <a:avLst/>
                </a:prstGeom>
                <a:solidFill>
                  <a:srgbClr val="379DFF"/>
                </a:solidFill>
                <a:ln w="3175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90170" tIns="46990" rIns="90170" bIns="46990" rtlCol="0" anchor="ctr" anchorCtr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lang="zh-CN" altLang="en-US" sz="1000" b="1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微软雅黑" panose="00000500000000000000" charset="-122"/>
                      <a:ea typeface="微软雅黑" panose="00000500000000000000" charset="-122"/>
                      <a:cs typeface="微软雅黑" panose="00000500000000000000" charset="-122"/>
                      <a:sym typeface="+mn-ea"/>
                    </a:rPr>
                    <a:t>交易流水</a:t>
                  </a:r>
                </a:p>
              </p:txBody>
            </p:sp>
            <p:sp>
              <p:nvSpPr>
                <p:cNvPr id="30" name="圆角矩形 29"/>
                <p:cNvSpPr/>
                <p:nvPr/>
              </p:nvSpPr>
              <p:spPr>
                <a:xfrm>
                  <a:off x="11769" y="5860"/>
                  <a:ext cx="1496" cy="310"/>
                </a:xfrm>
                <a:prstGeom prst="roundRect">
                  <a:avLst/>
                </a:prstGeom>
                <a:solidFill>
                  <a:srgbClr val="379DFF"/>
                </a:solidFill>
                <a:ln w="3175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90170" tIns="46990" rIns="90170" bIns="46990" rtlCol="0" anchor="ctr" anchorCtr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lang="zh-CN" altLang="en-US" sz="1000" b="1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微软雅黑" panose="00000500000000000000" charset="-122"/>
                      <a:ea typeface="微软雅黑" panose="00000500000000000000" charset="-122"/>
                      <a:cs typeface="微软雅黑" panose="00000500000000000000" charset="-122"/>
                      <a:sym typeface="+mn-ea"/>
                    </a:rPr>
                    <a:t>订单状态</a:t>
                  </a:r>
                </a:p>
              </p:txBody>
            </p:sp>
            <p:sp>
              <p:nvSpPr>
                <p:cNvPr id="31" name="圆角矩形 30"/>
                <p:cNvSpPr/>
                <p:nvPr/>
              </p:nvSpPr>
              <p:spPr>
                <a:xfrm>
                  <a:off x="13362" y="5860"/>
                  <a:ext cx="1496" cy="310"/>
                </a:xfrm>
                <a:prstGeom prst="roundRect">
                  <a:avLst/>
                </a:prstGeom>
                <a:solidFill>
                  <a:srgbClr val="379DFF"/>
                </a:solidFill>
                <a:ln w="3175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90170" tIns="46990" rIns="90170" bIns="46990" rtlCol="0" anchor="ctr" anchorCtr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lang="zh-CN" altLang="en-US" sz="1000" b="1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微软雅黑" panose="00000500000000000000" charset="-122"/>
                      <a:ea typeface="微软雅黑" panose="00000500000000000000" charset="-122"/>
                      <a:cs typeface="微软雅黑" panose="00000500000000000000" charset="-122"/>
                      <a:sym typeface="+mn-ea"/>
                    </a:rPr>
                    <a:t>行情</a:t>
                  </a:r>
                </a:p>
              </p:txBody>
            </p:sp>
            <p:sp>
              <p:nvSpPr>
                <p:cNvPr id="33" name="圆角矩形 32"/>
                <p:cNvSpPr/>
                <p:nvPr/>
              </p:nvSpPr>
              <p:spPr>
                <a:xfrm>
                  <a:off x="14955" y="5480"/>
                  <a:ext cx="1496" cy="310"/>
                </a:xfrm>
                <a:prstGeom prst="roundRect">
                  <a:avLst/>
                </a:prstGeom>
                <a:solidFill>
                  <a:srgbClr val="379DFF"/>
                </a:solidFill>
                <a:ln w="3175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90170" tIns="46990" rIns="90170" bIns="46990" rtlCol="0" anchor="ctr" anchorCtr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lang="zh-CN" altLang="en-US" sz="1000" b="1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微软雅黑" panose="00000500000000000000" charset="-122"/>
                      <a:ea typeface="微软雅黑" panose="00000500000000000000" charset="-122"/>
                      <a:cs typeface="微软雅黑" panose="00000500000000000000" charset="-122"/>
                      <a:sym typeface="+mn-ea"/>
                    </a:rPr>
                    <a:t>估值</a:t>
                  </a:r>
                </a:p>
              </p:txBody>
            </p:sp>
            <p:sp>
              <p:nvSpPr>
                <p:cNvPr id="34" name="圆角矩形 33"/>
                <p:cNvSpPr/>
                <p:nvPr/>
              </p:nvSpPr>
              <p:spPr>
                <a:xfrm>
                  <a:off x="14955" y="5860"/>
                  <a:ext cx="1496" cy="310"/>
                </a:xfrm>
                <a:prstGeom prst="roundRect">
                  <a:avLst/>
                </a:prstGeom>
                <a:solidFill>
                  <a:srgbClr val="379DFF"/>
                </a:solidFill>
                <a:ln w="3175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90170" tIns="46990" rIns="90170" bIns="46990" rtlCol="0" anchor="ctr" anchorCtr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lang="zh-CN" altLang="en-US" sz="1000" b="1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微软雅黑" panose="00000500000000000000" charset="-122"/>
                      <a:ea typeface="微软雅黑" panose="00000500000000000000" charset="-122"/>
                      <a:cs typeface="微软雅黑" panose="00000500000000000000" charset="-122"/>
                      <a:sym typeface="+mn-ea"/>
                    </a:rPr>
                    <a:t>其他</a:t>
                  </a:r>
                </a:p>
              </p:txBody>
            </p:sp>
          </p:grpSp>
          <p:sp>
            <p:nvSpPr>
              <p:cNvPr id="40" name="圆角矩形 39"/>
              <p:cNvSpPr/>
              <p:nvPr/>
            </p:nvSpPr>
            <p:spPr>
              <a:xfrm>
                <a:off x="10928" y="2983"/>
                <a:ext cx="415" cy="5563"/>
              </a:xfrm>
              <a:prstGeom prst="roundRect">
                <a:avLst/>
              </a:prstGeom>
              <a:solidFill>
                <a:srgbClr val="379DFF"/>
              </a:solidFill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lIns="90170" tIns="46990" rIns="90170" bIns="4699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lang="en-US" altLang="zh-CN" sz="1000" b="1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IBOR</a:t>
                </a:r>
                <a:r>
                  <a:rPr lang="zh-CN" altLang="en-US" sz="1000" b="1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运营管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lang="zh-CN" altLang="en-US" sz="1000" b="1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理</a:t>
                </a:r>
              </a:p>
            </p:txBody>
          </p:sp>
          <p:grpSp>
            <p:nvGrpSpPr>
              <p:cNvPr id="49" name="组合 48"/>
              <p:cNvGrpSpPr/>
              <p:nvPr/>
            </p:nvGrpSpPr>
            <p:grpSpPr>
              <a:xfrm>
                <a:off x="11555" y="3989"/>
                <a:ext cx="5078" cy="886"/>
                <a:chOff x="11755" y="7890"/>
                <a:chExt cx="5078" cy="886"/>
              </a:xfrm>
            </p:grpSpPr>
            <p:sp>
              <p:nvSpPr>
                <p:cNvPr id="36" name="文本框 12"/>
                <p:cNvSpPr txBox="1">
                  <a:spLocks noChangeArrowheads="1"/>
                </p:cNvSpPr>
                <p:nvPr/>
              </p:nvSpPr>
              <p:spPr bwMode="auto">
                <a:xfrm>
                  <a:off x="11755" y="7890"/>
                  <a:ext cx="5078" cy="88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noAutofit/>
                </a:bodyPr>
                <a:lstStyle>
                  <a:lvl1pPr>
                    <a:defRPr>
                      <a:solidFill>
                        <a:schemeClr val="tx1"/>
                      </a:solidFill>
                      <a:latin typeface="Calibri" charset="0"/>
                      <a:ea typeface="微软雅黑" panose="020B0503020204020204" charset="-122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Calibri" charset="0"/>
                      <a:ea typeface="微软雅黑" panose="020B0503020204020204" charset="-122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Calibri" charset="0"/>
                      <a:ea typeface="微软雅黑" panose="020B0503020204020204" charset="-122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Calibri" charset="0"/>
                      <a:ea typeface="微软雅黑" panose="020B0503020204020204" charset="-122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Calibri" charset="0"/>
                      <a:ea typeface="微软雅黑" panose="020B0503020204020204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Calibri" charset="0"/>
                      <a:ea typeface="微软雅黑" panose="020B0503020204020204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Calibri" charset="0"/>
                      <a:ea typeface="微软雅黑" panose="020B0503020204020204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Calibri" charset="0"/>
                      <a:ea typeface="微软雅黑" panose="020B0503020204020204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Calibri" charset="0"/>
                      <a:ea typeface="微软雅黑" panose="020B0503020204020204" charset="-122"/>
                    </a:defRPr>
                  </a:lvl9pPr>
                </a:lstStyle>
                <a:p>
                  <a:pPr algn="ctr" eaLnBrk="1" hangingPunct="1">
                    <a:lnSpc>
                      <a:spcPct val="150000"/>
                    </a:lnSpc>
                  </a:pPr>
                  <a:r>
                    <a:rPr lang="en-US" altLang="zh-CN" sz="1000">
                      <a:solidFill>
                        <a:schemeClr val="tx1"/>
                      </a:solidFill>
                      <a:latin typeface="微软雅黑" panose="00000500000000000000" charset="-122"/>
                      <a:ea typeface="微软雅黑" panose="00000500000000000000" charset="-122"/>
                      <a:cs typeface="微软雅黑" panose="00000500000000000000" charset="-122"/>
                      <a:sym typeface="+mn-ea"/>
                    </a:rPr>
                    <a:t>IBOR</a:t>
                  </a:r>
                  <a:r>
                    <a:rPr lang="zh-CN" altLang="en-US" sz="1000">
                      <a:solidFill>
                        <a:schemeClr val="tx1"/>
                      </a:solidFill>
                      <a:latin typeface="微软雅黑" panose="00000500000000000000" charset="-122"/>
                      <a:ea typeface="微软雅黑" panose="00000500000000000000" charset="-122"/>
                      <a:cs typeface="微软雅黑" panose="00000500000000000000" charset="-122"/>
                      <a:sym typeface="+mn-ea"/>
                    </a:rPr>
                    <a:t>扩展层</a:t>
                  </a:r>
                </a:p>
              </p:txBody>
            </p:sp>
            <p:sp>
              <p:nvSpPr>
                <p:cNvPr id="42" name="圆角矩形 41"/>
                <p:cNvSpPr/>
                <p:nvPr/>
              </p:nvSpPr>
              <p:spPr>
                <a:xfrm>
                  <a:off x="11954" y="8364"/>
                  <a:ext cx="1496" cy="310"/>
                </a:xfrm>
                <a:prstGeom prst="roundRect">
                  <a:avLst/>
                </a:prstGeom>
                <a:solidFill>
                  <a:srgbClr val="379DFF"/>
                </a:solidFill>
                <a:ln w="3175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90170" tIns="46990" rIns="90170" bIns="46990" rtlCol="0" anchor="ctr" anchorCtr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lang="zh-CN" altLang="en-US" sz="1000" b="1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微软雅黑" panose="00000500000000000000" charset="-122"/>
                      <a:ea typeface="微软雅黑" panose="00000500000000000000" charset="-122"/>
                      <a:cs typeface="微软雅黑" panose="00000500000000000000" charset="-122"/>
                      <a:sym typeface="+mn-ea"/>
                    </a:rPr>
                    <a:t>估值引擎</a:t>
                  </a:r>
                </a:p>
              </p:txBody>
            </p:sp>
            <p:sp>
              <p:nvSpPr>
                <p:cNvPr id="46" name="圆角矩形 45"/>
                <p:cNvSpPr/>
                <p:nvPr/>
              </p:nvSpPr>
              <p:spPr>
                <a:xfrm>
                  <a:off x="13566" y="8364"/>
                  <a:ext cx="1496" cy="310"/>
                </a:xfrm>
                <a:prstGeom prst="roundRect">
                  <a:avLst/>
                </a:prstGeom>
                <a:solidFill>
                  <a:srgbClr val="379DFF"/>
                </a:solidFill>
                <a:ln w="3175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90170" tIns="46990" rIns="90170" bIns="46990" rtlCol="0" anchor="ctr" anchorCtr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lang="zh-CN" altLang="en-US" sz="1000" b="1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微软雅黑" panose="00000500000000000000" charset="-122"/>
                      <a:ea typeface="微软雅黑" panose="00000500000000000000" charset="-122"/>
                      <a:cs typeface="微软雅黑" panose="00000500000000000000" charset="-122"/>
                      <a:sym typeface="+mn-ea"/>
                    </a:rPr>
                    <a:t>金工引擎</a:t>
                  </a:r>
                </a:p>
              </p:txBody>
            </p:sp>
            <p:sp>
              <p:nvSpPr>
                <p:cNvPr id="47" name="圆角矩形 46"/>
                <p:cNvSpPr/>
                <p:nvPr/>
              </p:nvSpPr>
              <p:spPr>
                <a:xfrm>
                  <a:off x="15178" y="8364"/>
                  <a:ext cx="1496" cy="310"/>
                </a:xfrm>
                <a:prstGeom prst="roundRect">
                  <a:avLst/>
                </a:prstGeom>
                <a:solidFill>
                  <a:srgbClr val="379DFF"/>
                </a:solidFill>
                <a:ln w="3175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90170" tIns="46990" rIns="90170" bIns="46990" rtlCol="0" anchor="ctr" anchorCtr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lang="zh-CN" altLang="en-US" sz="1000" b="1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微软雅黑" panose="00000500000000000000" charset="-122"/>
                      <a:ea typeface="微软雅黑" panose="00000500000000000000" charset="-122"/>
                      <a:cs typeface="微软雅黑" panose="00000500000000000000" charset="-122"/>
                      <a:sym typeface="+mn-ea"/>
                    </a:rPr>
                    <a:t>试算引擎</a:t>
                  </a:r>
                </a:p>
              </p:txBody>
            </p:sp>
          </p:grpSp>
          <p:grpSp>
            <p:nvGrpSpPr>
              <p:cNvPr id="61" name="组合 60"/>
              <p:cNvGrpSpPr/>
              <p:nvPr/>
            </p:nvGrpSpPr>
            <p:grpSpPr>
              <a:xfrm>
                <a:off x="11555" y="2961"/>
                <a:ext cx="5078" cy="886"/>
                <a:chOff x="11555" y="2961"/>
                <a:chExt cx="5078" cy="886"/>
              </a:xfrm>
            </p:grpSpPr>
            <p:sp>
              <p:nvSpPr>
                <p:cNvPr id="48" name="文本框 12"/>
                <p:cNvSpPr txBox="1">
                  <a:spLocks noChangeArrowheads="1"/>
                </p:cNvSpPr>
                <p:nvPr/>
              </p:nvSpPr>
              <p:spPr bwMode="auto">
                <a:xfrm>
                  <a:off x="11555" y="2961"/>
                  <a:ext cx="5078" cy="88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noAutofit/>
                </a:bodyPr>
                <a:lstStyle>
                  <a:lvl1pPr>
                    <a:defRPr>
                      <a:solidFill>
                        <a:schemeClr val="tx1"/>
                      </a:solidFill>
                      <a:latin typeface="Calibri" charset="0"/>
                      <a:ea typeface="微软雅黑" panose="020B0503020204020204" charset="-122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Calibri" charset="0"/>
                      <a:ea typeface="微软雅黑" panose="020B0503020204020204" charset="-122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Calibri" charset="0"/>
                      <a:ea typeface="微软雅黑" panose="020B0503020204020204" charset="-122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Calibri" charset="0"/>
                      <a:ea typeface="微软雅黑" panose="020B0503020204020204" charset="-122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Calibri" charset="0"/>
                      <a:ea typeface="微软雅黑" panose="020B0503020204020204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Calibri" charset="0"/>
                      <a:ea typeface="微软雅黑" panose="020B0503020204020204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Calibri" charset="0"/>
                      <a:ea typeface="微软雅黑" panose="020B0503020204020204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Calibri" charset="0"/>
                      <a:ea typeface="微软雅黑" panose="020B0503020204020204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Calibri" charset="0"/>
                      <a:ea typeface="微软雅黑" panose="020B0503020204020204" charset="-122"/>
                    </a:defRPr>
                  </a:lvl9pPr>
                </a:lstStyle>
                <a:p>
                  <a:pPr algn="ctr" eaLnBrk="1" hangingPunct="1">
                    <a:lnSpc>
                      <a:spcPct val="150000"/>
                    </a:lnSpc>
                  </a:pPr>
                  <a:r>
                    <a:rPr lang="zh-CN" altLang="en-US" sz="1000">
                      <a:solidFill>
                        <a:schemeClr val="tx1"/>
                      </a:solidFill>
                      <a:latin typeface="微软雅黑" panose="00000500000000000000" charset="-122"/>
                      <a:ea typeface="微软雅黑" panose="00000500000000000000" charset="-122"/>
                      <a:sym typeface="+mn-ea"/>
                    </a:rPr>
                    <a:t>时间轴</a:t>
                  </a:r>
                </a:p>
              </p:txBody>
            </p:sp>
            <p:sp>
              <p:nvSpPr>
                <p:cNvPr id="41" name="圆角矩形 40"/>
                <p:cNvSpPr/>
                <p:nvPr/>
              </p:nvSpPr>
              <p:spPr>
                <a:xfrm>
                  <a:off x="11638" y="3379"/>
                  <a:ext cx="1496" cy="310"/>
                </a:xfrm>
                <a:prstGeom prst="roundRect">
                  <a:avLst/>
                </a:prstGeom>
                <a:solidFill>
                  <a:srgbClr val="379DFF"/>
                </a:solidFill>
                <a:ln w="3175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90170" tIns="46990" rIns="90170" bIns="46990" rtlCol="0" anchor="ctr" anchorCtr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lang="zh-CN" altLang="en-US" sz="1000" b="1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微软雅黑" panose="00000500000000000000" charset="-122"/>
                      <a:ea typeface="微软雅黑" panose="00000500000000000000" charset="-122"/>
                      <a:cs typeface="微软雅黑" panose="00000500000000000000" charset="-122"/>
                      <a:sym typeface="+mn-ea"/>
                    </a:rPr>
                    <a:t>历史快照</a:t>
                  </a:r>
                </a:p>
              </p:txBody>
            </p:sp>
            <p:sp>
              <p:nvSpPr>
                <p:cNvPr id="51" name="圆角矩形 50"/>
                <p:cNvSpPr/>
                <p:nvPr/>
              </p:nvSpPr>
              <p:spPr>
                <a:xfrm>
                  <a:off x="13429" y="3379"/>
                  <a:ext cx="1496" cy="310"/>
                </a:xfrm>
                <a:prstGeom prst="roundRect">
                  <a:avLst/>
                </a:prstGeom>
                <a:solidFill>
                  <a:srgbClr val="379DFF"/>
                </a:solidFill>
                <a:ln w="3175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90170" tIns="46990" rIns="90170" bIns="46990" rtlCol="0" anchor="ctr" anchorCtr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lang="zh-CN" altLang="en-US" sz="1000" b="1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微软雅黑" panose="00000500000000000000" charset="-122"/>
                      <a:ea typeface="微软雅黑" panose="00000500000000000000" charset="-122"/>
                      <a:cs typeface="微软雅黑" panose="00000500000000000000" charset="-122"/>
                      <a:sym typeface="+mn-ea"/>
                    </a:rPr>
                    <a:t>现在实时</a:t>
                  </a:r>
                </a:p>
              </p:txBody>
            </p:sp>
            <p:sp>
              <p:nvSpPr>
                <p:cNvPr id="52" name="圆角矩形 51"/>
                <p:cNvSpPr/>
                <p:nvPr/>
              </p:nvSpPr>
              <p:spPr>
                <a:xfrm>
                  <a:off x="15022" y="3379"/>
                  <a:ext cx="1496" cy="310"/>
                </a:xfrm>
                <a:prstGeom prst="roundRect">
                  <a:avLst/>
                </a:prstGeom>
                <a:solidFill>
                  <a:srgbClr val="379DFF"/>
                </a:solidFill>
                <a:ln w="3175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90170" tIns="46990" rIns="90170" bIns="46990" rtlCol="0" anchor="ctr" anchorCtr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lang="zh-CN" altLang="en-US" sz="1000" b="1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微软雅黑" panose="00000500000000000000" charset="-122"/>
                      <a:ea typeface="微软雅黑" panose="00000500000000000000" charset="-122"/>
                      <a:cs typeface="微软雅黑" panose="00000500000000000000" charset="-122"/>
                      <a:sym typeface="+mn-ea"/>
                    </a:rPr>
                    <a:t>未来预测</a:t>
                  </a:r>
                </a:p>
              </p:txBody>
            </p:sp>
          </p:grpSp>
          <p:sp>
            <p:nvSpPr>
              <p:cNvPr id="54" name="文本框 12"/>
              <p:cNvSpPr txBox="1">
                <a:spLocks noChangeArrowheads="1"/>
              </p:cNvSpPr>
              <p:nvPr/>
            </p:nvSpPr>
            <p:spPr bwMode="auto">
              <a:xfrm>
                <a:off x="11556" y="6487"/>
                <a:ext cx="5079" cy="49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noAutofit/>
              </a:bodyPr>
              <a:lstStyle>
                <a:lvl1pPr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9pPr>
              </a:lstStyle>
              <a:p>
                <a:pPr algn="ctr" eaLnBrk="1" hangingPunct="1">
                  <a:lnSpc>
                    <a:spcPct val="150000"/>
                  </a:lnSpc>
                </a:pPr>
                <a:r>
                  <a:rPr lang="zh-CN" altLang="en-US" sz="10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数据接入层</a:t>
                </a:r>
              </a:p>
            </p:txBody>
          </p:sp>
          <p:grpSp>
            <p:nvGrpSpPr>
              <p:cNvPr id="67" name="组合 66"/>
              <p:cNvGrpSpPr/>
              <p:nvPr/>
            </p:nvGrpSpPr>
            <p:grpSpPr>
              <a:xfrm>
                <a:off x="11556" y="7223"/>
                <a:ext cx="5078" cy="1246"/>
                <a:chOff x="11556" y="7031"/>
                <a:chExt cx="5078" cy="1246"/>
              </a:xfrm>
            </p:grpSpPr>
            <p:sp>
              <p:nvSpPr>
                <p:cNvPr id="55" name="文本框 12"/>
                <p:cNvSpPr txBox="1">
                  <a:spLocks noChangeArrowheads="1"/>
                </p:cNvSpPr>
                <p:nvPr/>
              </p:nvSpPr>
              <p:spPr bwMode="auto">
                <a:xfrm>
                  <a:off x="11556" y="7031"/>
                  <a:ext cx="5078" cy="124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>
                  <a:noAutofit/>
                </a:bodyPr>
                <a:lstStyle>
                  <a:lvl1pPr>
                    <a:defRPr>
                      <a:solidFill>
                        <a:schemeClr val="tx1"/>
                      </a:solidFill>
                      <a:latin typeface="Calibri" charset="0"/>
                      <a:ea typeface="微软雅黑" panose="020B0503020204020204" charset="-122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Calibri" charset="0"/>
                      <a:ea typeface="微软雅黑" panose="020B0503020204020204" charset="-122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Calibri" charset="0"/>
                      <a:ea typeface="微软雅黑" panose="020B0503020204020204" charset="-122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Calibri" charset="0"/>
                      <a:ea typeface="微软雅黑" panose="020B0503020204020204" charset="-122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Calibri" charset="0"/>
                      <a:ea typeface="微软雅黑" panose="020B0503020204020204" charset="-122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Calibri" charset="0"/>
                      <a:ea typeface="微软雅黑" panose="020B0503020204020204" charset="-122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Calibri" charset="0"/>
                      <a:ea typeface="微软雅黑" panose="020B0503020204020204" charset="-122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Calibri" charset="0"/>
                      <a:ea typeface="微软雅黑" panose="020B0503020204020204" charset="-122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Calibri" charset="0"/>
                      <a:ea typeface="微软雅黑" panose="020B0503020204020204" charset="-122"/>
                    </a:defRPr>
                  </a:lvl9pPr>
                </a:lstStyle>
                <a:p>
                  <a:pPr algn="ctr" eaLnBrk="1" hangingPunct="1">
                    <a:lnSpc>
                      <a:spcPct val="150000"/>
                    </a:lnSpc>
                  </a:pPr>
                  <a:r>
                    <a:rPr lang="zh-CN" altLang="en-US" sz="1000">
                      <a:solidFill>
                        <a:schemeClr val="tx1"/>
                      </a:solidFill>
                      <a:latin typeface="微软雅黑" panose="00000500000000000000" charset="-122"/>
                      <a:ea typeface="微软雅黑" panose="00000500000000000000" charset="-122"/>
                      <a:sym typeface="+mn-ea"/>
                    </a:rPr>
                    <a:t>数据源</a:t>
                  </a:r>
                </a:p>
              </p:txBody>
            </p:sp>
            <p:sp>
              <p:nvSpPr>
                <p:cNvPr id="60" name="圆角矩形 59"/>
                <p:cNvSpPr/>
                <p:nvPr/>
              </p:nvSpPr>
              <p:spPr>
                <a:xfrm>
                  <a:off x="11708" y="7474"/>
                  <a:ext cx="1496" cy="310"/>
                </a:xfrm>
                <a:prstGeom prst="roundRect">
                  <a:avLst/>
                </a:prstGeom>
                <a:solidFill>
                  <a:srgbClr val="379DFF"/>
                </a:solidFill>
                <a:ln w="3175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90170" tIns="46990" rIns="90170" bIns="46990" rtlCol="0" anchor="ctr" anchorCtr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lang="zh-CN" altLang="en-US" sz="1000" b="1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微软雅黑" panose="00000500000000000000" charset="-122"/>
                      <a:ea typeface="微软雅黑" panose="00000500000000000000" charset="-122"/>
                      <a:cs typeface="微软雅黑" panose="00000500000000000000" charset="-122"/>
                      <a:sym typeface="+mn-ea"/>
                    </a:rPr>
                    <a:t>行情数据</a:t>
                  </a:r>
                </a:p>
              </p:txBody>
            </p:sp>
            <p:sp>
              <p:nvSpPr>
                <p:cNvPr id="62" name="圆角矩形 61"/>
                <p:cNvSpPr/>
                <p:nvPr/>
              </p:nvSpPr>
              <p:spPr>
                <a:xfrm>
                  <a:off x="13297" y="7474"/>
                  <a:ext cx="1496" cy="310"/>
                </a:xfrm>
                <a:prstGeom prst="roundRect">
                  <a:avLst/>
                </a:prstGeom>
                <a:solidFill>
                  <a:srgbClr val="379DFF"/>
                </a:solidFill>
                <a:ln w="3175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90170" tIns="46990" rIns="90170" bIns="46990" rtlCol="0" anchor="ctr" anchorCtr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lang="zh-CN" altLang="en-US" sz="1000" b="1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微软雅黑" panose="00000500000000000000" charset="-122"/>
                      <a:ea typeface="微软雅黑" panose="00000500000000000000" charset="-122"/>
                      <a:cs typeface="微软雅黑" panose="00000500000000000000" charset="-122"/>
                      <a:sym typeface="+mn-ea"/>
                    </a:rPr>
                    <a:t>交易数据</a:t>
                  </a:r>
                </a:p>
              </p:txBody>
            </p:sp>
            <p:sp>
              <p:nvSpPr>
                <p:cNvPr id="63" name="圆角矩形 62"/>
                <p:cNvSpPr/>
                <p:nvPr/>
              </p:nvSpPr>
              <p:spPr>
                <a:xfrm>
                  <a:off x="14886" y="7484"/>
                  <a:ext cx="1496" cy="310"/>
                </a:xfrm>
                <a:prstGeom prst="roundRect">
                  <a:avLst/>
                </a:prstGeom>
                <a:solidFill>
                  <a:srgbClr val="379DFF"/>
                </a:solidFill>
                <a:ln w="3175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90170" tIns="46990" rIns="90170" bIns="46990" rtlCol="0" anchor="ctr" anchorCtr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lang="zh-CN" altLang="en-US" sz="1000" b="1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微软雅黑" panose="00000500000000000000" charset="-122"/>
                      <a:ea typeface="微软雅黑" panose="00000500000000000000" charset="-122"/>
                      <a:cs typeface="微软雅黑" panose="00000500000000000000" charset="-122"/>
                      <a:sym typeface="+mn-ea"/>
                    </a:rPr>
                    <a:t>资讯数据</a:t>
                  </a:r>
                </a:p>
              </p:txBody>
            </p:sp>
            <p:sp>
              <p:nvSpPr>
                <p:cNvPr id="64" name="圆角矩形 63"/>
                <p:cNvSpPr/>
                <p:nvPr/>
              </p:nvSpPr>
              <p:spPr>
                <a:xfrm>
                  <a:off x="11708" y="7855"/>
                  <a:ext cx="1496" cy="310"/>
                </a:xfrm>
                <a:prstGeom prst="roundRect">
                  <a:avLst/>
                </a:prstGeom>
                <a:solidFill>
                  <a:srgbClr val="379DFF"/>
                </a:solidFill>
                <a:ln w="3175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90170" tIns="46990" rIns="90170" bIns="46990" rtlCol="0" anchor="ctr" anchorCtr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lang="zh-CN" altLang="en-US" sz="1000" b="1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微软雅黑" panose="00000500000000000000" charset="-122"/>
                      <a:ea typeface="微软雅黑" panose="00000500000000000000" charset="-122"/>
                      <a:cs typeface="微软雅黑" panose="00000500000000000000" charset="-122"/>
                      <a:sym typeface="+mn-ea"/>
                    </a:rPr>
                    <a:t>产品数据</a:t>
                  </a:r>
                </a:p>
              </p:txBody>
            </p:sp>
            <p:sp>
              <p:nvSpPr>
                <p:cNvPr id="65" name="圆角矩形 64"/>
                <p:cNvSpPr/>
                <p:nvPr/>
              </p:nvSpPr>
              <p:spPr>
                <a:xfrm>
                  <a:off x="13320" y="7854"/>
                  <a:ext cx="1496" cy="310"/>
                </a:xfrm>
                <a:prstGeom prst="roundRect">
                  <a:avLst/>
                </a:prstGeom>
                <a:solidFill>
                  <a:srgbClr val="379DFF"/>
                </a:solidFill>
                <a:ln w="3175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90170" tIns="46990" rIns="90170" bIns="46990" rtlCol="0" anchor="ctr" anchorCtr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lang="zh-CN" altLang="en-US" sz="1000" b="1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微软雅黑" panose="00000500000000000000" charset="-122"/>
                      <a:ea typeface="微软雅黑" panose="00000500000000000000" charset="-122"/>
                      <a:cs typeface="微软雅黑" panose="00000500000000000000" charset="-122"/>
                      <a:sym typeface="+mn-ea"/>
                    </a:rPr>
                    <a:t>参数数据</a:t>
                  </a:r>
                </a:p>
              </p:txBody>
            </p:sp>
            <p:sp>
              <p:nvSpPr>
                <p:cNvPr id="66" name="圆角矩形 65"/>
                <p:cNvSpPr/>
                <p:nvPr/>
              </p:nvSpPr>
              <p:spPr>
                <a:xfrm>
                  <a:off x="14886" y="7831"/>
                  <a:ext cx="1496" cy="310"/>
                </a:xfrm>
                <a:prstGeom prst="roundRect">
                  <a:avLst/>
                </a:prstGeom>
                <a:solidFill>
                  <a:srgbClr val="379DFF"/>
                </a:solidFill>
                <a:ln w="3175" cap="flat" cmpd="sng" algn="ctr">
                  <a:noFill/>
                  <a:prstDash val="solid"/>
                  <a:miter lim="800000"/>
                </a:ln>
                <a:effectLst/>
              </p:spPr>
              <p:txBody>
                <a:bodyPr lIns="90170" tIns="46990" rIns="90170" bIns="46990" rtlCol="0" anchor="ctr" anchorCtr="0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r>
                    <a:rPr lang="zh-CN" altLang="en-US" sz="1000" b="1" noProof="0">
                      <a:ln>
                        <a:noFill/>
                      </a:ln>
                      <a:solidFill>
                        <a:schemeClr val="bg1"/>
                      </a:solidFill>
                      <a:effectLst/>
                      <a:uLnTx/>
                      <a:uFillTx/>
                      <a:latin typeface="微软雅黑" panose="00000500000000000000" charset="-122"/>
                      <a:ea typeface="微软雅黑" panose="00000500000000000000" charset="-122"/>
                      <a:cs typeface="微软雅黑" panose="00000500000000000000" charset="-122"/>
                      <a:sym typeface="+mn-ea"/>
                    </a:rPr>
                    <a:t>资金数据</a:t>
                  </a:r>
                </a:p>
              </p:txBody>
            </p:sp>
          </p:grpSp>
          <p:sp>
            <p:nvSpPr>
              <p:cNvPr id="69" name="圆角矩形 68"/>
              <p:cNvSpPr/>
              <p:nvPr/>
            </p:nvSpPr>
            <p:spPr>
              <a:xfrm>
                <a:off x="16793" y="2983"/>
                <a:ext cx="415" cy="5563"/>
              </a:xfrm>
              <a:prstGeom prst="roundRect">
                <a:avLst/>
              </a:prstGeom>
              <a:solidFill>
                <a:srgbClr val="379DFF"/>
              </a:solidFill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lIns="90170" tIns="46990" rIns="90170" bIns="4699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lang="zh-CN" altLang="en-US" sz="1000" b="1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统一资产视图</a:t>
                </a:r>
              </a:p>
            </p:txBody>
          </p:sp>
        </p:grpSp>
        <p:grpSp>
          <p:nvGrpSpPr>
            <p:cNvPr id="84" name="组合 83"/>
            <p:cNvGrpSpPr/>
            <p:nvPr/>
          </p:nvGrpSpPr>
          <p:grpSpPr>
            <a:xfrm>
              <a:off x="15195" y="6822"/>
              <a:ext cx="3223" cy="1363"/>
              <a:chOff x="15195" y="6822"/>
              <a:chExt cx="3223" cy="1363"/>
            </a:xfrm>
          </p:grpSpPr>
          <p:sp>
            <p:nvSpPr>
              <p:cNvPr id="71" name="文本框 12"/>
              <p:cNvSpPr txBox="1">
                <a:spLocks noChangeArrowheads="1"/>
              </p:cNvSpPr>
              <p:nvPr/>
            </p:nvSpPr>
            <p:spPr bwMode="auto">
              <a:xfrm>
                <a:off x="15195" y="6822"/>
                <a:ext cx="3223" cy="136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noAutofit/>
              </a:bodyPr>
              <a:lstStyle>
                <a:lvl1pPr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9pPr>
              </a:lstStyle>
              <a:p>
                <a:pPr algn="ctr" eaLnBrk="1" hangingPunct="1">
                  <a:lnSpc>
                    <a:spcPct val="150000"/>
                  </a:lnSpc>
                </a:pPr>
                <a:r>
                  <a:rPr lang="zh-CN" altLang="en-US" sz="10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统一合规风控</a:t>
                </a:r>
              </a:p>
            </p:txBody>
          </p:sp>
          <p:sp>
            <p:nvSpPr>
              <p:cNvPr id="77" name="圆角矩形 76"/>
              <p:cNvSpPr/>
              <p:nvPr/>
            </p:nvSpPr>
            <p:spPr>
              <a:xfrm>
                <a:off x="15292" y="7223"/>
                <a:ext cx="1400" cy="467"/>
              </a:xfrm>
              <a:prstGeom prst="roundRect">
                <a:avLst/>
              </a:prstGeom>
              <a:solidFill>
                <a:srgbClr val="379DFF"/>
              </a:solidFill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lIns="90170" tIns="46990" rIns="90170" bIns="4699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lang="zh-CN" altLang="en-US" sz="1000" b="1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交易级风控</a:t>
                </a:r>
              </a:p>
            </p:txBody>
          </p:sp>
          <p:sp>
            <p:nvSpPr>
              <p:cNvPr id="80" name="圆角矩形 79"/>
              <p:cNvSpPr/>
              <p:nvPr/>
            </p:nvSpPr>
            <p:spPr>
              <a:xfrm>
                <a:off x="16793" y="7223"/>
                <a:ext cx="1400" cy="467"/>
              </a:xfrm>
              <a:prstGeom prst="roundRect">
                <a:avLst/>
              </a:prstGeom>
              <a:solidFill>
                <a:srgbClr val="379DFF"/>
              </a:solidFill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lIns="90170" tIns="46990" rIns="90170" bIns="4699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lang="zh-CN" altLang="en-US" sz="1000" b="1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组合级风控</a:t>
                </a:r>
              </a:p>
            </p:txBody>
          </p:sp>
          <p:sp>
            <p:nvSpPr>
              <p:cNvPr id="81" name="圆角矩形 80"/>
              <p:cNvSpPr/>
              <p:nvPr/>
            </p:nvSpPr>
            <p:spPr>
              <a:xfrm>
                <a:off x="15292" y="7799"/>
                <a:ext cx="1400" cy="310"/>
              </a:xfrm>
              <a:prstGeom prst="roundRect">
                <a:avLst/>
              </a:prstGeom>
              <a:solidFill>
                <a:srgbClr val="379DFF"/>
              </a:solidFill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lIns="90170" tIns="46990" rIns="90170" bIns="4699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lang="zh-CN" altLang="en-US" sz="1000" b="1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联合风控</a:t>
                </a:r>
              </a:p>
            </p:txBody>
          </p:sp>
          <p:sp>
            <p:nvSpPr>
              <p:cNvPr id="82" name="圆角矩形 81"/>
              <p:cNvSpPr/>
              <p:nvPr/>
            </p:nvSpPr>
            <p:spPr>
              <a:xfrm>
                <a:off x="16783" y="7799"/>
                <a:ext cx="1400" cy="310"/>
              </a:xfrm>
              <a:prstGeom prst="roundRect">
                <a:avLst/>
              </a:prstGeom>
              <a:solidFill>
                <a:srgbClr val="379DFF"/>
              </a:solidFill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lIns="90170" tIns="46990" rIns="90170" bIns="4699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lang="zh-CN" altLang="en-US" sz="1000" b="1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风控处置</a:t>
                </a:r>
              </a:p>
            </p:txBody>
          </p:sp>
        </p:grpSp>
        <p:grpSp>
          <p:nvGrpSpPr>
            <p:cNvPr id="94" name="组合 93"/>
            <p:cNvGrpSpPr/>
            <p:nvPr/>
          </p:nvGrpSpPr>
          <p:grpSpPr>
            <a:xfrm>
              <a:off x="15195" y="5331"/>
              <a:ext cx="3223" cy="1363"/>
              <a:chOff x="15195" y="5331"/>
              <a:chExt cx="3223" cy="1363"/>
            </a:xfrm>
          </p:grpSpPr>
          <p:sp>
            <p:nvSpPr>
              <p:cNvPr id="85" name="文本框 12"/>
              <p:cNvSpPr txBox="1">
                <a:spLocks noChangeArrowheads="1"/>
              </p:cNvSpPr>
              <p:nvPr/>
            </p:nvSpPr>
            <p:spPr bwMode="auto">
              <a:xfrm>
                <a:off x="15195" y="5331"/>
                <a:ext cx="3223" cy="136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noAutofit/>
              </a:bodyPr>
              <a:lstStyle>
                <a:lvl1pPr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9pPr>
              </a:lstStyle>
              <a:p>
                <a:pPr algn="ctr" eaLnBrk="1" hangingPunct="1">
                  <a:lnSpc>
                    <a:spcPct val="150000"/>
                  </a:lnSpc>
                </a:pPr>
                <a:r>
                  <a:rPr lang="en-US" altLang="zh-CN" sz="10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EMS</a:t>
                </a:r>
              </a:p>
            </p:txBody>
          </p:sp>
          <p:sp>
            <p:nvSpPr>
              <p:cNvPr id="86" name="圆角矩形 85"/>
              <p:cNvSpPr/>
              <p:nvPr/>
            </p:nvSpPr>
            <p:spPr>
              <a:xfrm>
                <a:off x="15292" y="5757"/>
                <a:ext cx="868" cy="310"/>
              </a:xfrm>
              <a:prstGeom prst="roundRect">
                <a:avLst/>
              </a:prstGeom>
              <a:solidFill>
                <a:srgbClr val="379DFF"/>
              </a:solidFill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lIns="90170" tIns="46990" rIns="90170" bIns="4699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lang="zh-CN" altLang="en-US" sz="1000" b="1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股票</a:t>
                </a:r>
              </a:p>
            </p:txBody>
          </p:sp>
          <p:sp>
            <p:nvSpPr>
              <p:cNvPr id="87" name="圆角矩形 86"/>
              <p:cNvSpPr/>
              <p:nvPr/>
            </p:nvSpPr>
            <p:spPr>
              <a:xfrm>
                <a:off x="16188" y="5757"/>
                <a:ext cx="868" cy="310"/>
              </a:xfrm>
              <a:prstGeom prst="roundRect">
                <a:avLst/>
              </a:prstGeom>
              <a:solidFill>
                <a:srgbClr val="379DFF"/>
              </a:solidFill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lIns="90170" tIns="46990" rIns="90170" bIns="4699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lang="zh-CN" altLang="en-US" sz="1000" b="1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债券</a:t>
                </a:r>
              </a:p>
            </p:txBody>
          </p:sp>
          <p:sp>
            <p:nvSpPr>
              <p:cNvPr id="88" name="圆角矩形 87"/>
              <p:cNvSpPr/>
              <p:nvPr/>
            </p:nvSpPr>
            <p:spPr>
              <a:xfrm>
                <a:off x="17178" y="5757"/>
                <a:ext cx="868" cy="310"/>
              </a:xfrm>
              <a:prstGeom prst="roundRect">
                <a:avLst/>
              </a:prstGeom>
              <a:solidFill>
                <a:srgbClr val="379DFF"/>
              </a:solidFill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lIns="90170" tIns="46990" rIns="90170" bIns="4699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lang="zh-CN" altLang="en-US" sz="1000" b="1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基金</a:t>
                </a:r>
              </a:p>
            </p:txBody>
          </p:sp>
          <p:sp>
            <p:nvSpPr>
              <p:cNvPr id="90" name="圆角矩形 89"/>
              <p:cNvSpPr/>
              <p:nvPr/>
            </p:nvSpPr>
            <p:spPr>
              <a:xfrm>
                <a:off x="15290" y="6178"/>
                <a:ext cx="909" cy="492"/>
              </a:xfrm>
              <a:prstGeom prst="roundRect">
                <a:avLst/>
              </a:prstGeom>
              <a:solidFill>
                <a:srgbClr val="379DFF"/>
              </a:solidFill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lIns="90170" tIns="46990" rIns="90170" bIns="4699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lang="zh-CN" altLang="en-US" sz="1000" b="1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衍生品</a:t>
                </a:r>
              </a:p>
            </p:txBody>
          </p:sp>
          <p:sp>
            <p:nvSpPr>
              <p:cNvPr id="92" name="圆角矩形 91"/>
              <p:cNvSpPr/>
              <p:nvPr/>
            </p:nvSpPr>
            <p:spPr>
              <a:xfrm>
                <a:off x="16200" y="6202"/>
                <a:ext cx="944" cy="310"/>
              </a:xfrm>
              <a:prstGeom prst="roundRect">
                <a:avLst/>
              </a:prstGeom>
              <a:solidFill>
                <a:srgbClr val="379DFF"/>
              </a:solidFill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lIns="90170" tIns="46990" rIns="90170" bIns="4699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lang="en-US" altLang="zh-CN" sz="1000" b="1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ETF</a:t>
                </a:r>
              </a:p>
            </p:txBody>
          </p:sp>
          <p:sp>
            <p:nvSpPr>
              <p:cNvPr id="93" name="圆角矩形 92"/>
              <p:cNvSpPr/>
              <p:nvPr/>
            </p:nvSpPr>
            <p:spPr>
              <a:xfrm>
                <a:off x="17249" y="6202"/>
                <a:ext cx="944" cy="310"/>
              </a:xfrm>
              <a:prstGeom prst="roundRect">
                <a:avLst/>
              </a:prstGeom>
              <a:solidFill>
                <a:srgbClr val="379DFF"/>
              </a:solidFill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lIns="90170" tIns="46990" rIns="90170" bIns="4699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lang="zh-CN" altLang="en-US" sz="1000" b="1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境外</a:t>
                </a:r>
              </a:p>
            </p:txBody>
          </p:sp>
        </p:grpSp>
        <p:grpSp>
          <p:nvGrpSpPr>
            <p:cNvPr id="103" name="组合 102"/>
            <p:cNvGrpSpPr/>
            <p:nvPr/>
          </p:nvGrpSpPr>
          <p:grpSpPr>
            <a:xfrm>
              <a:off x="15195" y="3832"/>
              <a:ext cx="3222" cy="1362"/>
              <a:chOff x="15195" y="3832"/>
              <a:chExt cx="3222" cy="1362"/>
            </a:xfrm>
          </p:grpSpPr>
          <p:sp>
            <p:nvSpPr>
              <p:cNvPr id="96" name="文本框 12"/>
              <p:cNvSpPr txBox="1">
                <a:spLocks noChangeArrowheads="1"/>
              </p:cNvSpPr>
              <p:nvPr/>
            </p:nvSpPr>
            <p:spPr bwMode="auto">
              <a:xfrm>
                <a:off x="15195" y="3832"/>
                <a:ext cx="3223" cy="136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noAutofit/>
              </a:bodyPr>
              <a:lstStyle>
                <a:lvl1pPr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9pPr>
              </a:lstStyle>
              <a:p>
                <a:pPr algn="ctr" eaLnBrk="1" hangingPunct="1">
                  <a:lnSpc>
                    <a:spcPct val="150000"/>
                  </a:lnSpc>
                </a:pPr>
                <a:r>
                  <a:rPr lang="en-US" altLang="zh-CN" sz="10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OMS</a:t>
                </a:r>
              </a:p>
            </p:txBody>
          </p:sp>
          <p:sp>
            <p:nvSpPr>
              <p:cNvPr id="98" name="圆角矩形 97"/>
              <p:cNvSpPr/>
              <p:nvPr/>
            </p:nvSpPr>
            <p:spPr>
              <a:xfrm>
                <a:off x="15455" y="4280"/>
                <a:ext cx="1237" cy="310"/>
              </a:xfrm>
              <a:prstGeom prst="roundRect">
                <a:avLst/>
              </a:prstGeom>
              <a:solidFill>
                <a:srgbClr val="379DFF"/>
              </a:solidFill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lIns="90170" tIns="46990" rIns="90170" bIns="4699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lang="zh-CN" altLang="en-US" sz="1000" b="1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指令管理</a:t>
                </a:r>
              </a:p>
            </p:txBody>
          </p:sp>
          <p:sp>
            <p:nvSpPr>
              <p:cNvPr id="99" name="圆角矩形 98"/>
              <p:cNvSpPr/>
              <p:nvPr/>
            </p:nvSpPr>
            <p:spPr>
              <a:xfrm>
                <a:off x="16793" y="4280"/>
                <a:ext cx="1237" cy="310"/>
              </a:xfrm>
              <a:prstGeom prst="roundRect">
                <a:avLst/>
              </a:prstGeom>
              <a:solidFill>
                <a:srgbClr val="379DFF"/>
              </a:solidFill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lIns="90170" tIns="46990" rIns="90170" bIns="4699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lang="zh-CN" altLang="en-US" sz="1000" b="1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指令审批</a:t>
                </a:r>
              </a:p>
            </p:txBody>
          </p:sp>
          <p:sp>
            <p:nvSpPr>
              <p:cNvPr id="100" name="圆角矩形 99"/>
              <p:cNvSpPr/>
              <p:nvPr/>
            </p:nvSpPr>
            <p:spPr>
              <a:xfrm>
                <a:off x="15455" y="4716"/>
                <a:ext cx="1237" cy="310"/>
              </a:xfrm>
              <a:prstGeom prst="roundRect">
                <a:avLst/>
              </a:prstGeom>
              <a:solidFill>
                <a:srgbClr val="379DFF"/>
              </a:solidFill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lIns="90170" tIns="46990" rIns="90170" bIns="4699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lang="zh-CN" altLang="en-US" sz="1000" b="1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指令分发</a:t>
                </a:r>
              </a:p>
            </p:txBody>
          </p:sp>
          <p:sp>
            <p:nvSpPr>
              <p:cNvPr id="102" name="圆角矩形 101"/>
              <p:cNvSpPr/>
              <p:nvPr/>
            </p:nvSpPr>
            <p:spPr>
              <a:xfrm>
                <a:off x="16809" y="4716"/>
                <a:ext cx="1237" cy="310"/>
              </a:xfrm>
              <a:prstGeom prst="roundRect">
                <a:avLst/>
              </a:prstGeom>
              <a:solidFill>
                <a:srgbClr val="379DFF"/>
              </a:solidFill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lIns="90170" tIns="46990" rIns="90170" bIns="4699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lang="zh-CN" altLang="en-US" sz="1000" b="1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指令预警</a:t>
                </a:r>
              </a:p>
            </p:txBody>
          </p:sp>
        </p:grpSp>
        <p:grpSp>
          <p:nvGrpSpPr>
            <p:cNvPr id="108" name="组合 107"/>
            <p:cNvGrpSpPr/>
            <p:nvPr/>
          </p:nvGrpSpPr>
          <p:grpSpPr>
            <a:xfrm>
              <a:off x="15195" y="2341"/>
              <a:ext cx="3223" cy="1363"/>
              <a:chOff x="15195" y="2341"/>
              <a:chExt cx="3223" cy="1363"/>
            </a:xfrm>
          </p:grpSpPr>
          <p:sp>
            <p:nvSpPr>
              <p:cNvPr id="104" name="文本框 12"/>
              <p:cNvSpPr txBox="1">
                <a:spLocks noChangeArrowheads="1"/>
              </p:cNvSpPr>
              <p:nvPr/>
            </p:nvSpPr>
            <p:spPr bwMode="auto">
              <a:xfrm>
                <a:off x="15195" y="2341"/>
                <a:ext cx="3223" cy="136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noAutofit/>
              </a:bodyPr>
              <a:lstStyle>
                <a:lvl1pPr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9pPr>
              </a:lstStyle>
              <a:p>
                <a:pPr algn="ctr" eaLnBrk="1" hangingPunct="1">
                  <a:lnSpc>
                    <a:spcPct val="150000"/>
                  </a:lnSpc>
                </a:pPr>
                <a:r>
                  <a:rPr lang="en-US" altLang="zh-CN" sz="10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PMS</a:t>
                </a:r>
              </a:p>
            </p:txBody>
          </p:sp>
          <p:sp>
            <p:nvSpPr>
              <p:cNvPr id="101" name="圆角矩形 100"/>
              <p:cNvSpPr/>
              <p:nvPr/>
            </p:nvSpPr>
            <p:spPr>
              <a:xfrm>
                <a:off x="15330" y="2868"/>
                <a:ext cx="1362" cy="294"/>
              </a:xfrm>
              <a:prstGeom prst="roundRect">
                <a:avLst/>
              </a:prstGeom>
              <a:solidFill>
                <a:srgbClr val="379DFF"/>
              </a:solidFill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lIns="90170" tIns="46990" rIns="90170" bIns="4699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lang="zh-CN" altLang="en-US" sz="1000" b="1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组合分析</a:t>
                </a:r>
              </a:p>
            </p:txBody>
          </p:sp>
          <p:sp>
            <p:nvSpPr>
              <p:cNvPr id="105" name="圆角矩形 104"/>
              <p:cNvSpPr/>
              <p:nvPr/>
            </p:nvSpPr>
            <p:spPr>
              <a:xfrm>
                <a:off x="16783" y="2867"/>
                <a:ext cx="1237" cy="310"/>
              </a:xfrm>
              <a:prstGeom prst="roundRect">
                <a:avLst/>
              </a:prstGeom>
              <a:solidFill>
                <a:srgbClr val="379DFF"/>
              </a:solidFill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lIns="90170" tIns="46990" rIns="90170" bIns="4699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lang="zh-CN" altLang="en-US" sz="1000" b="1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头寸管理</a:t>
                </a:r>
              </a:p>
            </p:txBody>
          </p:sp>
          <p:sp>
            <p:nvSpPr>
              <p:cNvPr id="106" name="圆角矩形 105"/>
              <p:cNvSpPr/>
              <p:nvPr/>
            </p:nvSpPr>
            <p:spPr>
              <a:xfrm>
                <a:off x="15321" y="3252"/>
                <a:ext cx="1462" cy="294"/>
              </a:xfrm>
              <a:prstGeom prst="roundRect">
                <a:avLst/>
              </a:prstGeom>
              <a:solidFill>
                <a:srgbClr val="379DFF"/>
              </a:solidFill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lIns="90170" tIns="46990" rIns="90170" bIns="4699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lang="zh-CN" altLang="en-US" sz="1000" b="1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流动性管理</a:t>
                </a:r>
              </a:p>
            </p:txBody>
          </p:sp>
          <p:sp>
            <p:nvSpPr>
              <p:cNvPr id="107" name="圆角矩形 106"/>
              <p:cNvSpPr/>
              <p:nvPr/>
            </p:nvSpPr>
            <p:spPr>
              <a:xfrm>
                <a:off x="16809" y="3252"/>
                <a:ext cx="1237" cy="310"/>
              </a:xfrm>
              <a:prstGeom prst="roundRect">
                <a:avLst/>
              </a:prstGeom>
              <a:solidFill>
                <a:srgbClr val="379DFF"/>
              </a:solidFill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lIns="90170" tIns="46990" rIns="90170" bIns="4699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lang="zh-CN" altLang="en-US" sz="1000" b="1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业绩归银</a:t>
                </a:r>
              </a:p>
            </p:txBody>
          </p:sp>
        </p:grpSp>
        <p:grpSp>
          <p:nvGrpSpPr>
            <p:cNvPr id="116" name="组合 115"/>
            <p:cNvGrpSpPr/>
            <p:nvPr/>
          </p:nvGrpSpPr>
          <p:grpSpPr>
            <a:xfrm>
              <a:off x="9446" y="1169"/>
              <a:ext cx="9001" cy="949"/>
              <a:chOff x="9445" y="848"/>
              <a:chExt cx="9001" cy="949"/>
            </a:xfrm>
          </p:grpSpPr>
          <p:sp>
            <p:nvSpPr>
              <p:cNvPr id="109" name="文本框 12"/>
              <p:cNvSpPr txBox="1">
                <a:spLocks noChangeArrowheads="1"/>
              </p:cNvSpPr>
              <p:nvPr/>
            </p:nvSpPr>
            <p:spPr bwMode="auto">
              <a:xfrm>
                <a:off x="9445" y="848"/>
                <a:ext cx="9001" cy="94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noAutofit/>
              </a:bodyPr>
              <a:lstStyle>
                <a:lvl1pPr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alibri" charset="0"/>
                    <a:ea typeface="微软雅黑" panose="020B0503020204020204" charset="-122"/>
                  </a:defRPr>
                </a:lvl9pPr>
              </a:lstStyle>
              <a:p>
                <a:pPr algn="ctr" eaLnBrk="1" hangingPunct="1">
                  <a:lnSpc>
                    <a:spcPct val="150000"/>
                  </a:lnSpc>
                </a:pPr>
                <a:r>
                  <a:rPr lang="zh-CN" altLang="en-US" sz="1000">
                    <a:solidFill>
                      <a:schemeClr val="tx1"/>
                    </a:solidFill>
                    <a:latin typeface="微软雅黑" panose="00000500000000000000" charset="-122"/>
                    <a:ea typeface="微软雅黑" panose="00000500000000000000" charset="-122"/>
                    <a:sym typeface="+mn-ea"/>
                  </a:rPr>
                  <a:t>工作台</a:t>
                </a:r>
              </a:p>
            </p:txBody>
          </p:sp>
          <p:sp>
            <p:nvSpPr>
              <p:cNvPr id="110" name="圆角矩形 109"/>
              <p:cNvSpPr/>
              <p:nvPr/>
            </p:nvSpPr>
            <p:spPr>
              <a:xfrm>
                <a:off x="9636" y="1328"/>
                <a:ext cx="1932" cy="310"/>
              </a:xfrm>
              <a:prstGeom prst="roundRect">
                <a:avLst/>
              </a:prstGeom>
              <a:solidFill>
                <a:srgbClr val="379DFF"/>
              </a:solidFill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lIns="90170" tIns="46990" rIns="90170" bIns="4699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lang="zh-CN" altLang="en-US" sz="1000" b="1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投资经理工作台</a:t>
                </a:r>
              </a:p>
            </p:txBody>
          </p:sp>
          <p:sp>
            <p:nvSpPr>
              <p:cNvPr id="113" name="圆角矩形 112"/>
              <p:cNvSpPr/>
              <p:nvPr/>
            </p:nvSpPr>
            <p:spPr>
              <a:xfrm>
                <a:off x="11961" y="1328"/>
                <a:ext cx="1932" cy="310"/>
              </a:xfrm>
              <a:prstGeom prst="roundRect">
                <a:avLst/>
              </a:prstGeom>
              <a:solidFill>
                <a:srgbClr val="379DFF"/>
              </a:solidFill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lIns="90170" tIns="46990" rIns="90170" bIns="4699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lang="zh-CN" altLang="en-US" sz="1000" b="1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合规风控工作台</a:t>
                </a:r>
              </a:p>
            </p:txBody>
          </p:sp>
          <p:sp>
            <p:nvSpPr>
              <p:cNvPr id="114" name="圆角矩形 113"/>
              <p:cNvSpPr/>
              <p:nvPr/>
            </p:nvSpPr>
            <p:spPr>
              <a:xfrm>
                <a:off x="14238" y="1328"/>
                <a:ext cx="1781" cy="310"/>
              </a:xfrm>
              <a:prstGeom prst="roundRect">
                <a:avLst/>
              </a:prstGeom>
              <a:solidFill>
                <a:srgbClr val="379DFF"/>
              </a:solidFill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lIns="90170" tIns="46990" rIns="90170" bIns="4699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lang="zh-CN" altLang="en-US" sz="1000" b="1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交易员工作台</a:t>
                </a:r>
              </a:p>
            </p:txBody>
          </p:sp>
          <p:sp>
            <p:nvSpPr>
              <p:cNvPr id="115" name="圆角矩形 114"/>
              <p:cNvSpPr/>
              <p:nvPr/>
            </p:nvSpPr>
            <p:spPr>
              <a:xfrm>
                <a:off x="16402" y="1328"/>
                <a:ext cx="1781" cy="310"/>
              </a:xfrm>
              <a:prstGeom prst="roundRect">
                <a:avLst/>
              </a:prstGeom>
              <a:solidFill>
                <a:srgbClr val="379DFF"/>
              </a:solidFill>
              <a:ln w="3175" cap="flat" cmpd="sng" algn="ctr">
                <a:noFill/>
                <a:prstDash val="solid"/>
                <a:miter lim="800000"/>
              </a:ln>
              <a:effectLst/>
            </p:spPr>
            <p:txBody>
              <a:bodyPr lIns="90170" tIns="46990" rIns="90170" bIns="46990" rtlCol="0" anchor="ctr" anchorCtr="0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lang="zh-CN" altLang="en-US" sz="1000" b="1" noProof="0">
                    <a:ln>
                      <a:noFill/>
                    </a:ln>
                    <a:solidFill>
                      <a:schemeClr val="bg1"/>
                    </a:solidFill>
                    <a:effectLst/>
                    <a:uLnTx/>
                    <a:uFillTx/>
                    <a:latin typeface="微软雅黑" panose="00000500000000000000" charset="-122"/>
                    <a:ea typeface="微软雅黑" panose="00000500000000000000" charset="-122"/>
                    <a:cs typeface="微软雅黑" panose="00000500000000000000" charset="-122"/>
                    <a:sym typeface="+mn-ea"/>
                  </a:rPr>
                  <a:t>运营工作台</a:t>
                </a:r>
              </a:p>
            </p:txBody>
          </p:sp>
        </p:grpSp>
      </p:grpSp>
      <p:cxnSp>
        <p:nvCxnSpPr>
          <p:cNvPr id="15" name="直线连接符 1"/>
          <p:cNvCxnSpPr/>
          <p:nvPr/>
        </p:nvCxnSpPr>
        <p:spPr>
          <a:xfrm>
            <a:off x="465823" y="344764"/>
            <a:ext cx="0" cy="442042"/>
          </a:xfrm>
          <a:prstGeom prst="line">
            <a:avLst/>
          </a:prstGeom>
          <a:ln w="762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/>
          <p:cNvSpPr txBox="1"/>
          <p:nvPr/>
        </p:nvSpPr>
        <p:spPr>
          <a:xfrm>
            <a:off x="572770" y="344805"/>
            <a:ext cx="993902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华锐</a:t>
            </a:r>
            <a:r>
              <a:rPr lang="en-US" altLang="zh-CN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FICC</a:t>
            </a:r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系统建设规划</a:t>
            </a:r>
            <a:r>
              <a:rPr lang="en-US" altLang="zh-CN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——IBOR</a:t>
            </a:r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（投资簿记）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线连接符 1"/>
          <p:cNvCxnSpPr/>
          <p:nvPr/>
        </p:nvCxnSpPr>
        <p:spPr>
          <a:xfrm>
            <a:off x="465823" y="344764"/>
            <a:ext cx="0" cy="442042"/>
          </a:xfrm>
          <a:prstGeom prst="line">
            <a:avLst/>
          </a:prstGeom>
          <a:ln w="762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/>
          <p:cNvSpPr txBox="1"/>
          <p:nvPr/>
        </p:nvSpPr>
        <p:spPr>
          <a:xfrm>
            <a:off x="572770" y="344805"/>
            <a:ext cx="993902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华锐</a:t>
            </a:r>
            <a:r>
              <a:rPr lang="en-US" altLang="zh-CN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FICC</a:t>
            </a:r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系统建设规划</a:t>
            </a:r>
            <a:r>
              <a:rPr lang="en-US" altLang="zh-CN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——</a:t>
            </a:r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运营管理</a:t>
            </a:r>
            <a:r>
              <a:rPr lang="en-US" altLang="zh-CN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-</a:t>
            </a:r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异常交易风控</a:t>
            </a:r>
          </a:p>
        </p:txBody>
      </p:sp>
      <p:pic>
        <p:nvPicPr>
          <p:cNvPr id="79882" name="Image 3" descr="preencoded.png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228725"/>
            <a:ext cx="3831590" cy="20624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9883" name="Image 4" descr="preencoded.png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0075" y="1409700"/>
            <a:ext cx="190500" cy="19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9885" name="Image 12" descr="preencoded.png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8000" y="1228725"/>
            <a:ext cx="3708400" cy="2127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9888" name="Text 1"/>
          <p:cNvSpPr>
            <a:spLocks noChangeArrowheads="1"/>
          </p:cNvSpPr>
          <p:nvPr/>
        </p:nvSpPr>
        <p:spPr bwMode="auto">
          <a:xfrm>
            <a:off x="866775" y="1371600"/>
            <a:ext cx="34226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9pPr>
          </a:lstStyle>
          <a:p>
            <a:pPr eaLnBrk="1" hangingPunct="1">
              <a:lnSpc>
                <a:spcPts val="2100"/>
              </a:lnSpc>
            </a:pPr>
            <a:r>
              <a:rPr lang="en-US" altLang="zh-CN" sz="1500" b="1">
                <a:solidFill>
                  <a:schemeClr val="bg1"/>
                </a:solidFill>
                <a:latin typeface="微软雅黑" panose="00000500000000000000" charset="-122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1037" name="Text 2"/>
          <p:cNvSpPr/>
          <p:nvPr/>
        </p:nvSpPr>
        <p:spPr>
          <a:xfrm>
            <a:off x="511175" y="1735455"/>
            <a:ext cx="3574415" cy="1036955"/>
          </a:xfrm>
          <a:prstGeom prst="rect">
            <a:avLst/>
          </a:prstGeom>
          <a:noFill/>
        </p:spPr>
        <p:txBody>
          <a:bodyPr lIns="0" tIns="0" rIns="0" bIns="0"/>
          <a:lstStyle/>
          <a:p>
            <a:pPr marL="171450" indent="-171450"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704020202020204" pitchFamily="34" charset="0"/>
              <a:buChar char="•"/>
              <a:defRPr/>
            </a:pPr>
            <a:r>
              <a:rPr lang="en-US" sz="1200" b="1">
                <a:solidFill>
                  <a:schemeClr val="bg1">
                    <a:alpha val="100000"/>
                  </a:schemeClr>
                </a:solidFill>
                <a:latin typeface="微软雅黑" panose="00000500000000000000" charset="-122"/>
                <a:cs typeface="微软雅黑" panose="00000500000000000000" charset="-122"/>
              </a:rPr>
              <a:t>监管要求升级</a:t>
            </a:r>
            <a:r>
              <a:rPr lang="en-US" sz="1200">
                <a:solidFill>
                  <a:schemeClr val="bg1">
                    <a:alpha val="100000"/>
                  </a:schemeClr>
                </a:solidFill>
                <a:latin typeface="微软雅黑" panose="00000500000000000000" charset="-122"/>
                <a:cs typeface="微软雅黑" panose="00000500000000000000" charset="-122"/>
              </a:rPr>
              <a:t>：2023年金融工作会议明确"防范化解重大金融风险"为核心</a:t>
            </a:r>
          </a:p>
          <a:p>
            <a:pPr marL="171450" indent="-171450"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704020202020204" pitchFamily="34" charset="0"/>
              <a:buChar char="•"/>
              <a:defRPr/>
            </a:pPr>
            <a:r>
              <a:rPr lang="zh-CN" sz="1200" b="1">
                <a:solidFill>
                  <a:schemeClr val="bg1">
                    <a:alpha val="100000"/>
                  </a:schemeClr>
                </a:solidFill>
                <a:latin typeface="微软雅黑" panose="00000500000000000000" charset="-122"/>
                <a:cs typeface="微软雅黑" panose="00000500000000000000" charset="-122"/>
              </a:rPr>
              <a:t>交易</a:t>
            </a:r>
            <a:r>
              <a:rPr lang="en-US" sz="1200" b="1">
                <a:solidFill>
                  <a:schemeClr val="bg1">
                    <a:alpha val="100000"/>
                  </a:schemeClr>
                </a:solidFill>
                <a:latin typeface="微软雅黑" panose="00000500000000000000" charset="-122"/>
                <a:cs typeface="微软雅黑" panose="00000500000000000000" charset="-122"/>
              </a:rPr>
              <a:t>流水</a:t>
            </a:r>
            <a:r>
              <a:rPr lang="zh-CN" sz="1200" b="1">
                <a:solidFill>
                  <a:schemeClr val="bg1">
                    <a:alpha val="100000"/>
                  </a:schemeClr>
                </a:solidFill>
                <a:latin typeface="微软雅黑" panose="00000500000000000000" charset="-122"/>
                <a:cs typeface="微软雅黑" panose="00000500000000000000" charset="-122"/>
              </a:rPr>
              <a:t>数据多：</a:t>
            </a:r>
            <a:r>
              <a:rPr lang="en-US" sz="1200">
                <a:solidFill>
                  <a:schemeClr val="bg1">
                    <a:alpha val="100000"/>
                  </a:schemeClr>
                </a:solidFill>
                <a:latin typeface="微软雅黑" panose="00000500000000000000" charset="-122"/>
                <a:cs typeface="微软雅黑" panose="00000500000000000000" charset="-122"/>
              </a:rPr>
              <a:t>传统人工筛查需多人协作、耗时数天</a:t>
            </a:r>
          </a:p>
          <a:p>
            <a:pPr marL="171450" indent="-171450" eaLnBrk="1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704020202020204" pitchFamily="34" charset="0"/>
              <a:buChar char="•"/>
              <a:defRPr/>
            </a:pPr>
            <a:r>
              <a:rPr lang="en-US" sz="1200" b="1">
                <a:solidFill>
                  <a:schemeClr val="bg1">
                    <a:alpha val="100000"/>
                  </a:schemeClr>
                </a:solidFill>
                <a:latin typeface="微软雅黑" panose="00000500000000000000" charset="-122"/>
                <a:cs typeface="微软雅黑" panose="00000500000000000000" charset="-122"/>
                <a:sym typeface="宋体" pitchFamily="2" charset="-122"/>
              </a:rPr>
              <a:t>异常交易类型</a:t>
            </a:r>
            <a:r>
              <a:rPr lang="zh-CN" sz="1200" b="1">
                <a:solidFill>
                  <a:schemeClr val="bg1">
                    <a:alpha val="100000"/>
                  </a:schemeClr>
                </a:solidFill>
                <a:latin typeface="微软雅黑" panose="00000500000000000000" charset="-122"/>
                <a:cs typeface="微软雅黑" panose="00000500000000000000" charset="-122"/>
                <a:sym typeface="宋体" pitchFamily="2" charset="-122"/>
              </a:rPr>
              <a:t>逐渐</a:t>
            </a:r>
            <a:r>
              <a:rPr lang="en-US" sz="1200" b="1">
                <a:solidFill>
                  <a:schemeClr val="bg1">
                    <a:alpha val="100000"/>
                  </a:schemeClr>
                </a:solidFill>
                <a:latin typeface="微软雅黑" panose="00000500000000000000" charset="-122"/>
                <a:cs typeface="微软雅黑" panose="00000500000000000000" charset="-122"/>
                <a:sym typeface="宋体" pitchFamily="2" charset="-122"/>
              </a:rPr>
              <a:t>增多</a:t>
            </a:r>
            <a:r>
              <a:rPr lang="zh-CN" sz="1200" b="1">
                <a:solidFill>
                  <a:schemeClr val="bg1">
                    <a:alpha val="100000"/>
                  </a:schemeClr>
                </a:solidFill>
                <a:latin typeface="微软雅黑" panose="00000500000000000000" charset="-122"/>
                <a:cs typeface="微软雅黑" panose="00000500000000000000" charset="-122"/>
                <a:sym typeface="宋体" pitchFamily="2" charset="-122"/>
              </a:rPr>
              <a:t>：</a:t>
            </a:r>
            <a:r>
              <a:rPr lang="en-US" sz="1200">
                <a:solidFill>
                  <a:schemeClr val="bg1">
                    <a:alpha val="100000"/>
                  </a:schemeClr>
                </a:solidFill>
                <a:latin typeface="微软雅黑" panose="00000500000000000000" charset="-122"/>
                <a:cs typeface="微软雅黑" panose="00000500000000000000" charset="-122"/>
                <a:sym typeface="宋体" pitchFamily="2" charset="-122"/>
              </a:rPr>
              <a:t>代持转手、高买低卖等</a:t>
            </a:r>
          </a:p>
        </p:txBody>
      </p:sp>
      <p:grpSp>
        <p:nvGrpSpPr>
          <p:cNvPr id="8" name="组合 7"/>
          <p:cNvGrpSpPr/>
          <p:nvPr/>
        </p:nvGrpSpPr>
        <p:grpSpPr>
          <a:xfrm>
            <a:off x="4458970" y="3561715"/>
            <a:ext cx="2549525" cy="266700"/>
            <a:chOff x="13673" y="2100"/>
            <a:chExt cx="4015" cy="420"/>
          </a:xfrm>
        </p:grpSpPr>
        <p:pic>
          <p:nvPicPr>
            <p:cNvPr id="79884" name="Image 6" descr="preencoded.png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673" y="2160"/>
              <a:ext cx="202" cy="3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9890" name="Text 4"/>
            <p:cNvSpPr>
              <a:spLocks noChangeArrowheads="1"/>
            </p:cNvSpPr>
            <p:nvPr/>
          </p:nvSpPr>
          <p:spPr bwMode="auto">
            <a:xfrm>
              <a:off x="14060" y="2100"/>
              <a:ext cx="3628" cy="4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9pPr>
            </a:lstStyle>
            <a:p>
              <a:pPr eaLnBrk="1" hangingPunct="1">
                <a:lnSpc>
                  <a:spcPts val="2100"/>
                </a:lnSpc>
              </a:pPr>
              <a:r>
                <a:rPr lang="en-US" altLang="zh-CN" sz="1600" b="1">
                  <a:solidFill>
                    <a:schemeClr val="bg1"/>
                  </a:solidFill>
                  <a:latin typeface="微软雅黑" panose="00000500000000000000" charset="-122"/>
                  <a:ea typeface="微软雅黑"/>
                  <a:cs typeface="微软雅黑"/>
                </a:rPr>
                <a:t>典型异常交易类型</a:t>
              </a:r>
            </a:p>
          </p:txBody>
        </p:sp>
      </p:grpSp>
      <p:sp>
        <p:nvSpPr>
          <p:cNvPr id="79899" name="Text 15"/>
          <p:cNvSpPr>
            <a:spLocks noChangeArrowheads="1"/>
          </p:cNvSpPr>
          <p:nvPr/>
        </p:nvSpPr>
        <p:spPr bwMode="auto">
          <a:xfrm>
            <a:off x="4678363" y="1317625"/>
            <a:ext cx="34226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9pPr>
          </a:lstStyle>
          <a:p>
            <a:pPr eaLnBrk="1" hangingPunct="1">
              <a:lnSpc>
                <a:spcPts val="2100"/>
              </a:lnSpc>
            </a:pPr>
            <a:r>
              <a:rPr lang="en-US" altLang="zh-CN" sz="1500" b="1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</a:rPr>
              <a:t>AI技术应用(规则+智能双驱动)</a:t>
            </a:r>
          </a:p>
        </p:txBody>
      </p:sp>
      <p:sp>
        <p:nvSpPr>
          <p:cNvPr id="79900" name="Text 26"/>
          <p:cNvSpPr>
            <a:spLocks noChangeArrowheads="1"/>
          </p:cNvSpPr>
          <p:nvPr/>
        </p:nvSpPr>
        <p:spPr bwMode="auto">
          <a:xfrm>
            <a:off x="779780" y="3441700"/>
            <a:ext cx="34226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9pPr>
          </a:lstStyle>
          <a:p>
            <a:pPr eaLnBrk="1" hangingPunct="1">
              <a:lnSpc>
                <a:spcPts val="2100"/>
              </a:lnSpc>
            </a:pPr>
            <a:r>
              <a:rPr lang="zh-CN" altLang="en-US" sz="1500" b="1">
                <a:solidFill>
                  <a:schemeClr val="bg1"/>
                </a:solidFill>
                <a:latin typeface="微软雅黑" panose="00000500000000000000" charset="-122"/>
                <a:ea typeface="微软雅黑"/>
                <a:cs typeface="微软雅黑"/>
              </a:rPr>
              <a:t>系统亮点</a:t>
            </a:r>
          </a:p>
        </p:txBody>
      </p:sp>
      <p:sp>
        <p:nvSpPr>
          <p:cNvPr id="1063" name="矩形 26"/>
          <p:cNvSpPr/>
          <p:nvPr/>
        </p:nvSpPr>
        <p:spPr>
          <a:xfrm>
            <a:off x="4417060" y="1735455"/>
            <a:ext cx="1689100" cy="73406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1000" dirty="0">
                <a:solidFill>
                  <a:srgbClr val="C00000"/>
                </a:solidFill>
                <a:latin typeface="微软雅黑" panose="00000500000000000000" charset="-122"/>
                <a:cs typeface="微软雅黑" panose="00000500000000000000" charset="-122"/>
                <a:sym typeface="+mn-ea"/>
              </a:rPr>
              <a:t>LLM</a:t>
            </a:r>
          </a:p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000" dirty="0">
                <a:solidFill>
                  <a:srgbClr val="5E75BA"/>
                </a:solidFill>
                <a:latin typeface="微软雅黑" panose="00000500000000000000" charset="-122"/>
                <a:cs typeface="微软雅黑" panose="00000500000000000000" charset="-122"/>
                <a:sym typeface="+mn-ea"/>
              </a:rPr>
              <a:t>大语言模型</a:t>
            </a:r>
            <a:endParaRPr lang="zh-CN" altLang="en-US" sz="1000" dirty="0">
              <a:solidFill>
                <a:srgbClr val="5E75BA"/>
              </a:solidFill>
              <a:latin typeface="微软雅黑" panose="00000500000000000000" charset="-122"/>
              <a:cs typeface="微软雅黑" panose="00000500000000000000" charset="-122"/>
            </a:endParaRPr>
          </a:p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000" dirty="0">
                <a:solidFill>
                  <a:schemeClr val="tx1"/>
                </a:solidFill>
                <a:latin typeface="微软雅黑" panose="00000500000000000000" charset="-122"/>
                <a:cs typeface="微软雅黑" panose="00000500000000000000" charset="-122"/>
                <a:sym typeface="+mn-ea"/>
              </a:rPr>
              <a:t>客户意图识别、自然语言处理、智能报告生成</a:t>
            </a:r>
            <a:r>
              <a:rPr lang="zh-CN" altLang="en-US" sz="1000" dirty="0">
                <a:solidFill>
                  <a:schemeClr val="bg1"/>
                </a:solidFill>
                <a:latin typeface="微软雅黑" panose="00000500000000000000" charset="-122"/>
                <a:cs typeface="微软雅黑" panose="00000500000000000000" charset="-122"/>
              </a:rPr>
              <a:t>大语</a:t>
            </a:r>
            <a:endParaRPr lang="zh-CN" altLang="en-US" sz="900" dirty="0">
              <a:solidFill>
                <a:schemeClr val="bg1"/>
              </a:solidFill>
              <a:latin typeface="微软雅黑" panose="00000500000000000000" charset="-122"/>
              <a:cs typeface="微软雅黑" panose="00000500000000000000" charset="-122"/>
            </a:endParaRPr>
          </a:p>
        </p:txBody>
      </p:sp>
      <p:sp>
        <p:nvSpPr>
          <p:cNvPr id="1064" name="矩形 2"/>
          <p:cNvSpPr/>
          <p:nvPr/>
        </p:nvSpPr>
        <p:spPr>
          <a:xfrm>
            <a:off x="6251575" y="1714500"/>
            <a:ext cx="1638300" cy="75565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1000" dirty="0">
                <a:solidFill>
                  <a:srgbClr val="C00000"/>
                </a:solidFill>
                <a:latin typeface="微软雅黑" panose="00000500000000000000" charset="-122"/>
                <a:cs typeface="微软雅黑" panose="00000500000000000000" charset="-122"/>
                <a:sym typeface="+mn-ea"/>
              </a:rPr>
              <a:t>RAG</a:t>
            </a:r>
            <a:endParaRPr lang="en-US" altLang="zh-CN" sz="900" dirty="0">
              <a:latin typeface="微软雅黑" panose="00000500000000000000" charset="-122"/>
              <a:cs typeface="微软雅黑" panose="00000500000000000000" charset="-122"/>
            </a:endParaRPr>
          </a:p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900" dirty="0">
                <a:solidFill>
                  <a:srgbClr val="5E75BA"/>
                </a:solidFill>
                <a:latin typeface="微软雅黑" panose="00000500000000000000" charset="-122"/>
                <a:cs typeface="微软雅黑" panose="00000500000000000000" charset="-122"/>
                <a:sym typeface="+mn-ea"/>
              </a:rPr>
              <a:t>检索增强生成</a:t>
            </a:r>
            <a:endParaRPr lang="zh-CN" altLang="en-US" sz="900" dirty="0">
              <a:solidFill>
                <a:srgbClr val="5E75BA"/>
              </a:solidFill>
              <a:latin typeface="微软雅黑" panose="00000500000000000000" charset="-122"/>
              <a:cs typeface="微软雅黑" panose="00000500000000000000" charset="-122"/>
            </a:endParaRPr>
          </a:p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900" dirty="0">
                <a:solidFill>
                  <a:schemeClr val="tx1"/>
                </a:solidFill>
                <a:latin typeface="微软雅黑" panose="00000500000000000000" charset="-122"/>
                <a:cs typeface="微软雅黑" panose="00000500000000000000" charset="-122"/>
                <a:sym typeface="+mn-ea"/>
              </a:rPr>
              <a:t>新规则固化、智能问答、上下文理解</a:t>
            </a:r>
            <a:endParaRPr lang="zh-CN" altLang="en-US" sz="900" dirty="0">
              <a:solidFill>
                <a:schemeClr val="tx1"/>
              </a:solidFill>
              <a:latin typeface="微软雅黑" panose="00000500000000000000" charset="-122"/>
              <a:cs typeface="微软雅黑" panose="00000500000000000000" charset="-122"/>
            </a:endParaRPr>
          </a:p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900" dirty="0">
                <a:solidFill>
                  <a:schemeClr val="bg1"/>
                </a:solidFill>
                <a:latin typeface="微软雅黑" panose="00000500000000000000" charset="-122"/>
                <a:cs typeface="微软雅黑" panose="00000500000000000000" charset="-122"/>
                <a:sym typeface="+mn-ea"/>
              </a:rPr>
              <a:t>化、智能问答、上下文理解</a:t>
            </a:r>
          </a:p>
        </p:txBody>
      </p:sp>
      <p:sp>
        <p:nvSpPr>
          <p:cNvPr id="1065" name="矩形 10"/>
          <p:cNvSpPr/>
          <p:nvPr/>
        </p:nvSpPr>
        <p:spPr>
          <a:xfrm>
            <a:off x="4417060" y="2541905"/>
            <a:ext cx="1689100" cy="7493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1000" dirty="0">
                <a:solidFill>
                  <a:srgbClr val="C00000"/>
                </a:solidFill>
                <a:latin typeface="微软雅黑" panose="00000500000000000000" charset="-122"/>
                <a:cs typeface="微软雅黑" panose="00000500000000000000" charset="-122"/>
                <a:sym typeface="+mn-ea"/>
              </a:rPr>
              <a:t>Agent</a:t>
            </a:r>
            <a:r>
              <a:rPr lang="en-US" altLang="zh-CN" sz="1000" dirty="0">
                <a:latin typeface="微软雅黑" panose="00000500000000000000" charset="-122"/>
                <a:cs typeface="微软雅黑" panose="00000500000000000000" charset="-122"/>
                <a:sym typeface="+mn-ea"/>
              </a:rPr>
              <a:t> </a:t>
            </a:r>
            <a:endParaRPr lang="en-US" altLang="zh-CN" sz="1000" dirty="0">
              <a:latin typeface="微软雅黑" panose="00000500000000000000" charset="-122"/>
              <a:cs typeface="微软雅黑" panose="00000500000000000000" charset="-122"/>
            </a:endParaRPr>
          </a:p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000" dirty="0">
                <a:solidFill>
                  <a:srgbClr val="5E75BA"/>
                </a:solidFill>
                <a:latin typeface="微软雅黑" panose="00000500000000000000" charset="-122"/>
                <a:cs typeface="微软雅黑" panose="00000500000000000000" charset="-122"/>
                <a:sym typeface="+mn-ea"/>
              </a:rPr>
              <a:t>智能体</a:t>
            </a:r>
            <a:endParaRPr lang="zh-CN" altLang="en-US" sz="1000" dirty="0">
              <a:solidFill>
                <a:srgbClr val="5E75BA"/>
              </a:solidFill>
              <a:latin typeface="微软雅黑" panose="00000500000000000000" charset="-122"/>
              <a:cs typeface="微软雅黑" panose="00000500000000000000" charset="-122"/>
            </a:endParaRPr>
          </a:p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000" dirty="0">
                <a:solidFill>
                  <a:schemeClr val="tx1"/>
                </a:solidFill>
                <a:latin typeface="微软雅黑" panose="00000500000000000000" charset="-122"/>
                <a:cs typeface="微软雅黑" panose="00000500000000000000" charset="-122"/>
                <a:sym typeface="+mn-ea"/>
              </a:rPr>
              <a:t>任务和决策支持、流程优化</a:t>
            </a:r>
            <a:endParaRPr lang="en-US" altLang="zh-CN" sz="1000" dirty="0">
              <a:solidFill>
                <a:schemeClr val="tx1"/>
              </a:solidFill>
              <a:latin typeface="微软雅黑" panose="00000500000000000000" charset="-122"/>
              <a:cs typeface="微软雅黑" panose="00000500000000000000" charset="-122"/>
              <a:sym typeface="+mn-ea"/>
            </a:endParaRPr>
          </a:p>
        </p:txBody>
      </p:sp>
      <p:sp>
        <p:nvSpPr>
          <p:cNvPr id="1066" name="矩形 11"/>
          <p:cNvSpPr/>
          <p:nvPr/>
        </p:nvSpPr>
        <p:spPr>
          <a:xfrm>
            <a:off x="6251575" y="2540000"/>
            <a:ext cx="1638300" cy="74930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900" dirty="0">
                <a:solidFill>
                  <a:srgbClr val="C00000"/>
                </a:solidFill>
                <a:latin typeface="微软雅黑" panose="00000500000000000000" charset="-122"/>
                <a:cs typeface="微软雅黑" panose="00000500000000000000" charset="-122"/>
                <a:sym typeface="+mn-ea"/>
              </a:rPr>
              <a:t>MCP</a:t>
            </a:r>
            <a:r>
              <a:rPr lang="en-US" altLang="zh-CN" sz="900" dirty="0">
                <a:latin typeface="微软雅黑" panose="00000500000000000000" charset="-122"/>
                <a:cs typeface="微软雅黑" panose="00000500000000000000" charset="-122"/>
                <a:sym typeface="+mn-ea"/>
              </a:rPr>
              <a:t> </a:t>
            </a:r>
            <a:endParaRPr lang="en-US" altLang="zh-CN" sz="900" dirty="0">
              <a:latin typeface="微软雅黑" panose="00000500000000000000" charset="-122"/>
              <a:cs typeface="微软雅黑" panose="00000500000000000000" charset="-122"/>
            </a:endParaRPr>
          </a:p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900" dirty="0">
                <a:solidFill>
                  <a:srgbClr val="5E75BA"/>
                </a:solidFill>
                <a:latin typeface="微软雅黑" panose="00000500000000000000" charset="-122"/>
                <a:cs typeface="微软雅黑" panose="00000500000000000000" charset="-122"/>
                <a:sym typeface="+mn-ea"/>
              </a:rPr>
              <a:t>外部服务集成接口</a:t>
            </a:r>
            <a:endParaRPr lang="zh-CN" altLang="en-US" sz="900" dirty="0">
              <a:solidFill>
                <a:srgbClr val="5E75BA"/>
              </a:solidFill>
              <a:latin typeface="微软雅黑" panose="00000500000000000000" charset="-122"/>
              <a:cs typeface="微软雅黑" panose="00000500000000000000" charset="-122"/>
            </a:endParaRPr>
          </a:p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900" dirty="0">
                <a:solidFill>
                  <a:schemeClr val="tx1"/>
                </a:solidFill>
                <a:latin typeface="微软雅黑" panose="00000500000000000000" charset="-122"/>
                <a:cs typeface="微软雅黑" panose="00000500000000000000" charset="-122"/>
                <a:sym typeface="+mn-ea"/>
              </a:rPr>
              <a:t>固化规则调用，数据调用</a:t>
            </a:r>
            <a:endParaRPr lang="zh-CN" altLang="en-US" sz="900" dirty="0">
              <a:solidFill>
                <a:schemeClr val="tx1"/>
              </a:solidFill>
              <a:latin typeface="微软雅黑" panose="00000500000000000000" charset="-122"/>
              <a:cs typeface="微软雅黑" panose="00000500000000000000" charset="-122"/>
            </a:endParaRPr>
          </a:p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900" dirty="0">
                <a:solidFill>
                  <a:schemeClr val="bg1"/>
                </a:solidFill>
                <a:latin typeface="微软雅黑" panose="00000500000000000000" charset="-122"/>
                <a:cs typeface="微软雅黑" panose="00000500000000000000" charset="-122"/>
                <a:sym typeface="+mn-ea"/>
              </a:rPr>
              <a:t>则调用，数据调用</a:t>
            </a:r>
          </a:p>
        </p:txBody>
      </p:sp>
      <p:pic>
        <p:nvPicPr>
          <p:cNvPr id="79922" name="Image 10" descr="preencoded.png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10075" y="1371600"/>
            <a:ext cx="219075" cy="19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7" name="组合 6"/>
          <p:cNvGrpSpPr/>
          <p:nvPr/>
        </p:nvGrpSpPr>
        <p:grpSpPr>
          <a:xfrm>
            <a:off x="503555" y="3479800"/>
            <a:ext cx="3355975" cy="2797175"/>
            <a:chOff x="930" y="5580"/>
            <a:chExt cx="5285" cy="4405"/>
          </a:xfrm>
        </p:grpSpPr>
        <p:pic>
          <p:nvPicPr>
            <p:cNvPr id="79887" name="Image 25" descr="preencoded.png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5" y="5580"/>
              <a:ext cx="300" cy="3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9901" name="Text 27"/>
            <p:cNvSpPr>
              <a:spLocks noChangeArrowheads="1"/>
            </p:cNvSpPr>
            <p:nvPr/>
          </p:nvSpPr>
          <p:spPr bwMode="auto">
            <a:xfrm>
              <a:off x="1065" y="6180"/>
              <a:ext cx="5150" cy="3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9pPr>
            </a:lstStyle>
            <a:p>
              <a:pPr eaLnBrk="1" hangingPunct="1">
                <a:lnSpc>
                  <a:spcPts val="1500"/>
                </a:lnSpc>
              </a:pPr>
              <a:r>
                <a:rPr lang="zh-CN" altLang="zh-CN" sz="1200" b="1">
                  <a:solidFill>
                    <a:schemeClr val="bg1"/>
                  </a:solidFill>
                  <a:latin typeface="微软雅黑" panose="00000500000000000000" charset="-122"/>
                  <a:ea typeface="微软雅黑"/>
                  <a:cs typeface="微软雅黑"/>
                </a:rPr>
                <a:t>异常交易定位：快速查找历史异常交易</a:t>
              </a:r>
            </a:p>
          </p:txBody>
        </p:sp>
        <p:sp>
          <p:nvSpPr>
            <p:cNvPr id="79902" name="Text 28"/>
            <p:cNvSpPr>
              <a:spLocks noChangeArrowheads="1"/>
            </p:cNvSpPr>
            <p:nvPr/>
          </p:nvSpPr>
          <p:spPr bwMode="auto">
            <a:xfrm>
              <a:off x="1065" y="6528"/>
              <a:ext cx="5150" cy="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9pPr>
            </a:lstStyle>
            <a:p>
              <a:pPr eaLnBrk="1" hangingPunct="1">
                <a:lnSpc>
                  <a:spcPts val="1200"/>
                </a:lnSpc>
              </a:pPr>
              <a:r>
                <a:rPr lang="zh-CN" altLang="en-US" sz="1000">
                  <a:solidFill>
                    <a:schemeClr val="bg1"/>
                  </a:solidFill>
                  <a:latin typeface="微软雅黑" panose="00000500000000000000" charset="-122"/>
                  <a:ea typeface="微软雅黑"/>
                  <a:cs typeface="微软雅黑"/>
                </a:rPr>
                <a:t>支持选定时间范围后，查找异常交易，并标记异常类型</a:t>
              </a:r>
            </a:p>
          </p:txBody>
        </p:sp>
        <p:sp>
          <p:nvSpPr>
            <p:cNvPr id="79903" name="Text 29"/>
            <p:cNvSpPr>
              <a:spLocks noChangeArrowheads="1"/>
            </p:cNvSpPr>
            <p:nvPr/>
          </p:nvSpPr>
          <p:spPr bwMode="auto">
            <a:xfrm>
              <a:off x="1065" y="7230"/>
              <a:ext cx="5150" cy="3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9pPr>
            </a:lstStyle>
            <a:p>
              <a:pPr eaLnBrk="1" hangingPunct="1">
                <a:lnSpc>
                  <a:spcPts val="1500"/>
                </a:lnSpc>
              </a:pPr>
              <a:r>
                <a:rPr lang="zh-CN" altLang="zh-CN" sz="1200" b="1">
                  <a:solidFill>
                    <a:schemeClr val="bg1"/>
                  </a:solidFill>
                  <a:latin typeface="微软雅黑" panose="00000500000000000000" charset="-122"/>
                  <a:ea typeface="微软雅黑"/>
                  <a:cs typeface="微软雅黑"/>
                </a:rPr>
                <a:t>异常交易校验：瞬时识别用户上传数据异常</a:t>
              </a:r>
            </a:p>
          </p:txBody>
        </p:sp>
        <p:sp>
          <p:nvSpPr>
            <p:cNvPr id="79904" name="Text 30"/>
            <p:cNvSpPr>
              <a:spLocks noChangeArrowheads="1"/>
            </p:cNvSpPr>
            <p:nvPr/>
          </p:nvSpPr>
          <p:spPr bwMode="auto">
            <a:xfrm>
              <a:off x="1065" y="7578"/>
              <a:ext cx="5150" cy="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9pPr>
            </a:lstStyle>
            <a:p>
              <a:pPr eaLnBrk="1" hangingPunct="1">
                <a:lnSpc>
                  <a:spcPts val="1200"/>
                </a:lnSpc>
              </a:pPr>
              <a:r>
                <a:rPr lang="zh-CN" altLang="en-US" sz="1000">
                  <a:solidFill>
                    <a:schemeClr val="bg1"/>
                  </a:solidFill>
                  <a:latin typeface="微软雅黑" panose="00000500000000000000" charset="-122"/>
                  <a:ea typeface="微软雅黑" panose="00000500000000000000" charset="-122"/>
                </a:rPr>
                <a:t>支持对用户上传的数据进行异常交易校验</a:t>
              </a:r>
            </a:p>
          </p:txBody>
        </p:sp>
        <p:sp>
          <p:nvSpPr>
            <p:cNvPr id="79905" name="Text 31"/>
            <p:cNvSpPr>
              <a:spLocks noChangeArrowheads="1"/>
            </p:cNvSpPr>
            <p:nvPr/>
          </p:nvSpPr>
          <p:spPr bwMode="auto">
            <a:xfrm>
              <a:off x="1065" y="8240"/>
              <a:ext cx="5150" cy="3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9pPr>
            </a:lstStyle>
            <a:p>
              <a:pPr eaLnBrk="1" hangingPunct="1">
                <a:lnSpc>
                  <a:spcPts val="1500"/>
                </a:lnSpc>
              </a:pPr>
              <a:r>
                <a:rPr lang="zh-CN" altLang="zh-CN" sz="1200" b="1">
                  <a:solidFill>
                    <a:schemeClr val="bg1"/>
                  </a:solidFill>
                  <a:latin typeface="微软雅黑" panose="00000500000000000000" charset="-122"/>
                  <a:ea typeface="微软雅黑"/>
                  <a:cs typeface="微软雅黑"/>
                </a:rPr>
                <a:t>动态规则应用： 异常模式智能探索与规则固化</a:t>
              </a:r>
            </a:p>
          </p:txBody>
        </p:sp>
        <p:sp>
          <p:nvSpPr>
            <p:cNvPr id="79906" name="Text 32"/>
            <p:cNvSpPr>
              <a:spLocks noChangeArrowheads="1"/>
            </p:cNvSpPr>
            <p:nvPr/>
          </p:nvSpPr>
          <p:spPr bwMode="auto">
            <a:xfrm>
              <a:off x="1065" y="8588"/>
              <a:ext cx="5150" cy="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9pPr>
            </a:lstStyle>
            <a:p>
              <a:pPr eaLnBrk="1" hangingPunct="1">
                <a:lnSpc>
                  <a:spcPts val="1200"/>
                </a:lnSpc>
              </a:pPr>
              <a:r>
                <a:rPr lang="zh-CN" altLang="en-US" sz="1000">
                  <a:solidFill>
                    <a:schemeClr val="bg1"/>
                  </a:solidFill>
                  <a:latin typeface="微软雅黑" panose="00000500000000000000" charset="-122"/>
                  <a:ea typeface="微软雅黑"/>
                  <a:cs typeface="微软雅黑"/>
                </a:rPr>
                <a:t>智能提炼异常规则并固化，让系统持续进化适应新挑战</a:t>
              </a:r>
            </a:p>
          </p:txBody>
        </p:sp>
        <p:sp>
          <p:nvSpPr>
            <p:cNvPr id="79913" name="Text 31"/>
            <p:cNvSpPr>
              <a:spLocks noChangeArrowheads="1"/>
            </p:cNvSpPr>
            <p:nvPr/>
          </p:nvSpPr>
          <p:spPr bwMode="auto">
            <a:xfrm>
              <a:off x="1065" y="9173"/>
              <a:ext cx="5150" cy="3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9pPr>
            </a:lstStyle>
            <a:p>
              <a:pPr eaLnBrk="1" hangingPunct="1">
                <a:lnSpc>
                  <a:spcPts val="1500"/>
                </a:lnSpc>
              </a:pPr>
              <a:r>
                <a:rPr lang="zh-CN" altLang="zh-CN" sz="1200" b="1">
                  <a:solidFill>
                    <a:schemeClr val="bg1"/>
                  </a:solidFill>
                  <a:latin typeface="微软雅黑" panose="00000500000000000000" charset="-122"/>
                  <a:ea typeface="微软雅黑"/>
                  <a:cs typeface="微软雅黑"/>
                </a:rPr>
                <a:t>报告生成： 智能生成异常报告</a:t>
              </a:r>
            </a:p>
          </p:txBody>
        </p:sp>
        <p:sp>
          <p:nvSpPr>
            <p:cNvPr id="79914" name="Text 32"/>
            <p:cNvSpPr>
              <a:spLocks noChangeArrowheads="1"/>
            </p:cNvSpPr>
            <p:nvPr/>
          </p:nvSpPr>
          <p:spPr bwMode="auto">
            <a:xfrm>
              <a:off x="1065" y="9505"/>
              <a:ext cx="5150" cy="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lIns="0" tIns="0" rIns="0" bIns="0"/>
            <a:lstStyle>
              <a:lvl1pPr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9pPr>
            </a:lstStyle>
            <a:p>
              <a:pPr eaLnBrk="1" hangingPunct="1">
                <a:lnSpc>
                  <a:spcPts val="1200"/>
                </a:lnSpc>
              </a:pPr>
              <a:r>
                <a:rPr lang="zh-CN" altLang="en-US" sz="1000">
                  <a:solidFill>
                    <a:schemeClr val="bg1"/>
                  </a:solidFill>
                  <a:latin typeface="微软雅黑" panose="00000500000000000000" charset="-122"/>
                  <a:ea typeface="微软雅黑"/>
                  <a:cs typeface="微软雅黑"/>
                </a:rPr>
                <a:t>支持模板自定义与场景数据一键应用，快速输出专业分析</a:t>
              </a:r>
            </a:p>
          </p:txBody>
        </p:sp>
        <p:sp>
          <p:nvSpPr>
            <p:cNvPr id="79923" name="矩形 1070"/>
            <p:cNvSpPr>
              <a:spLocks noChangeArrowheads="1"/>
            </p:cNvSpPr>
            <p:nvPr/>
          </p:nvSpPr>
          <p:spPr bwMode="auto">
            <a:xfrm>
              <a:off x="930" y="6180"/>
              <a:ext cx="58" cy="623"/>
            </a:xfrm>
            <a:prstGeom prst="rect">
              <a:avLst/>
            </a:prstGeom>
            <a:solidFill>
              <a:srgbClr val="1E40A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9pPr>
            </a:lstStyle>
            <a:p>
              <a:pPr algn="ctr" eaLnBrk="1" hangingPunct="1"/>
              <a:endParaRPr lang="zh-CN" altLang="zh-CN" sz="2000">
                <a:solidFill>
                  <a:schemeClr val="bg1"/>
                </a:solidFill>
                <a:ea typeface="微软雅黑" panose="00000500000000000000" charset="-122"/>
              </a:endParaRPr>
            </a:p>
          </p:txBody>
        </p:sp>
        <p:sp>
          <p:nvSpPr>
            <p:cNvPr id="79924" name="矩形 1071"/>
            <p:cNvSpPr>
              <a:spLocks noChangeArrowheads="1"/>
            </p:cNvSpPr>
            <p:nvPr/>
          </p:nvSpPr>
          <p:spPr bwMode="auto">
            <a:xfrm>
              <a:off x="930" y="7198"/>
              <a:ext cx="58" cy="622"/>
            </a:xfrm>
            <a:prstGeom prst="rect">
              <a:avLst/>
            </a:prstGeom>
            <a:solidFill>
              <a:srgbClr val="1E40A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9pPr>
            </a:lstStyle>
            <a:p>
              <a:pPr algn="ctr" eaLnBrk="1" hangingPunct="1"/>
              <a:endParaRPr lang="zh-CN" altLang="zh-CN" sz="2000">
                <a:solidFill>
                  <a:schemeClr val="bg1"/>
                </a:solidFill>
                <a:ea typeface="微软雅黑" panose="00000500000000000000" charset="-122"/>
              </a:endParaRPr>
            </a:p>
          </p:txBody>
        </p:sp>
        <p:sp>
          <p:nvSpPr>
            <p:cNvPr id="79925" name="矩形 1072"/>
            <p:cNvSpPr>
              <a:spLocks noChangeArrowheads="1"/>
            </p:cNvSpPr>
            <p:nvPr/>
          </p:nvSpPr>
          <p:spPr bwMode="auto">
            <a:xfrm>
              <a:off x="945" y="8203"/>
              <a:ext cx="55" cy="625"/>
            </a:xfrm>
            <a:prstGeom prst="rect">
              <a:avLst/>
            </a:prstGeom>
            <a:solidFill>
              <a:srgbClr val="1E40A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9pPr>
            </a:lstStyle>
            <a:p>
              <a:pPr algn="ctr" eaLnBrk="1" hangingPunct="1"/>
              <a:endParaRPr lang="zh-CN" altLang="zh-CN" sz="2000">
                <a:solidFill>
                  <a:schemeClr val="bg1"/>
                </a:solidFill>
                <a:ea typeface="微软雅黑" panose="00000500000000000000" charset="-122"/>
              </a:endParaRPr>
            </a:p>
          </p:txBody>
        </p:sp>
        <p:sp>
          <p:nvSpPr>
            <p:cNvPr id="79926" name="矩形 1073"/>
            <p:cNvSpPr>
              <a:spLocks noChangeArrowheads="1"/>
            </p:cNvSpPr>
            <p:nvPr/>
          </p:nvSpPr>
          <p:spPr bwMode="auto">
            <a:xfrm>
              <a:off x="930" y="9160"/>
              <a:ext cx="58" cy="625"/>
            </a:xfrm>
            <a:prstGeom prst="rect">
              <a:avLst/>
            </a:prstGeom>
            <a:solidFill>
              <a:srgbClr val="1E40A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charset="0"/>
                  <a:ea typeface="微软雅黑" panose="020B0503020204020204" charset="-122"/>
                </a:defRPr>
              </a:lvl9pPr>
            </a:lstStyle>
            <a:p>
              <a:pPr algn="ctr" eaLnBrk="1" hangingPunct="1"/>
              <a:endParaRPr lang="zh-CN" altLang="zh-CN" sz="2000">
                <a:solidFill>
                  <a:schemeClr val="bg1"/>
                </a:solidFill>
                <a:ea typeface="微软雅黑" panose="00000500000000000000" charset="-122"/>
              </a:endParaRPr>
            </a:p>
          </p:txBody>
        </p:sp>
      </p:grpSp>
      <p:sp>
        <p:nvSpPr>
          <p:cNvPr id="79891" name="Text 5"/>
          <p:cNvSpPr>
            <a:spLocks noChangeArrowheads="1"/>
          </p:cNvSpPr>
          <p:nvPr/>
        </p:nvSpPr>
        <p:spPr bwMode="auto">
          <a:xfrm>
            <a:off x="4755515" y="3982085"/>
            <a:ext cx="1141095" cy="2108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9pPr>
          </a:lstStyle>
          <a:p>
            <a:pPr eaLnBrk="1" hangingPunct="1">
              <a:lnSpc>
                <a:spcPts val="1500"/>
              </a:lnSpc>
            </a:pPr>
            <a:r>
              <a:rPr lang="en-US" altLang="zh-CN" sz="1200" b="1">
                <a:solidFill>
                  <a:schemeClr val="bg1"/>
                </a:solidFill>
                <a:latin typeface="微软雅黑" panose="00000500000000000000" charset="-122"/>
                <a:ea typeface="微软雅黑"/>
                <a:cs typeface="微软雅黑"/>
              </a:rPr>
              <a:t>代持相关交易</a:t>
            </a:r>
          </a:p>
        </p:txBody>
      </p:sp>
      <p:sp>
        <p:nvSpPr>
          <p:cNvPr id="79893" name="Text 7"/>
          <p:cNvSpPr>
            <a:spLocks noChangeArrowheads="1"/>
          </p:cNvSpPr>
          <p:nvPr/>
        </p:nvSpPr>
        <p:spPr bwMode="auto">
          <a:xfrm>
            <a:off x="4755515" y="4453255"/>
            <a:ext cx="1096010" cy="19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9pPr>
          </a:lstStyle>
          <a:p>
            <a:pPr eaLnBrk="1" hangingPunct="1">
              <a:lnSpc>
                <a:spcPts val="1500"/>
              </a:lnSpc>
            </a:pPr>
            <a:r>
              <a:rPr lang="en-US" altLang="zh-CN" sz="1200" b="1">
                <a:solidFill>
                  <a:schemeClr val="bg1"/>
                </a:solidFill>
                <a:latin typeface="微软雅黑" panose="00000500000000000000" charset="-122"/>
                <a:ea typeface="微软雅黑"/>
                <a:cs typeface="微软雅黑"/>
              </a:rPr>
              <a:t>高买低卖行为识别</a:t>
            </a:r>
          </a:p>
        </p:txBody>
      </p:sp>
      <p:sp>
        <p:nvSpPr>
          <p:cNvPr id="79895" name="Text 9"/>
          <p:cNvSpPr>
            <a:spLocks noChangeArrowheads="1"/>
          </p:cNvSpPr>
          <p:nvPr/>
        </p:nvSpPr>
        <p:spPr bwMode="auto">
          <a:xfrm>
            <a:off x="4772660" y="4967605"/>
            <a:ext cx="997585" cy="190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9pPr>
          </a:lstStyle>
          <a:p>
            <a:pPr eaLnBrk="1" hangingPunct="1">
              <a:lnSpc>
                <a:spcPts val="1500"/>
              </a:lnSpc>
            </a:pPr>
            <a:r>
              <a:rPr lang="en-US" altLang="zh-CN" sz="1200" b="1">
                <a:solidFill>
                  <a:schemeClr val="bg1"/>
                </a:solidFill>
                <a:latin typeface="微软雅黑" panose="00000500000000000000" charset="-122"/>
                <a:ea typeface="微软雅黑"/>
                <a:cs typeface="微软雅黑"/>
              </a:rPr>
              <a:t>持仓结构异常</a:t>
            </a:r>
          </a:p>
        </p:txBody>
      </p:sp>
      <p:sp>
        <p:nvSpPr>
          <p:cNvPr id="79897" name="Text 11"/>
          <p:cNvSpPr>
            <a:spLocks noChangeArrowheads="1"/>
          </p:cNvSpPr>
          <p:nvPr/>
        </p:nvSpPr>
        <p:spPr bwMode="auto">
          <a:xfrm>
            <a:off x="4755515" y="5494655"/>
            <a:ext cx="1014730" cy="20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9pPr>
          </a:lstStyle>
          <a:p>
            <a:pPr eaLnBrk="1" hangingPunct="1">
              <a:lnSpc>
                <a:spcPts val="1500"/>
              </a:lnSpc>
            </a:pPr>
            <a:r>
              <a:rPr lang="en-US" altLang="zh-CN" sz="1200" b="1">
                <a:solidFill>
                  <a:schemeClr val="bg1"/>
                </a:solidFill>
                <a:latin typeface="微软雅黑" panose="00000500000000000000" charset="-122"/>
                <a:ea typeface="微软雅黑"/>
                <a:cs typeface="微软雅黑"/>
              </a:rPr>
              <a:t>交易量异常</a:t>
            </a:r>
          </a:p>
        </p:txBody>
      </p:sp>
      <p:sp>
        <p:nvSpPr>
          <p:cNvPr id="1075" name="椭圆 90"/>
          <p:cNvSpPr>
            <a:spLocks noChangeAspect="1"/>
          </p:cNvSpPr>
          <p:nvPr/>
        </p:nvSpPr>
        <p:spPr>
          <a:xfrm>
            <a:off x="4596130" y="4021455"/>
            <a:ext cx="108585" cy="133350"/>
          </a:xfrm>
          <a:prstGeom prst="ellipse">
            <a:avLst/>
          </a:prstGeom>
          <a:solidFill>
            <a:srgbClr val="1E40AF">
              <a:alpha val="100000"/>
            </a:srgbClr>
          </a:solidFill>
          <a:ln w="38100">
            <a:solidFill>
              <a:schemeClr val="tx2">
                <a:lumMod val="10000"/>
                <a:lumOff val="90000"/>
                <a:alpha val="100000"/>
              </a:schemeClr>
            </a:solidFill>
            <a:prstDash val="solid"/>
          </a:ln>
        </p:spPr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sz="200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1076" name="椭圆 90"/>
          <p:cNvSpPr>
            <a:spLocks noChangeAspect="1"/>
          </p:cNvSpPr>
          <p:nvPr/>
        </p:nvSpPr>
        <p:spPr>
          <a:xfrm>
            <a:off x="4596130" y="4481830"/>
            <a:ext cx="108585" cy="133350"/>
          </a:xfrm>
          <a:prstGeom prst="ellipse">
            <a:avLst/>
          </a:prstGeom>
          <a:solidFill>
            <a:srgbClr val="1E40AF">
              <a:alpha val="100000"/>
            </a:srgbClr>
          </a:solidFill>
          <a:ln w="38100">
            <a:solidFill>
              <a:schemeClr val="tx2">
                <a:lumMod val="10000"/>
                <a:lumOff val="90000"/>
                <a:alpha val="100000"/>
              </a:schemeClr>
            </a:solidFill>
            <a:prstDash val="solid"/>
          </a:ln>
        </p:spPr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sz="200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1077" name="椭圆 90"/>
          <p:cNvSpPr>
            <a:spLocks noChangeAspect="1"/>
          </p:cNvSpPr>
          <p:nvPr/>
        </p:nvSpPr>
        <p:spPr>
          <a:xfrm>
            <a:off x="4596130" y="4967605"/>
            <a:ext cx="108585" cy="133350"/>
          </a:xfrm>
          <a:prstGeom prst="ellipse">
            <a:avLst/>
          </a:prstGeom>
          <a:solidFill>
            <a:srgbClr val="1E40AF">
              <a:alpha val="100000"/>
            </a:srgbClr>
          </a:solidFill>
          <a:ln w="38100">
            <a:solidFill>
              <a:schemeClr val="tx2">
                <a:lumMod val="10000"/>
                <a:lumOff val="90000"/>
                <a:alpha val="100000"/>
              </a:schemeClr>
            </a:solidFill>
            <a:prstDash val="solid"/>
          </a:ln>
        </p:spPr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sz="200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1078" name="椭圆 90"/>
          <p:cNvSpPr>
            <a:spLocks noChangeAspect="1"/>
          </p:cNvSpPr>
          <p:nvPr/>
        </p:nvSpPr>
        <p:spPr>
          <a:xfrm>
            <a:off x="4596130" y="5535930"/>
            <a:ext cx="108585" cy="133350"/>
          </a:xfrm>
          <a:prstGeom prst="ellipse">
            <a:avLst/>
          </a:prstGeom>
          <a:solidFill>
            <a:srgbClr val="1E40AF">
              <a:alpha val="100000"/>
            </a:srgbClr>
          </a:solidFill>
          <a:ln w="38100">
            <a:solidFill>
              <a:schemeClr val="tx2">
                <a:lumMod val="10000"/>
                <a:lumOff val="90000"/>
                <a:alpha val="100000"/>
              </a:schemeClr>
            </a:solidFill>
            <a:prstDash val="solid"/>
          </a:ln>
        </p:spPr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sz="200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30" name="Text 5"/>
          <p:cNvSpPr>
            <a:spLocks noChangeArrowheads="1"/>
          </p:cNvSpPr>
          <p:nvPr/>
        </p:nvSpPr>
        <p:spPr bwMode="auto">
          <a:xfrm>
            <a:off x="6132195" y="3943985"/>
            <a:ext cx="1141095" cy="2108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9pPr>
          </a:lstStyle>
          <a:p>
            <a:pPr eaLnBrk="1" hangingPunct="1">
              <a:lnSpc>
                <a:spcPts val="1500"/>
              </a:lnSpc>
            </a:pPr>
            <a:r>
              <a:rPr lang="zh-CN" altLang="en-US" sz="1200" b="1">
                <a:solidFill>
                  <a:schemeClr val="bg1"/>
                </a:solidFill>
                <a:latin typeface="微软雅黑" panose="00000500000000000000" charset="-122"/>
                <a:ea typeface="宋体" pitchFamily="2" charset="-122"/>
                <a:cs typeface="微软雅黑"/>
              </a:rPr>
              <a:t>多日反向</a:t>
            </a:r>
          </a:p>
        </p:txBody>
      </p:sp>
      <p:sp>
        <p:nvSpPr>
          <p:cNvPr id="31" name="椭圆 90"/>
          <p:cNvSpPr>
            <a:spLocks noChangeAspect="1"/>
          </p:cNvSpPr>
          <p:nvPr/>
        </p:nvSpPr>
        <p:spPr>
          <a:xfrm>
            <a:off x="5864225" y="4018280"/>
            <a:ext cx="108585" cy="133350"/>
          </a:xfrm>
          <a:prstGeom prst="ellipse">
            <a:avLst/>
          </a:prstGeom>
          <a:solidFill>
            <a:srgbClr val="1E40AF">
              <a:alpha val="100000"/>
            </a:srgbClr>
          </a:solidFill>
          <a:ln w="38100">
            <a:solidFill>
              <a:schemeClr val="tx2">
                <a:lumMod val="10000"/>
                <a:lumOff val="90000"/>
                <a:alpha val="100000"/>
              </a:schemeClr>
            </a:solidFill>
            <a:prstDash val="solid"/>
          </a:ln>
        </p:spPr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sz="200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43" name="Text 5"/>
          <p:cNvSpPr>
            <a:spLocks noChangeArrowheads="1"/>
          </p:cNvSpPr>
          <p:nvPr/>
        </p:nvSpPr>
        <p:spPr bwMode="auto">
          <a:xfrm>
            <a:off x="6132195" y="4418330"/>
            <a:ext cx="1141095" cy="2108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9pPr>
          </a:lstStyle>
          <a:p>
            <a:pPr eaLnBrk="1" hangingPunct="1">
              <a:lnSpc>
                <a:spcPts val="1500"/>
              </a:lnSpc>
            </a:pPr>
            <a:r>
              <a:rPr lang="zh-CN" altLang="en-US" sz="1200" b="1">
                <a:solidFill>
                  <a:schemeClr val="bg1"/>
                </a:solidFill>
                <a:latin typeface="微软雅黑" panose="00000500000000000000" charset="-122"/>
                <a:ea typeface="宋体" pitchFamily="2" charset="-122"/>
                <a:cs typeface="微软雅黑"/>
              </a:rPr>
              <a:t>低频</a:t>
            </a:r>
            <a:r>
              <a:rPr lang="en-US" altLang="zh-CN" sz="1200" b="1">
                <a:solidFill>
                  <a:schemeClr val="bg1"/>
                </a:solidFill>
                <a:latin typeface="微软雅黑" panose="00000500000000000000" charset="-122"/>
                <a:ea typeface="宋体" pitchFamily="2" charset="-122"/>
                <a:cs typeface="微软雅黑"/>
              </a:rPr>
              <a:t>·</a:t>
            </a:r>
            <a:r>
              <a:rPr lang="zh-CN" altLang="en-US" sz="1200" b="1">
                <a:solidFill>
                  <a:schemeClr val="bg1"/>
                </a:solidFill>
                <a:latin typeface="微软雅黑" panose="00000500000000000000" charset="-122"/>
                <a:ea typeface="宋体" pitchFamily="2" charset="-122"/>
                <a:cs typeface="微软雅黑"/>
              </a:rPr>
              <a:t>交易</a:t>
            </a:r>
          </a:p>
        </p:txBody>
      </p:sp>
      <p:sp>
        <p:nvSpPr>
          <p:cNvPr id="44" name="椭圆 90"/>
          <p:cNvSpPr>
            <a:spLocks noChangeAspect="1"/>
          </p:cNvSpPr>
          <p:nvPr/>
        </p:nvSpPr>
        <p:spPr>
          <a:xfrm>
            <a:off x="5864225" y="4492625"/>
            <a:ext cx="108585" cy="133350"/>
          </a:xfrm>
          <a:prstGeom prst="ellipse">
            <a:avLst/>
          </a:prstGeom>
          <a:solidFill>
            <a:srgbClr val="1E40AF">
              <a:alpha val="100000"/>
            </a:srgbClr>
          </a:solidFill>
          <a:ln w="38100">
            <a:solidFill>
              <a:schemeClr val="tx2">
                <a:lumMod val="10000"/>
                <a:lumOff val="90000"/>
                <a:alpha val="100000"/>
              </a:schemeClr>
            </a:solidFill>
            <a:prstDash val="solid"/>
          </a:ln>
        </p:spPr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sz="200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45" name="Text 5"/>
          <p:cNvSpPr>
            <a:spLocks noChangeArrowheads="1"/>
          </p:cNvSpPr>
          <p:nvPr/>
        </p:nvSpPr>
        <p:spPr bwMode="auto">
          <a:xfrm>
            <a:off x="6132195" y="4912360"/>
            <a:ext cx="1141095" cy="2108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9pPr>
          </a:lstStyle>
          <a:p>
            <a:pPr eaLnBrk="1" hangingPunct="1">
              <a:lnSpc>
                <a:spcPts val="1500"/>
              </a:lnSpc>
            </a:pPr>
            <a:r>
              <a:rPr lang="zh-CN" altLang="en-US" sz="1200" b="1">
                <a:solidFill>
                  <a:schemeClr val="bg1"/>
                </a:solidFill>
                <a:latin typeface="微软雅黑" panose="00000500000000000000" charset="-122"/>
                <a:ea typeface="宋体" pitchFamily="2" charset="-122"/>
                <a:cs typeface="微软雅黑"/>
              </a:rPr>
              <a:t>信用债价格异常</a:t>
            </a:r>
          </a:p>
        </p:txBody>
      </p:sp>
      <p:sp>
        <p:nvSpPr>
          <p:cNvPr id="46" name="椭圆 90"/>
          <p:cNvSpPr>
            <a:spLocks noChangeAspect="1"/>
          </p:cNvSpPr>
          <p:nvPr/>
        </p:nvSpPr>
        <p:spPr>
          <a:xfrm>
            <a:off x="5864225" y="4986655"/>
            <a:ext cx="108585" cy="133350"/>
          </a:xfrm>
          <a:prstGeom prst="ellipse">
            <a:avLst/>
          </a:prstGeom>
          <a:solidFill>
            <a:srgbClr val="1E40AF">
              <a:alpha val="100000"/>
            </a:srgbClr>
          </a:solidFill>
          <a:ln w="38100">
            <a:solidFill>
              <a:schemeClr val="tx2">
                <a:lumMod val="10000"/>
                <a:lumOff val="90000"/>
                <a:alpha val="100000"/>
              </a:schemeClr>
            </a:solidFill>
            <a:prstDash val="solid"/>
          </a:ln>
        </p:spPr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sz="200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47" name="Text 5"/>
          <p:cNvSpPr>
            <a:spLocks noChangeArrowheads="1"/>
          </p:cNvSpPr>
          <p:nvPr/>
        </p:nvSpPr>
        <p:spPr bwMode="auto">
          <a:xfrm>
            <a:off x="6132195" y="5459730"/>
            <a:ext cx="1141095" cy="2108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9pPr>
          </a:lstStyle>
          <a:p>
            <a:pPr eaLnBrk="1" hangingPunct="1">
              <a:lnSpc>
                <a:spcPts val="1500"/>
              </a:lnSpc>
            </a:pPr>
            <a:r>
              <a:rPr lang="zh-CN" altLang="en-US" sz="1200" b="1">
                <a:solidFill>
                  <a:schemeClr val="bg1"/>
                </a:solidFill>
                <a:latin typeface="微软雅黑" panose="00000500000000000000" charset="-122"/>
                <a:ea typeface="宋体" pitchFamily="2" charset="-122"/>
                <a:cs typeface="微软雅黑"/>
              </a:rPr>
              <a:t>同一交易对手频繁交易</a:t>
            </a:r>
          </a:p>
        </p:txBody>
      </p:sp>
      <p:sp>
        <p:nvSpPr>
          <p:cNvPr id="48" name="椭圆 90"/>
          <p:cNvSpPr>
            <a:spLocks noChangeAspect="1"/>
          </p:cNvSpPr>
          <p:nvPr/>
        </p:nvSpPr>
        <p:spPr>
          <a:xfrm>
            <a:off x="5864225" y="5534025"/>
            <a:ext cx="108585" cy="133350"/>
          </a:xfrm>
          <a:prstGeom prst="ellipse">
            <a:avLst/>
          </a:prstGeom>
          <a:solidFill>
            <a:srgbClr val="1E40AF">
              <a:alpha val="100000"/>
            </a:srgbClr>
          </a:solidFill>
          <a:ln w="38100">
            <a:solidFill>
              <a:schemeClr val="tx2">
                <a:lumMod val="10000"/>
                <a:lumOff val="90000"/>
                <a:alpha val="100000"/>
              </a:schemeClr>
            </a:solidFill>
            <a:prstDash val="solid"/>
          </a:ln>
        </p:spPr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sz="200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49" name="Text 5"/>
          <p:cNvSpPr>
            <a:spLocks noChangeArrowheads="1"/>
          </p:cNvSpPr>
          <p:nvPr/>
        </p:nvSpPr>
        <p:spPr bwMode="auto">
          <a:xfrm>
            <a:off x="7381875" y="3933190"/>
            <a:ext cx="1141095" cy="2108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9pPr>
          </a:lstStyle>
          <a:p>
            <a:pPr eaLnBrk="1" hangingPunct="1">
              <a:lnSpc>
                <a:spcPts val="1500"/>
              </a:lnSpc>
            </a:pPr>
            <a:r>
              <a:rPr lang="zh-CN" altLang="en-US" sz="1200" b="1">
                <a:solidFill>
                  <a:schemeClr val="bg1"/>
                </a:solidFill>
                <a:latin typeface="微软雅黑" panose="00000500000000000000" charset="-122"/>
                <a:ea typeface="宋体" pitchFamily="2" charset="-122"/>
                <a:cs typeface="微软雅黑"/>
              </a:rPr>
              <a:t>多次修改交易对手</a:t>
            </a:r>
          </a:p>
        </p:txBody>
      </p:sp>
      <p:sp>
        <p:nvSpPr>
          <p:cNvPr id="50" name="椭圆 90"/>
          <p:cNvSpPr>
            <a:spLocks noChangeAspect="1"/>
          </p:cNvSpPr>
          <p:nvPr/>
        </p:nvSpPr>
        <p:spPr>
          <a:xfrm>
            <a:off x="7222490" y="3972560"/>
            <a:ext cx="108585" cy="133350"/>
          </a:xfrm>
          <a:prstGeom prst="ellipse">
            <a:avLst/>
          </a:prstGeom>
          <a:solidFill>
            <a:srgbClr val="1E40AF">
              <a:alpha val="100000"/>
            </a:srgbClr>
          </a:solidFill>
          <a:ln w="38100">
            <a:solidFill>
              <a:schemeClr val="tx2">
                <a:lumMod val="10000"/>
                <a:lumOff val="90000"/>
                <a:alpha val="100000"/>
              </a:schemeClr>
            </a:solidFill>
            <a:prstDash val="solid"/>
          </a:ln>
        </p:spPr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sz="200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51" name="Text 5"/>
          <p:cNvSpPr>
            <a:spLocks noChangeArrowheads="1"/>
          </p:cNvSpPr>
          <p:nvPr/>
        </p:nvSpPr>
        <p:spPr bwMode="auto">
          <a:xfrm>
            <a:off x="7381875" y="4404360"/>
            <a:ext cx="1141095" cy="2108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/>
          <a:lstStyle>
            <a:lvl1pPr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微软雅黑" panose="020B0503020204020204" charset="-122"/>
              </a:defRPr>
            </a:lvl9pPr>
          </a:lstStyle>
          <a:p>
            <a:pPr eaLnBrk="1" hangingPunct="1">
              <a:lnSpc>
                <a:spcPts val="1500"/>
              </a:lnSpc>
            </a:pPr>
            <a:r>
              <a:rPr lang="zh-CN" altLang="en-US" sz="1200" b="1">
                <a:solidFill>
                  <a:schemeClr val="bg1"/>
                </a:solidFill>
                <a:latin typeface="微软雅黑" panose="00000500000000000000" charset="-122"/>
                <a:ea typeface="宋体" pitchFamily="2" charset="-122"/>
                <a:cs typeface="微软雅黑"/>
              </a:rPr>
              <a:t>同券同额反向</a:t>
            </a:r>
          </a:p>
        </p:txBody>
      </p:sp>
      <p:sp>
        <p:nvSpPr>
          <p:cNvPr id="52" name="椭圆 90"/>
          <p:cNvSpPr>
            <a:spLocks noChangeAspect="1"/>
          </p:cNvSpPr>
          <p:nvPr/>
        </p:nvSpPr>
        <p:spPr>
          <a:xfrm>
            <a:off x="7222490" y="4443730"/>
            <a:ext cx="108585" cy="133350"/>
          </a:xfrm>
          <a:prstGeom prst="ellipse">
            <a:avLst/>
          </a:prstGeom>
          <a:solidFill>
            <a:srgbClr val="1E40AF">
              <a:alpha val="100000"/>
            </a:srgbClr>
          </a:solidFill>
          <a:ln w="38100">
            <a:solidFill>
              <a:schemeClr val="tx2">
                <a:lumMod val="10000"/>
                <a:lumOff val="90000"/>
                <a:alpha val="100000"/>
              </a:schemeClr>
            </a:solidFill>
            <a:prstDash val="solid"/>
          </a:ln>
        </p:spPr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sz="2000">
              <a:solidFill>
                <a:schemeClr val="bg1"/>
              </a:solidFill>
              <a:latin typeface="+mn-lt"/>
              <a:ea typeface="+mn-ea"/>
            </a:endParaRPr>
          </a:p>
        </p:txBody>
      </p:sp>
      <p:sp>
        <p:nvSpPr>
          <p:cNvPr id="53" name="矩形 7"/>
          <p:cNvSpPr>
            <a:spLocks noChangeArrowheads="1"/>
          </p:cNvSpPr>
          <p:nvPr/>
        </p:nvSpPr>
        <p:spPr bwMode="auto">
          <a:xfrm>
            <a:off x="8750300" y="1735455"/>
            <a:ext cx="3060700" cy="4659630"/>
          </a:xfrm>
          <a:prstGeom prst="rect">
            <a:avLst/>
          </a:prstGeom>
          <a:solidFill>
            <a:srgbClr val="FBF1F2">
              <a:alpha val="100000"/>
            </a:srgbClr>
          </a:solidFill>
          <a:ln w="25400">
            <a:solidFill>
              <a:schemeClr val="accent1">
                <a:alpha val="0"/>
              </a:schemeClr>
            </a:solidFill>
            <a:miter lim="800000"/>
          </a:ln>
        </p:spPr>
        <p:txBody>
          <a:bodyPr lIns="107950" rIns="107950" anchor="t" anchorCtr="0"/>
          <a:lstStyle/>
          <a:p>
            <a:pPr marL="171450" indent="-171450" algn="l" defTabSz="1216025">
              <a:lnSpc>
                <a:spcPct val="150000"/>
              </a:lnSpc>
              <a:buFont typeface="Arial" panose="020B0704020202020204" pitchFamily="34" charset="0"/>
              <a:buChar char="•"/>
            </a:pPr>
            <a:r>
              <a:rPr lang="zh-CN" sz="1400" b="1" i="0" u="none" strike="noStrike">
                <a:solidFill>
                  <a:srgbClr val="4C5571">
                    <a:alpha val="100000"/>
                  </a:srgbClr>
                </a:solidFill>
                <a:latin typeface="微软雅黑" panose="00000500000000000000" charset="-122"/>
                <a:ea typeface="微软雅黑" panose="00000500000000000000" charset="-122"/>
                <a:cs typeface="华文楷体" panose="02010600040101010101" charset="-122"/>
                <a:sym typeface="宋体" pitchFamily="2" charset="-122"/>
              </a:rPr>
              <a:t>从源头发现异常交易：</a:t>
            </a:r>
            <a:r>
              <a:rPr lang="zh-CN" sz="1200" i="0" u="none" strike="noStrike">
                <a:solidFill>
                  <a:srgbClr val="4C5571">
                    <a:alpha val="100000"/>
                  </a:srgbClr>
                </a:solidFill>
                <a:latin typeface="微软雅黑" panose="00000500000000000000" charset="-122"/>
                <a:ea typeface="微软雅黑" panose="00000500000000000000" charset="-122"/>
                <a:cs typeface="华文楷体" panose="02010600040101010101" charset="-122"/>
                <a:sym typeface="宋体" pitchFamily="2" charset="-122"/>
              </a:rPr>
              <a:t>降低了异常交易出现的可能性，大大减少了监管现场检查发现，处罚的风险。</a:t>
            </a:r>
            <a:endParaRPr lang="zh-CN" sz="1400" b="1" i="0" u="none" strike="noStrike">
              <a:solidFill>
                <a:srgbClr val="4C5571">
                  <a:alpha val="100000"/>
                </a:srgbClr>
              </a:solidFill>
              <a:latin typeface="微软雅黑" panose="00000500000000000000" charset="-122"/>
              <a:ea typeface="微软雅黑" panose="00000500000000000000" charset="-122"/>
              <a:cs typeface="华文楷体" panose="02010600040101010101" charset="-122"/>
              <a:sym typeface="宋体" pitchFamily="2" charset="-122"/>
            </a:endParaRPr>
          </a:p>
          <a:p>
            <a:pPr marL="171450" indent="-171450" algn="l" defTabSz="1216025">
              <a:lnSpc>
                <a:spcPct val="150000"/>
              </a:lnSpc>
              <a:buFont typeface="Arial" panose="020B0704020202020204" pitchFamily="34" charset="0"/>
              <a:buChar char="•"/>
            </a:pPr>
            <a:r>
              <a:rPr lang="zh-CN" sz="1400" b="1" i="0" u="none" strike="noStrike">
                <a:solidFill>
                  <a:srgbClr val="4C5571">
                    <a:alpha val="100000"/>
                  </a:srgbClr>
                </a:solidFill>
                <a:latin typeface="微软雅黑" panose="00000500000000000000" charset="-122"/>
                <a:ea typeface="微软雅黑" panose="00000500000000000000" charset="-122"/>
                <a:cs typeface="华文楷体" panose="02010600040101010101" charset="-122"/>
                <a:sym typeface="宋体" pitchFamily="2" charset="-122"/>
              </a:rPr>
              <a:t>精准全面：</a:t>
            </a:r>
            <a:r>
              <a:rPr lang="zh-CN" sz="1200" b="0" i="0" u="none" strike="noStrike">
                <a:solidFill>
                  <a:srgbClr val="4C5571">
                    <a:alpha val="100000"/>
                  </a:srgbClr>
                </a:solidFill>
                <a:latin typeface="微软雅黑" panose="00000500000000000000" charset="-122"/>
                <a:ea typeface="微软雅黑" panose="00000500000000000000" charset="-122"/>
                <a:cs typeface="华文楷体" panose="02010600040101010101" charset="-122"/>
                <a:sym typeface="宋体" pitchFamily="2" charset="-122"/>
              </a:rPr>
              <a:t>提升异常交易识别的精准度和全面性，减少漏检风险。</a:t>
            </a:r>
          </a:p>
          <a:p>
            <a:pPr marL="171450" indent="-171450" algn="l" defTabSz="1216025">
              <a:lnSpc>
                <a:spcPct val="150000"/>
              </a:lnSpc>
              <a:buFont typeface="Arial" panose="020B0704020202020204" pitchFamily="34" charset="0"/>
              <a:buChar char="•"/>
            </a:pPr>
            <a:r>
              <a:rPr lang="zh-CN" sz="1400" b="1" i="0" u="none" strike="noStrike">
                <a:solidFill>
                  <a:srgbClr val="4C5571">
                    <a:alpha val="100000"/>
                  </a:srgbClr>
                </a:solidFill>
                <a:latin typeface="微软雅黑" panose="00000500000000000000" charset="-122"/>
                <a:ea typeface="微软雅黑" panose="00000500000000000000" charset="-122"/>
                <a:cs typeface="华文楷体" panose="02010600040101010101" charset="-122"/>
                <a:sym typeface="宋体" pitchFamily="2" charset="-122"/>
              </a:rPr>
              <a:t>智能赋能</a:t>
            </a:r>
            <a:r>
              <a:rPr lang="zh-CN" sz="1400" b="0" i="0" u="none" strike="noStrike">
                <a:solidFill>
                  <a:srgbClr val="4C5571">
                    <a:alpha val="100000"/>
                  </a:srgbClr>
                </a:solidFill>
                <a:latin typeface="微软雅黑" panose="00000500000000000000" charset="-122"/>
                <a:ea typeface="微软雅黑" panose="00000500000000000000" charset="-122"/>
                <a:cs typeface="华文楷体" panose="02010600040101010101" charset="-122"/>
                <a:sym typeface="宋体" pitchFamily="2" charset="-122"/>
              </a:rPr>
              <a:t>：</a:t>
            </a:r>
            <a:r>
              <a:rPr lang="zh-CN" sz="1200" b="0" i="0" u="none" strike="noStrike">
                <a:solidFill>
                  <a:srgbClr val="4C5571">
                    <a:alpha val="100000"/>
                  </a:srgbClr>
                </a:solidFill>
                <a:latin typeface="微软雅黑" panose="00000500000000000000" charset="-122"/>
                <a:ea typeface="微软雅黑" panose="00000500000000000000" charset="-122"/>
                <a:cs typeface="华文楷体" panose="02010600040101010101" charset="-122"/>
                <a:sym typeface="宋体" pitchFamily="2" charset="-122"/>
              </a:rPr>
              <a:t>将以往风控，合规人员经验落地，把能力做到系统里，提高系统智能化水平，增强风控体系对复杂交易场景的覆盖能力。</a:t>
            </a:r>
          </a:p>
          <a:p>
            <a:pPr marL="171450" indent="-171450" algn="l" defTabSz="1216025">
              <a:lnSpc>
                <a:spcPct val="150000"/>
              </a:lnSpc>
              <a:buFont typeface="Arial" panose="020B0704020202020204" pitchFamily="34" charset="0"/>
              <a:buChar char="•"/>
            </a:pPr>
            <a:r>
              <a:rPr lang="zh-CN" sz="1400" b="1" i="0" u="none" strike="noStrike">
                <a:solidFill>
                  <a:srgbClr val="4C5571">
                    <a:alpha val="100000"/>
                  </a:srgbClr>
                </a:solidFill>
                <a:latin typeface="微软雅黑" panose="00000500000000000000" charset="-122"/>
                <a:ea typeface="微软雅黑" panose="00000500000000000000" charset="-122"/>
                <a:cs typeface="华文楷体" panose="02010600040101010101" charset="-122"/>
                <a:sym typeface="宋体" pitchFamily="2" charset="-122"/>
              </a:rPr>
              <a:t>快速响应：</a:t>
            </a:r>
            <a:r>
              <a:rPr lang="zh-CN" sz="1200" i="0" u="none" strike="noStrike">
                <a:solidFill>
                  <a:srgbClr val="4C5571">
                    <a:alpha val="100000"/>
                  </a:srgbClr>
                </a:solidFill>
                <a:latin typeface="微软雅黑" panose="00000500000000000000" charset="-122"/>
                <a:ea typeface="微软雅黑" panose="00000500000000000000" charset="-122"/>
                <a:cs typeface="华文楷体" panose="02010600040101010101" charset="-122"/>
                <a:sym typeface="宋体" pitchFamily="2" charset="-122"/>
              </a:rPr>
              <a:t>对新的处罚通报，新的异常交易动向，快速响应，实现风险的动态更新，升级。</a:t>
            </a:r>
          </a:p>
          <a:p>
            <a:pPr marL="171450" indent="-171450" algn="l" defTabSz="1216025">
              <a:lnSpc>
                <a:spcPct val="150000"/>
              </a:lnSpc>
              <a:buFont typeface="Arial" panose="020B0704020202020204" pitchFamily="34" charset="0"/>
              <a:buChar char="•"/>
            </a:pPr>
            <a:r>
              <a:rPr lang="zh-CN" sz="1200" b="1">
                <a:solidFill>
                  <a:srgbClr val="4C5571">
                    <a:alpha val="100000"/>
                  </a:srgbClr>
                </a:solidFill>
                <a:latin typeface="微软雅黑" panose="00000500000000000000" charset="-122"/>
                <a:cs typeface="华文楷体" panose="02010600040101010101" charset="-122"/>
                <a:sym typeface="宋体" pitchFamily="2" charset="-122"/>
              </a:rPr>
              <a:t>新业务的支持：</a:t>
            </a:r>
            <a:r>
              <a:rPr lang="zh-CN" sz="1200">
                <a:solidFill>
                  <a:srgbClr val="4C5571">
                    <a:alpha val="100000"/>
                  </a:srgbClr>
                </a:solidFill>
                <a:latin typeface="微软雅黑" panose="00000500000000000000" charset="-122"/>
                <a:cs typeface="华文楷体" panose="02010600040101010101" charset="-122"/>
                <a:sym typeface="宋体" pitchFamily="2" charset="-122"/>
              </a:rPr>
              <a:t>对新的业务开展，系统能智能地分析监管规则，可能的合规分析，并生成报告，供新业务过会提供有力支持。</a:t>
            </a:r>
            <a:endParaRPr lang="zh-CN" sz="1200" i="0" u="none" strike="noStrike">
              <a:solidFill>
                <a:srgbClr val="4C5571">
                  <a:alpha val="100000"/>
                </a:srgbClr>
              </a:solidFill>
              <a:latin typeface="微软雅黑" panose="00000500000000000000" charset="-122"/>
              <a:ea typeface="微软雅黑" panose="00000500000000000000" charset="-122"/>
              <a:cs typeface="华文楷体" panose="02010600040101010101" charset="-122"/>
              <a:sym typeface="宋体" pitchFamily="2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8750300" y="1228725"/>
            <a:ext cx="3505188" cy="337185"/>
          </a:xfrm>
          <a:prstGeom prst="rect">
            <a:avLst/>
          </a:prstGeom>
          <a:ln w="12700">
            <a:prstDash val="solid"/>
            <a:miter lim="800000"/>
          </a:ln>
        </p:spPr>
        <p:txBody>
          <a:bodyPr>
            <a:spAutoFit/>
          </a:bodyPr>
          <a:lstStyle/>
          <a:p>
            <a:r>
              <a:rPr lang="zh-CN" altLang="en-US" sz="1600" b="1">
                <a:solidFill>
                  <a:schemeClr val="bg1">
                    <a:alpha val="100000"/>
                  </a:schemeClr>
                </a:solidFill>
                <a:latin typeface="微软雅黑" panose="00000500000000000000" charset="-122"/>
                <a:ea typeface="微软雅黑" panose="00000500000000000000" charset="-122"/>
                <a:cs typeface="+mn-cs"/>
              </a:rPr>
              <a:t>核心价值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线连接符 1"/>
          <p:cNvCxnSpPr/>
          <p:nvPr/>
        </p:nvCxnSpPr>
        <p:spPr>
          <a:xfrm>
            <a:off x="465823" y="344764"/>
            <a:ext cx="0" cy="442042"/>
          </a:xfrm>
          <a:prstGeom prst="line">
            <a:avLst/>
          </a:prstGeom>
          <a:ln w="76200">
            <a:gradFill>
              <a:gsLst>
                <a:gs pos="0">
                  <a:srgbClr val="F54D61"/>
                </a:gs>
                <a:gs pos="100000">
                  <a:srgbClr val="FF0002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/>
          <p:cNvSpPr txBox="1"/>
          <p:nvPr/>
        </p:nvSpPr>
        <p:spPr>
          <a:xfrm>
            <a:off x="572770" y="344805"/>
            <a:ext cx="993902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华锐</a:t>
            </a:r>
            <a:r>
              <a:rPr lang="en-US" altLang="zh-CN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FICC</a:t>
            </a:r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系统建设规划</a:t>
            </a:r>
            <a:r>
              <a:rPr lang="en-US" altLang="zh-CN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——</a:t>
            </a:r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运营管理</a:t>
            </a:r>
            <a:r>
              <a:rPr lang="en-US" altLang="zh-CN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-</a:t>
            </a:r>
            <a:r>
              <a:rPr lang="zh-CN" altLang="en-US" sz="2400" b="1" dirty="0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lt"/>
              </a:rPr>
              <a:t>端到端事前风控</a:t>
            </a:r>
          </a:p>
        </p:txBody>
      </p:sp>
      <p:sp>
        <p:nvSpPr>
          <p:cNvPr id="4" name="六边形 3"/>
          <p:cNvSpPr/>
          <p:nvPr/>
        </p:nvSpPr>
        <p:spPr bwMode="auto">
          <a:xfrm>
            <a:off x="741045" y="1101725"/>
            <a:ext cx="1633855" cy="271145"/>
          </a:xfrm>
          <a:prstGeom prst="hexagon">
            <a:avLst/>
          </a:prstGeom>
          <a:solidFill>
            <a:schemeClr val="accent1">
              <a:lumMod val="60000"/>
              <a:lumOff val="40000"/>
            </a:schemeClr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36195" tIns="45720" rIns="36195" bIns="45720" numCol="1" spcCol="0" rtlCol="0" fromWordArt="0" anchor="ctr" anchorCtr="0" forceAA="0" compatLnSpc="1">
            <a:noAutofit/>
          </a:bodyPr>
          <a:lstStyle>
            <a:defPPr>
              <a:defRPr lang="zh-CN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buClrTx/>
              <a:buSzTx/>
              <a:buFontTx/>
            </a:pPr>
            <a:r>
              <a:rPr lang="zh-CN" altLang="en-US" sz="1400" b="1" dirty="0">
                <a:latin typeface="微软雅黑" panose="00000500000000000000" charset="-122"/>
                <a:ea typeface="微软雅黑" panose="00000500000000000000" charset="-122"/>
                <a:sym typeface="微软雅黑" panose="00000500000000000000" charset="-122"/>
              </a:rPr>
              <a:t>核心功能</a:t>
            </a:r>
          </a:p>
        </p:txBody>
      </p:sp>
      <p:grpSp>
        <p:nvGrpSpPr>
          <p:cNvPr id="30" name="组合 29"/>
          <p:cNvGrpSpPr/>
          <p:nvPr/>
        </p:nvGrpSpPr>
        <p:grpSpPr>
          <a:xfrm>
            <a:off x="673735" y="4162425"/>
            <a:ext cx="4795520" cy="2287905"/>
            <a:chOff x="9476578" y="1510002"/>
            <a:chExt cx="4795531" cy="1734311"/>
          </a:xfrm>
        </p:grpSpPr>
        <p:sp>
          <p:nvSpPr>
            <p:cNvPr id="31" name="矩形 7"/>
            <p:cNvSpPr>
              <a:spLocks noChangeArrowheads="1"/>
            </p:cNvSpPr>
            <p:nvPr/>
          </p:nvSpPr>
          <p:spPr bwMode="auto">
            <a:xfrm>
              <a:off x="9476578" y="1768007"/>
              <a:ext cx="4795531" cy="1476306"/>
            </a:xfrm>
            <a:prstGeom prst="rect">
              <a:avLst/>
            </a:prstGeom>
            <a:solidFill>
              <a:srgbClr val="FBF1F2">
                <a:alpha val="100000"/>
              </a:srgbClr>
            </a:solidFill>
            <a:ln w="25400">
              <a:solidFill>
                <a:srgbClr val="000000">
                  <a:alpha val="0"/>
                </a:srgbClr>
              </a:solidFill>
              <a:miter lim="800000"/>
            </a:ln>
          </p:spPr>
          <p:txBody>
            <a:bodyPr lIns="107950" rIns="107950" anchor="ctr"/>
            <a:lstStyle/>
            <a:p>
              <a:pPr marL="171450" indent="-171450" algn="l" defTabSz="1216025">
                <a:lnSpc>
                  <a:spcPct val="150000"/>
                </a:lnSpc>
                <a:buFont typeface="Arial" panose="020B0704020202020204" pitchFamily="34" charset="0"/>
                <a:buChar char="•"/>
              </a:pPr>
              <a:r>
                <a:rPr lang="zh-CN" sz="1400" b="1" i="0" u="none" strike="noStrike">
                  <a:solidFill>
                    <a:srgbClr val="4C5571">
                      <a:alpha val="100000"/>
                    </a:srgbClr>
                  </a:solidFill>
                  <a:latin typeface="微软雅黑" panose="00000500000000000000" charset="-122"/>
                  <a:ea typeface="微软雅黑" panose="00000500000000000000" charset="-122"/>
                  <a:cs typeface="华文楷体" panose="02010600040101010101" charset="-122"/>
                  <a:sym typeface="宋体" pitchFamily="2" charset="-122"/>
                </a:rPr>
                <a:t>事前预防：</a:t>
              </a:r>
              <a:r>
                <a:rPr lang="zh-CN" sz="1200" i="0" u="none" strike="noStrike">
                  <a:solidFill>
                    <a:srgbClr val="4C5571">
                      <a:alpha val="100000"/>
                    </a:srgbClr>
                  </a:solidFill>
                  <a:latin typeface="微软雅黑" panose="00000500000000000000" charset="-122"/>
                  <a:ea typeface="微软雅黑" panose="00000500000000000000" charset="-122"/>
                  <a:cs typeface="华文楷体" panose="02010600040101010101" charset="-122"/>
                  <a:sym typeface="宋体" pitchFamily="2" charset="-122"/>
                </a:rPr>
                <a:t>实现了风控从“事后纠偏”向“事前拦截”的模式转变，有效降低合规风险与操作风险</a:t>
              </a:r>
              <a:r>
                <a:rPr lang="en-US" altLang="zh-CN" sz="1200" i="0" u="none" strike="noStrike">
                  <a:solidFill>
                    <a:srgbClr val="4C5571">
                      <a:alpha val="100000"/>
                    </a:srgbClr>
                  </a:solidFill>
                  <a:latin typeface="微软雅黑" panose="00000500000000000000" charset="-122"/>
                  <a:ea typeface="微软雅黑" panose="00000500000000000000" charset="-122"/>
                  <a:cs typeface="华文楷体" panose="02010600040101010101" charset="-122"/>
                  <a:sym typeface="宋体" pitchFamily="2" charset="-122"/>
                </a:rPr>
                <a:t>.</a:t>
              </a:r>
              <a:endParaRPr lang="zh-CN" sz="1200" i="0" u="none" strike="noStrike">
                <a:solidFill>
                  <a:srgbClr val="4C5571">
                    <a:alpha val="100000"/>
                  </a:srgbClr>
                </a:solidFill>
                <a:latin typeface="微软雅黑" panose="00000500000000000000" charset="-122"/>
                <a:ea typeface="微软雅黑" panose="00000500000000000000" charset="-122"/>
                <a:cs typeface="华文楷体" panose="02010600040101010101" charset="-122"/>
                <a:sym typeface="宋体" pitchFamily="2" charset="-122"/>
              </a:endParaRPr>
            </a:p>
            <a:p>
              <a:pPr marL="171450" indent="-171450" algn="l" defTabSz="1216025">
                <a:lnSpc>
                  <a:spcPct val="150000"/>
                </a:lnSpc>
                <a:buFont typeface="Arial" panose="020B0704020202020204" pitchFamily="34" charset="0"/>
                <a:buChar char="•"/>
              </a:pPr>
              <a:r>
                <a:rPr lang="zh-CN" sz="1400" b="1" i="0" u="none" strike="noStrike">
                  <a:solidFill>
                    <a:srgbClr val="4C5571">
                      <a:alpha val="100000"/>
                    </a:srgbClr>
                  </a:solidFill>
                  <a:latin typeface="微软雅黑" panose="00000500000000000000" charset="-122"/>
                  <a:ea typeface="微软雅黑" panose="00000500000000000000" charset="-122"/>
                  <a:cs typeface="华文楷体" panose="02010600040101010101" charset="-122"/>
                  <a:sym typeface="宋体" pitchFamily="2" charset="-122"/>
                </a:rPr>
                <a:t>强化合规意识：</a:t>
              </a:r>
              <a:r>
                <a:rPr lang="zh-CN" sz="1200" i="0" u="none" strike="noStrike">
                  <a:solidFill>
                    <a:srgbClr val="4C5571">
                      <a:alpha val="100000"/>
                    </a:srgbClr>
                  </a:solidFill>
                  <a:latin typeface="微软雅黑" panose="00000500000000000000" charset="-122"/>
                  <a:ea typeface="微软雅黑" panose="00000500000000000000" charset="-122"/>
                  <a:cs typeface="华文楷体" panose="02010600040101010101" charset="-122"/>
                  <a:sym typeface="宋体" pitchFamily="2" charset="-122"/>
                </a:rPr>
                <a:t>在源头强化用户在交易录入环节的合规意识，不断加强责任留痕与过程可追溯性。</a:t>
              </a:r>
            </a:p>
            <a:p>
              <a:pPr marL="171450" indent="-171450" algn="l" defTabSz="1216025">
                <a:lnSpc>
                  <a:spcPct val="150000"/>
                </a:lnSpc>
                <a:buFont typeface="Arial" panose="020B0704020202020204" pitchFamily="34" charset="0"/>
                <a:buChar char="•"/>
              </a:pPr>
              <a:r>
                <a:rPr lang="zh-CN" sz="1400" b="1">
                  <a:solidFill>
                    <a:srgbClr val="4C5571">
                      <a:alpha val="100000"/>
                    </a:srgbClr>
                  </a:solidFill>
                  <a:latin typeface="微软雅黑" panose="00000500000000000000" charset="-122"/>
                  <a:cs typeface="华文楷体" panose="02010600040101010101" charset="-122"/>
                  <a:sym typeface="宋体" pitchFamily="2" charset="-122"/>
                </a:rPr>
                <a:t>提高交易效率</a:t>
              </a:r>
              <a:r>
                <a:rPr lang="zh-CN" sz="1200" b="1">
                  <a:solidFill>
                    <a:srgbClr val="4C5571">
                      <a:alpha val="100000"/>
                    </a:srgbClr>
                  </a:solidFill>
                  <a:latin typeface="微软雅黑" panose="00000500000000000000" charset="-122"/>
                  <a:cs typeface="华文楷体" panose="02010600040101010101" charset="-122"/>
                  <a:sym typeface="宋体" pitchFamily="2" charset="-122"/>
                </a:rPr>
                <a:t>：</a:t>
              </a:r>
              <a:r>
                <a:rPr lang="zh-CN" sz="1200">
                  <a:solidFill>
                    <a:srgbClr val="4C5571">
                      <a:alpha val="100000"/>
                    </a:srgbClr>
                  </a:solidFill>
                  <a:latin typeface="微软雅黑" panose="00000500000000000000" charset="-122"/>
                  <a:cs typeface="华文楷体" panose="02010600040101010101" charset="-122"/>
                  <a:sym typeface="宋体" pitchFamily="2" charset="-122"/>
                </a:rPr>
                <a:t>交易员，特别是新交易员能更加积极主动去交易，通过系统来辅助交易员把握各种交易合规要求。</a:t>
              </a:r>
              <a:endParaRPr lang="zh-CN" sz="1200" i="0" u="none" strike="noStrike">
                <a:solidFill>
                  <a:srgbClr val="4C5571">
                    <a:alpha val="100000"/>
                  </a:srgbClr>
                </a:solidFill>
                <a:latin typeface="微软雅黑" panose="00000500000000000000" charset="-122"/>
                <a:ea typeface="微软雅黑" panose="00000500000000000000" charset="-122"/>
                <a:cs typeface="华文楷体" panose="02010600040101010101" charset="-122"/>
                <a:sym typeface="宋体" pitchFamily="2" charset="-122"/>
              </a:endParaRP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9476578" y="1510002"/>
              <a:ext cx="3505197" cy="232493"/>
            </a:xfrm>
            <a:prstGeom prst="rect">
              <a:avLst/>
            </a:prstGeom>
            <a:ln w="12700">
              <a:prstDash val="solid"/>
              <a:miter lim="800000"/>
            </a:ln>
          </p:spPr>
          <p:txBody>
            <a:bodyPr>
              <a:spAutoFit/>
            </a:bodyPr>
            <a:lstStyle/>
            <a:p>
              <a:r>
                <a:rPr lang="zh-CN" sz="1400" b="1">
                  <a:solidFill>
                    <a:schemeClr val="bg1">
                      <a:alpha val="100000"/>
                    </a:schemeClr>
                  </a:solidFill>
                  <a:latin typeface="微软雅黑" panose="00000500000000000000" charset="-122"/>
                  <a:ea typeface="微软雅黑" panose="00000500000000000000" charset="-122"/>
                  <a:cs typeface="+mn-cs"/>
                </a:rPr>
                <a:t>价值意义</a:t>
              </a:r>
            </a:p>
          </p:txBody>
        </p:sp>
      </p:grpSp>
      <p:grpSp>
        <p:nvGrpSpPr>
          <p:cNvPr id="5" name="组合 4"/>
          <p:cNvGrpSpPr/>
          <p:nvPr/>
        </p:nvGrpSpPr>
        <p:grpSpPr>
          <a:xfrm>
            <a:off x="681355" y="1670685"/>
            <a:ext cx="4832350" cy="692150"/>
            <a:chOff x="828" y="3839"/>
            <a:chExt cx="7610" cy="1090"/>
          </a:xfrm>
        </p:grpSpPr>
        <p:sp>
          <p:nvSpPr>
            <p:cNvPr id="6" name="圆角矩形 55"/>
            <p:cNvSpPr/>
            <p:nvPr/>
          </p:nvSpPr>
          <p:spPr>
            <a:xfrm>
              <a:off x="828" y="3839"/>
              <a:ext cx="7610" cy="1090"/>
            </a:xfrm>
            <a:prstGeom prst="roundRect">
              <a:avLst>
                <a:gd name="adj" fmla="val 8615"/>
              </a:avLst>
            </a:prstGeom>
            <a:solidFill>
              <a:srgbClr val="F3F4F7">
                <a:alpha val="100000"/>
              </a:srgbClr>
            </a:solidFill>
            <a:ln w="12700" cap="flat" cmpd="sng">
              <a:noFill/>
              <a:prstDash val="solid"/>
              <a:miter lim="800000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sz="1800">
                <a:solidFill>
                  <a:schemeClr val="accent5">
                    <a:lumMod val="20000"/>
                    <a:lumOff val="80000"/>
                    <a:alpha val="100000"/>
                  </a:schemeClr>
                </a:solidFill>
                <a:latin typeface="微软雅黑" panose="00000500000000000000" charset="-122"/>
                <a:ea typeface="微软雅黑" panose="00000500000000000000" charset="-122"/>
              </a:endParaRPr>
            </a:p>
          </p:txBody>
        </p:sp>
        <p:sp>
          <p:nvSpPr>
            <p:cNvPr id="7" name="文本框 25"/>
            <p:cNvSpPr txBox="1"/>
            <p:nvPr/>
          </p:nvSpPr>
          <p:spPr>
            <a:xfrm>
              <a:off x="2393" y="4004"/>
              <a:ext cx="6045" cy="84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 anchorCtr="0">
              <a:spAutoFit/>
            </a:bodyPr>
            <a:lstStyle/>
            <a:p>
              <a:pPr indent="0" algn="just" defTabSz="91440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Arial" panose="020B0704020202020204" pitchFamily="34" charset="0"/>
                <a:buNone/>
              </a:pPr>
              <a:r>
                <a:rPr lang="zh-CN" sz="1200" b="1">
                  <a:solidFill>
                    <a:schemeClr val="tx1">
                      <a:alpha val="100000"/>
                    </a:schemeClr>
                  </a:solidFill>
                  <a:latin typeface="微软雅黑" panose="00000500000000000000" charset="-122"/>
                  <a:ea typeface="微软雅黑" panose="00000500000000000000" charset="-122"/>
                </a:rPr>
                <a:t>逻辑配置</a:t>
              </a:r>
              <a:r>
                <a:rPr lang="zh-CN" sz="1200">
                  <a:solidFill>
                    <a:schemeClr val="tx1">
                      <a:alpha val="100000"/>
                    </a:schemeClr>
                  </a:solidFill>
                  <a:latin typeface="微软雅黑" panose="00000500000000000000" charset="-122"/>
                  <a:ea typeface="微软雅黑" panose="00000500000000000000" charset="-122"/>
                </a:rPr>
                <a:t>：支持基于风控规则，由</a:t>
              </a:r>
              <a:r>
                <a:rPr lang="zh-CN" sz="1200" b="1">
                  <a:solidFill>
                    <a:schemeClr val="tx1">
                      <a:alpha val="100000"/>
                    </a:schemeClr>
                  </a:solidFill>
                  <a:latin typeface="微软雅黑" panose="00000500000000000000" charset="-122"/>
                  <a:ea typeface="微软雅黑" panose="00000500000000000000" charset="-122"/>
                </a:rPr>
                <a:t>风控人员</a:t>
              </a:r>
              <a:r>
                <a:rPr lang="zh-CN" sz="1200">
                  <a:solidFill>
                    <a:schemeClr val="tx1">
                      <a:alpha val="100000"/>
                    </a:schemeClr>
                  </a:solidFill>
                  <a:latin typeface="微软雅黑" panose="00000500000000000000" charset="-122"/>
                  <a:ea typeface="微软雅黑" panose="00000500000000000000" charset="-122"/>
                </a:rPr>
                <a:t>在页面配事前风控条款，并支持按需调整。</a:t>
              </a:r>
            </a:p>
          </p:txBody>
        </p:sp>
        <p:sp>
          <p:nvSpPr>
            <p:cNvPr id="8" name="圆角矩形 247"/>
            <p:cNvSpPr/>
            <p:nvPr/>
          </p:nvSpPr>
          <p:spPr>
            <a:xfrm>
              <a:off x="980" y="4005"/>
              <a:ext cx="1343" cy="787"/>
            </a:xfrm>
            <a:prstGeom prst="roundRect">
              <a:avLst>
                <a:gd name="adj" fmla="val 50000"/>
              </a:avLst>
            </a:prstGeom>
            <a:solidFill>
              <a:srgbClr val="0070C0"/>
            </a:solidFill>
          </p:spPr>
          <p:style>
            <a:lnRef idx="0">
              <a:srgbClr val="FFFFFF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vertOverflow="overflow" horzOverflow="overflow" vert="horz" wrap="square" lIns="36000" rIns="36000" numCol="1" spcCol="0" rtlCol="0" fromWordArt="0" anchor="ctr" anchorCtr="0" forceAA="0" compatLnSpc="1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>
                <a:buClrTx/>
                <a:buSzTx/>
                <a:buFontTx/>
              </a:pPr>
              <a:r>
                <a:rPr lang="zh-CN" sz="1200" b="1" dirty="0">
                  <a:solidFill>
                    <a:schemeClr val="bg1"/>
                  </a:solidFill>
                  <a:latin typeface="微软雅黑" panose="00000500000000000000" charset="-122"/>
                  <a:ea typeface="微软雅黑" panose="00000500000000000000" charset="-122"/>
                  <a:sym typeface="+mn-ea"/>
                </a:rPr>
                <a:t>风控端</a:t>
              </a:r>
            </a:p>
          </p:txBody>
        </p:sp>
      </p:grpSp>
      <p:grpSp>
        <p:nvGrpSpPr>
          <p:cNvPr id="9" name="组合 8"/>
          <p:cNvGrpSpPr/>
          <p:nvPr/>
        </p:nvGrpSpPr>
        <p:grpSpPr>
          <a:xfrm>
            <a:off x="681355" y="2407285"/>
            <a:ext cx="4832350" cy="885190"/>
            <a:chOff x="828" y="3839"/>
            <a:chExt cx="7610" cy="1394"/>
          </a:xfrm>
        </p:grpSpPr>
        <p:sp>
          <p:nvSpPr>
            <p:cNvPr id="10" name="圆角矩形 55"/>
            <p:cNvSpPr/>
            <p:nvPr/>
          </p:nvSpPr>
          <p:spPr>
            <a:xfrm>
              <a:off x="828" y="3839"/>
              <a:ext cx="7610" cy="1090"/>
            </a:xfrm>
            <a:prstGeom prst="roundRect">
              <a:avLst>
                <a:gd name="adj" fmla="val 8615"/>
              </a:avLst>
            </a:prstGeom>
            <a:solidFill>
              <a:srgbClr val="F3F4F7">
                <a:alpha val="100000"/>
              </a:srgbClr>
            </a:solidFill>
            <a:ln w="12700" cap="flat" cmpd="sng">
              <a:noFill/>
              <a:prstDash val="solid"/>
              <a:miter lim="800000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sz="1800">
                <a:solidFill>
                  <a:schemeClr val="accent5">
                    <a:lumMod val="20000"/>
                    <a:lumOff val="80000"/>
                    <a:alpha val="100000"/>
                  </a:schemeClr>
                </a:solidFill>
                <a:latin typeface="微软雅黑" panose="00000500000000000000" charset="-122"/>
                <a:ea typeface="微软雅黑" panose="00000500000000000000" charset="-122"/>
              </a:endParaRPr>
            </a:p>
          </p:txBody>
        </p:sp>
        <p:sp>
          <p:nvSpPr>
            <p:cNvPr id="11" name="文本框 25"/>
            <p:cNvSpPr txBox="1"/>
            <p:nvPr/>
          </p:nvSpPr>
          <p:spPr>
            <a:xfrm>
              <a:off x="2323" y="3839"/>
              <a:ext cx="6114" cy="1394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 anchorCtr="0">
              <a:noAutofit/>
            </a:bodyPr>
            <a:lstStyle/>
            <a:p>
              <a:pPr indent="0" algn="just" defTabSz="91440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Arial" panose="020B0704020202020204" pitchFamily="34" charset="0"/>
                <a:buNone/>
              </a:pPr>
              <a:r>
                <a:rPr lang="zh-CN" sz="1200" b="1">
                  <a:solidFill>
                    <a:schemeClr val="tx1">
                      <a:alpha val="100000"/>
                    </a:schemeClr>
                  </a:solidFill>
                  <a:latin typeface="微软雅黑" panose="00000500000000000000" charset="-122"/>
                  <a:ea typeface="微软雅黑" panose="00000500000000000000" charset="-122"/>
                </a:rPr>
                <a:t>识别异常</a:t>
              </a:r>
              <a:r>
                <a:rPr lang="zh-CN" sz="1200">
                  <a:solidFill>
                    <a:schemeClr val="tx1">
                      <a:alpha val="100000"/>
                    </a:schemeClr>
                  </a:solidFill>
                  <a:latin typeface="微软雅黑" panose="00000500000000000000" charset="-122"/>
                  <a:ea typeface="微软雅黑" panose="00000500000000000000" charset="-122"/>
                </a:rPr>
                <a:t>：触发异常条款后，交易界面即时弹出提示，用户需完成异常报备信息填写后方可提交，确保流程合规。</a:t>
              </a:r>
            </a:p>
          </p:txBody>
        </p:sp>
        <p:sp>
          <p:nvSpPr>
            <p:cNvPr id="12" name="圆角矩形 247"/>
            <p:cNvSpPr/>
            <p:nvPr/>
          </p:nvSpPr>
          <p:spPr>
            <a:xfrm>
              <a:off x="980" y="4005"/>
              <a:ext cx="1343" cy="787"/>
            </a:xfrm>
            <a:prstGeom prst="roundRect">
              <a:avLst>
                <a:gd name="adj" fmla="val 50000"/>
              </a:avLst>
            </a:prstGeom>
            <a:solidFill>
              <a:srgbClr val="0070C0"/>
            </a:solidFill>
          </p:spPr>
          <p:style>
            <a:lnRef idx="0">
              <a:srgbClr val="FFFFFF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vertOverflow="overflow" horzOverflow="overflow" vert="horz" wrap="square" lIns="36000" rIns="36000" numCol="1" spcCol="0" rtlCol="0" fromWordArt="0" anchor="ctr" anchorCtr="0" forceAA="0" compatLnSpc="1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>
                <a:buClrTx/>
                <a:buSzTx/>
                <a:buFontTx/>
              </a:pPr>
              <a:r>
                <a:rPr lang="zh-CN" altLang="en-US" sz="1200" b="1" dirty="0">
                  <a:solidFill>
                    <a:schemeClr val="bg1"/>
                  </a:solidFill>
                  <a:latin typeface="微软雅黑" panose="00000500000000000000" charset="-122"/>
                  <a:ea typeface="微软雅黑" panose="00000500000000000000" charset="-122"/>
                  <a:sym typeface="+mn-ea"/>
                </a:rPr>
                <a:t>用户端</a:t>
              </a:r>
            </a:p>
          </p:txBody>
        </p:sp>
      </p:grpSp>
      <p:grpSp>
        <p:nvGrpSpPr>
          <p:cNvPr id="15" name="组合 14"/>
          <p:cNvGrpSpPr/>
          <p:nvPr/>
        </p:nvGrpSpPr>
        <p:grpSpPr>
          <a:xfrm>
            <a:off x="680720" y="3148965"/>
            <a:ext cx="4832350" cy="692150"/>
            <a:chOff x="828" y="3839"/>
            <a:chExt cx="7610" cy="1090"/>
          </a:xfrm>
        </p:grpSpPr>
        <p:sp>
          <p:nvSpPr>
            <p:cNvPr id="17" name="圆角矩形 55"/>
            <p:cNvSpPr/>
            <p:nvPr/>
          </p:nvSpPr>
          <p:spPr>
            <a:xfrm>
              <a:off x="828" y="3839"/>
              <a:ext cx="7610" cy="1090"/>
            </a:xfrm>
            <a:prstGeom prst="roundRect">
              <a:avLst>
                <a:gd name="adj" fmla="val 8615"/>
              </a:avLst>
            </a:prstGeom>
            <a:solidFill>
              <a:srgbClr val="F3F4F7">
                <a:alpha val="100000"/>
              </a:srgbClr>
            </a:solidFill>
            <a:ln w="12700" cap="flat" cmpd="sng">
              <a:noFill/>
              <a:prstDash val="solid"/>
              <a:miter lim="800000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sz="1800">
                <a:solidFill>
                  <a:schemeClr val="accent5">
                    <a:lumMod val="20000"/>
                    <a:lumOff val="80000"/>
                    <a:alpha val="100000"/>
                  </a:schemeClr>
                </a:solidFill>
                <a:latin typeface="微软雅黑" panose="00000500000000000000" charset="-122"/>
                <a:ea typeface="微软雅黑" panose="00000500000000000000" charset="-122"/>
              </a:endParaRPr>
            </a:p>
          </p:txBody>
        </p:sp>
        <p:sp>
          <p:nvSpPr>
            <p:cNvPr id="18" name="文本框 25"/>
            <p:cNvSpPr txBox="1"/>
            <p:nvPr/>
          </p:nvSpPr>
          <p:spPr>
            <a:xfrm>
              <a:off x="2323" y="3997"/>
              <a:ext cx="6045" cy="887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 anchorCtr="0">
              <a:noAutofit/>
            </a:bodyPr>
            <a:lstStyle/>
            <a:p>
              <a:pPr indent="0" algn="just" defTabSz="91440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Font typeface="Arial" panose="020B0704020202020204" pitchFamily="34" charset="0"/>
                <a:buNone/>
              </a:pPr>
              <a:r>
                <a:rPr lang="zh-CN" sz="1200" b="1">
                  <a:solidFill>
                    <a:schemeClr val="tx1">
                      <a:alpha val="100000"/>
                    </a:schemeClr>
                  </a:solidFill>
                  <a:latin typeface="微软雅黑" panose="00000500000000000000" charset="-122"/>
                  <a:ea typeface="微软雅黑" panose="00000500000000000000" charset="-122"/>
                </a:rPr>
                <a:t>异常统计</a:t>
              </a:r>
              <a:r>
                <a:rPr lang="zh-CN" sz="1200">
                  <a:solidFill>
                    <a:schemeClr val="tx1">
                      <a:alpha val="100000"/>
                    </a:schemeClr>
                  </a:solidFill>
                  <a:latin typeface="微软雅黑" panose="00000500000000000000" charset="-122"/>
                  <a:ea typeface="微软雅黑" panose="00000500000000000000" charset="-122"/>
                </a:rPr>
                <a:t>：实时查看日内异常触发记录及处理情况，全面掌握团队执行进度与风控落实效果。</a:t>
              </a:r>
            </a:p>
          </p:txBody>
        </p:sp>
        <p:sp>
          <p:nvSpPr>
            <p:cNvPr id="20" name="圆角矩形 247"/>
            <p:cNvSpPr/>
            <p:nvPr/>
          </p:nvSpPr>
          <p:spPr>
            <a:xfrm>
              <a:off x="980" y="4005"/>
              <a:ext cx="1343" cy="787"/>
            </a:xfrm>
            <a:prstGeom prst="roundRect">
              <a:avLst>
                <a:gd name="adj" fmla="val 50000"/>
              </a:avLst>
            </a:prstGeom>
            <a:solidFill>
              <a:srgbClr val="0070C0"/>
            </a:solidFill>
          </p:spPr>
          <p:style>
            <a:lnRef idx="0">
              <a:srgbClr val="FFFFFF"/>
            </a:lnRef>
            <a:fillRef idx="1">
              <a:schemeClr val="accent5"/>
            </a:fillRef>
            <a:effectRef idx="1">
              <a:schemeClr val="accent5"/>
            </a:effectRef>
            <a:fontRef idx="minor">
              <a:schemeClr val="lt1"/>
            </a:fontRef>
          </p:style>
          <p:txBody>
            <a:bodyPr vertOverflow="overflow" horzOverflow="overflow" vert="horz" wrap="square" lIns="36000" rIns="36000" numCol="1" spcCol="0" rtlCol="0" fromWordArt="0" anchor="ctr" anchorCtr="0" forceAA="0" compatLnSpc="1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>
                <a:buClrTx/>
                <a:buSzTx/>
                <a:buFontTx/>
              </a:pPr>
              <a:r>
                <a:rPr lang="zh-CN" sz="1200" b="1" dirty="0">
                  <a:solidFill>
                    <a:schemeClr val="bg1"/>
                  </a:solidFill>
                  <a:latin typeface="微软雅黑" panose="00000500000000000000" charset="-122"/>
                  <a:ea typeface="微软雅黑" panose="00000500000000000000" charset="-122"/>
                  <a:sym typeface="+mn-ea"/>
                </a:rPr>
                <a:t>管理端</a:t>
              </a:r>
            </a:p>
          </p:txBody>
        </p:sp>
      </p:grpSp>
      <p:grpSp>
        <p:nvGrpSpPr>
          <p:cNvPr id="22" name="组合 21"/>
          <p:cNvGrpSpPr/>
          <p:nvPr/>
        </p:nvGrpSpPr>
        <p:grpSpPr>
          <a:xfrm>
            <a:off x="6090920" y="1299210"/>
            <a:ext cx="5709285" cy="4719955"/>
            <a:chOff x="9592" y="2046"/>
            <a:chExt cx="8991" cy="7433"/>
          </a:xfrm>
        </p:grpSpPr>
        <p:sp>
          <p:nvSpPr>
            <p:cNvPr id="13" name="圆角矩形 21"/>
            <p:cNvSpPr/>
            <p:nvPr/>
          </p:nvSpPr>
          <p:spPr>
            <a:xfrm>
              <a:off x="10497" y="2046"/>
              <a:ext cx="1559" cy="313"/>
            </a:xfrm>
            <a:prstGeom prst="roundRect">
              <a:avLst>
                <a:gd name="adj" fmla="val 8731"/>
              </a:avLst>
            </a:prstGeom>
            <a:solidFill>
              <a:schemeClr val="accent1">
                <a:lumMod val="75000"/>
              </a:schemeClr>
            </a:solidFill>
            <a:ln>
              <a:solidFill>
                <a:srgbClr val="00377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400">
                  <a:solidFill>
                    <a:schemeClr val="bg1"/>
                  </a:solidFill>
                  <a:latin typeface="微软雅黑" panose="00000500000000000000" charset="-122"/>
                  <a:sym typeface="+mn-ea"/>
                </a:rPr>
                <a:t>交易对手</a:t>
              </a:r>
            </a:p>
          </p:txBody>
        </p:sp>
        <p:sp>
          <p:nvSpPr>
            <p:cNvPr id="14" name="圆角矩形 31"/>
            <p:cNvSpPr/>
            <p:nvPr/>
          </p:nvSpPr>
          <p:spPr>
            <a:xfrm>
              <a:off x="15055" y="2805"/>
              <a:ext cx="3529" cy="1596"/>
            </a:xfrm>
            <a:prstGeom prst="roundRect">
              <a:avLst>
                <a:gd name="adj" fmla="val 8731"/>
              </a:avLst>
            </a:prstGeom>
            <a:solidFill>
              <a:schemeClr val="accent1">
                <a:lumMod val="75000"/>
              </a:schemeClr>
            </a:solidFill>
            <a:ln>
              <a:solidFill>
                <a:srgbClr val="00377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t" anchorCtr="0"/>
            <a:lstStyle/>
            <a:p>
              <a:pPr algn="l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CN" sz="1200">
                  <a:solidFill>
                    <a:schemeClr val="bg1"/>
                  </a:solidFill>
                  <a:latin typeface="微软雅黑" panose="00000500000000000000" charset="-122"/>
                  <a:sym typeface="+mn-ea"/>
                </a:rPr>
                <a:t>AI</a:t>
              </a:r>
              <a:r>
                <a:rPr lang="zh-CN" altLang="en-US" sz="1200">
                  <a:solidFill>
                    <a:schemeClr val="bg1"/>
                  </a:solidFill>
                  <a:latin typeface="微软雅黑" panose="00000500000000000000" charset="-122"/>
                  <a:sym typeface="+mn-ea"/>
                </a:rPr>
                <a:t>自动抓取所有聊天记录</a:t>
              </a:r>
            </a:p>
            <a:p>
              <a:pPr algn="l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CN" sz="1200">
                  <a:solidFill>
                    <a:schemeClr val="bg1"/>
                  </a:solidFill>
                  <a:latin typeface="微软雅黑" panose="00000500000000000000" charset="-122"/>
                  <a:sym typeface="+mn-ea"/>
                </a:rPr>
                <a:t>AI</a:t>
              </a:r>
              <a:r>
                <a:rPr lang="zh-CN" altLang="en-US" sz="1200">
                  <a:solidFill>
                    <a:schemeClr val="bg1"/>
                  </a:solidFill>
                  <a:latin typeface="微软雅黑" panose="00000500000000000000" charset="-122"/>
                  <a:sym typeface="+mn-ea"/>
                </a:rPr>
                <a:t>自动把聊天记录按照客户，券归类，保持时间顺序</a:t>
              </a:r>
            </a:p>
            <a:p>
              <a:pPr algn="l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200">
                  <a:solidFill>
                    <a:schemeClr val="bg1"/>
                  </a:solidFill>
                  <a:latin typeface="微软雅黑" panose="00000500000000000000" charset="-122"/>
                  <a:sym typeface="+mn-ea"/>
                </a:rPr>
                <a:t>实时监控潜在的聊天违规并提醒</a:t>
              </a:r>
            </a:p>
          </p:txBody>
        </p:sp>
        <p:sp>
          <p:nvSpPr>
            <p:cNvPr id="16" name="圆角矩形 32"/>
            <p:cNvSpPr/>
            <p:nvPr/>
          </p:nvSpPr>
          <p:spPr>
            <a:xfrm>
              <a:off x="13339" y="2460"/>
              <a:ext cx="1320" cy="346"/>
            </a:xfrm>
            <a:prstGeom prst="roundRect">
              <a:avLst>
                <a:gd name="adj" fmla="val 8731"/>
              </a:avLst>
            </a:prstGeom>
            <a:solidFill>
              <a:schemeClr val="accent1">
                <a:lumMod val="75000"/>
              </a:schemeClr>
            </a:solidFill>
            <a:ln>
              <a:solidFill>
                <a:srgbClr val="00377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400">
                  <a:solidFill>
                    <a:schemeClr val="bg1"/>
                  </a:solidFill>
                  <a:latin typeface="微软雅黑" panose="00000500000000000000" charset="-122"/>
                  <a:sym typeface="+mn-ea"/>
                </a:rPr>
                <a:t>交易员</a:t>
              </a:r>
            </a:p>
          </p:txBody>
        </p:sp>
        <p:sp>
          <p:nvSpPr>
            <p:cNvPr id="19" name="圆角矩形 33"/>
            <p:cNvSpPr/>
            <p:nvPr/>
          </p:nvSpPr>
          <p:spPr>
            <a:xfrm>
              <a:off x="15055" y="2109"/>
              <a:ext cx="3529" cy="568"/>
            </a:xfrm>
            <a:prstGeom prst="roundRect">
              <a:avLst>
                <a:gd name="adj" fmla="val 8731"/>
              </a:avLst>
            </a:prstGeom>
            <a:solidFill>
              <a:schemeClr val="accent1">
                <a:lumMod val="75000"/>
              </a:schemeClr>
            </a:solidFill>
            <a:ln>
              <a:solidFill>
                <a:srgbClr val="00377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200">
                  <a:solidFill>
                    <a:schemeClr val="bg1"/>
                  </a:solidFill>
                  <a:latin typeface="微软雅黑" panose="00000500000000000000" charset="-122"/>
                  <a:sym typeface="+mn-ea"/>
                </a:rPr>
                <a:t>交易询价</a:t>
              </a:r>
            </a:p>
          </p:txBody>
        </p:sp>
        <p:cxnSp>
          <p:nvCxnSpPr>
            <p:cNvPr id="21" name="肘形连接符 35"/>
            <p:cNvCxnSpPr>
              <a:stCxn id="13" idx="3"/>
              <a:endCxn id="16" idx="0"/>
            </p:cNvCxnSpPr>
            <p:nvPr/>
          </p:nvCxnSpPr>
          <p:spPr>
            <a:xfrm>
              <a:off x="12056" y="2203"/>
              <a:ext cx="1943" cy="257"/>
            </a:xfrm>
            <a:prstGeom prst="bentConnector2">
              <a:avLst/>
            </a:prstGeom>
            <a:ln>
              <a:solidFill>
                <a:schemeClr val="bg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3" name="肘形连接符 35"/>
            <p:cNvCxnSpPr>
              <a:stCxn id="16" idx="1"/>
              <a:endCxn id="13" idx="2"/>
            </p:cNvCxnSpPr>
            <p:nvPr/>
          </p:nvCxnSpPr>
          <p:spPr>
            <a:xfrm rot="10800000">
              <a:off x="11277" y="2359"/>
              <a:ext cx="2062" cy="274"/>
            </a:xfrm>
            <a:prstGeom prst="bentConnector2">
              <a:avLst/>
            </a:prstGeom>
            <a:ln>
              <a:solidFill>
                <a:schemeClr val="bg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4" name="圆角矩形 33"/>
            <p:cNvSpPr/>
            <p:nvPr/>
          </p:nvSpPr>
          <p:spPr>
            <a:xfrm>
              <a:off x="11376" y="4620"/>
              <a:ext cx="2643" cy="568"/>
            </a:xfrm>
            <a:prstGeom prst="roundRect">
              <a:avLst>
                <a:gd name="adj" fmla="val 8731"/>
              </a:avLst>
            </a:prstGeom>
            <a:solidFill>
              <a:schemeClr val="accent1">
                <a:lumMod val="75000"/>
              </a:schemeClr>
            </a:solidFill>
            <a:ln>
              <a:solidFill>
                <a:srgbClr val="00377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200">
                  <a:solidFill>
                    <a:schemeClr val="bg1"/>
                  </a:solidFill>
                  <a:latin typeface="微软雅黑" panose="00000500000000000000" charset="-122"/>
                  <a:sym typeface="+mn-ea"/>
                </a:rPr>
                <a:t>意向达成</a:t>
              </a:r>
            </a:p>
          </p:txBody>
        </p:sp>
        <p:cxnSp>
          <p:nvCxnSpPr>
            <p:cNvPr id="25" name="肘形连接符 35"/>
            <p:cNvCxnSpPr>
              <a:stCxn id="16" idx="2"/>
              <a:endCxn id="24" idx="0"/>
            </p:cNvCxnSpPr>
            <p:nvPr/>
          </p:nvCxnSpPr>
          <p:spPr>
            <a:xfrm rot="5400000">
              <a:off x="12442" y="3063"/>
              <a:ext cx="1814" cy="1301"/>
            </a:xfrm>
            <a:prstGeom prst="bentConnector3">
              <a:avLst>
                <a:gd name="adj1" fmla="val 49972"/>
              </a:avLst>
            </a:prstGeom>
            <a:ln>
              <a:solidFill>
                <a:schemeClr val="bg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8" name="圆角矩形 31"/>
            <p:cNvSpPr/>
            <p:nvPr/>
          </p:nvSpPr>
          <p:spPr>
            <a:xfrm>
              <a:off x="15055" y="4665"/>
              <a:ext cx="3529" cy="523"/>
            </a:xfrm>
            <a:prstGeom prst="roundRect">
              <a:avLst>
                <a:gd name="adj" fmla="val 8731"/>
              </a:avLst>
            </a:prstGeom>
            <a:solidFill>
              <a:schemeClr val="accent1">
                <a:lumMod val="75000"/>
              </a:schemeClr>
            </a:solidFill>
            <a:ln>
              <a:solidFill>
                <a:srgbClr val="00377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t" anchorCtr="0"/>
            <a:lstStyle/>
            <a:p>
              <a:pPr algn="l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CN" sz="1200">
                  <a:solidFill>
                    <a:schemeClr val="bg1"/>
                  </a:solidFill>
                  <a:latin typeface="微软雅黑" panose="00000500000000000000" charset="-122"/>
                  <a:sym typeface="+mn-ea"/>
                </a:rPr>
                <a:t>AI</a:t>
              </a:r>
              <a:r>
                <a:rPr lang="zh-CN" altLang="en-US" sz="1200">
                  <a:solidFill>
                    <a:schemeClr val="bg1"/>
                  </a:solidFill>
                  <a:latin typeface="微软雅黑" panose="00000500000000000000" charset="-122"/>
                  <a:sym typeface="+mn-ea"/>
                </a:rPr>
                <a:t>自动生成交易要素</a:t>
              </a:r>
            </a:p>
            <a:p>
              <a:pPr algn="l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200">
                <a:solidFill>
                  <a:schemeClr val="bg1"/>
                </a:solidFill>
                <a:latin typeface="微软雅黑" panose="00000500000000000000" charset="-122"/>
                <a:sym typeface="+mn-ea"/>
              </a:endParaRPr>
            </a:p>
          </p:txBody>
        </p:sp>
        <p:sp>
          <p:nvSpPr>
            <p:cNvPr id="32" name="圆角矩形 33"/>
            <p:cNvSpPr/>
            <p:nvPr/>
          </p:nvSpPr>
          <p:spPr>
            <a:xfrm>
              <a:off x="11415" y="5706"/>
              <a:ext cx="2643" cy="568"/>
            </a:xfrm>
            <a:prstGeom prst="roundRect">
              <a:avLst>
                <a:gd name="adj" fmla="val 8731"/>
              </a:avLst>
            </a:prstGeom>
            <a:solidFill>
              <a:schemeClr val="accent1">
                <a:lumMod val="75000"/>
              </a:schemeClr>
            </a:solidFill>
            <a:ln>
              <a:solidFill>
                <a:srgbClr val="00377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200">
                  <a:solidFill>
                    <a:schemeClr val="bg1"/>
                  </a:solidFill>
                  <a:latin typeface="微软雅黑" panose="00000500000000000000" charset="-122"/>
                  <a:sym typeface="+mn-ea"/>
                </a:rPr>
                <a:t>交易录入</a:t>
              </a:r>
            </a:p>
          </p:txBody>
        </p:sp>
        <p:cxnSp>
          <p:nvCxnSpPr>
            <p:cNvPr id="33" name="肘形连接符 35"/>
            <p:cNvCxnSpPr>
              <a:stCxn id="24" idx="2"/>
            </p:cNvCxnSpPr>
            <p:nvPr/>
          </p:nvCxnSpPr>
          <p:spPr>
            <a:xfrm rot="5400000" flipV="1">
              <a:off x="12429" y="5457"/>
              <a:ext cx="560" cy="22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bg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4" name="圆角矩形 33"/>
            <p:cNvSpPr/>
            <p:nvPr/>
          </p:nvSpPr>
          <p:spPr>
            <a:xfrm>
              <a:off x="11404" y="6758"/>
              <a:ext cx="2643" cy="568"/>
            </a:xfrm>
            <a:prstGeom prst="roundRect">
              <a:avLst>
                <a:gd name="adj" fmla="val 8731"/>
              </a:avLst>
            </a:prstGeom>
            <a:solidFill>
              <a:schemeClr val="accent1">
                <a:lumMod val="75000"/>
              </a:schemeClr>
            </a:solidFill>
            <a:ln>
              <a:solidFill>
                <a:srgbClr val="00377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200">
                  <a:solidFill>
                    <a:schemeClr val="bg1"/>
                  </a:solidFill>
                  <a:latin typeface="微软雅黑" panose="00000500000000000000" charset="-122"/>
                  <a:sym typeface="+mn-ea"/>
                </a:rPr>
                <a:t>事前风控</a:t>
              </a:r>
            </a:p>
          </p:txBody>
        </p:sp>
        <p:cxnSp>
          <p:nvCxnSpPr>
            <p:cNvPr id="35" name="肘形连接符 35"/>
            <p:cNvCxnSpPr>
              <a:stCxn id="32" idx="2"/>
            </p:cNvCxnSpPr>
            <p:nvPr/>
          </p:nvCxnSpPr>
          <p:spPr>
            <a:xfrm rot="5400000" flipV="1">
              <a:off x="12458" y="6552"/>
              <a:ext cx="561" cy="5"/>
            </a:xfrm>
            <a:prstGeom prst="bentConnector3">
              <a:avLst>
                <a:gd name="adj1" fmla="val 50089"/>
              </a:avLst>
            </a:prstGeom>
            <a:ln>
              <a:solidFill>
                <a:schemeClr val="bg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grpSp>
          <p:nvGrpSpPr>
            <p:cNvPr id="41" name="组合 40"/>
            <p:cNvGrpSpPr/>
            <p:nvPr/>
          </p:nvGrpSpPr>
          <p:grpSpPr>
            <a:xfrm>
              <a:off x="15055" y="6112"/>
              <a:ext cx="3528" cy="2374"/>
              <a:chOff x="14644" y="5811"/>
              <a:chExt cx="2862" cy="2374"/>
            </a:xfrm>
          </p:grpSpPr>
          <p:sp>
            <p:nvSpPr>
              <p:cNvPr id="40" name="圆角矩形 33"/>
              <p:cNvSpPr/>
              <p:nvPr/>
            </p:nvSpPr>
            <p:spPr>
              <a:xfrm>
                <a:off x="14644" y="5811"/>
                <a:ext cx="2862" cy="2375"/>
              </a:xfrm>
              <a:prstGeom prst="roundRect">
                <a:avLst>
                  <a:gd name="adj" fmla="val 8731"/>
                </a:avLst>
              </a:prstGeom>
              <a:solidFill>
                <a:schemeClr val="accent1">
                  <a:lumMod val="75000"/>
                </a:schemeClr>
              </a:solidFill>
              <a:ln>
                <a:solidFill>
                  <a:srgbClr val="00377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20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微软雅黑" panose="00000500000000000000" charset="-122"/>
                  <a:sym typeface="+mn-ea"/>
                </a:endParaRPr>
              </a:p>
            </p:txBody>
          </p:sp>
          <p:sp>
            <p:nvSpPr>
              <p:cNvPr id="37" name="圆角矩形 31"/>
              <p:cNvSpPr/>
              <p:nvPr/>
            </p:nvSpPr>
            <p:spPr>
              <a:xfrm>
                <a:off x="14727" y="6049"/>
                <a:ext cx="2643" cy="428"/>
              </a:xfrm>
              <a:prstGeom prst="roundRect">
                <a:avLst>
                  <a:gd name="adj" fmla="val 8731"/>
                </a:avLst>
              </a:prstGeom>
              <a:solidFill>
                <a:schemeClr val="accent1">
                  <a:lumMod val="75000"/>
                </a:schemeClr>
              </a:solidFill>
              <a:ln>
                <a:solidFill>
                  <a:srgbClr val="00377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t" anchorCtr="0"/>
              <a:lstStyle/>
              <a:p>
                <a:pPr algn="l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zh-CN" altLang="en-US" sz="1200">
                    <a:solidFill>
                      <a:schemeClr val="bg1"/>
                    </a:solidFill>
                    <a:latin typeface="微软雅黑" panose="00000500000000000000" charset="-122"/>
                    <a:sym typeface="+mn-ea"/>
                  </a:rPr>
                  <a:t>交易对手维度检查</a:t>
                </a:r>
              </a:p>
              <a:p>
                <a:pPr algn="l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200">
                  <a:solidFill>
                    <a:schemeClr val="bg1"/>
                  </a:solidFill>
                  <a:latin typeface="微软雅黑" panose="00000500000000000000" charset="-122"/>
                  <a:sym typeface="+mn-ea"/>
                </a:endParaRPr>
              </a:p>
            </p:txBody>
          </p:sp>
          <p:sp>
            <p:nvSpPr>
              <p:cNvPr id="38" name="圆角矩形 31"/>
              <p:cNvSpPr/>
              <p:nvPr/>
            </p:nvSpPr>
            <p:spPr>
              <a:xfrm>
                <a:off x="14727" y="6835"/>
                <a:ext cx="2643" cy="428"/>
              </a:xfrm>
              <a:prstGeom prst="roundRect">
                <a:avLst>
                  <a:gd name="adj" fmla="val 8731"/>
                </a:avLst>
              </a:prstGeom>
              <a:solidFill>
                <a:schemeClr val="accent1">
                  <a:lumMod val="75000"/>
                </a:schemeClr>
              </a:solidFill>
              <a:ln>
                <a:solidFill>
                  <a:srgbClr val="00377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t" anchorCtr="0"/>
              <a:lstStyle/>
              <a:p>
                <a:pPr algn="l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zh-CN" altLang="en-US" sz="1200">
                    <a:solidFill>
                      <a:schemeClr val="bg1"/>
                    </a:solidFill>
                    <a:latin typeface="微软雅黑" panose="00000500000000000000" charset="-122"/>
                    <a:sym typeface="+mn-ea"/>
                  </a:rPr>
                  <a:t>交易员维度检查</a:t>
                </a:r>
              </a:p>
              <a:p>
                <a:pPr algn="l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200">
                  <a:solidFill>
                    <a:schemeClr val="bg1"/>
                  </a:solidFill>
                  <a:latin typeface="微软雅黑" panose="00000500000000000000" charset="-122"/>
                  <a:sym typeface="+mn-ea"/>
                </a:endParaRPr>
              </a:p>
            </p:txBody>
          </p:sp>
          <p:sp>
            <p:nvSpPr>
              <p:cNvPr id="39" name="圆角矩形 31"/>
              <p:cNvSpPr/>
              <p:nvPr/>
            </p:nvSpPr>
            <p:spPr>
              <a:xfrm>
                <a:off x="14771" y="7525"/>
                <a:ext cx="2643" cy="428"/>
              </a:xfrm>
              <a:prstGeom prst="roundRect">
                <a:avLst>
                  <a:gd name="adj" fmla="val 8731"/>
                </a:avLst>
              </a:prstGeom>
              <a:solidFill>
                <a:schemeClr val="accent1">
                  <a:lumMod val="75000"/>
                </a:schemeClr>
              </a:solidFill>
              <a:ln>
                <a:solidFill>
                  <a:srgbClr val="00377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t" anchorCtr="0"/>
              <a:lstStyle/>
              <a:p>
                <a:pPr algn="l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zh-CN" altLang="en-US" sz="1200">
                    <a:solidFill>
                      <a:schemeClr val="bg1"/>
                    </a:solidFill>
                    <a:latin typeface="微软雅黑" panose="00000500000000000000" charset="-122"/>
                    <a:sym typeface="+mn-ea"/>
                  </a:rPr>
                  <a:t>券维度检查</a:t>
                </a:r>
              </a:p>
              <a:p>
                <a:pPr algn="l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1200">
                  <a:solidFill>
                    <a:schemeClr val="bg1"/>
                  </a:solidFill>
                  <a:latin typeface="微软雅黑" panose="00000500000000000000" charset="-122"/>
                  <a:sym typeface="+mn-ea"/>
                </a:endParaRPr>
              </a:p>
            </p:txBody>
          </p:sp>
        </p:grpSp>
        <p:cxnSp>
          <p:nvCxnSpPr>
            <p:cNvPr id="42" name="肘形连接符 35"/>
            <p:cNvCxnSpPr>
              <a:stCxn id="34" idx="3"/>
              <a:endCxn id="38" idx="1"/>
            </p:cNvCxnSpPr>
            <p:nvPr/>
          </p:nvCxnSpPr>
          <p:spPr>
            <a:xfrm>
              <a:off x="14047" y="7042"/>
              <a:ext cx="1110" cy="308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bg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4" name="流程图: 决策 43"/>
            <p:cNvSpPr/>
            <p:nvPr/>
          </p:nvSpPr>
          <p:spPr>
            <a:xfrm>
              <a:off x="12284" y="7646"/>
              <a:ext cx="998" cy="608"/>
            </a:xfrm>
            <a:prstGeom prst="flowChartDecision">
              <a:avLst/>
            </a:prstGeom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000"/>
            </a:p>
          </p:txBody>
        </p:sp>
        <p:cxnSp>
          <p:nvCxnSpPr>
            <p:cNvPr id="45" name="肘形连接符 35"/>
            <p:cNvCxnSpPr>
              <a:stCxn id="40" idx="2"/>
              <a:endCxn id="44" idx="3"/>
            </p:cNvCxnSpPr>
            <p:nvPr/>
          </p:nvCxnSpPr>
          <p:spPr>
            <a:xfrm rot="5400000" flipH="1">
              <a:off x="14782" y="6450"/>
              <a:ext cx="537" cy="3537"/>
            </a:xfrm>
            <a:prstGeom prst="bentConnector4">
              <a:avLst>
                <a:gd name="adj1" fmla="val -69832"/>
                <a:gd name="adj2" fmla="val 74922"/>
              </a:avLst>
            </a:prstGeom>
            <a:ln>
              <a:solidFill>
                <a:schemeClr val="bg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6" name="肘形连接符 35"/>
            <p:cNvCxnSpPr>
              <a:endCxn id="47" idx="0"/>
            </p:cNvCxnSpPr>
            <p:nvPr/>
          </p:nvCxnSpPr>
          <p:spPr>
            <a:xfrm rot="5400000">
              <a:off x="12431" y="8591"/>
              <a:ext cx="626" cy="14"/>
            </a:xfrm>
            <a:prstGeom prst="bentConnector3">
              <a:avLst>
                <a:gd name="adj1" fmla="val 50160"/>
              </a:avLst>
            </a:prstGeom>
            <a:ln>
              <a:solidFill>
                <a:schemeClr val="bg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7" name="圆角矩形 46"/>
            <p:cNvSpPr/>
            <p:nvPr/>
          </p:nvSpPr>
          <p:spPr>
            <a:xfrm>
              <a:off x="11415" y="8911"/>
              <a:ext cx="2643" cy="568"/>
            </a:xfrm>
            <a:prstGeom prst="roundRect">
              <a:avLst>
                <a:gd name="adj" fmla="val 8731"/>
              </a:avLst>
            </a:prstGeom>
            <a:solidFill>
              <a:schemeClr val="accent1">
                <a:lumMod val="75000"/>
              </a:schemeClr>
            </a:solidFill>
            <a:ln>
              <a:solidFill>
                <a:srgbClr val="00377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200">
                  <a:solidFill>
                    <a:schemeClr val="bg1"/>
                  </a:solidFill>
                  <a:latin typeface="微软雅黑" panose="00000500000000000000" charset="-122"/>
                  <a:sym typeface="+mn-ea"/>
                </a:rPr>
                <a:t>发衡泰</a:t>
              </a:r>
            </a:p>
          </p:txBody>
        </p:sp>
        <p:sp>
          <p:nvSpPr>
            <p:cNvPr id="48" name="圆角矩形 32"/>
            <p:cNvSpPr/>
            <p:nvPr/>
          </p:nvSpPr>
          <p:spPr>
            <a:xfrm>
              <a:off x="12916" y="8297"/>
              <a:ext cx="1104" cy="414"/>
            </a:xfrm>
            <a:prstGeom prst="roundRect">
              <a:avLst>
                <a:gd name="adj" fmla="val 8731"/>
              </a:avLst>
            </a:prstGeom>
            <a:solidFill>
              <a:schemeClr val="accent1">
                <a:lumMod val="75000"/>
              </a:schemeClr>
            </a:solidFill>
            <a:ln>
              <a:solidFill>
                <a:srgbClr val="00377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200">
                  <a:solidFill>
                    <a:schemeClr val="bg1"/>
                  </a:solidFill>
                  <a:latin typeface="微软雅黑" panose="00000500000000000000" charset="-122"/>
                  <a:sym typeface="+mn-ea"/>
                </a:rPr>
                <a:t>通过</a:t>
              </a:r>
            </a:p>
          </p:txBody>
        </p:sp>
        <p:sp>
          <p:nvSpPr>
            <p:cNvPr id="49" name="圆角矩形 32"/>
            <p:cNvSpPr/>
            <p:nvPr/>
          </p:nvSpPr>
          <p:spPr>
            <a:xfrm>
              <a:off x="11158" y="8123"/>
              <a:ext cx="1104" cy="294"/>
            </a:xfrm>
            <a:prstGeom prst="roundRect">
              <a:avLst>
                <a:gd name="adj" fmla="val 8731"/>
              </a:avLst>
            </a:prstGeom>
            <a:solidFill>
              <a:schemeClr val="accent1">
                <a:lumMod val="75000"/>
              </a:schemeClr>
            </a:solidFill>
            <a:ln>
              <a:solidFill>
                <a:srgbClr val="00377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200">
                  <a:solidFill>
                    <a:schemeClr val="bg1"/>
                  </a:solidFill>
                  <a:latin typeface="微软雅黑" panose="00000500000000000000" charset="-122"/>
                  <a:sym typeface="+mn-ea"/>
                </a:rPr>
                <a:t>不通过</a:t>
              </a:r>
            </a:p>
          </p:txBody>
        </p:sp>
        <p:cxnSp>
          <p:nvCxnSpPr>
            <p:cNvPr id="50" name="肘形连接符 35"/>
            <p:cNvCxnSpPr>
              <a:stCxn id="44" idx="1"/>
              <a:endCxn id="16" idx="2"/>
            </p:cNvCxnSpPr>
            <p:nvPr/>
          </p:nvCxnSpPr>
          <p:spPr>
            <a:xfrm rot="10800000" flipH="1">
              <a:off x="12284" y="2806"/>
              <a:ext cx="1715" cy="5144"/>
            </a:xfrm>
            <a:prstGeom prst="bentConnector4">
              <a:avLst>
                <a:gd name="adj1" fmla="val -21866"/>
                <a:gd name="adj2" fmla="val 52955"/>
              </a:avLst>
            </a:prstGeom>
            <a:ln>
              <a:solidFill>
                <a:schemeClr val="bg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51" name="圆角矩形 32"/>
            <p:cNvSpPr/>
            <p:nvPr/>
          </p:nvSpPr>
          <p:spPr>
            <a:xfrm>
              <a:off x="9592" y="5550"/>
              <a:ext cx="1104" cy="294"/>
            </a:xfrm>
            <a:prstGeom prst="roundRect">
              <a:avLst>
                <a:gd name="adj" fmla="val 8731"/>
              </a:avLst>
            </a:prstGeom>
            <a:solidFill>
              <a:schemeClr val="accent1">
                <a:lumMod val="75000"/>
              </a:schemeClr>
            </a:solidFill>
            <a:ln>
              <a:solidFill>
                <a:srgbClr val="00377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400">
                  <a:solidFill>
                    <a:schemeClr val="bg1"/>
                  </a:solidFill>
                  <a:latin typeface="微软雅黑" panose="00000500000000000000" charset="-122"/>
                  <a:sym typeface="+mn-ea"/>
                </a:rPr>
                <a:t>修改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1005840"/>
          </a:xfrm>
          <a:prstGeom prst="rect">
            <a:avLst/>
          </a:prstGeom>
          <a:solidFill>
            <a:srgbClr val="030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cs typeface="微软雅黑" panose="00000500000000000000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dirty="0" err="1">
                <a:latin typeface="微软雅黑" panose="00000500000000000000" charset="-122"/>
                <a:cs typeface="微软雅黑" panose="00000500000000000000" charset="-122"/>
              </a:rPr>
              <a:t>华锐是唯一能一体化支撑四大能力跃升的国产厂商</a:t>
            </a:r>
            <a:endParaRPr dirty="0">
              <a:latin typeface="微软雅黑" panose="00000500000000000000" charset="-122"/>
              <a:cs typeface="微软雅黑" panose="000005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D051"/>
                </a:solidFill>
                <a:latin typeface="微软雅黑" panose="020B0503020204020204" charset="-122"/>
              </a:defRPr>
            </a:pPr>
            <a:r>
              <a:rPr sz="1400" dirty="0" err="1">
                <a:latin typeface="微软雅黑" panose="00000500000000000000" charset="-122"/>
                <a:cs typeface="微软雅黑" panose="00000500000000000000" charset="-122"/>
              </a:rPr>
              <a:t>六大引擎全覆盖</a:t>
            </a:r>
            <a:r>
              <a:rPr sz="1400" dirty="0">
                <a:latin typeface="微软雅黑" panose="00000500000000000000" charset="-122"/>
                <a:cs typeface="微软雅黑" panose="00000500000000000000" charset="-122"/>
              </a:rPr>
              <a:t> + 毕马威金融科技50强六连冠 + 128件专利</a:t>
            </a:r>
          </a:p>
        </p:txBody>
      </p:sp>
      <p:sp>
        <p:nvSpPr>
          <p:cNvPr id="7" name="AutoShape 4"/>
          <p:cNvSpPr/>
          <p:nvPr/>
        </p:nvSpPr>
        <p:spPr>
          <a:xfrm>
            <a:off x="508000" y="1295400"/>
            <a:ext cx="5461000" cy="1270000"/>
          </a:xfrm>
          <a:prstGeom prst="roundRect">
            <a:avLst>
              <a:gd name="adj" fmla="val 10000"/>
            </a:avLst>
          </a:prstGeom>
          <a:solidFill>
            <a:srgbClr val="FFFFFF">
              <a:alpha val="7000"/>
            </a:srgbClr>
          </a:solidFill>
          <a:ln w="12700" cap="flat" cmpd="sng">
            <a:solidFill>
              <a:srgbClr val="1E5BA8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8" name="AutoShape 5"/>
          <p:cNvSpPr/>
          <p:nvPr/>
        </p:nvSpPr>
        <p:spPr>
          <a:xfrm>
            <a:off x="698500" y="1485900"/>
            <a:ext cx="889000" cy="889000"/>
          </a:xfrm>
          <a:prstGeom prst="ellipse">
            <a:avLst/>
          </a:prstGeom>
          <a:solidFill>
            <a:srgbClr val="FF7D00">
              <a:alpha val="2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9" name="AutoShape 6"/>
          <p:cNvSpPr/>
          <p:nvPr/>
        </p:nvSpPr>
        <p:spPr>
          <a:xfrm>
            <a:off x="698500" y="1638300"/>
            <a:ext cx="8890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7D00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01</a:t>
            </a:r>
          </a:p>
        </p:txBody>
      </p:sp>
      <p:sp>
        <p:nvSpPr>
          <p:cNvPr id="10" name="AutoShape 7"/>
          <p:cNvSpPr/>
          <p:nvPr/>
        </p:nvSpPr>
        <p:spPr>
          <a:xfrm>
            <a:off x="1778000" y="1422400"/>
            <a:ext cx="393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chemeClr val="accent3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不只做“一个点” · 六大引擎全覆盖</a:t>
            </a:r>
          </a:p>
        </p:txBody>
      </p:sp>
      <p:sp>
        <p:nvSpPr>
          <p:cNvPr id="11" name="AutoShape 8"/>
          <p:cNvSpPr/>
          <p:nvPr/>
        </p:nvSpPr>
        <p:spPr>
          <a:xfrm>
            <a:off x="1778000" y="1866900"/>
            <a:ext cx="393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lvl="0" algn="l">
              <a:buClrTx/>
              <a:buSzTx/>
              <a:buFontTx/>
              <a:defRPr/>
            </a:pPr>
            <a:r>
              <a:rPr lang="zh-CN" altLang="en-US" sz="14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对国元价值：一个厂商解决全部问题</a:t>
            </a:r>
          </a:p>
        </p:txBody>
      </p:sp>
      <p:sp>
        <p:nvSpPr>
          <p:cNvPr id="12" name="AutoShape 9"/>
          <p:cNvSpPr/>
          <p:nvPr/>
        </p:nvSpPr>
        <p:spPr>
          <a:xfrm>
            <a:off x="6223000" y="1295400"/>
            <a:ext cx="5461000" cy="1270000"/>
          </a:xfrm>
          <a:prstGeom prst="roundRect">
            <a:avLst>
              <a:gd name="adj" fmla="val 10000"/>
            </a:avLst>
          </a:prstGeom>
          <a:solidFill>
            <a:srgbClr val="FFFFFF">
              <a:alpha val="7000"/>
            </a:srgbClr>
          </a:solidFill>
          <a:ln w="12700" cap="flat" cmpd="sng">
            <a:solidFill>
              <a:srgbClr val="1E5BA8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13" name="AutoShape 10"/>
          <p:cNvSpPr/>
          <p:nvPr/>
        </p:nvSpPr>
        <p:spPr>
          <a:xfrm>
            <a:off x="6413500" y="1485900"/>
            <a:ext cx="889000" cy="889000"/>
          </a:xfrm>
          <a:prstGeom prst="ellipse">
            <a:avLst/>
          </a:prstGeom>
          <a:solidFill>
            <a:srgbClr val="FF7D00">
              <a:alpha val="2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14" name="AutoShape 11"/>
          <p:cNvSpPr/>
          <p:nvPr/>
        </p:nvSpPr>
        <p:spPr>
          <a:xfrm>
            <a:off x="6413500" y="1638300"/>
            <a:ext cx="8890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7D00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02</a:t>
            </a:r>
          </a:p>
        </p:txBody>
      </p:sp>
      <p:sp>
        <p:nvSpPr>
          <p:cNvPr id="15" name="AutoShape 12"/>
          <p:cNvSpPr/>
          <p:nvPr/>
        </p:nvSpPr>
        <p:spPr>
          <a:xfrm>
            <a:off x="7493000" y="1422400"/>
            <a:ext cx="393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chemeClr val="accent3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不只</a:t>
            </a:r>
            <a:r>
              <a:rPr lang="zh-CN" altLang="en-US" sz="1600" b="1" i="0" u="none" strike="noStrike">
                <a:solidFill>
                  <a:schemeClr val="accent3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是</a:t>
            </a:r>
            <a:r>
              <a:rPr lang="en-US" sz="1600" b="1" i="0" u="none" strike="noStrike">
                <a:solidFill>
                  <a:schemeClr val="accent3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“分析” · 覆盖交易执行</a:t>
            </a:r>
            <a:r>
              <a:rPr lang="zh-CN" altLang="en-US" sz="1600" b="1" i="0" u="none" strike="noStrike">
                <a:solidFill>
                  <a:schemeClr val="accent3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、量化</a:t>
            </a:r>
            <a:r>
              <a:rPr lang="en-US" sz="1600" b="1" i="0" u="none" strike="noStrike">
                <a:solidFill>
                  <a:schemeClr val="accent3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策略</a:t>
            </a:r>
          </a:p>
        </p:txBody>
      </p:sp>
      <p:sp>
        <p:nvSpPr>
          <p:cNvPr id="16" name="AutoShape 13"/>
          <p:cNvSpPr/>
          <p:nvPr/>
        </p:nvSpPr>
        <p:spPr>
          <a:xfrm>
            <a:off x="7493000" y="1866900"/>
            <a:ext cx="393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lvl="0" algn="l">
              <a:buClrTx/>
              <a:buSzTx/>
              <a:buFontTx/>
              <a:defRPr/>
            </a:pPr>
            <a:r>
              <a:rPr lang="zh-CN" altLang="en-US" sz="14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对国元价值：</a:t>
            </a:r>
            <a:r>
              <a:rPr lang="zh-CN" altLang="en-US" sz="14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+mn-ea"/>
              </a:rPr>
              <a:t>从策略到执行一条龙</a:t>
            </a:r>
          </a:p>
        </p:txBody>
      </p:sp>
      <p:sp>
        <p:nvSpPr>
          <p:cNvPr id="17" name="AutoShape 14"/>
          <p:cNvSpPr/>
          <p:nvPr/>
        </p:nvSpPr>
        <p:spPr>
          <a:xfrm>
            <a:off x="508000" y="2755900"/>
            <a:ext cx="5461000" cy="1270000"/>
          </a:xfrm>
          <a:prstGeom prst="roundRect">
            <a:avLst>
              <a:gd name="adj" fmla="val 10000"/>
            </a:avLst>
          </a:prstGeom>
          <a:solidFill>
            <a:srgbClr val="FFFFFF">
              <a:alpha val="7000"/>
            </a:srgbClr>
          </a:solidFill>
          <a:ln w="12700" cap="flat" cmpd="sng">
            <a:solidFill>
              <a:srgbClr val="1E5BA8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18" name="AutoShape 15"/>
          <p:cNvSpPr/>
          <p:nvPr/>
        </p:nvSpPr>
        <p:spPr>
          <a:xfrm>
            <a:off x="698500" y="2946400"/>
            <a:ext cx="889000" cy="889000"/>
          </a:xfrm>
          <a:prstGeom prst="ellipse">
            <a:avLst/>
          </a:prstGeom>
          <a:solidFill>
            <a:srgbClr val="FF7D00">
              <a:alpha val="2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19" name="AutoShape 16"/>
          <p:cNvSpPr/>
          <p:nvPr/>
        </p:nvSpPr>
        <p:spPr>
          <a:xfrm>
            <a:off x="698500" y="3098800"/>
            <a:ext cx="8890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7D00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03</a:t>
            </a:r>
          </a:p>
        </p:txBody>
      </p:sp>
      <p:sp>
        <p:nvSpPr>
          <p:cNvPr id="20" name="AutoShape 17"/>
          <p:cNvSpPr/>
          <p:nvPr/>
        </p:nvSpPr>
        <p:spPr>
          <a:xfrm>
            <a:off x="1778000" y="2882900"/>
            <a:ext cx="393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lvl="0" algn="l">
              <a:lnSpc>
                <a:spcPct val="125000"/>
              </a:lnSpc>
              <a:buClrTx/>
              <a:buSzTx/>
              <a:buFontTx/>
              <a:defRPr/>
            </a:pPr>
            <a:r>
              <a:rPr lang="en-US" sz="1600" b="1">
                <a:solidFill>
                  <a:schemeClr val="accent3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不只</a:t>
            </a:r>
            <a:r>
              <a:rPr lang="zh-CN" altLang="en-US" sz="1600" b="1">
                <a:solidFill>
                  <a:schemeClr val="accent3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是</a:t>
            </a:r>
            <a:r>
              <a:rPr lang="en-US" sz="1600" b="1">
                <a:solidFill>
                  <a:schemeClr val="accent3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“国内” · </a:t>
            </a:r>
            <a:r>
              <a:rPr lang="en-US" sz="1600" b="1">
                <a:solidFill>
                  <a:schemeClr val="accent3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香港国际业务中心</a:t>
            </a:r>
          </a:p>
        </p:txBody>
      </p:sp>
      <p:sp>
        <p:nvSpPr>
          <p:cNvPr id="21" name="AutoShape 18"/>
          <p:cNvSpPr/>
          <p:nvPr/>
        </p:nvSpPr>
        <p:spPr>
          <a:xfrm>
            <a:off x="1778000" y="3327400"/>
            <a:ext cx="393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lvl="0" algn="l">
              <a:buClrTx/>
              <a:buSzTx/>
              <a:buFontTx/>
              <a:defRPr/>
            </a:pPr>
            <a:r>
              <a:rPr lang="zh-CN" altLang="en-US" sz="14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对国元价值：</a:t>
            </a:r>
            <a:r>
              <a:rPr lang="zh-CN" altLang="en-US" sz="14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+mn-ea"/>
              </a:rPr>
              <a:t>跨境投资不用另找供应商</a:t>
            </a:r>
          </a:p>
        </p:txBody>
      </p:sp>
      <p:sp>
        <p:nvSpPr>
          <p:cNvPr id="22" name="AutoShape 19"/>
          <p:cNvSpPr/>
          <p:nvPr/>
        </p:nvSpPr>
        <p:spPr>
          <a:xfrm>
            <a:off x="6223000" y="2755900"/>
            <a:ext cx="5461000" cy="1270000"/>
          </a:xfrm>
          <a:prstGeom prst="roundRect">
            <a:avLst>
              <a:gd name="adj" fmla="val 10000"/>
            </a:avLst>
          </a:prstGeom>
          <a:solidFill>
            <a:srgbClr val="FFFFFF">
              <a:alpha val="7000"/>
            </a:srgbClr>
          </a:solidFill>
          <a:ln w="12700" cap="flat" cmpd="sng">
            <a:solidFill>
              <a:srgbClr val="1E5BA8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23" name="AutoShape 20"/>
          <p:cNvSpPr/>
          <p:nvPr/>
        </p:nvSpPr>
        <p:spPr>
          <a:xfrm>
            <a:off x="6413500" y="2946400"/>
            <a:ext cx="889000" cy="889000"/>
          </a:xfrm>
          <a:prstGeom prst="ellipse">
            <a:avLst/>
          </a:prstGeom>
          <a:solidFill>
            <a:srgbClr val="FF7D00">
              <a:alpha val="2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sp>
        <p:nvSpPr>
          <p:cNvPr id="24" name="AutoShape 21"/>
          <p:cNvSpPr/>
          <p:nvPr/>
        </p:nvSpPr>
        <p:spPr>
          <a:xfrm>
            <a:off x="6413500" y="3098800"/>
            <a:ext cx="8890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FF7D00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04</a:t>
            </a:r>
          </a:p>
        </p:txBody>
      </p:sp>
      <p:sp>
        <p:nvSpPr>
          <p:cNvPr id="25" name="AutoShape 22"/>
          <p:cNvSpPr/>
          <p:nvPr/>
        </p:nvSpPr>
        <p:spPr>
          <a:xfrm>
            <a:off x="7493000" y="2882900"/>
            <a:ext cx="393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lvl="0" algn="l">
              <a:lnSpc>
                <a:spcPct val="125000"/>
              </a:lnSpc>
              <a:buClrTx/>
              <a:buSzTx/>
              <a:buFontTx/>
              <a:defRPr/>
            </a:pPr>
            <a:r>
              <a:rPr lang="en-US" sz="1600" b="1">
                <a:solidFill>
                  <a:schemeClr val="accent3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不只</a:t>
            </a:r>
            <a:r>
              <a:rPr lang="zh-CN" altLang="en-US" sz="1600" b="1">
                <a:solidFill>
                  <a:schemeClr val="accent3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是</a:t>
            </a:r>
            <a:r>
              <a:rPr lang="en-US" sz="1600" b="1">
                <a:solidFill>
                  <a:schemeClr val="accent3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“替代” · </a:t>
            </a:r>
            <a:r>
              <a:rPr lang="en-US" sz="1600" b="1">
                <a:solidFill>
                  <a:schemeClr val="accent3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+mn-ea"/>
              </a:rPr>
              <a:t>对标Aladdin/SecDB</a:t>
            </a:r>
          </a:p>
        </p:txBody>
      </p:sp>
      <p:sp>
        <p:nvSpPr>
          <p:cNvPr id="26" name="AutoShape 23"/>
          <p:cNvSpPr/>
          <p:nvPr/>
        </p:nvSpPr>
        <p:spPr>
          <a:xfrm>
            <a:off x="7493000" y="3327400"/>
            <a:ext cx="393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lvl="0" algn="l">
              <a:buClrTx/>
              <a:buSzTx/>
              <a:buFontTx/>
              <a:defRPr/>
            </a:pPr>
            <a:r>
              <a:rPr lang="zh-CN" altLang="en-US" sz="14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对国元价值：</a:t>
            </a:r>
            <a:r>
              <a:rPr lang="zh-CN" altLang="en-US" sz="14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+mn-ea"/>
              </a:rPr>
              <a:t>千亿规模值得世界级系统</a:t>
            </a:r>
          </a:p>
        </p:txBody>
      </p:sp>
      <p:sp>
        <p:nvSpPr>
          <p:cNvPr id="27" name="AutoShape 24"/>
          <p:cNvSpPr/>
          <p:nvPr/>
        </p:nvSpPr>
        <p:spPr>
          <a:xfrm>
            <a:off x="508000" y="43053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核心资质背书</a:t>
            </a:r>
          </a:p>
        </p:txBody>
      </p:sp>
      <p:sp>
        <p:nvSpPr>
          <p:cNvPr id="28" name="AutoShape 25"/>
          <p:cNvSpPr/>
          <p:nvPr/>
        </p:nvSpPr>
        <p:spPr>
          <a:xfrm>
            <a:off x="508000" y="4813300"/>
            <a:ext cx="2095500" cy="1143000"/>
          </a:xfrm>
          <a:prstGeom prst="roundRect">
            <a:avLst>
              <a:gd name="adj" fmla="val 8888"/>
            </a:avLst>
          </a:prstGeom>
          <a:solidFill>
            <a:srgbClr val="0052FF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pic>
        <p:nvPicPr>
          <p:cNvPr id="29" name="Picture 2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5000" y="4940300"/>
            <a:ext cx="304800" cy="304800"/>
          </a:xfrm>
          <a:prstGeom prst="rect">
            <a:avLst/>
          </a:prstGeom>
        </p:spPr>
      </p:pic>
      <p:sp>
        <p:nvSpPr>
          <p:cNvPr id="30" name="AutoShape 27"/>
          <p:cNvSpPr/>
          <p:nvPr/>
        </p:nvSpPr>
        <p:spPr>
          <a:xfrm>
            <a:off x="989330" y="4914900"/>
            <a:ext cx="183007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毕马威金融</a:t>
            </a:r>
            <a:r>
              <a:rPr lang="zh-CN" altLang="en-US" sz="1400" b="1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科技</a:t>
            </a:r>
            <a:r>
              <a:rPr lang="en-US" sz="1400" b="1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0000500000000000000" charset="-122"/>
                <a:sym typeface="微软雅黑" panose="020B0200000000000000" charset="-122"/>
              </a:rPr>
              <a:t>50强</a:t>
            </a:r>
          </a:p>
        </p:txBody>
      </p:sp>
      <p:sp>
        <p:nvSpPr>
          <p:cNvPr id="31" name="AutoShape 28"/>
          <p:cNvSpPr/>
          <p:nvPr/>
        </p:nvSpPr>
        <p:spPr>
          <a:xfrm>
            <a:off x="635000" y="5421630"/>
            <a:ext cx="1841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lvl="0" algn="l">
              <a:buClrTx/>
              <a:buSzTx/>
              <a:buFontTx/>
              <a:defRPr/>
            </a:pP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2020-2025年</a:t>
            </a:r>
            <a:b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</a:b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连续6年蝉联榜单</a:t>
            </a:r>
          </a:p>
        </p:txBody>
      </p:sp>
      <p:sp>
        <p:nvSpPr>
          <p:cNvPr id="32" name="AutoShape 29"/>
          <p:cNvSpPr/>
          <p:nvPr/>
        </p:nvSpPr>
        <p:spPr>
          <a:xfrm>
            <a:off x="2794000" y="4813300"/>
            <a:ext cx="2095500" cy="1143000"/>
          </a:xfrm>
          <a:prstGeom prst="roundRect">
            <a:avLst>
              <a:gd name="adj" fmla="val 8888"/>
            </a:avLst>
          </a:prstGeom>
          <a:solidFill>
            <a:srgbClr val="0052FF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pic>
        <p:nvPicPr>
          <p:cNvPr id="33" name="Picture 3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921000" y="4940300"/>
            <a:ext cx="304800" cy="304800"/>
          </a:xfrm>
          <a:prstGeom prst="rect">
            <a:avLst/>
          </a:prstGeom>
        </p:spPr>
      </p:pic>
      <p:sp>
        <p:nvSpPr>
          <p:cNvPr id="34" name="AutoShape 31"/>
          <p:cNvSpPr/>
          <p:nvPr/>
        </p:nvSpPr>
        <p:spPr>
          <a:xfrm>
            <a:off x="3275330" y="4996180"/>
            <a:ext cx="1689735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国家专精特新</a:t>
            </a:r>
            <a:r>
              <a:rPr lang="zh-CN" altLang="en-US" sz="14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重点“小巨人”企业</a:t>
            </a:r>
            <a:endParaRPr lang="en-US" sz="1400" b="1" i="0" u="none" strike="noStrike">
              <a:solidFill>
                <a:srgbClr val="FFFFFF"/>
              </a:solidFill>
              <a:latin typeface="微软雅黑" panose="00000500000000000000" charset="-122"/>
              <a:ea typeface="微软雅黑" panose="00000500000000000000" charset="-122"/>
              <a:cs typeface="微软雅黑" panose="020B0200000000000000" charset="-122"/>
              <a:sym typeface="微软雅黑" panose="020B0200000000000000" charset="-122"/>
            </a:endParaRPr>
          </a:p>
        </p:txBody>
      </p:sp>
      <p:sp>
        <p:nvSpPr>
          <p:cNvPr id="35" name="AutoShape 32"/>
          <p:cNvSpPr/>
          <p:nvPr/>
        </p:nvSpPr>
        <p:spPr>
          <a:xfrm>
            <a:off x="2921000" y="5490210"/>
            <a:ext cx="1841500" cy="37084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lvl="0" algn="l">
              <a:buClrTx/>
              <a:buSzTx/>
              <a:buFontTx/>
              <a:defRPr/>
            </a:pP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2024年首批入选</a:t>
            </a:r>
          </a:p>
        </p:txBody>
      </p:sp>
      <p:sp>
        <p:nvSpPr>
          <p:cNvPr id="36" name="AutoShape 33"/>
          <p:cNvSpPr/>
          <p:nvPr/>
        </p:nvSpPr>
        <p:spPr>
          <a:xfrm>
            <a:off x="5080000" y="4813300"/>
            <a:ext cx="2095500" cy="1143000"/>
          </a:xfrm>
          <a:prstGeom prst="roundRect">
            <a:avLst>
              <a:gd name="adj" fmla="val 8888"/>
            </a:avLst>
          </a:prstGeom>
          <a:solidFill>
            <a:srgbClr val="0052FF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pic>
        <p:nvPicPr>
          <p:cNvPr id="37" name="Picture 3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07000" y="4940300"/>
            <a:ext cx="304800" cy="304800"/>
          </a:xfrm>
          <a:prstGeom prst="rect">
            <a:avLst/>
          </a:prstGeom>
        </p:spPr>
      </p:pic>
      <p:sp>
        <p:nvSpPr>
          <p:cNvPr id="38" name="AutoShape 35"/>
          <p:cNvSpPr/>
          <p:nvPr/>
        </p:nvSpPr>
        <p:spPr>
          <a:xfrm>
            <a:off x="5561330" y="4914900"/>
            <a:ext cx="1689735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IDC FinTech Top50</a:t>
            </a:r>
          </a:p>
        </p:txBody>
      </p:sp>
      <p:sp>
        <p:nvSpPr>
          <p:cNvPr id="39" name="AutoShape 36"/>
          <p:cNvSpPr/>
          <p:nvPr/>
        </p:nvSpPr>
        <p:spPr>
          <a:xfrm>
            <a:off x="5207000" y="5421630"/>
            <a:ext cx="1841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lvl="0" algn="l">
              <a:buClrTx/>
              <a:buSzTx/>
              <a:buFontTx/>
              <a:defRPr/>
            </a:pP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2023-2025年</a:t>
            </a:r>
            <a:b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</a:b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连续三年上榜</a:t>
            </a:r>
          </a:p>
        </p:txBody>
      </p:sp>
      <p:sp>
        <p:nvSpPr>
          <p:cNvPr id="40" name="AutoShape 37"/>
          <p:cNvSpPr/>
          <p:nvPr/>
        </p:nvSpPr>
        <p:spPr>
          <a:xfrm>
            <a:off x="7366000" y="4813300"/>
            <a:ext cx="2095500" cy="1143000"/>
          </a:xfrm>
          <a:prstGeom prst="roundRect">
            <a:avLst>
              <a:gd name="adj" fmla="val 8888"/>
            </a:avLst>
          </a:prstGeom>
          <a:solidFill>
            <a:srgbClr val="0052FF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pic>
        <p:nvPicPr>
          <p:cNvPr id="41" name="Picture 38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93000" y="4940300"/>
            <a:ext cx="304800" cy="304800"/>
          </a:xfrm>
          <a:prstGeom prst="rect">
            <a:avLst/>
          </a:prstGeom>
        </p:spPr>
      </p:pic>
      <p:sp>
        <p:nvSpPr>
          <p:cNvPr id="42" name="AutoShape 39"/>
          <p:cNvSpPr/>
          <p:nvPr/>
        </p:nvSpPr>
        <p:spPr>
          <a:xfrm>
            <a:off x="7847330" y="4914900"/>
            <a:ext cx="1689735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硬核技术积累</a:t>
            </a:r>
          </a:p>
        </p:txBody>
      </p:sp>
      <p:sp>
        <p:nvSpPr>
          <p:cNvPr id="43" name="AutoShape 40"/>
          <p:cNvSpPr/>
          <p:nvPr/>
        </p:nvSpPr>
        <p:spPr>
          <a:xfrm>
            <a:off x="7493000" y="5421630"/>
            <a:ext cx="19685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lvl="0" algn="l">
              <a:buClrTx/>
              <a:buSzTx/>
              <a:buFontTx/>
              <a:defRPr/>
            </a:pP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9年 | 500人 | 10亿研发 | 128件专利 | 上海深圳+香港</a:t>
            </a:r>
          </a:p>
        </p:txBody>
      </p:sp>
      <p:sp>
        <p:nvSpPr>
          <p:cNvPr id="44" name="AutoShape 41"/>
          <p:cNvSpPr/>
          <p:nvPr/>
        </p:nvSpPr>
        <p:spPr>
          <a:xfrm>
            <a:off x="9652000" y="4813300"/>
            <a:ext cx="2032000" cy="1143000"/>
          </a:xfrm>
          <a:prstGeom prst="roundRect">
            <a:avLst>
              <a:gd name="adj" fmla="val 8888"/>
            </a:avLst>
          </a:prstGeom>
          <a:solidFill>
            <a:srgbClr val="0052FF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0000500000000000000" charset="-122"/>
              <a:ea typeface="微软雅黑" panose="00000500000000000000" charset="-122"/>
            </a:endParaRPr>
          </a:p>
        </p:txBody>
      </p:sp>
      <p:pic>
        <p:nvPicPr>
          <p:cNvPr id="45" name="Picture 42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779000" y="4940300"/>
            <a:ext cx="304800" cy="304800"/>
          </a:xfrm>
          <a:prstGeom prst="rect">
            <a:avLst/>
          </a:prstGeom>
        </p:spPr>
      </p:pic>
      <p:sp>
        <p:nvSpPr>
          <p:cNvPr id="46" name="AutoShape 43"/>
          <p:cNvSpPr/>
          <p:nvPr/>
        </p:nvSpPr>
        <p:spPr>
          <a:xfrm>
            <a:off x="10134600" y="4914900"/>
            <a:ext cx="1397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lvl="0" algn="l">
              <a:lnSpc>
                <a:spcPct val="125000"/>
              </a:lnSpc>
              <a:buClrTx/>
              <a:buSzTx/>
              <a:buFontTx/>
              <a:defRPr/>
            </a:pPr>
            <a:r>
              <a:rPr lang="en-US" sz="1400" b="1">
                <a:solidFill>
                  <a:srgbClr val="FFFFFF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交付保障</a:t>
            </a:r>
          </a:p>
        </p:txBody>
      </p:sp>
      <p:sp>
        <p:nvSpPr>
          <p:cNvPr id="47" name="AutoShape 44"/>
          <p:cNvSpPr/>
          <p:nvPr/>
        </p:nvSpPr>
        <p:spPr>
          <a:xfrm>
            <a:off x="9779000" y="5321300"/>
            <a:ext cx="1905000" cy="70866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lvl="0" algn="l">
              <a:buClrTx/>
              <a:buSzTx/>
              <a:buFontTx/>
              <a:defRPr/>
            </a:pP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核心团队来自头部券商和国际投行</a:t>
            </a:r>
          </a:p>
          <a:p>
            <a:pPr lvl="0" algn="l">
              <a:buClrTx/>
              <a:buSzTx/>
              <a:buFontTx/>
              <a:defRPr/>
            </a:pPr>
            <a:r>
              <a:rPr lang="en-US" altLang="zh-CN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Phase 1</a:t>
            </a:r>
            <a:r>
              <a:rPr lang="zh-CN" altLang="en-US" sz="1200">
                <a:solidFill>
                  <a:schemeClr val="bg1"/>
                </a:solidFill>
                <a:latin typeface="微软雅黑" panose="00000500000000000000" charset="-122"/>
                <a:ea typeface="微软雅黑" panose="00000500000000000000" charset="-122"/>
                <a:cs typeface="微软雅黑" panose="020B0200000000000000" charset="-122"/>
                <a:sym typeface="微软雅黑" panose="020B0200000000000000" charset="-122"/>
              </a:rPr>
              <a:t>全程驻场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厂商对比：华锐是唯一同时覆盖FICC+买方组合管理的国产方案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市场上没有第二家国产厂商能一体化满足国元五大跃升目标</a:t>
            </a:r>
          </a:p>
        </p:txBody>
      </p:sp>
      <p:sp>
        <p:nvSpPr>
          <p:cNvPr id="10" name="VCard1"/>
          <p:cNvSpPr/>
          <p:nvPr/>
        </p:nvSpPr>
        <p:spPr>
          <a:xfrm>
            <a:off x="558800" y="1016000"/>
            <a:ext cx="2667000" cy="4699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" name="VName1"/>
          <p:cNvSpPr/>
          <p:nvPr/>
        </p:nvSpPr>
        <p:spPr>
          <a:xfrm>
            <a:off x="685800" y="1117600"/>
            <a:ext cx="2413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微软雅黑"/>
                <a:ea typeface="微软雅黑"/>
              </a:rPr>
              <a:t>国际厂商</a:t>
            </a:r>
          </a:p>
          <a:p>
            <a:pPr algn="ctr">
              <a:buNone/>
            </a:pPr>
            <a:r>
              <a:rPr lang="zh-CN" sz="1100" dirty="0">
                <a:solidFill>
                  <a:srgbClr val="D6E4F7"/>
                </a:solidFill>
                <a:latin typeface="微软雅黑"/>
                <a:ea typeface="微软雅黑"/>
              </a:rPr>
              <a:t>Calypso / Murex</a:t>
            </a:r>
          </a:p>
        </p:txBody>
      </p:sp>
      <p:sp>
        <p:nvSpPr>
          <p:cNvPr id="12" name="VDiv1"/>
          <p:cNvSpPr/>
          <p:nvPr/>
        </p:nvSpPr>
        <p:spPr>
          <a:xfrm>
            <a:off x="812800" y="1778000"/>
            <a:ext cx="2159000" cy="2540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VItem0_0"/>
          <p:cNvSpPr/>
          <p:nvPr/>
        </p:nvSpPr>
        <p:spPr>
          <a:xfrm>
            <a:off x="685800" y="1905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微软雅黑"/>
                <a:ea typeface="微软雅黑"/>
              </a:rPr>
              <a:t>组合管理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/>
                <a:ea typeface="微软雅黑"/>
              </a:rPr>
              <a:t>✓ 强</a:t>
            </a:r>
          </a:p>
        </p:txBody>
      </p:sp>
      <p:sp>
        <p:nvSpPr>
          <p:cNvPr id="14" name="VItem0_1"/>
          <p:cNvSpPr/>
          <p:nvPr/>
        </p:nvSpPr>
        <p:spPr>
          <a:xfrm>
            <a:off x="685800" y="2413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微软雅黑"/>
                <a:ea typeface="微软雅黑"/>
              </a:rPr>
              <a:t>实时风险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/>
                <a:ea typeface="微软雅黑"/>
              </a:rPr>
              <a:t>✓ 强</a:t>
            </a:r>
          </a:p>
        </p:txBody>
      </p:sp>
      <p:sp>
        <p:nvSpPr>
          <p:cNvPr id="15" name="VItem0_2"/>
          <p:cNvSpPr/>
          <p:nvPr/>
        </p:nvSpPr>
        <p:spPr>
          <a:xfrm>
            <a:off x="685800" y="2921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微软雅黑"/>
                <a:ea typeface="微软雅黑"/>
              </a:rPr>
              <a:t>量化策略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/>
                <a:ea typeface="微软雅黑"/>
              </a:rPr>
              <a:t>△ 部分</a:t>
            </a:r>
          </a:p>
        </p:txBody>
      </p:sp>
      <p:sp>
        <p:nvSpPr>
          <p:cNvPr id="16" name="VItem0_3"/>
          <p:cNvSpPr/>
          <p:nvPr/>
        </p:nvSpPr>
        <p:spPr>
          <a:xfrm>
            <a:off x="685800" y="3429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微软雅黑"/>
                <a:ea typeface="微软雅黑"/>
              </a:rPr>
              <a:t>事件风控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/>
                <a:ea typeface="微软雅黑"/>
              </a:rPr>
              <a:t>✓ 强</a:t>
            </a:r>
          </a:p>
        </p:txBody>
      </p:sp>
      <p:sp>
        <p:nvSpPr>
          <p:cNvPr id="17" name="VItem0_4"/>
          <p:cNvSpPr/>
          <p:nvPr/>
        </p:nvSpPr>
        <p:spPr>
          <a:xfrm>
            <a:off x="685800" y="3937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微软雅黑"/>
                <a:ea typeface="微软雅黑"/>
              </a:rPr>
              <a:t>指令全链路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/>
                <a:ea typeface="微软雅黑"/>
              </a:rPr>
              <a:t>✓ 强</a:t>
            </a:r>
          </a:p>
        </p:txBody>
      </p:sp>
      <p:sp>
        <p:nvSpPr>
          <p:cNvPr id="18" name="VItem0_5"/>
          <p:cNvSpPr/>
          <p:nvPr/>
        </p:nvSpPr>
        <p:spPr>
          <a:xfrm>
            <a:off x="685800" y="4445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微软雅黑"/>
                <a:ea typeface="微软雅黑"/>
              </a:rPr>
              <a:t>信创适配</a:t>
            </a:r>
          </a:p>
          <a:p>
            <a:pPr algn="l">
              <a:buNone/>
            </a:pPr>
            <a:r>
              <a:rPr lang="zh-CN" sz="1200" b="1" dirty="0">
                <a:solidFill>
                  <a:srgbClr val="888888"/>
                </a:solidFill>
                <a:latin typeface="微软雅黑"/>
                <a:ea typeface="微软雅黑"/>
              </a:rPr>
              <a:t>✗ 失格</a:t>
            </a:r>
          </a:p>
        </p:txBody>
      </p:sp>
      <p:sp>
        <p:nvSpPr>
          <p:cNvPr id="19" name="VItem0_6"/>
          <p:cNvSpPr/>
          <p:nvPr/>
        </p:nvSpPr>
        <p:spPr>
          <a:xfrm>
            <a:off x="685800" y="4953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微软雅黑"/>
                <a:ea typeface="微软雅黑"/>
              </a:rPr>
              <a:t>价格/服务</a:t>
            </a:r>
          </a:p>
          <a:p>
            <a:pPr algn="l">
              <a:buNone/>
            </a:pPr>
            <a:r>
              <a:rPr lang="zh-CN" sz="1200" b="1" dirty="0">
                <a:solidFill>
                  <a:srgbClr val="D6E4F7"/>
                </a:solidFill>
                <a:latin typeface="微软雅黑"/>
                <a:ea typeface="微软雅黑"/>
              </a:rPr>
              <a:t>高成本</a:t>
            </a:r>
          </a:p>
        </p:txBody>
      </p:sp>
      <p:sp>
        <p:nvSpPr>
          <p:cNvPr id="20" name="VCard2"/>
          <p:cNvSpPr/>
          <p:nvPr/>
        </p:nvSpPr>
        <p:spPr>
          <a:xfrm>
            <a:off x="3352800" y="1016000"/>
            <a:ext cx="2667000" cy="4699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" name="VName2"/>
          <p:cNvSpPr/>
          <p:nvPr/>
        </p:nvSpPr>
        <p:spPr>
          <a:xfrm>
            <a:off x="3479800" y="1117600"/>
            <a:ext cx="2413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微软雅黑"/>
                <a:ea typeface="微软雅黑"/>
              </a:rPr>
              <a:t>数据厂商</a:t>
            </a:r>
          </a:p>
          <a:p>
            <a:pPr algn="ctr">
              <a:buNone/>
            </a:pPr>
            <a:r>
              <a:rPr lang="zh-CN" sz="1100" dirty="0">
                <a:solidFill>
                  <a:srgbClr val="D6E4F7"/>
                </a:solidFill>
                <a:latin typeface="微软雅黑"/>
                <a:ea typeface="微软雅黑"/>
              </a:rPr>
              <a:t>Wind / 同花顺</a:t>
            </a:r>
          </a:p>
        </p:txBody>
      </p:sp>
      <p:sp>
        <p:nvSpPr>
          <p:cNvPr id="22" name="VDiv2"/>
          <p:cNvSpPr/>
          <p:nvPr/>
        </p:nvSpPr>
        <p:spPr>
          <a:xfrm>
            <a:off x="3606800" y="1778000"/>
            <a:ext cx="2159000" cy="2540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" name="VItem1_0"/>
          <p:cNvSpPr/>
          <p:nvPr/>
        </p:nvSpPr>
        <p:spPr>
          <a:xfrm>
            <a:off x="3479800" y="1905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微软雅黑"/>
                <a:ea typeface="微软雅黑"/>
              </a:rPr>
              <a:t>组合管理</a:t>
            </a:r>
          </a:p>
          <a:p>
            <a:pPr algn="l">
              <a:buNone/>
            </a:pPr>
            <a:r>
              <a:rPr lang="zh-CN" sz="1200" b="1" dirty="0">
                <a:solidFill>
                  <a:srgbClr val="888888"/>
                </a:solidFill>
                <a:latin typeface="微软雅黑"/>
                <a:ea typeface="微软雅黑"/>
              </a:rPr>
              <a:t>✗ 无</a:t>
            </a:r>
          </a:p>
        </p:txBody>
      </p:sp>
      <p:sp>
        <p:nvSpPr>
          <p:cNvPr id="24" name="VItem1_1"/>
          <p:cNvSpPr/>
          <p:nvPr/>
        </p:nvSpPr>
        <p:spPr>
          <a:xfrm>
            <a:off x="3479800" y="2413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微软雅黑"/>
                <a:ea typeface="微软雅黑"/>
              </a:rPr>
              <a:t>实时风险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/>
                <a:ea typeface="微软雅黑"/>
              </a:rPr>
              <a:t>△ 分析</a:t>
            </a:r>
          </a:p>
        </p:txBody>
      </p:sp>
      <p:sp>
        <p:nvSpPr>
          <p:cNvPr id="25" name="VItem1_2"/>
          <p:cNvSpPr/>
          <p:nvPr/>
        </p:nvSpPr>
        <p:spPr>
          <a:xfrm>
            <a:off x="3479800" y="2921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微软雅黑"/>
                <a:ea typeface="微软雅黑"/>
              </a:rPr>
              <a:t>量化策略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/>
                <a:ea typeface="微软雅黑"/>
              </a:rPr>
              <a:t>△ 数据</a:t>
            </a:r>
          </a:p>
        </p:txBody>
      </p:sp>
      <p:sp>
        <p:nvSpPr>
          <p:cNvPr id="26" name="VItem1_3"/>
          <p:cNvSpPr/>
          <p:nvPr/>
        </p:nvSpPr>
        <p:spPr>
          <a:xfrm>
            <a:off x="3479800" y="3429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微软雅黑"/>
                <a:ea typeface="微软雅黑"/>
              </a:rPr>
              <a:t>事件风控</a:t>
            </a:r>
          </a:p>
          <a:p>
            <a:pPr algn="l">
              <a:buNone/>
            </a:pPr>
            <a:r>
              <a:rPr lang="zh-CN" sz="1200" b="1" dirty="0">
                <a:solidFill>
                  <a:srgbClr val="888888"/>
                </a:solidFill>
                <a:latin typeface="微软雅黑"/>
                <a:ea typeface="微软雅黑"/>
              </a:rPr>
              <a:t>✗ 无</a:t>
            </a:r>
          </a:p>
        </p:txBody>
      </p:sp>
      <p:sp>
        <p:nvSpPr>
          <p:cNvPr id="27" name="VItem1_4"/>
          <p:cNvSpPr/>
          <p:nvPr/>
        </p:nvSpPr>
        <p:spPr>
          <a:xfrm>
            <a:off x="3479800" y="3937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微软雅黑"/>
                <a:ea typeface="微软雅黑"/>
              </a:rPr>
              <a:t>指令全链路</a:t>
            </a:r>
          </a:p>
          <a:p>
            <a:pPr algn="l">
              <a:buNone/>
            </a:pPr>
            <a:r>
              <a:rPr lang="zh-CN" sz="1200" b="1" dirty="0">
                <a:solidFill>
                  <a:srgbClr val="888888"/>
                </a:solidFill>
                <a:latin typeface="微软雅黑"/>
                <a:ea typeface="微软雅黑"/>
              </a:rPr>
              <a:t>✗ 无</a:t>
            </a:r>
          </a:p>
        </p:txBody>
      </p:sp>
      <p:sp>
        <p:nvSpPr>
          <p:cNvPr id="28" name="VItem1_5"/>
          <p:cNvSpPr/>
          <p:nvPr/>
        </p:nvSpPr>
        <p:spPr>
          <a:xfrm>
            <a:off x="3479800" y="4445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微软雅黑"/>
                <a:ea typeface="微软雅黑"/>
              </a:rPr>
              <a:t>信创适配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/>
                <a:ea typeface="微软雅黑"/>
              </a:rPr>
              <a:t>△ 部分</a:t>
            </a:r>
          </a:p>
        </p:txBody>
      </p:sp>
      <p:sp>
        <p:nvSpPr>
          <p:cNvPr id="29" name="VItem1_6"/>
          <p:cNvSpPr/>
          <p:nvPr/>
        </p:nvSpPr>
        <p:spPr>
          <a:xfrm>
            <a:off x="3479800" y="4953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微软雅黑"/>
                <a:ea typeface="微软雅黑"/>
              </a:rPr>
              <a:t>价格/服务</a:t>
            </a:r>
          </a:p>
          <a:p>
            <a:pPr algn="l">
              <a:buNone/>
            </a:pPr>
            <a:r>
              <a:rPr lang="zh-CN" sz="1200" b="1" dirty="0">
                <a:solidFill>
                  <a:srgbClr val="D6E4F7"/>
                </a:solidFill>
                <a:latin typeface="微软雅黑"/>
                <a:ea typeface="微软雅黑"/>
              </a:rPr>
              <a:t>按订阅</a:t>
            </a:r>
          </a:p>
        </p:txBody>
      </p:sp>
      <p:sp>
        <p:nvSpPr>
          <p:cNvPr id="30" name="VCard3"/>
          <p:cNvSpPr/>
          <p:nvPr/>
        </p:nvSpPr>
        <p:spPr>
          <a:xfrm>
            <a:off x="6146800" y="1016000"/>
            <a:ext cx="2667000" cy="4699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6350">
            <a:solidFill>
              <a:srgbClr val="1B327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1" name="VName3"/>
          <p:cNvSpPr/>
          <p:nvPr/>
        </p:nvSpPr>
        <p:spPr>
          <a:xfrm>
            <a:off x="6273800" y="1117600"/>
            <a:ext cx="2413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微软雅黑"/>
                <a:ea typeface="微软雅黑"/>
              </a:rPr>
              <a:t>交易系统厂商</a:t>
            </a:r>
          </a:p>
          <a:p>
            <a:pPr algn="ctr">
              <a:buNone/>
            </a:pPr>
            <a:r>
              <a:rPr lang="zh-CN" sz="1100" dirty="0">
                <a:solidFill>
                  <a:srgbClr val="D6E4F7"/>
                </a:solidFill>
                <a:latin typeface="微软雅黑"/>
                <a:ea typeface="微软雅黑"/>
              </a:rPr>
              <a:t>金证 / 恒生</a:t>
            </a:r>
          </a:p>
        </p:txBody>
      </p:sp>
      <p:sp>
        <p:nvSpPr>
          <p:cNvPr id="32" name="VDiv3"/>
          <p:cNvSpPr/>
          <p:nvPr/>
        </p:nvSpPr>
        <p:spPr>
          <a:xfrm>
            <a:off x="6400800" y="1778000"/>
            <a:ext cx="2159000" cy="2540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3" name="VItem2_0"/>
          <p:cNvSpPr/>
          <p:nvPr/>
        </p:nvSpPr>
        <p:spPr>
          <a:xfrm>
            <a:off x="6273800" y="1905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微软雅黑"/>
                <a:ea typeface="微软雅黑"/>
              </a:rPr>
              <a:t>组合管理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/>
                <a:ea typeface="微软雅黑"/>
              </a:rPr>
              <a:t>△ 弱</a:t>
            </a:r>
          </a:p>
        </p:txBody>
      </p:sp>
      <p:sp>
        <p:nvSpPr>
          <p:cNvPr id="34" name="VItem2_1"/>
          <p:cNvSpPr/>
          <p:nvPr/>
        </p:nvSpPr>
        <p:spPr>
          <a:xfrm>
            <a:off x="6273800" y="2413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微软雅黑"/>
                <a:ea typeface="微软雅黑"/>
              </a:rPr>
              <a:t>实时风险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/>
                <a:ea typeface="微软雅黑"/>
              </a:rPr>
              <a:t>△ 弱</a:t>
            </a:r>
          </a:p>
        </p:txBody>
      </p:sp>
      <p:sp>
        <p:nvSpPr>
          <p:cNvPr id="35" name="VItem2_2"/>
          <p:cNvSpPr/>
          <p:nvPr/>
        </p:nvSpPr>
        <p:spPr>
          <a:xfrm>
            <a:off x="6273800" y="2921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微软雅黑"/>
                <a:ea typeface="微软雅黑"/>
              </a:rPr>
              <a:t>量化策略</a:t>
            </a:r>
          </a:p>
          <a:p>
            <a:pPr algn="l">
              <a:buNone/>
            </a:pPr>
            <a:r>
              <a:rPr lang="zh-CN" sz="1200" b="1" dirty="0">
                <a:solidFill>
                  <a:srgbClr val="888888"/>
                </a:solidFill>
                <a:latin typeface="微软雅黑"/>
                <a:ea typeface="微软雅黑"/>
              </a:rPr>
              <a:t>✗ 无</a:t>
            </a:r>
          </a:p>
        </p:txBody>
      </p:sp>
      <p:sp>
        <p:nvSpPr>
          <p:cNvPr id="36" name="VItem2_3"/>
          <p:cNvSpPr/>
          <p:nvPr/>
        </p:nvSpPr>
        <p:spPr>
          <a:xfrm>
            <a:off x="6273800" y="3429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微软雅黑"/>
                <a:ea typeface="微软雅黑"/>
              </a:rPr>
              <a:t>事件风控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/>
                <a:ea typeface="微软雅黑"/>
              </a:rPr>
              <a:t>△ 弱</a:t>
            </a:r>
          </a:p>
        </p:txBody>
      </p:sp>
      <p:sp>
        <p:nvSpPr>
          <p:cNvPr id="37" name="VItem2_4"/>
          <p:cNvSpPr/>
          <p:nvPr/>
        </p:nvSpPr>
        <p:spPr>
          <a:xfrm>
            <a:off x="6273800" y="3937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微软雅黑"/>
                <a:ea typeface="微软雅黑"/>
              </a:rPr>
              <a:t>指令全链路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/>
                <a:ea typeface="微软雅黑"/>
              </a:rPr>
              <a:t>✓ 强</a:t>
            </a:r>
          </a:p>
        </p:txBody>
      </p:sp>
      <p:sp>
        <p:nvSpPr>
          <p:cNvPr id="38" name="VItem2_5"/>
          <p:cNvSpPr/>
          <p:nvPr/>
        </p:nvSpPr>
        <p:spPr>
          <a:xfrm>
            <a:off x="6273800" y="4445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微软雅黑"/>
                <a:ea typeface="微软雅黑"/>
              </a:rPr>
              <a:t>信创适配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/>
                <a:ea typeface="微软雅黑"/>
              </a:rPr>
              <a:t>✓ 部分</a:t>
            </a:r>
          </a:p>
        </p:txBody>
      </p:sp>
      <p:sp>
        <p:nvSpPr>
          <p:cNvPr id="39" name="VItem2_6"/>
          <p:cNvSpPr/>
          <p:nvPr/>
        </p:nvSpPr>
        <p:spPr>
          <a:xfrm>
            <a:off x="6273800" y="4953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微软雅黑"/>
                <a:ea typeface="微软雅黑"/>
              </a:rPr>
              <a:t>价格/服务</a:t>
            </a:r>
          </a:p>
          <a:p>
            <a:pPr algn="l">
              <a:buNone/>
            </a:pPr>
            <a:r>
              <a:rPr lang="zh-CN" sz="1200" b="1" dirty="0">
                <a:solidFill>
                  <a:srgbClr val="D6E4F7"/>
                </a:solidFill>
                <a:latin typeface="微软雅黑"/>
                <a:ea typeface="微软雅黑"/>
              </a:rPr>
              <a:t>系统依赖</a:t>
            </a:r>
          </a:p>
        </p:txBody>
      </p:sp>
      <p:sp>
        <p:nvSpPr>
          <p:cNvPr id="40" name="VCard4"/>
          <p:cNvSpPr/>
          <p:nvPr/>
        </p:nvSpPr>
        <p:spPr>
          <a:xfrm>
            <a:off x="8940800" y="1016000"/>
            <a:ext cx="2667000" cy="4699000"/>
          </a:xfrm>
          <a:prstGeom prst="roundRect">
            <a:avLst>
              <a:gd name="adj" fmla="val 5714"/>
            </a:avLst>
          </a:prstGeom>
          <a:solidFill>
            <a:srgbClr val="1B3275"/>
          </a:solidFill>
          <a:ln w="19050">
            <a:solidFill>
              <a:srgbClr val="E53935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1" name="VName4"/>
          <p:cNvSpPr/>
          <p:nvPr/>
        </p:nvSpPr>
        <p:spPr>
          <a:xfrm>
            <a:off x="9067800" y="1117600"/>
            <a:ext cx="2413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zh-CN" sz="1600" b="1" dirty="0">
                <a:solidFill>
                  <a:srgbClr val="FFFFFF"/>
                </a:solidFill>
                <a:latin typeface="微软雅黑"/>
                <a:ea typeface="微软雅黑"/>
              </a:rPr>
              <a:t>华锐POMS</a:t>
            </a:r>
          </a:p>
          <a:p>
            <a:pPr algn="ctr">
              <a:buNone/>
            </a:pPr>
            <a:r>
              <a:rPr lang="zh-CN" sz="1100" dirty="0">
                <a:solidFill>
                  <a:srgbClr val="D6E4F7"/>
                </a:solidFill>
                <a:latin typeface="微软雅黑"/>
                <a:ea typeface="微软雅黑"/>
              </a:rPr>
              <a:t>全栈国产化</a:t>
            </a:r>
          </a:p>
        </p:txBody>
      </p:sp>
      <p:sp>
        <p:nvSpPr>
          <p:cNvPr id="42" name="VDiv4"/>
          <p:cNvSpPr/>
          <p:nvPr/>
        </p:nvSpPr>
        <p:spPr>
          <a:xfrm>
            <a:off x="9194800" y="1778000"/>
            <a:ext cx="2159000" cy="254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3" name="VItem3_0"/>
          <p:cNvSpPr/>
          <p:nvPr/>
        </p:nvSpPr>
        <p:spPr>
          <a:xfrm>
            <a:off x="9067800" y="1905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微软雅黑"/>
                <a:ea typeface="微软雅黑"/>
              </a:rPr>
              <a:t>组合管理</a:t>
            </a:r>
          </a:p>
          <a:p>
            <a:pPr algn="l">
              <a:buNone/>
            </a:pPr>
            <a:r>
              <a:rPr lang="zh-CN" sz="1200" b="1" dirty="0">
                <a:solidFill>
                  <a:srgbClr val="3B7DD8"/>
                </a:solidFill>
                <a:latin typeface="微软雅黑"/>
                <a:ea typeface="微软雅黑"/>
              </a:rPr>
              <a:t>✓✓ 专项设计</a:t>
            </a:r>
          </a:p>
        </p:txBody>
      </p:sp>
      <p:sp>
        <p:nvSpPr>
          <p:cNvPr id="44" name="VItem3_1"/>
          <p:cNvSpPr/>
          <p:nvPr/>
        </p:nvSpPr>
        <p:spPr>
          <a:xfrm>
            <a:off x="9067800" y="2413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微软雅黑"/>
                <a:ea typeface="微软雅黑"/>
              </a:rPr>
              <a:t>实时风险</a:t>
            </a:r>
          </a:p>
          <a:p>
            <a:pPr algn="l">
              <a:buNone/>
            </a:pPr>
            <a:r>
              <a:rPr lang="zh-CN" sz="1200" b="1" dirty="0">
                <a:solidFill>
                  <a:srgbClr val="3B7DD8"/>
                </a:solidFill>
                <a:latin typeface="微软雅黑"/>
                <a:ea typeface="微软雅黑"/>
              </a:rPr>
              <a:t>✓✓ 千亿级</a:t>
            </a:r>
          </a:p>
        </p:txBody>
      </p:sp>
      <p:sp>
        <p:nvSpPr>
          <p:cNvPr id="45" name="VItem3_2"/>
          <p:cNvSpPr/>
          <p:nvPr/>
        </p:nvSpPr>
        <p:spPr>
          <a:xfrm>
            <a:off x="9067800" y="2921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微软雅黑"/>
                <a:ea typeface="微软雅黑"/>
              </a:rPr>
              <a:t>量化策略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/>
                <a:ea typeface="微软雅黑"/>
              </a:rPr>
              <a:t>✓ 多策略</a:t>
            </a:r>
          </a:p>
        </p:txBody>
      </p:sp>
      <p:sp>
        <p:nvSpPr>
          <p:cNvPr id="46" name="VItem3_3"/>
          <p:cNvSpPr/>
          <p:nvPr/>
        </p:nvSpPr>
        <p:spPr>
          <a:xfrm>
            <a:off x="9067800" y="3429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微软雅黑"/>
                <a:ea typeface="微软雅黑"/>
              </a:rPr>
              <a:t>事件风控</a:t>
            </a:r>
          </a:p>
          <a:p>
            <a:pPr algn="l">
              <a:buNone/>
            </a:pPr>
            <a:r>
              <a:rPr lang="zh-CN" sz="1200" b="1" dirty="0">
                <a:solidFill>
                  <a:srgbClr val="3B7DD8"/>
                </a:solidFill>
                <a:latin typeface="微软雅黑"/>
                <a:ea typeface="微软雅黑"/>
              </a:rPr>
              <a:t>✓✓ CEP+压测</a:t>
            </a:r>
          </a:p>
        </p:txBody>
      </p:sp>
      <p:sp>
        <p:nvSpPr>
          <p:cNvPr id="47" name="VItem3_4"/>
          <p:cNvSpPr/>
          <p:nvPr/>
        </p:nvSpPr>
        <p:spPr>
          <a:xfrm>
            <a:off x="9067800" y="3937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微软雅黑"/>
                <a:ea typeface="微软雅黑"/>
              </a:rPr>
              <a:t>指令全链路</a:t>
            </a:r>
          </a:p>
          <a:p>
            <a:pPr algn="l">
              <a:buNone/>
            </a:pPr>
            <a:r>
              <a:rPr lang="zh-CN" sz="1200" b="1" dirty="0">
                <a:solidFill>
                  <a:srgbClr val="FFFFFF"/>
                </a:solidFill>
                <a:latin typeface="微软雅黑"/>
                <a:ea typeface="微软雅黑"/>
              </a:rPr>
              <a:t>✓ 全生命周期</a:t>
            </a:r>
          </a:p>
        </p:txBody>
      </p:sp>
      <p:sp>
        <p:nvSpPr>
          <p:cNvPr id="48" name="VItem3_5"/>
          <p:cNvSpPr/>
          <p:nvPr/>
        </p:nvSpPr>
        <p:spPr>
          <a:xfrm>
            <a:off x="9067800" y="4445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微软雅黑"/>
                <a:ea typeface="微软雅黑"/>
              </a:rPr>
              <a:t>信创适配</a:t>
            </a:r>
          </a:p>
          <a:p>
            <a:pPr algn="l">
              <a:buNone/>
            </a:pPr>
            <a:r>
              <a:rPr lang="zh-CN" sz="1200" b="1" dirty="0">
                <a:solidFill>
                  <a:srgbClr val="3B7DD8"/>
                </a:solidFill>
                <a:latin typeface="微软雅黑"/>
                <a:ea typeface="微软雅黑"/>
              </a:rPr>
              <a:t>✓✓ 全栈</a:t>
            </a:r>
          </a:p>
        </p:txBody>
      </p:sp>
      <p:sp>
        <p:nvSpPr>
          <p:cNvPr id="49" name="VItem3_6"/>
          <p:cNvSpPr/>
          <p:nvPr/>
        </p:nvSpPr>
        <p:spPr>
          <a:xfrm>
            <a:off x="9067800" y="4953000"/>
            <a:ext cx="241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000" tIns="0" rIns="18000" bIns="0" anchor="ctr"/>
          <a:lstStyle/>
          <a:p>
            <a:pPr algn="l">
              <a:buNone/>
            </a:pPr>
            <a:r>
              <a:rPr lang="zh-CN" sz="1000" dirty="0">
                <a:solidFill>
                  <a:srgbClr val="888888"/>
                </a:solidFill>
                <a:latin typeface="微软雅黑"/>
                <a:ea typeface="微软雅黑"/>
              </a:rPr>
              <a:t>价格/服务</a:t>
            </a:r>
          </a:p>
          <a:p>
            <a:pPr algn="l">
              <a:buNone/>
            </a:pPr>
            <a:r>
              <a:rPr lang="zh-CN" sz="1200" b="1" dirty="0">
                <a:solidFill>
                  <a:srgbClr val="3B7DD8"/>
                </a:solidFill>
                <a:latin typeface="微软雅黑"/>
                <a:ea typeface="微软雅黑"/>
              </a:rPr>
              <a:t>✓✓ 快速响应</a:t>
            </a:r>
          </a:p>
        </p:txBody>
      </p:sp>
      <p:sp>
        <p:nvSpPr>
          <p:cNvPr id="50" name="Takeaway"/>
          <p:cNvSpPr/>
          <p:nvPr/>
        </p:nvSpPr>
        <p:spPr>
          <a:xfrm>
            <a:off x="558800" y="5816600"/>
            <a:ext cx="11074400" cy="533400"/>
          </a:xfrm>
          <a:prstGeom prst="roundRect">
            <a:avLst>
              <a:gd name="adj" fmla="val 5714"/>
            </a:avLst>
          </a:prstGeom>
          <a:solidFill>
            <a:srgbClr val="0F2060"/>
          </a:solidFill>
          <a:ln>
            <a:noFill/>
          </a:ln>
        </p:spPr>
        <p:txBody>
          <a:bodyPr wrap="square" lIns="108000" tIns="18000" rIns="108000" bIns="18000" anchor="ctr"/>
          <a:lstStyle/>
          <a:p>
            <a:pPr algn="l">
              <a:buNone/>
            </a:pPr>
            <a:r>
              <a:rPr lang="zh-CN" sz="1400" b="1" dirty="0">
                <a:solidFill>
                  <a:srgbClr val="FFFFFF"/>
                </a:solidFill>
                <a:latin typeface="微软雅黑"/>
                <a:ea typeface="微软雅黑"/>
              </a:rPr>
              <a:t>华锐独特定位</a:t>
            </a:r>
            <a:r>
              <a:rPr lang="zh-CN" sz="1400" dirty="0">
                <a:solidFill>
                  <a:srgbClr val="FFFFFF"/>
                </a:solidFill>
                <a:latin typeface="微软雅黑"/>
                <a:ea typeface="微软雅黑"/>
              </a:rPr>
              <a:t>  |  唯一同时满足：FICC前台基因 + 买方资管平台 + 信创合规认证 + 一体化统一部署  |  综合评分 9/9</a:t>
            </a:r>
          </a:p>
        </p:txBody>
      </p:sp>
    </p:spTree>
    <p:extLst>
      <p:ext uri="{BB962C8B-B14F-4D97-AF65-F5344CB8AC3E}">
        <p14:creationId xmlns:p14="http://schemas.microsoft.com/office/powerpoint/2010/main" val="1231231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华锐四大不可替代优势：为什么一体化 &gt; 拼凑集成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6年毕马威领先金融科技50强 · 128件发明专利 · 千亿级客户验证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2651760" cy="448056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B5EC7"/>
                </a:solidFill>
                <a:latin typeface="微软雅黑"/>
              </a:defRPr>
            </a:pPr>
            <a: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不只是数据对接</a:t>
            </a:r>
            <a:br/>
            <a:r>
              <a:t>完整FICC业务平台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76272"/>
            <a:ext cx="210312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286000"/>
            <a:ext cx="2468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从数据集成→业务应用的全栈平台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微软雅黑"/>
              </a:defRPr>
            </a:pPr>
            <a:r>
              <a:t>▸ 覆盖组合管理/定价/风控/归因/执行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微软雅黑"/>
              </a:defRPr>
            </a:pPr>
            <a:r>
              <a:t>▸ 一个厂商解决全部问题，无需拼凑集成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微软雅黑"/>
              </a:defRPr>
            </a:pPr>
            <a:r>
              <a:t>▸ 避免多厂商接口灾难（数据不一致/责任推诿）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024128"/>
            <a:ext cx="2651760" cy="448056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83280" y="107899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3B7DD8"/>
                </a:solidFill>
                <a:latin typeface="微软雅黑"/>
              </a:defRPr>
            </a:pPr>
            <a: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60020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不只是分析工具</a:t>
            </a:r>
            <a:br/>
            <a:r>
              <a:t>覆盖交易执行全链路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66160" y="2176272"/>
            <a:ext cx="210312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29000" y="2286000"/>
            <a:ext cx="2468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相对价值策略到multi-leg执行一条龙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微软雅黑"/>
              </a:defRPr>
            </a:pPr>
            <a:r>
              <a:t>▸ QP优化引擎→指令→OEMS→TCA闭环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微软雅黑"/>
              </a:defRPr>
            </a:pPr>
            <a:r>
              <a:t>▸ 投研信号直接驱动组合调整，消除死亡谷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微软雅黑"/>
              </a:defRPr>
            </a:pPr>
            <a:r>
              <a:t>▸ Campisi 2.0+Brinson归因持续改进Alpha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024128"/>
            <a:ext cx="2651760" cy="448056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17920" y="107899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160020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不只是国内</a:t>
            </a:r>
            <a:br/>
            <a:r>
              <a:t>香港国际业务中心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176272"/>
            <a:ext cx="210312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63640" y="2286000"/>
            <a:ext cx="2468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支持跨境投资，港股/外债/外汇统一管理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微软雅黑"/>
              </a:defRPr>
            </a:pPr>
            <a:r>
              <a:t>▸ 国际化资产不用另找供应商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微软雅黑"/>
              </a:defRPr>
            </a:pPr>
            <a:r>
              <a:t>▸ HKMA/SEC合规框架支持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微软雅黑"/>
              </a:defRPr>
            </a:pPr>
            <a:r>
              <a:t>▸ 跨境业务扩张无缝衔接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61120" y="1024128"/>
            <a:ext cx="2651760" cy="448056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0" y="107899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F2060"/>
                </a:solidFill>
                <a:latin typeface="微软雅黑"/>
              </a:defRPr>
            </a:pPr>
            <a:r>
              <a:t>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160020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不只是替代</a:t>
            </a:r>
            <a:br/>
            <a:r>
              <a:t>对标Aladdin定义天花板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35440" y="2176272"/>
            <a:ext cx="2103120" cy="27432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98280" y="2286000"/>
            <a:ext cx="2468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愿景：国元的Mini-Aladdin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微软雅黑"/>
              </a:defRPr>
            </a:pPr>
            <a:r>
              <a:t>▸ 千亿规模值得世界级系统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微软雅黑"/>
              </a:defRPr>
            </a:pPr>
            <a:r>
              <a:t>▸ 10亿研发投入+500人团队持续演进</a:t>
            </a:r>
          </a:p>
          <a:p>
            <a:pPr>
              <a:spcBef>
                <a:spcPts val="500"/>
              </a:spcBef>
              <a:defRPr sz="1400">
                <a:solidFill>
                  <a:srgbClr val="FFFFFF"/>
                </a:solidFill>
                <a:latin typeface="微软雅黑"/>
              </a:defRPr>
            </a:pPr>
            <a:r>
              <a:t>▸ 3年路线图，而非项目交付即止步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650992"/>
            <a:ext cx="11247120" cy="59436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569671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毕马威领先金融科技50强（连续6年）  ·  国家级专精特新重点小巨人  ·  IDC中国FinTech50（连续3年）  ·  128件发明专利  ·  500人团队  ·  10亿研发投入</a:t>
            </a:r>
          </a:p>
        </p:txBody>
      </p:sp>
    </p:spTree>
    <p:extLst>
      <p:ext uri="{BB962C8B-B14F-4D97-AF65-F5344CB8AC3E}">
        <p14:creationId xmlns:p14="http://schemas.microsoft.com/office/powerpoint/2010/main" val="6050783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66D25-3C45-9E98-2E05-0DF95FFC7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74B1A-F0B7-E80F-813B-97FC75A3B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华锐介绍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680F98-1755-75D2-72C9-2A6F0328031E}"/>
              </a:ext>
            </a:extLst>
          </p:cNvPr>
          <p:cNvSpPr/>
          <p:nvPr/>
        </p:nvSpPr>
        <p:spPr>
          <a:xfrm>
            <a:off x="5029200" y="2560320"/>
            <a:ext cx="2103120" cy="45720"/>
          </a:xfrm>
          <a:prstGeom prst="rect">
            <a:avLst/>
          </a:prstGeom>
          <a:solidFill>
            <a:srgbClr val="F54D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cs typeface="微软雅黑" panose="00000500000000000000" charset="-12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3D4503-982D-ADFE-277D-A47C8B2DB6B8}"/>
              </a:ext>
            </a:extLst>
          </p:cNvPr>
          <p:cNvSpPr txBox="1"/>
          <p:nvPr/>
        </p:nvSpPr>
        <p:spPr>
          <a:xfrm>
            <a:off x="914400" y="2743200"/>
            <a:ext cx="103327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dirty="0" err="1">
                <a:latin typeface="微软雅黑" panose="00000500000000000000" charset="-122"/>
                <a:cs typeface="微软雅黑" panose="00000500000000000000" charset="-122"/>
              </a:rPr>
              <a:t>华锐</a:t>
            </a:r>
            <a:r>
              <a:rPr lang="en-US" dirty="0" err="1">
                <a:latin typeface="微软雅黑" panose="00000500000000000000" charset="-122"/>
                <a:cs typeface="微软雅黑" panose="00000500000000000000" charset="-122"/>
              </a:rPr>
              <a:t>POMS</a:t>
            </a:r>
            <a:endParaRPr dirty="0">
              <a:latin typeface="微软雅黑" panose="00000500000000000000" charset="-122"/>
              <a:cs typeface="微软雅黑" panose="00000500000000000000" charset="-12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17E531-DF1C-E614-9AA8-A3002738C413}"/>
              </a:ext>
            </a:extLst>
          </p:cNvPr>
          <p:cNvSpPr txBox="1"/>
          <p:nvPr/>
        </p:nvSpPr>
        <p:spPr>
          <a:xfrm>
            <a:off x="914400" y="3840480"/>
            <a:ext cx="103327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D051"/>
                </a:solidFill>
                <a:latin typeface="微软雅黑" panose="020B0503020204020204" charset="-122"/>
              </a:defRPr>
            </a:pPr>
            <a:r>
              <a:rPr lang="zh-CN" altLang="en-US" dirty="0">
                <a:latin typeface="微软雅黑" panose="00000500000000000000" charset="-122"/>
                <a:cs typeface="微软雅黑" panose="00000500000000000000" charset="-122"/>
              </a:rPr>
              <a:t>五大引擎，</a:t>
            </a:r>
            <a:r>
              <a:rPr lang="en-US" altLang="zh-CN" dirty="0">
                <a:latin typeface="微软雅黑" panose="00000500000000000000" charset="-122"/>
                <a:cs typeface="微软雅黑" panose="00000500000000000000" charset="-122"/>
              </a:rPr>
              <a:t>17</a:t>
            </a:r>
            <a:r>
              <a:rPr lang="zh-CN" altLang="en-US" dirty="0">
                <a:latin typeface="微软雅黑" panose="00000500000000000000" charset="-122"/>
                <a:cs typeface="微软雅黑" panose="00000500000000000000" charset="-122"/>
              </a:rPr>
              <a:t>大能力</a:t>
            </a:r>
            <a:endParaRPr dirty="0">
              <a:latin typeface="微软雅黑" panose="00000500000000000000" charset="-122"/>
              <a:cs typeface="微软雅黑" panose="00000500000000000000" charset="-122"/>
            </a:endParaRP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965003EB-1050-3B85-FED0-F6F0B935B21A}"/>
              </a:ext>
            </a:extLst>
          </p:cNvPr>
          <p:cNvSpPr/>
          <p:nvPr/>
        </p:nvSpPr>
        <p:spPr>
          <a:xfrm>
            <a:off x="4648200" y="1417320"/>
            <a:ext cx="2794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400" b="1" i="0" u="none" strike="noStrike" dirty="0">
                <a:solidFill>
                  <a:srgbClr val="FFFFFF"/>
                </a:solidFill>
                <a:latin typeface="微软雅黑" panose="020B0200000000000000" charset="-122"/>
                <a:ea typeface="微软雅黑" panose="020B0200000000000000" charset="-122"/>
                <a:cs typeface="微软雅黑" panose="020B0200000000000000" charset="-122"/>
                <a:sym typeface="微软雅黑" panose="020B0200000000000000" charset="-122"/>
              </a:rPr>
              <a:t>0</a:t>
            </a:r>
            <a:r>
              <a:rPr lang="en-US" sz="4400" b="1" dirty="0">
                <a:solidFill>
                  <a:srgbClr val="FFFFFF"/>
                </a:solidFill>
                <a:latin typeface="微软雅黑" panose="020B0200000000000000" charset="-122"/>
                <a:ea typeface="微软雅黑" panose="020B0200000000000000" charset="-122"/>
                <a:cs typeface="微软雅黑" panose="020B0200000000000000" charset="-122"/>
                <a:sym typeface="微软雅黑" panose="020B0200000000000000" charset="-122"/>
              </a:rPr>
              <a:t>4</a:t>
            </a:r>
            <a:endParaRPr lang="en-US" sz="4400" b="1" i="0" u="none" strike="noStrike" dirty="0">
              <a:solidFill>
                <a:srgbClr val="FFFFFF"/>
              </a:solidFill>
              <a:latin typeface="微软雅黑" panose="020B0200000000000000" charset="-122"/>
              <a:ea typeface="微软雅黑" panose="020B0200000000000000" charset="-122"/>
              <a:cs typeface="微软雅黑" panose="020B0200000000000000" charset="-122"/>
              <a:sym typeface="微软雅黑" panose="020B0200000000000000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81361227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POMS平台：五大引擎·四向集成·十七大核心模块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对接已建IBOR+行情中心+数据总线；构建投资业务智能层——中国版Mini-Aladdin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1024128"/>
            <a:ext cx="6675120" cy="50292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0" y="1051560"/>
            <a:ext cx="6675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  ↑ 投资工作台（PM台 · 交易台 · 风控台 · 策略台 · 运营台）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828800"/>
            <a:ext cx="2286000" cy="292608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874519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微软雅黑"/>
              </a:defRPr>
            </a:pPr>
            <a:r>
              <a:t>← 投研系统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· 策略信号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· 研究数据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· 宏观因子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· 利差/基差分析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1600200"/>
            <a:ext cx="6675120" cy="338328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834640" y="1691640"/>
            <a:ext cx="6492240" cy="548640"/>
          </a:xfrm>
          <a:prstGeom prst="rect">
            <a:avLst/>
          </a:prstGeom>
          <a:solidFill>
            <a:srgbClr val="1A3A0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26080" y="178308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① 全资产组合管理引擎（配得优）— 本次深度介绍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34640" y="2313432"/>
            <a:ext cx="6492240" cy="54864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926080" y="2404872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② 高性能计算引擎（算得快）— 定价/估值/风险计量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34640" y="2935224"/>
            <a:ext cx="6492240" cy="54864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926080" y="3026664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③ 量化策略引擎（算得快+配得优）— 相对价值/多策略/回测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34640" y="3557016"/>
            <a:ext cx="6492240" cy="54864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26080" y="3648456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④ 事件驱动风控引擎（控得稳）— CEP/回撤/压力测试/合规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34640" y="4178808"/>
            <a:ext cx="6492240" cy="54864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926080" y="4270248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⑤ 指令与执行管理引擎（连得通）— 指令→审批→执行→归因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0" y="1828800"/>
            <a:ext cx="2286000" cy="292608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46920" y="1874519"/>
            <a:ext cx="2148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微软雅黑"/>
              </a:defRPr>
            </a:pPr>
            <a:r>
              <a:t>OEMS系统 →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· 交易执行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· 算法交易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· multi-leg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· 场内/场外/期货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0" y="5138928"/>
            <a:ext cx="6675120" cy="50292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43200" y="5166360"/>
            <a:ext cx="6675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  ↓ IBOR 3.0 + 行情中心 + 数据总线（在建）  |  统一簿记 · 实时头寸 · 行情 · 数据总线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5806440"/>
            <a:ext cx="11887200" cy="45720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5897880"/>
            <a:ext cx="11521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架构定位：POMS是业务智能层，不替代IBOR——IBOR=数据引擎，POMS=智慧驾驶层（Mini-Aladdin）</a:t>
            </a:r>
          </a:p>
        </p:txBody>
      </p:sp>
    </p:spTree>
    <p:extLst>
      <p:ext uri="{BB962C8B-B14F-4D97-AF65-F5344CB8AC3E}">
        <p14:creationId xmlns:p14="http://schemas.microsoft.com/office/powerpoint/2010/main" val="152554103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rPr lang="zh-CN" altLang="en-US" dirty="0"/>
              <a:t>华锐</a:t>
            </a:r>
            <a:r>
              <a:rPr lang="en-US" altLang="zh-CN" dirty="0"/>
              <a:t>POMS: </a:t>
            </a:r>
            <a:r>
              <a:rPr dirty="0" err="1"/>
              <a:t>引擎</a:t>
            </a:r>
            <a:r>
              <a:rPr lang="en-US" dirty="0"/>
              <a:t> </a:t>
            </a:r>
            <a:r>
              <a:rPr dirty="0"/>
              <a:t>①：</a:t>
            </a:r>
            <a:r>
              <a:rPr dirty="0" err="1"/>
              <a:t>全资产组合管理引擎</a:t>
            </a:r>
            <a:r>
              <a:rPr lang="en-US" dirty="0"/>
              <a:t> ——</a:t>
            </a:r>
            <a:r>
              <a:rPr lang="zh-CN" altLang="en-US" dirty="0"/>
              <a:t>配的优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配得优 — 这是国元最核心的需求，也是本次深度介绍的重点（13张详细展开）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B5EC7"/>
                </a:solidFill>
                <a:latin typeface="微软雅黑"/>
              </a:defRPr>
            </a:pPr>
            <a: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087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因子驱动</a:t>
            </a:r>
            <a:br/>
            <a:r>
              <a:t>组合构建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194560"/>
            <a:ext cx="146304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22860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2,200+风险因子</a:t>
            </a:r>
            <a:br/>
            <a:r>
              <a:t>SAA→TAA精准联动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05156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34640" y="10972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B7DD8"/>
                </a:solidFill>
                <a:latin typeface="微软雅黑"/>
              </a:defRPr>
            </a:pPr>
            <a: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15087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全资产统一</a:t>
            </a:r>
            <a:br/>
            <a:r>
              <a:t>持仓模型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54680" y="2194560"/>
            <a:ext cx="146304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834640" y="22860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8大类资产</a:t>
            </a:r>
            <a:br/>
            <a:r>
              <a:t>一屏管理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105156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66360" y="10972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60" y="15087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QP优化</a:t>
            </a:r>
            <a:br/>
            <a:r>
              <a:t>引擎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0" y="2194560"/>
            <a:ext cx="146304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66360" y="22860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500+约束</a:t>
            </a:r>
            <a:br/>
            <a:r>
              <a:t>毫秒级求解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52360" y="105156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98080" y="10972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B5EC7"/>
                </a:solidFill>
                <a:latin typeface="微软雅黑"/>
              </a:defRPr>
            </a:pPr>
            <a:r>
              <a:t>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0" y="15087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跨资产相关性</a:t>
            </a:r>
            <a:br/>
            <a:r>
              <a:t>+Shadow组合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18120" y="2194560"/>
            <a:ext cx="146304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498080" y="22860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100+虚拟组合</a:t>
            </a:r>
            <a:br/>
            <a:r>
              <a:t>并行试算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84080" y="105156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829800" y="10972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B7DD8"/>
                </a:solidFill>
                <a:latin typeface="微软雅黑"/>
              </a:defRPr>
            </a:pPr>
            <a:r>
              <a:t>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15087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Campisi 2.0</a:t>
            </a:r>
            <a:br/>
            <a:r>
              <a:t>固收绩效归因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49840" y="2194560"/>
            <a:ext cx="146304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829800" y="228600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五大效应</a:t>
            </a:r>
            <a:br/>
            <a:r>
              <a:t>精确拆解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29184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" y="3337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37490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Brinson模型</a:t>
            </a:r>
            <a:br/>
            <a:r>
              <a:t>权益/基金归因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434840"/>
            <a:ext cx="146304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02920" y="45262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配置+选券</a:t>
            </a:r>
            <a:br/>
            <a:r>
              <a:t>效应分解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329184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834640" y="3337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F2060"/>
                </a:solidFill>
                <a:latin typeface="微软雅黑"/>
              </a:defRPr>
            </a:pPr>
            <a:r>
              <a:t>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40" y="37490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因子风险分解</a:t>
            </a:r>
            <a:br/>
            <a:r>
              <a:t>+MCTR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54680" y="4434840"/>
            <a:ext cx="1463040" cy="27432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834640" y="45262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风险预算</a:t>
            </a:r>
            <a:br/>
            <a:r>
              <a:t>精细分配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120640" y="329184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166360" y="3337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B5EC7"/>
                </a:solidFill>
                <a:latin typeface="微软雅黑"/>
              </a:defRPr>
            </a:pPr>
            <a:r>
              <a:t>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66360" y="37490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Component VaR</a:t>
            </a:r>
            <a:br/>
            <a:r>
              <a:t>主动风险归因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0" y="4434840"/>
            <a:ext cx="146304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166360" y="45262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四层穿透</a:t>
            </a:r>
            <a:br/>
            <a:r>
              <a:t>逐仓风险溯源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452360" y="329184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498080" y="3337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3B7DD8"/>
                </a:solidFill>
                <a:latin typeface="微软雅黑"/>
              </a:defRPr>
            </a:pPr>
            <a:r>
              <a:t>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8080" y="37490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敏感度分析</a:t>
            </a:r>
            <a:br/>
            <a:r>
              <a:t>(DV01/CS01)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818120" y="4434840"/>
            <a:ext cx="146304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498080" y="45262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实时风险</a:t>
            </a:r>
            <a:br/>
            <a:r>
              <a:t>地图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784080" y="3291840"/>
            <a:ext cx="2194560" cy="20574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829800" y="333756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F2060"/>
                </a:solidFill>
                <a:latin typeface="微软雅黑"/>
              </a:defRPr>
            </a:pPr>
            <a:r>
              <a:t>⑩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800" y="37490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情景/压力测试</a:t>
            </a:r>
            <a:br/>
            <a:r>
              <a:t>流动性+衍生品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149840" y="4434840"/>
            <a:ext cx="1463040" cy="27432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829800" y="452628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三层体系</a:t>
            </a:r>
            <a:br/>
            <a:r>
              <a:t>924类预案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5577840"/>
            <a:ext cx="11247120" cy="59436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40080" y="566928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Action Title：国元近千亿自营资金的核心挑战不是'该不该买债'，而是'如何在全资产中找到低波动、高确定性的最优配置'</a:t>
            </a:r>
          </a:p>
        </p:txBody>
      </p:sp>
    </p:spTree>
    <p:extLst>
      <p:ext uri="{BB962C8B-B14F-4D97-AF65-F5344CB8AC3E}">
        <p14:creationId xmlns:p14="http://schemas.microsoft.com/office/powerpoint/2010/main" val="417354908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rPr lang="zh-CN" altLang="en-US" dirty="0"/>
              <a:t>华锐</a:t>
            </a:r>
            <a:r>
              <a:rPr lang="en-US" altLang="zh-CN" dirty="0"/>
              <a:t>POMS: </a:t>
            </a:r>
            <a:r>
              <a:rPr dirty="0" err="1"/>
              <a:t>引擎</a:t>
            </a:r>
            <a:r>
              <a:rPr dirty="0"/>
              <a:t>②：</a:t>
            </a:r>
            <a:r>
              <a:rPr dirty="0" err="1"/>
              <a:t>高性能计算引擎</a:t>
            </a:r>
            <a:r>
              <a:rPr dirty="0"/>
              <a:t>——</a:t>
            </a:r>
            <a:r>
              <a:rPr dirty="0" err="1"/>
              <a:t>算得快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实时估值/定价/风险计量 · 自研替代Bloomberg · 千亿规模2000万次定价/日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35661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B5EC7"/>
                </a:solidFill>
                <a:latin typeface="微软雅黑"/>
              </a:defRPr>
            </a:pPr>
            <a:r>
              <a:t>定价引擎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508760"/>
            <a:ext cx="265176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微软雅黑"/>
              </a:defRPr>
            </a:pPr>
            <a:endParaRPr/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覆盖权益/利率/商品/外汇/衍生品/结构化产品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利率曲线/波动率曲面/MC多方法支撑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Full Repricing：非线性风险精确捕获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自研替代Bloomberg，消除许可费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39" y="1024128"/>
            <a:ext cx="35661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79" y="10789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B7DD8"/>
                </a:solidFill>
                <a:latin typeface="微软雅黑"/>
              </a:defRPr>
            </a:pPr>
            <a:r>
              <a:t>实时估值引擎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39" y="1508760"/>
            <a:ext cx="265176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97679" y="1627632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微软雅黑"/>
              </a:defRPr>
            </a:pPr>
            <a:endParaRPr/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行情驱动流式估值，Tick级刷新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2,000持仓 × 每秒 = 2000次定价/秒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VaR/CVaR/Greeks实时计算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组合估值精度到Greeks级别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78" y="1024128"/>
            <a:ext cx="35661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46718" y="10789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分布式计算架构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78" y="1508760"/>
            <a:ext cx="265176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18" y="1627632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微软雅黑"/>
              </a:defRPr>
            </a:pPr>
            <a:endParaRPr/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K8s编排弹性扩缩容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8-16计算节点，VaR=2000万次定价/日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CEP引擎：10万+ events/sec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二次开发SDK（Python/Java/C++）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074920"/>
            <a:ext cx="11247120" cy="74980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516636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微软雅黑"/>
              </a:defRPr>
            </a:pPr>
            <a:r>
              <a:t>规模验证（千亿AUM估算）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存储：~10TB（3年滚动 含行情+持仓+交易+风控）· 并发：40用户 × 5请求/秒 = 200 req/sec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Bloomberg依赖归零：许可费+数据费每年数百万，完全替代 → 300-500万/年成本节省</a:t>
            </a:r>
          </a:p>
        </p:txBody>
      </p:sp>
    </p:spTree>
    <p:extLst>
      <p:ext uri="{BB962C8B-B14F-4D97-AF65-F5344CB8AC3E}">
        <p14:creationId xmlns:p14="http://schemas.microsoft.com/office/powerpoint/2010/main" val="31117215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rPr lang="zh-CN" altLang="en-US" dirty="0"/>
              <a:t>华锐</a:t>
            </a:r>
            <a:r>
              <a:rPr lang="en-US" altLang="zh-CN" dirty="0"/>
              <a:t>POMS: </a:t>
            </a:r>
            <a:r>
              <a:rPr dirty="0" err="1"/>
              <a:t>引擎</a:t>
            </a:r>
            <a:r>
              <a:rPr dirty="0"/>
              <a:t>③：</a:t>
            </a:r>
            <a:r>
              <a:rPr dirty="0" err="1"/>
              <a:t>量化策略引擎</a:t>
            </a:r>
            <a:r>
              <a:rPr dirty="0"/>
              <a:t>——</a:t>
            </a:r>
            <a:r>
              <a:rPr dirty="0" err="1"/>
              <a:t>算得快+配得优</a:t>
            </a:r>
            <a:r>
              <a:rPr dirty="0"/>
              <a:t> [</a:t>
            </a:r>
            <a:r>
              <a:rPr dirty="0" err="1"/>
              <a:t>相对价值·多策略·回测</a:t>
            </a:r>
            <a:r>
              <a:rPr dirty="0"/>
              <a:t>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中国FICC市场系统性相对价值机会丰富——华锐量化工具让机会从'看到但抓不住'变为'系统化执行'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35661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微软雅黑"/>
              </a:defRPr>
            </a:pPr>
            <a:r>
              <a:t>相对价值分析工具集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08760"/>
            <a:ext cx="301752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微软雅黑"/>
              </a:defRPr>
            </a:pPr>
            <a:endParaRPr/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利差策略：新老券/品种内/跨品种利差实时监控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基差策略：国债期货基差/CTD券跟踪/期现套利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曲线策略：收益率曲线形态/斜率/蝴蝶策略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历史分位数：当前利差在历史X%分位，告警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胜率回测：类似历史位置的胜率和平均收益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39" y="1024128"/>
            <a:ext cx="35661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79" y="10789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微软雅黑"/>
              </a:defRPr>
            </a:pPr>
            <a:r>
              <a:t>多timeframe信号引擎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1508760"/>
            <a:ext cx="301752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97679" y="1627632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微软雅黑"/>
              </a:defRPr>
            </a:pPr>
            <a:endParaRPr/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日内信号：利差偏离&gt;2σ → 自动推送机会提示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日间信号：趋势跟踪+均值回归策略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周/月级：宏观因子驱动的资产配置信号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多策略并行：不同周期信号同时运行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实时回测：新信号上线前历史数据验证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78" y="1024128"/>
            <a:ext cx="35661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46718" y="1078992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策略回测与验证框架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598" y="1508760"/>
            <a:ext cx="301752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18" y="1627632"/>
            <a:ext cx="3383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微软雅黑"/>
              </a:defRPr>
            </a:pPr>
            <a:endParaRPr/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历史数据：5年+债券/权益/商品数据库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快速回测：假设→验证结果&lt;1天（vs 原1-2周）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绩效指标：年化收益/夏普/最大回撤/胜率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模拟盘验证：回测通过后模拟盘实盘验证</a:t>
            </a:r>
          </a:p>
          <a:p>
            <a:pPr algn="l">
              <a:spcBef>
                <a:spcPts val="6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AI引擎接口：机器学习策略预留接口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074920"/>
            <a:ext cx="11247120" cy="74980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516636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微软雅黑"/>
              </a:defRPr>
            </a:pPr>
            <a:r>
              <a:t>量化价值（千亿AUM）：相对价值Alpha年化+20-50bps → 新增1000-2000万/年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中国FICC利差市场系统性机会多，但需要工具才能系统化捕捉——有工具 vs 无工具 = 1000-2000万/年的Alpha差距</a:t>
            </a:r>
          </a:p>
        </p:txBody>
      </p:sp>
    </p:spTree>
    <p:extLst>
      <p:ext uri="{BB962C8B-B14F-4D97-AF65-F5344CB8AC3E}">
        <p14:creationId xmlns:p14="http://schemas.microsoft.com/office/powerpoint/2010/main" val="22416610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rPr lang="zh-CN" altLang="en-US" dirty="0"/>
              <a:t>华锐</a:t>
            </a:r>
            <a:r>
              <a:rPr lang="en-US" altLang="zh-CN" dirty="0"/>
              <a:t>POMS:  </a:t>
            </a:r>
            <a:r>
              <a:rPr dirty="0" err="1"/>
              <a:t>引擎</a:t>
            </a:r>
            <a:r>
              <a:rPr dirty="0"/>
              <a:t>④：</a:t>
            </a:r>
            <a:r>
              <a:rPr dirty="0" err="1"/>
              <a:t>事件驱动风控引擎</a:t>
            </a:r>
            <a:r>
              <a:rPr dirty="0"/>
              <a:t>——</a:t>
            </a:r>
            <a:r>
              <a:rPr dirty="0" err="1"/>
              <a:t>控得稳</a:t>
            </a:r>
            <a:r>
              <a:rPr dirty="0"/>
              <a:t> [</a:t>
            </a:r>
            <a:r>
              <a:rPr dirty="0" err="1"/>
              <a:t>CEP·回撤·极端压测·合规</a:t>
            </a:r>
            <a:r>
              <a:rPr dirty="0"/>
              <a:t>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从'被动等报告'到'主动推送预警'——CEP引擎实现秒级风险响应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26517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2060"/>
                </a:solidFill>
                <a:latin typeface="微软雅黑"/>
              </a:defRPr>
            </a:pPr>
            <a:r>
              <a:t>CEP复杂事件处理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08760"/>
            <a:ext cx="2103120" cy="27432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2468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微软雅黑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行情/交易/越限/流动性事件统一处理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10万+ events/sec事件吞吐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毫秒级规则匹配和预警触发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多级预警：黄色预警/红色告警/自动止损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024128"/>
            <a:ext cx="26517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83280" y="107899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实时回撤监控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1508760"/>
            <a:ext cx="210312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83280" y="1627632"/>
            <a:ext cx="2468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微软雅黑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秒级检测组合回撤（非T+1）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分层阈值：预警线/止损线/强制减仓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自动触发减仓建议（结合流动性排序）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回撤归因：是利率/信用/权益哪个因子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024128"/>
            <a:ext cx="26517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17920" y="107899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B5EC7"/>
                </a:solidFill>
                <a:latin typeface="微软雅黑"/>
              </a:defRPr>
            </a:pPr>
            <a:r>
              <a:t>合规规则引擎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508760"/>
            <a:ext cx="210312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17920" y="1627632"/>
            <a:ext cx="2468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微软雅黑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5000+规则库（净资本/集中度/评级/关联交易）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投前预检：下单前自动合规校验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投中拦截：违规交易实时阻止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2024券商受处罚162次 → 预检归零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61120" y="1024128"/>
            <a:ext cx="2651760" cy="393192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052560" y="1078992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B7DD8"/>
                </a:solidFill>
                <a:latin typeface="微软雅黑"/>
              </a:defRPr>
            </a:pPr>
            <a:r>
              <a:t>全公司风险视图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1508760"/>
            <a:ext cx="210312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52560" y="1627632"/>
            <a:ext cx="2468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微软雅黑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全公司VaR/DV01/CS01/集中度一屏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跨组合/跨账簿/跨部门统一视图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实时限额利用率（绿/黄/红交通灯）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压力测试结果实时集成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074920"/>
            <a:ext cx="11247120" cy="74980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516636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微软雅黑"/>
              </a:defRPr>
            </a:pPr>
            <a:r>
              <a:t>风险控制价值（千亿AUM）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常规回撤控制：最大回撤从-3%控制到-1.5% → 减少3000-5000万/次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极端事件预案（924类）：有预案 vs 无预案 → 单次差异1-2亿 · 合规拦截：每年避免2-3次违规处罚</a:t>
            </a:r>
          </a:p>
        </p:txBody>
      </p:sp>
      <p:pic>
        <p:nvPicPr>
          <p:cNvPr id="23" name="Picture 22" descr="diagram_7_CEP风控引擎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710" y="1005840"/>
            <a:ext cx="10773531" cy="4069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564549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rPr lang="zh-CN" altLang="en-US" dirty="0"/>
              <a:t>华锐</a:t>
            </a:r>
            <a:r>
              <a:rPr lang="en-US" altLang="zh-CN" dirty="0"/>
              <a:t>POMS:  </a:t>
            </a:r>
            <a:r>
              <a:rPr dirty="0" err="1"/>
              <a:t>引擎</a:t>
            </a:r>
            <a:r>
              <a:rPr dirty="0"/>
              <a:t>⑤：</a:t>
            </a:r>
            <a:r>
              <a:rPr dirty="0" err="1"/>
              <a:t>指令与执行管理引擎</a:t>
            </a:r>
            <a:r>
              <a:rPr dirty="0"/>
              <a:t>——</a:t>
            </a:r>
            <a:r>
              <a:rPr dirty="0" err="1"/>
              <a:t>连得通</a:t>
            </a:r>
            <a:r>
              <a:rPr dirty="0"/>
              <a:t> [</a:t>
            </a:r>
            <a:r>
              <a:rPr dirty="0" err="1"/>
              <a:t>决策→指令→执行→归因</a:t>
            </a:r>
            <a:r>
              <a:rPr dirty="0"/>
              <a:t>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投研发现机会→组合决策→指令生成→OEMS执行→TCA分析→归因驱动下次决策——全链路贯通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1737360" cy="182880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B7DD8"/>
                </a:solidFill>
                <a:latin typeface="微软雅黑"/>
              </a:defRPr>
            </a:pPr>
            <a:r>
              <a:t>投研信号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36192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利差机会推送</a:t>
            </a:r>
            <a:br/>
            <a:r>
              <a:t>宏观因子信号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417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B7DD8"/>
                </a:solidFill>
                <a:latin typeface="微软雅黑"/>
              </a:defRPr>
            </a:pPr>
            <a: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1024128"/>
            <a:ext cx="1737360" cy="182880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423160" y="107899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B5EC7"/>
                </a:solidFill>
                <a:latin typeface="微软雅黑"/>
              </a:defRPr>
            </a:pPr>
            <a:r>
              <a:t>组合决策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1536192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再平衡优化</a:t>
            </a:r>
            <a:br/>
            <a:r>
              <a:t>Shadow验证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417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B5EC7"/>
                </a:solidFill>
                <a:latin typeface="微软雅黑"/>
              </a:defRPr>
            </a:pPr>
            <a: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1024128"/>
            <a:ext cx="1737360" cy="182880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43400" y="107899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合规预检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1536192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5000+规则</a:t>
            </a:r>
            <a:br/>
            <a:r>
              <a:t>事前拦截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1417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024128"/>
            <a:ext cx="1737360" cy="18288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07899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2060"/>
                </a:solidFill>
                <a:latin typeface="微软雅黑"/>
              </a:defRPr>
            </a:pPr>
            <a:r>
              <a:t>指令生成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36192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multi-leg指令</a:t>
            </a:r>
            <a:br/>
            <a:r>
              <a:t>批量审批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0" y="1417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2060"/>
                </a:solidFill>
                <a:latin typeface="微软雅黑"/>
              </a:defRPr>
            </a:pPr>
            <a: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8160" y="1024128"/>
            <a:ext cx="1737360" cy="182880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83880" y="107899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B7DD8"/>
                </a:solidFill>
                <a:latin typeface="微软雅黑"/>
              </a:defRPr>
            </a:pPr>
            <a:r>
              <a:t>OEMS执行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80" y="1536192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场内/场外/期货</a:t>
            </a:r>
            <a:br/>
            <a:r>
              <a:t>算法交易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14173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B7DD8"/>
                </a:solidFill>
                <a:latin typeface="微软雅黑"/>
              </a:defRPr>
            </a:pPr>
            <a: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58400" y="1024128"/>
            <a:ext cx="1737360" cy="182880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104120" y="107899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B5EC7"/>
                </a:solidFill>
                <a:latin typeface="微软雅黑"/>
              </a:defRPr>
            </a:pPr>
            <a:r>
              <a:t>TCA归因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04120" y="1536192"/>
            <a:ext cx="1645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滑点分析</a:t>
            </a:r>
            <a:br/>
            <a:r>
              <a:t>绩效归因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0074500"/>
              </p:ext>
            </p:extLst>
          </p:nvPr>
        </p:nvGraphicFramePr>
        <p:xfrm>
          <a:off x="457200" y="4222735"/>
          <a:ext cx="11247120" cy="19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功能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当前状态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POMS能力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量化价值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指令生成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手工填写指令单，1-2小时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再平衡自动生成，15分钟确认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效率提升8-10x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multi-leg执行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手工分腿，各自执行，价差损失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系统同时多腿，原子执行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滑点减少50%+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合规预检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事后发现违规，处罚风险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投前自动校验，实时拦截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违规归零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执行质量TCA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无从评估滑点来源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vs TWAP/VWAP持续优化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500-1000万/年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绩效归因闭环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年底才看结果，不驱动改进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实时归因→下次决策输入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rPr dirty="0" err="1"/>
                        <a:t>Alpha持续迭代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457200" y="5166360"/>
            <a:ext cx="11247120" cy="64008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" y="525780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微软雅黑"/>
              </a:defRPr>
            </a:pPr>
            <a:r>
              <a:t>年度交易量3000亿：执行质量每提升1bp = 3000万/年 · 滑点优化0.3-0.5bp → 节省1000-1500万/年</a:t>
            </a:r>
          </a:p>
        </p:txBody>
      </p:sp>
    </p:spTree>
    <p:extLst>
      <p:ext uri="{BB962C8B-B14F-4D97-AF65-F5344CB8AC3E}">
        <p14:creationId xmlns:p14="http://schemas.microsoft.com/office/powerpoint/2010/main" val="42289329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华锐</a:t>
            </a:r>
            <a:r>
              <a:rPr lang="en-US" altLang="zh-CN" dirty="0"/>
              <a:t>POMS</a:t>
            </a:r>
            <a:r>
              <a:rPr lang="zh-CN" altLang="en-US" dirty="0"/>
              <a:t>系统介绍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5029200" y="2533687"/>
            <a:ext cx="2103120" cy="45720"/>
          </a:xfrm>
          <a:prstGeom prst="rect">
            <a:avLst/>
          </a:prstGeom>
          <a:solidFill>
            <a:srgbClr val="F54D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cs typeface="微软雅黑" panose="000005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lang="zh-CN" altLang="en-US" dirty="0">
                <a:latin typeface="微软雅黑" panose="00000500000000000000" charset="-122"/>
                <a:cs typeface="微软雅黑" panose="00000500000000000000" charset="-122"/>
              </a:rPr>
              <a:t>引擎</a:t>
            </a:r>
            <a:r>
              <a:rPr lang="en-US" altLang="zh-CN" dirty="0">
                <a:latin typeface="微软雅黑" panose="00000500000000000000" charset="-122"/>
                <a:cs typeface="微软雅黑" panose="00000500000000000000" charset="-122"/>
              </a:rPr>
              <a:t>1</a:t>
            </a:r>
            <a:r>
              <a:rPr lang="en-US" dirty="0">
                <a:latin typeface="微软雅黑" panose="00000500000000000000" charset="-122"/>
                <a:cs typeface="微软雅黑" panose="00000500000000000000" charset="-122"/>
              </a:rPr>
              <a:t>-</a:t>
            </a:r>
            <a:r>
              <a:rPr lang="zh-CN" altLang="en-US" dirty="0">
                <a:latin typeface="微软雅黑" panose="00000500000000000000" charset="-122"/>
                <a:cs typeface="微软雅黑" panose="00000500000000000000" charset="-122"/>
              </a:rPr>
              <a:t>组合管理系统介绍</a:t>
            </a:r>
            <a:endParaRPr dirty="0">
              <a:latin typeface="微软雅黑" panose="00000500000000000000" charset="-122"/>
              <a:cs typeface="微软雅黑" panose="00000500000000000000" charset="-122"/>
            </a:endParaRPr>
          </a:p>
        </p:txBody>
      </p:sp>
      <p:sp>
        <p:nvSpPr>
          <p:cNvPr id="6" name="AutoShape 3"/>
          <p:cNvSpPr/>
          <p:nvPr/>
        </p:nvSpPr>
        <p:spPr>
          <a:xfrm>
            <a:off x="4648200" y="1390687"/>
            <a:ext cx="2794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400" b="1" i="0" u="none" strike="noStrike" dirty="0">
                <a:solidFill>
                  <a:srgbClr val="FFFFFF"/>
                </a:solidFill>
                <a:latin typeface="微软雅黑" panose="020B0200000000000000" charset="-122"/>
                <a:ea typeface="微软雅黑" panose="020B0200000000000000" charset="-122"/>
                <a:cs typeface="微软雅黑" panose="020B0200000000000000" charset="-122"/>
                <a:sym typeface="微软雅黑" panose="020B0200000000000000" charset="-122"/>
              </a:rPr>
              <a:t>04-1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4.4.1.1 因子驱动：用2,200+风险因子重构决策体系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传统'品种权重配置'无法解释组合真实风险来源——因子语言才能连接SAA战略与TAA执行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微软雅黑"/>
              </a:defRPr>
            </a:pPr>
            <a:r>
              <a:t>当前痛点 — 权重管理的三大盲区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89888"/>
          <a:ext cx="11247120" cy="13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盲区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典型场景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后果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看似分散，实则集中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债券60%/股票20%/黄金10%，但债券与黄金同向受利率驱动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以为分散，利率风险敞口实际超过80%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SAA战略无法落地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投委会定了'降低利率敏感度'，交易台不知如何量化执行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战略停留在PPT，执行靠经验判断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风险超限才发现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发现组合回撤超标时，无法快速定位是哪类风险因子导致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事后归因，无法事前防控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27432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微软雅黑"/>
              </a:defRPr>
            </a:pPr>
            <a:r>
              <a:t>POMS方案 — 因子驱动的三层转变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154680"/>
            <a:ext cx="3566160" cy="224028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32186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第一层：统一风险语言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47872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微软雅黑"/>
              </a:defRPr>
            </a:pPr>
            <a:endParaRPr/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全持仓分解为2,200+风险因子：利率(关键期限/久期/凸性/DV01) + 信用(DTS/评级/行业利差) + 权益(Beta/行业/风格) + 商品(黄金/原油)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跨资产敞口一目了然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39" y="3154680"/>
            <a:ext cx="3566160" cy="224028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97679" y="32186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第二层：SAA→TAA精准联动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79" y="3547872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微软雅黑"/>
              </a:defRPr>
            </a:pPr>
            <a:endParaRPr/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投委会指令'将利率风险预算从40%降至25%' → 直接转化为因子约束输入QP优化 → 系统自动计算调仓路径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战略决策→量化执行，消除理解偏差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8" y="3154680"/>
            <a:ext cx="3566160" cy="224028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18" y="3218688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第三层：持续监控与预警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8" y="3547872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微软雅黑"/>
              </a:defRPr>
            </a:pPr>
            <a:endParaRPr/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因子敞口实时监控，超限自动预警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每日因子贡献报告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动态风险预算：已用/剩余/预警线三档显示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532120"/>
            <a:ext cx="11247120" cy="658368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562356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微软雅黑"/>
              </a:defRPr>
            </a:pPr>
            <a:r>
              <a:t>核心价值：决策变革——从传统'品种配置'转向'因子风险预算'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用2,200+因子语言统一SAA战略与TAA执行，确保低波动6%稳定收益目标的可持续性</a:t>
            </a:r>
          </a:p>
        </p:txBody>
      </p:sp>
    </p:spTree>
    <p:extLst>
      <p:ext uri="{BB962C8B-B14F-4D97-AF65-F5344CB8AC3E}">
        <p14:creationId xmlns:p14="http://schemas.microsoft.com/office/powerpoint/2010/main" val="22226001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4.4.1.2 全资产统一持仓模型——八类资产一屏管理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投资经理第一次在一个界面看到完整组合，不再需要打开3个系统才能拼出全貌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577840" cy="347472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微软雅黑"/>
              </a:defRPr>
            </a:pPr>
            <a:r>
              <a:t>8大资产类别全覆盖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利率债/信用债/可转债（含回购/质押）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A股/港股/ETF/场内基金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公募基金/私募基金/FOF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黄金（现货/期货/黄金ETF）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商品期货（能化/农产品/有色）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衍生品（国债期货/股指/期权/IRS）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非标资产（信托/ABS/永续债/优先股）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外汇（即期/远期/掉期）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617720"/>
            <a:ext cx="5577840" cy="1572768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466344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微软雅黑"/>
              </a:defRPr>
            </a:pPr>
            <a:r>
              <a:t>多层组合树（穿透式管理）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公司层（全公司自营总览）→ 部门层（固收/权益/量化/综合）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→ 策略层（利率债/信用/相对价值策略）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→ 子组合层 → 投资经理层（个人持仓贡献）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4161702"/>
              </p:ext>
            </p:extLst>
          </p:nvPr>
        </p:nvGraphicFramePr>
        <p:xfrm>
          <a:off x="6275897" y="1033555"/>
          <a:ext cx="5577840" cy="22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分析维度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展示内容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rPr dirty="0" err="1"/>
                        <a:t>频率</a:t>
                      </a:r>
                      <a:endParaRPr dirty="0"/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品种分布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各资产类别市值占比、盈亏贡献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实时Tick级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久期分布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组合加权久期、DV01、各期限桶敞口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实时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评级分布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AAA/AA+/AA/AA-各评级市值比例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日内刷新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行业分布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金融/城投/产业各行业集中度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日内刷新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集中度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单一发行人/单一券种/对手方敞口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rPr dirty="0" err="1"/>
                        <a:t>实时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172200" y="3794760"/>
            <a:ext cx="5577840" cy="91440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55080" y="388620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微软雅黑"/>
              </a:defRPr>
            </a:pPr>
            <a:r>
              <a:t>真实组合 + Shadow Portfolio并行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真实组合：T+0实时，对接IBOR统一簿记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Shadow Portfolio：100+虚拟组合并行，下单前先试算后决定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4846320"/>
            <a:ext cx="5577840" cy="1344168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55080" y="493776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核心价值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投资经理第一次在一个界面看到完整组合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不再有'看不见的风险'，不再有数据孤岛</a:t>
            </a:r>
          </a:p>
        </p:txBody>
      </p:sp>
    </p:spTree>
    <p:extLst>
      <p:ext uri="{BB962C8B-B14F-4D97-AF65-F5344CB8AC3E}">
        <p14:creationId xmlns:p14="http://schemas.microsoft.com/office/powerpoint/2010/main" val="196596478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4.4.1.3 QP优化引擎——再平衡从'拍脑袋'到'数学求解'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传统再平衡靠经验判断——POMS内置二次规划求解器，500+约束下毫秒级求解最优调仓路径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7132320" cy="315468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6949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微软雅黑"/>
              </a:defRPr>
            </a:pPr>
            <a:r>
              <a:t>优化引擎技术规格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  目标函数：Minimize(w₁×跟踪误差 + w₂×交易成本 + w₃×融资成本 + w₄×IFRS9波动)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  ① 合规约束：单券集中度上限 / 行业限额 / 评级准入 / 净资本占用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  ② 风险预算：因子敞口上下限 / VaR上限 / DV01 / CS01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  ③ 流动性约束：单日可变现量 / 市场冲击成本上限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  ④ IFRS9约束：FVTPL账户波动限制 / OCI账户再分类触发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  求解能力：2,000+持仓规模 · 毫秒级求解 · 支持整数规划（面值取整）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  多期优化：考虑未来现金流和到期券 · 每日滚动自动更新</a:t>
            </a:r>
          </a:p>
        </p:txBody>
      </p:sp>
      <p:sp>
        <p:nvSpPr>
          <p:cNvPr id="7" name="Rectangle 6"/>
          <p:cNvSpPr/>
          <p:nvPr/>
        </p:nvSpPr>
        <p:spPr>
          <a:xfrm>
            <a:off x="7726679" y="1024128"/>
            <a:ext cx="4023360" cy="315468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18120" y="107899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再平衡工作流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触发方式：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① 定时：每日收盘/每周一/月初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② 事件：敞口超限/行情剧变/SAA更新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③ 手动：投资经理主动发起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输出结果：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• 推荐调仓清单（优先级排序）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• 预期效果对比（调仓前后）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• Top5/Top10笔效果分析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• 一键生成交易指令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2651760" cy="77724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435254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B5EC7"/>
                </a:solidFill>
                <a:latin typeface="微软雅黑"/>
              </a:defRPr>
            </a:pPr>
            <a:r>
              <a:t>2-3h → 15min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091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再平衡时间（人工→系统）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4297680"/>
            <a:ext cx="2651760" cy="77724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83280" y="435254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B7DD8"/>
                </a:solidFill>
                <a:latin typeface="微软雅黑"/>
              </a:defRPr>
            </a:pPr>
            <a:r>
              <a:t>5-10bp/次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47091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交易摩擦节省（最优路径）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4297680"/>
            <a:ext cx="2651760" cy="77724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17920" y="435254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2060"/>
                </a:solidFill>
                <a:latin typeface="微软雅黑"/>
              </a:defRPr>
            </a:pPr>
            <a:r>
              <a:t>0次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7091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合规违规（事前约束）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4297680"/>
            <a:ext cx="2651760" cy="77724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52560" y="435254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500+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47091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同时生效约束条件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166360"/>
            <a:ext cx="11247120" cy="65836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525780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微软雅黑"/>
              </a:defRPr>
            </a:pPr>
            <a:r>
              <a:t>核心价值：量化价值明确——再平衡效率提升让跟踪误差减少5-10bps，千亿AUM下每年节省2000-3000万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合规违规率从事后发现→事前约束归零；交易员决策时间从2-3小时压缩到15分钟确认</a:t>
            </a:r>
          </a:p>
        </p:txBody>
      </p:sp>
    </p:spTree>
    <p:extLst>
      <p:ext uri="{BB962C8B-B14F-4D97-AF65-F5344CB8AC3E}">
        <p14:creationId xmlns:p14="http://schemas.microsoft.com/office/powerpoint/2010/main" val="324991949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4.4.1.4 跨资产相关性分析 + Shadow Portfolio虚拟试算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实时相关性矩阵消除'假分散'陷阱 · Shadow Portfolio让调仓'看见结果再行动'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577840" cy="356616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微软雅黑"/>
              </a:defRPr>
            </a:pPr>
            <a:r>
              <a:t>跨资产相关性分析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相关性矩阵：覆盖全持仓（股/债/商品/衍生品/基金）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多时间窗口：20日/60日/252日滚动相关性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历史相关性 vs 压力情景相关性（极端市场中相关性骤升）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动态相关性漂移监控：超过阈值自动预警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相关性热力图：识别'假分散'资产（名义不同但高相关）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分散化比率(Diversification Ratio)：量化分散化程度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低相关资产推荐：约束条件下推荐候选资产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024128"/>
            <a:ext cx="5577840" cy="356616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63640" y="107899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Shadow Portfolio虚拟试算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100+虚拟组合并行运行，与真实组合同步计算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试算维度：增减仓/换仓/加杠杆/新资产类别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即时显示：风险指标/归因/相关性变化/预期收益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对比视图：试算 vs 当前 所有指标差异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典型问题（秒级给答案）：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  '把5亿利率债换成黄金ETF → Sharpe多少？'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  '叠加100亿国债期货空头 → 久期如何变化？'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  '信用债从20%降到10% → 极端损失减少多少？'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709160"/>
            <a:ext cx="11247120" cy="102412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480060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微软雅黑"/>
              </a:defRPr>
            </a:pPr>
            <a:r>
              <a:t>核心价值：'假分散'陷阱 + 决策可视化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实时相关性监控：防止'看似分散、实则集中'的配置错误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Shadow Portfolio：调仓决策从'大概猜测'变成'看见结果再行动'——每个调仓决策都有数据依据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投资价值：优化配置潜在收益2000-5000万/年（千亿AUM，Sharpe Ratio提升0.2-0.4）</a:t>
            </a:r>
          </a:p>
        </p:txBody>
      </p:sp>
    </p:spTree>
    <p:extLst>
      <p:ext uri="{BB962C8B-B14F-4D97-AF65-F5344CB8AC3E}">
        <p14:creationId xmlns:p14="http://schemas.microsoft.com/office/powerpoint/2010/main" val="379674843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4.4.1.5 Campisi 2.0——固定收益绩效归因深度拆解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债券组合收益'从哪里来'不再是黑箱——五大效应精确拆解让Alpha有据可查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47120" cy="3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归因效应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计算公式/逻辑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实战示例(本月bp)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① 收入效应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持有期间票息收入 + 摊销 = '不做任何决策的基础收益'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+18.5bp（符合预期）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② 国债效应-平移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-Modified Duration × ΔYield(parallel shift)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-12.3bp（利率上行拖累）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② 国债效应-斜率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各期限桶Key Rate Duration × 斜率变化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+3.2bp（短端下行收益）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② 国债效应-曲率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凸性调整 + 曲率Key Rate Duration × 曲率变化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含于斜率效应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③ 利差效应-DTS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Duration Times Spread变化 × 持仓DTS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+6.8bp（信用利差收窄）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③ 行业配置效应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超/低配某行业相对基准的贡献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+2.1bp（超配城投正确）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③ 个券选择效应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个券利差变动超出行业平均的部分（真实Alpha）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+4.7bp（选券Alpha）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④ 交易效应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实际交易时机带来的超额收益或损耗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-1.2bp（换手时机略有损耗）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⑤ 残差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实际收益 - 上述各项（通常&lt;5bp，过大表明模型需检查）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+0.0bp（完美匹配）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4572000"/>
            <a:ext cx="11247120" cy="120700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466344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微软雅黑"/>
              </a:defRPr>
            </a:pPr>
            <a:r>
              <a:t>核心价值：绩效考核从主观印象变成数据说话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投资经理第一次清楚知道：'这个月的超额收益，有多少是运气（市场给的收入效应），有多少是真本事（选券Alpha）'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超额收益分解：利率判断能力（平移+斜率效应）+ 信用配置能力（DTS+行业）+ 选券能力（个券Alpha）+ 交易能力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投委会可以用数据决定资源分配——哪个策略/PM值得更多资金？</a:t>
            </a:r>
          </a:p>
        </p:txBody>
      </p:sp>
    </p:spTree>
    <p:extLst>
      <p:ext uri="{BB962C8B-B14F-4D97-AF65-F5344CB8AC3E}">
        <p14:creationId xmlns:p14="http://schemas.microsoft.com/office/powerpoint/2010/main" val="159579369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4.4.1.6 Brinson模型——权益与基金绩效归因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超额收益来自'配了什么'还是'选了什么'——Brinson精确拆分配置效应与选择效应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3566160" cy="246888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微软雅黑"/>
              </a:defRPr>
            </a:pPr>
            <a:r>
              <a:t>第一层：大类资产配置效应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公式：(组合权重 - 基准权重) × (基准资产收益 - 基准总收益)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029968"/>
            <a:ext cx="301752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12140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超配黄金10%，黄金当月+5% vs 基准+2%</a:t>
            </a:r>
            <a:br/>
            <a:r>
              <a:t>→ 配置贡献：+0.3%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39" y="1024128"/>
            <a:ext cx="3566160" cy="246888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7679" y="10789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微软雅黑"/>
              </a:defRPr>
            </a:pPr>
            <a:r>
              <a:t>第二层：个券/个基选择效应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15087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公式：基准权重 × (组合资产收益 - 基准资产收益)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59" y="2029968"/>
            <a:ext cx="3017520" cy="27432"/>
          </a:xfrm>
          <a:prstGeom prst="rect">
            <a:avLst/>
          </a:prstGeom>
          <a:solidFill>
            <a:srgbClr val="3B7D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79" y="212140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权益仓位内，选的股票+8% vs 沪深300 +5%</a:t>
            </a:r>
            <a:br/>
            <a:r>
              <a:t>→ 选择贡献：+0.15%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78" y="1024128"/>
            <a:ext cx="3566160" cy="246888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18" y="107899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第三层：交互效应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8" y="15087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公式：(组合权重-基准权重) × (组合资产收益-基准资产收益)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598" y="2029968"/>
            <a:ext cx="301752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18" y="212140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超配了且选得好的综合效应</a:t>
            </a:r>
            <a:br/>
            <a:r>
              <a:t>（或超配了但选得差的叠加损耗）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611880"/>
            <a:ext cx="11247120" cy="118872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3675887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微软雅黑"/>
              </a:defRPr>
            </a:pPr>
            <a:r>
              <a:t>穿透分析能力 + 投资能力量化评估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多层穿透：大类→行业→子行业→个股/个基 | 基金FOF穿透：穿透底层持仓看真实行业/风格暴露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季度报告：配置能力 +Xbp | 选券能力 +Ybp | 择时能力 +Zbp | 连续12月滚动识别稳定性vs运气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投资经理排名（同部门横向对比，激励机制数据支撑）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937760"/>
            <a:ext cx="11247120" cy="804672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502920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微软雅黑"/>
              </a:defRPr>
            </a:pPr>
            <a:r>
              <a:t>核心价值：基金经理/投资经理的真实投资能力第一次可以被量化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绩效考核不再靠'感觉'——投委会用数据决定资源分配，哪个PM值得更多风险预算</a:t>
            </a:r>
          </a:p>
        </p:txBody>
      </p:sp>
    </p:spTree>
    <p:extLst>
      <p:ext uri="{BB962C8B-B14F-4D97-AF65-F5344CB8AC3E}">
        <p14:creationId xmlns:p14="http://schemas.microsoft.com/office/powerpoint/2010/main" val="321219815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4.4.1.7 因子风险分解 + 边际风险贡献MCTR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从'知道组合VaR是多少'升级到'知道每一笔持仓消耗了多少风险预算'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577840" cy="365760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微软雅黑"/>
              </a:defRPr>
            </a:pPr>
            <a:r>
              <a:t>因子风险分解（全组合维度）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① 利率风险：DV01敞口 × 利率波动率 → 贡献XX%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   细分：短端(1Y内)/中端(1-5Y)/长端(5Y+)/超长端(10Y+)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② 信用风险：CS01敞口 × 信用利差波动 → 贡献XX%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   细分：AAA/AA+/AA城投/产业/金融各评级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③ 权益风险：Beta敞口 × 股市波动 → 贡献XX%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   细分：大盘/小盘/价值/成长风格因子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④ 商品风险：黄金/原油/有色价格敏感度 → 贡献XX%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特异性风险：个券/个股集中度风险（过高→需分散）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输出：风险饼图 · 预算仪表盘（已用/剩余/预警线）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024128"/>
            <a:ext cx="5577840" cy="365760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63640" y="107899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rPr dirty="0" err="1"/>
              <a:t>边际风险贡献</a:t>
            </a:r>
            <a:r>
              <a:rPr dirty="0"/>
              <a:t> MCTR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rPr dirty="0" err="1"/>
              <a:t>MCTR_i</a:t>
            </a:r>
            <a:r>
              <a:rPr dirty="0"/>
              <a:t> = ∂(</a:t>
            </a:r>
            <a:r>
              <a:rPr dirty="0" err="1"/>
              <a:t>组合波动率</a:t>
            </a:r>
            <a:r>
              <a:rPr dirty="0"/>
              <a:t>) / ∂(</a:t>
            </a:r>
            <a:r>
              <a:rPr dirty="0" err="1"/>
              <a:t>持仓_i的权重</a:t>
            </a:r>
            <a:r>
              <a:rPr dirty="0"/>
              <a:t>)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rPr dirty="0"/>
              <a:t>即：增加1%该持仓，组合总风险增加多少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rPr dirty="0" err="1"/>
              <a:t>应用价值</a:t>
            </a:r>
            <a:r>
              <a:rPr dirty="0"/>
              <a:t>：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rPr dirty="0"/>
              <a:t>① 风险消耗排名：找出哪10个持仓消耗了60%风险预算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rPr dirty="0"/>
              <a:t>② </a:t>
            </a:r>
            <a:r>
              <a:rPr dirty="0" err="1"/>
              <a:t>减仓优先级：需降风险时，先减MCTR最高的持仓</a:t>
            </a:r>
            <a:endParaRPr dirty="0"/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rPr dirty="0"/>
              <a:t>③ </a:t>
            </a:r>
            <a:r>
              <a:rPr dirty="0" err="1"/>
              <a:t>加仓引导：优先选MCTR为负的品种（降低组合风险</a:t>
            </a:r>
            <a:r>
              <a:rPr dirty="0"/>
              <a:t>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rPr dirty="0"/>
              <a:t>④ </a:t>
            </a:r>
            <a:r>
              <a:rPr dirty="0" err="1"/>
              <a:t>QP优化输入：作为约束条件实现风险预算最优分配</a:t>
            </a:r>
            <a:endParaRPr dirty="0"/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rPr dirty="0" err="1"/>
              <a:t>实时仪表盘示例</a:t>
            </a:r>
            <a:r>
              <a:rPr dirty="0"/>
              <a:t>：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rPr dirty="0"/>
              <a:t>  #1 XX城投2030：MCTR 18.3bp → 12.1% ⚠️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rPr dirty="0"/>
              <a:t>  #2 </a:t>
            </a:r>
            <a:r>
              <a:rPr dirty="0" err="1"/>
              <a:t>XX转债：MCTR</a:t>
            </a:r>
            <a:r>
              <a:rPr dirty="0"/>
              <a:t> 12.7bp → 8.4% </a:t>
            </a:r>
            <a:r>
              <a:rPr dirty="0" err="1"/>
              <a:t>正常</a:t>
            </a:r>
            <a:endParaRPr dirty="0"/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rPr dirty="0"/>
              <a:t>  #3 </a:t>
            </a:r>
            <a:r>
              <a:rPr dirty="0" err="1"/>
              <a:t>XX股票：MCTR</a:t>
            </a:r>
            <a:r>
              <a:rPr dirty="0"/>
              <a:t> -3.2bp → -2.1% ✅</a:t>
            </a:r>
            <a:r>
              <a:rPr dirty="0" err="1"/>
              <a:t>分散化</a:t>
            </a:r>
            <a:endParaRPr dirty="0"/>
          </a:p>
        </p:txBody>
      </p:sp>
      <p:sp>
        <p:nvSpPr>
          <p:cNvPr id="9" name="Rectangle 8"/>
          <p:cNvSpPr/>
          <p:nvPr/>
        </p:nvSpPr>
        <p:spPr>
          <a:xfrm>
            <a:off x="457200" y="4800600"/>
            <a:ext cx="11247120" cy="932688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489204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微软雅黑"/>
              </a:defRPr>
            </a:pPr>
            <a:r>
              <a:t>核心价值：风险预算分配从粗放走向精细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风险管理升级：'知道组合VaR' → '知道每笔持仓消耗了多少风险预算'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操作价值：需要降风险时，精确知道减哪些持仓效率最大；加仓时知道哪些品种不消耗额外风险预算</a:t>
            </a:r>
          </a:p>
        </p:txBody>
      </p:sp>
    </p:spTree>
    <p:extLst>
      <p:ext uri="{BB962C8B-B14F-4D97-AF65-F5344CB8AC3E}">
        <p14:creationId xmlns:p14="http://schemas.microsoft.com/office/powerpoint/2010/main" val="88903192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4.4.1.8 Component VaR + 主动风险归因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从'组合整体有多大风险'到'每一个持仓/行业/发行人对VaR的贡献是多少'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47120" cy="17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层级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穿透维度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分析内容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管理价值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第一层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资产类别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债券VaR/权益VaR/商品VaR + 各类之间分散化节省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了解风险来自哪个大类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第二层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行业/子市场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城投/金融债/产业债/TMT/消费各行业VaR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识别行业集中度风险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第三层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评级/信用质量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AAA/AA+/AA各评级VaR占比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信用风险精细管控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第四层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单一发行人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发行人A: Component VaR → 超集中度预警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单一发行人风险阻止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657600"/>
            <a:ext cx="3566160" cy="123444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372160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B5EC7"/>
                </a:solidFill>
                <a:latin typeface="微软雅黑"/>
              </a:defRPr>
            </a:pPr>
            <a:r>
              <a:t>历史模拟法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1480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500+日历史数据</a:t>
            </a:r>
            <a:br/>
            <a:r>
              <a:t>99%置信度</a:t>
            </a:r>
            <a:br/>
            <a:r>
              <a:t>线性风险精确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39" y="3657600"/>
            <a:ext cx="3566160" cy="123444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79" y="372160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Monte Carlo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411480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10,000次模拟</a:t>
            </a:r>
            <a:br/>
            <a:r>
              <a:t>捕获非线性风险</a:t>
            </a:r>
            <a:br/>
            <a:r>
              <a:t>期权/结构化产品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78" y="3657600"/>
            <a:ext cx="3566160" cy="123444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18" y="372160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B7DD8"/>
                </a:solidFill>
                <a:latin typeface="微软雅黑"/>
              </a:defRPr>
            </a:pPr>
            <a:r>
              <a:t>参数法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8" y="411480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解析解</a:t>
            </a:r>
            <a:br/>
            <a:r>
              <a:t>毫秒级输出</a:t>
            </a:r>
            <a:br/>
            <a:r>
              <a:t>实时监控适用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956048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三种方法互为验证，差异超过阈值自动预警；跟踪误差分解：配置效应TE + 选券效应TE，信息比率(IR)持续监控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285232"/>
            <a:ext cx="11247120" cy="521207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5376672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微软雅黑"/>
              </a:defRPr>
            </a:pPr>
            <a:r>
              <a:t>核心价值：风险管理精细化到可操作层面——每个发行人的Component VaR超限即预警，立刻知道减哪个</a:t>
            </a:r>
          </a:p>
        </p:txBody>
      </p:sp>
    </p:spTree>
    <p:extLst>
      <p:ext uri="{BB962C8B-B14F-4D97-AF65-F5344CB8AC3E}">
        <p14:creationId xmlns:p14="http://schemas.microsoft.com/office/powerpoint/2010/main" val="4283949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4.4.1.9 敏感度分析——实时风险地图，预判市场波动影响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市场利率明天上行10bp，组合会亏多少？——敏感度分析实时回答，让投资经理提前看清风险地图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5577840" cy="3749039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微软雅黑"/>
              </a:defRPr>
            </a:pPr>
            <a:r>
              <a:t>多维度敏感度实时仪表盘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利率敏感度：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  DV01（利率每变动1bp → P&amp;L变化）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  Key Rate Duration（各期限点敏感度）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  凸性（大幅变动时的非线性保护）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信用敏感度：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  CS01（信用利差每变动1bp → P&amp;L变化）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  DTS（Duration Times Spread，更精确）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权益敏感度：Delta · Beta · 行业Beta</a:t>
            </a:r>
          </a:p>
          <a:p>
            <a:pPr algn="l">
              <a:spcBef>
                <a:spcPts val="3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商品/汇率：黄金/原油/外汇每单位变动影响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024128"/>
            <a:ext cx="5577840" cy="3749039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63640" y="1078992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微软雅黑"/>
              </a:defRPr>
            </a:pPr>
            <a:r>
              <a:t>冲击分析矩阵（利率 × 信用利差）</a:t>
            </a:r>
          </a:p>
          <a:p>
            <a:pPr algn="l">
              <a:spcBef>
                <a:spcPts val="300"/>
              </a:spcBef>
              <a:defRPr sz="900" b="0">
                <a:solidFill>
                  <a:srgbClr val="FFFFFF"/>
                </a:solidFill>
                <a:latin typeface="Courier New"/>
              </a:defRPr>
            </a:pPr>
            <a:r>
              <a:t>              信用 -50bp  -20bp  0bp  +20bp  +50bp</a:t>
            </a:r>
          </a:p>
          <a:p>
            <a:pPr algn="l">
              <a:spcBef>
                <a:spcPts val="300"/>
              </a:spcBef>
              <a:defRPr sz="900" b="0">
                <a:solidFill>
                  <a:srgbClr val="FFFFFF"/>
                </a:solidFill>
                <a:latin typeface="Courier New"/>
              </a:defRPr>
            </a:pPr>
            <a:r>
              <a:t>利率 -50bp    +8500  +6200 +4100  +1800   -800</a:t>
            </a:r>
          </a:p>
          <a:p>
            <a:pPr algn="l">
              <a:spcBef>
                <a:spcPts val="300"/>
              </a:spcBef>
              <a:defRPr sz="900" b="0">
                <a:solidFill>
                  <a:srgbClr val="FFFFFF"/>
                </a:solidFill>
                <a:latin typeface="Courier New"/>
              </a:defRPr>
            </a:pPr>
            <a:r>
              <a:t>利率 -20bp    +5200  +3100 +1200   -900  -3200</a:t>
            </a:r>
          </a:p>
          <a:p>
            <a:pPr algn="l">
              <a:spcBef>
                <a:spcPts val="300"/>
              </a:spcBef>
              <a:defRPr sz="900" b="0">
                <a:solidFill>
                  <a:srgbClr val="FFFFFF"/>
                </a:solidFill>
                <a:latin typeface="Courier New"/>
              </a:defRPr>
            </a:pPr>
            <a:r>
              <a:t>利率   0bp    +4100  +1800     0  -2100  -5400</a:t>
            </a:r>
          </a:p>
          <a:p>
            <a:pPr algn="l">
              <a:spcBef>
                <a:spcPts val="300"/>
              </a:spcBef>
              <a:defRPr sz="900" b="0">
                <a:solidFill>
                  <a:srgbClr val="FFFFFF"/>
                </a:solidFill>
                <a:latin typeface="Courier New"/>
              </a:defRPr>
            </a:pPr>
            <a:r>
              <a:t>利率 +20bp    +2800   +400 -1800  -4100  -7200</a:t>
            </a:r>
          </a:p>
          <a:p>
            <a:pPr algn="l">
              <a:spcBef>
                <a:spcPts val="300"/>
              </a:spcBef>
              <a:defRPr sz="900" b="0">
                <a:solidFill>
                  <a:srgbClr val="FFFFFF"/>
                </a:solidFill>
                <a:latin typeface="Courier New"/>
              </a:defRPr>
            </a:pPr>
            <a:r>
              <a:t>利率 +50bp     +800  -1800 -4200  -6800  -9800</a:t>
            </a:r>
          </a:p>
          <a:p>
            <a:pPr algn="l">
              <a:spcBef>
                <a:spcPts val="300"/>
              </a:spcBef>
              <a:defRPr sz="900" b="0">
                <a:solidFill>
                  <a:srgbClr val="0F2060"/>
                </a:solidFill>
                <a:latin typeface="Courier New"/>
              </a:defRPr>
            </a:pPr>
            <a:r>
              <a:t>（万元P&amp;L，红色区域为当前情景最可能损失区间）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846320"/>
            <a:ext cx="11247120" cy="9144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493776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微软雅黑"/>
              </a:defRPr>
            </a:pPr>
            <a:r>
              <a:t>核心价值：从'被动应对'到'主动预判'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提前知道每种市场情景的P&amp;L影响，决策从'市场动了才反应'变为'看懂矩阵，提前布防'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冲击矩阵可视化风险地图：投资经理一眼看出'最怕利率大幅上行+信用利差走阔的组合情景'</a:t>
            </a:r>
          </a:p>
        </p:txBody>
      </p:sp>
    </p:spTree>
    <p:extLst>
      <p:ext uri="{BB962C8B-B14F-4D97-AF65-F5344CB8AC3E}">
        <p14:creationId xmlns:p14="http://schemas.microsoft.com/office/powerpoint/2010/main" val="219966957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4.4.1.10 情景分析与压力测试——三层体系让924类事件从'灾难'变为'有预案'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2024年924事件证明：没有极端情景预案 = 被动承受——POMS三层压力测试体系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24128"/>
            <a:ext cx="3566160" cy="370332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07899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微软雅黑"/>
              </a:defRPr>
            </a:pPr>
            <a:r>
              <a:t>第一层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8988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历史情景重演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92224"/>
            <a:ext cx="3017520" cy="27432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892807"/>
            <a:ext cx="3383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微软雅黑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924央行货币政策转向（2024.9）：短端-30bp/中端-20bp/权益+9.6%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包商银行事件（2019.5）：城投AA+走阔+80bp/AA+走阔+150bp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2013钱荒：隔夜Shibor突破30%，长端利率+100bp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→ 自动计算当前组合在上述事件下的损益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39" y="1024128"/>
            <a:ext cx="3566160" cy="370332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97679" y="107899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第二层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138988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假设情景模拟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59" y="1792224"/>
            <a:ext cx="3017520" cy="27432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97679" y="1892807"/>
            <a:ext cx="3383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微软雅黑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自定义任意冲击：'利率+100bp + 信用+50bp + 股市-10%'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'某省城投违约，行业利差走阔200bp'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即时输出：总损益/最受损前10持仓/流动性危机能力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→ 建议应急对冲方案（哪些衍生品可以对冲）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78" y="1024128"/>
            <a:ext cx="3566160" cy="3703320"/>
          </a:xfrm>
          <a:prstGeom prst="rect">
            <a:avLst/>
          </a:prstGeom>
          <a:solidFill>
            <a:srgbClr val="0F2060"/>
          </a:solidFill>
          <a:ln w="12700">
            <a:solidFill>
              <a:srgbClr val="2B5E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18" y="1078992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B5EC7"/>
                </a:solidFill>
                <a:latin typeface="微软雅黑"/>
              </a:defRPr>
            </a:pPr>
            <a:r>
              <a:t>第三层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8" y="138988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反向压力测试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598" y="1792224"/>
            <a:ext cx="3017520" cy="27432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18" y="1892807"/>
            <a:ext cx="3383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微软雅黑"/>
              </a:defRPr>
            </a:pPr>
            <a:endParaRPr/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从'最大可承受损失'倒推'什么情景触及止损线'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算法：搜索最可能导致-2亿损失的利率/信用组合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输出：'临界情景是利率+65bp+信用+30bp，历史每3年1次'</a:t>
            </a:r>
          </a:p>
          <a:p>
            <a:pPr algn="l">
              <a:spcBef>
                <a:spcPts val="5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→ 提前建立应急预案和止损机制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92040"/>
            <a:ext cx="11247120" cy="86868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498348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微软雅黑"/>
              </a:defRPr>
            </a:pPr>
            <a:r>
              <a:t>924教训：提前压测 = 有预案 · 没有压测 = 被动承受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POMS将极端情景从'事后复盘'变成'事前演练'：同样的924事件，有预案亏0.8亿，无预案亏2亿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差异1.2亿——这是压力测试系统在一天内创造的价值</a:t>
            </a:r>
          </a:p>
        </p:txBody>
      </p:sp>
    </p:spTree>
    <p:extLst>
      <p:ext uri="{BB962C8B-B14F-4D97-AF65-F5344CB8AC3E}">
        <p14:creationId xmlns:p14="http://schemas.microsoft.com/office/powerpoint/2010/main" val="365021069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4.4.1.11 流动性风险管理——变现确定性量化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大额持仓'卖不出去'的流动性风险比价格风险更致命——POMS量化每个持仓的变现时间和冲击成本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24128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微软雅黑"/>
              </a:defRPr>
            </a:pPr>
            <a:r>
              <a:t>持仓变现能力评估（基于Almgren-Chriss模型 — 市场冲击成本 ∝ √变现规模/日均成交量）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2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持仓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规模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日均成交量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估算变现天数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变现难度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国债2034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10亿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50亿/日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✅ 极高流动性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AA城投2028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5亿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3亿/日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8天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⚠️ 中等流动性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AA-产业债2030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0.5亿/日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20天+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🔴 低流动性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非标ABS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3亿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无场内交易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协议转让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🔴 极低流动性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3291840"/>
            <a:ext cx="11247120" cy="1417320"/>
          </a:xfrm>
          <a:prstGeom prst="rect">
            <a:avLst/>
          </a:prstGeom>
          <a:solidFill>
            <a:srgbClr val="0F2060"/>
          </a:solidFill>
          <a:ln w="12700">
            <a:solidFill>
              <a:srgbClr val="3B7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3346704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7DD8"/>
                </a:solidFill>
                <a:latin typeface="微软雅黑"/>
              </a:defRPr>
            </a:pPr>
            <a:r>
              <a:t>流动性压力测试 + 流动性监控仪表盘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场景：需要在X天内变现Y亿资金（满足回购到期/赎回）→ 系统分析：可变现排序/变现成本累计/最优路径建议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流动性调整VaR(LVaR) = 传统VaR + 流动性溢价风险  → 比传统VaR更保守，更接近真实风险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仪表盘：流动性覆盖率 · 1/3/5/10天可变现缓冲 · 回购到期日历（未来30日每日到期规模）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864608"/>
            <a:ext cx="11247120" cy="9144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4956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微软雅黑"/>
              </a:defRPr>
            </a:pPr>
            <a:r>
              <a:t>核心价值：在极端市场中，'能卖多少·能卖多快·要付多少代价'有确定性答案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924事件教训：价格跌是确定的，卖不出去才是真正的灾难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潜在价值：避免流动性紧急变现的额外损失，每次极端事件可减少数千万到数亿的冲击成本</a:t>
            </a:r>
          </a:p>
        </p:txBody>
      </p:sp>
    </p:spTree>
    <p:extLst>
      <p:ext uri="{BB962C8B-B14F-4D97-AF65-F5344CB8AC3E}">
        <p14:creationId xmlns:p14="http://schemas.microsoft.com/office/powerpoint/2010/main" val="50307060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4.4.1.12 衍生品工具矩阵——快速/灵活/稳健的组合对冲体系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系统告诉投资经理：用哪个工具、用多少、怎么做——将对冲从艺术变成科学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47120" cy="26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风险类型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对冲工具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用途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效率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利率风险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国债期货（2Y/5Y/10Y/30Y）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快速调整组合久期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秒级，高流动性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利率风险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利率互换IRS（1Y-10Y）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精确管理浮动/固定利率敞口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灵活，OTC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信用风险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信用违约互换CDS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对冲特定发行人违约风险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精准，OTC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权益风险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股指期货（IF/IH/IC/IM）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快速对冲Beta敞口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秒级，高流动性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权益风险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股指期权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非线性保护（尾部风险对冲）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精准，成本可控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商品风险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黄金期货/黄金期权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对冲黄金价格风险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日内调整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汇率风险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外汇远期/掉期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锁定外汇敞口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OTC，灵活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703320"/>
            <a:ext cx="11247120" cy="1417320"/>
          </a:xfrm>
          <a:prstGeom prst="rect">
            <a:avLst/>
          </a:prstGeom>
          <a:solidFill>
            <a:srgbClr val="0F2060"/>
          </a:solidFill>
          <a:ln w="12700">
            <a:solidFill>
              <a:srgbClr val="E539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3767328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对冲决策引擎工作流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① 输入：当前组合风险敞口（DV01/CS01/Beta实时仪表盘数据）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② 目标：设定对冲后目标风险水平（如'将DV01从500万降到200万'）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③ 系统推荐：卖出XX手10年期国债期货 + 做多XX笔5年IRS → 预期DV01: 500万→198万(-60.4%) · 对冲成本: XX万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④ 一键生成对冲指令，流转执行管理引擎  |  多维场景：快速对冲/精细对冲/尾部对冲/跨资产联合对冲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285232"/>
            <a:ext cx="11247120" cy="521207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5376672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微软雅黑"/>
              </a:defRPr>
            </a:pPr>
            <a:r>
              <a:t>核心价值：衍生品对冲从'知道要用但不知道用多少'变成'系统给出最优方案，一键执行'</a:t>
            </a:r>
          </a:p>
        </p:txBody>
      </p:sp>
    </p:spTree>
    <p:extLst>
      <p:ext uri="{BB962C8B-B14F-4D97-AF65-F5344CB8AC3E}">
        <p14:creationId xmlns:p14="http://schemas.microsoft.com/office/powerpoint/2010/main" val="379473628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华锐</a:t>
            </a:r>
            <a:r>
              <a:rPr lang="en-US" altLang="zh-CN" dirty="0"/>
              <a:t>POMS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微软雅黑"/>
              </a:defRPr>
            </a:pPr>
            <a:r>
              <a:t>SECTION 4 —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560320"/>
            <a:ext cx="4572000" cy="457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412576" y="2911710"/>
            <a:ext cx="7311649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微软雅黑"/>
              </a:defRPr>
            </a:pPr>
            <a:r>
              <a:rPr lang="zh-CN" altLang="en-US" dirty="0"/>
              <a:t>项目建议： </a:t>
            </a:r>
            <a:r>
              <a:rPr dirty="0"/>
              <a:t>三期</a:t>
            </a:r>
            <a:r>
              <a:rPr lang="en-US" dirty="0"/>
              <a:t>24</a:t>
            </a:r>
            <a:r>
              <a:rPr dirty="0"/>
              <a:t>个月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39641" y="3905286"/>
            <a:ext cx="720511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微软雅黑"/>
              </a:defRPr>
            </a:pPr>
            <a:r>
              <a:rPr dirty="0" err="1"/>
              <a:t>从底向上·分步见效·灯塔效应</a:t>
            </a:r>
            <a:endParaRPr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ABDB21-D769-3881-A4EE-2E742AD055C0}"/>
              </a:ext>
            </a:extLst>
          </p:cNvPr>
          <p:cNvSpPr/>
          <p:nvPr/>
        </p:nvSpPr>
        <p:spPr>
          <a:xfrm>
            <a:off x="5029200" y="2533687"/>
            <a:ext cx="2103120" cy="45720"/>
          </a:xfrm>
          <a:prstGeom prst="rect">
            <a:avLst/>
          </a:prstGeom>
          <a:solidFill>
            <a:srgbClr val="F54D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cs typeface="微软雅黑" panose="00000500000000000000" charset="-122"/>
            </a:endParaRPr>
          </a:p>
        </p:txBody>
      </p:sp>
      <p:sp>
        <p:nvSpPr>
          <p:cNvPr id="9" name="AutoShape 3">
            <a:extLst>
              <a:ext uri="{FF2B5EF4-FFF2-40B4-BE49-F238E27FC236}">
                <a16:creationId xmlns:a16="http://schemas.microsoft.com/office/drawing/2014/main" id="{B838C404-0B55-6651-D47E-3D646ABC073A}"/>
              </a:ext>
            </a:extLst>
          </p:cNvPr>
          <p:cNvSpPr/>
          <p:nvPr/>
        </p:nvSpPr>
        <p:spPr>
          <a:xfrm>
            <a:off x="4648200" y="1390687"/>
            <a:ext cx="2794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400" b="1" i="0" u="none" strike="noStrike" dirty="0">
                <a:solidFill>
                  <a:srgbClr val="FFFFFF"/>
                </a:solidFill>
                <a:latin typeface="微软雅黑" panose="020B0200000000000000" charset="-122"/>
                <a:ea typeface="微软雅黑" panose="020B0200000000000000" charset="-122"/>
                <a:cs typeface="微软雅黑" panose="020B0200000000000000" charset="-122"/>
                <a:sym typeface="微软雅黑" panose="020B0200000000000000" charset="-122"/>
              </a:rPr>
              <a:t>0</a:t>
            </a:r>
            <a:r>
              <a:rPr lang="en-US" sz="4400" b="1" dirty="0">
                <a:solidFill>
                  <a:srgbClr val="FFFFFF"/>
                </a:solidFill>
                <a:latin typeface="微软雅黑" panose="020B0200000000000000" charset="-122"/>
                <a:ea typeface="微软雅黑" panose="020B0200000000000000" charset="-122"/>
                <a:cs typeface="微软雅黑" panose="020B0200000000000000" charset="-122"/>
                <a:sym typeface="微软雅黑" panose="020B0200000000000000" charset="-122"/>
              </a:rPr>
              <a:t>5</a:t>
            </a:r>
            <a:endParaRPr lang="en-US" sz="4400" b="1" i="0" u="none" strike="noStrike" dirty="0">
              <a:solidFill>
                <a:srgbClr val="FFFFFF"/>
              </a:solidFill>
              <a:latin typeface="微软雅黑" panose="020B0200000000000000" charset="-122"/>
              <a:ea typeface="微软雅黑" panose="020B0200000000000000" charset="-122"/>
              <a:cs typeface="微软雅黑" panose="020B0200000000000000" charset="-122"/>
              <a:sym typeface="微软雅黑" panose="020B0200000000000000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5937469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三期24个月实施路径——从数据筑基到全面进化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先数据后应用 · 先看见后计算 · 先自营后做市 · M6 Quick Win 验收触发首期付款</a:t>
            </a:r>
          </a:p>
        </p:txBody>
      </p:sp>
      <p:pic>
        <p:nvPicPr>
          <p:cNvPr id="29" name="Picture 28" descr="diagram_6_实施路线图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502" y="960120"/>
            <a:ext cx="10363357" cy="5632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68899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M6 Quick Win效应：投资经理的一天——从'看不到'到'全资产精准配置'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6个月内实现：千亿自营资金一个平台实时可见——这是最直观的变化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204376"/>
              </p:ext>
            </p:extLst>
          </p:nvPr>
        </p:nvGraphicFramePr>
        <p:xfrm>
          <a:off x="457200" y="1184725"/>
          <a:ext cx="11247120" cy="333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60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9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5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时间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Without POMS（今天）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rPr dirty="0"/>
                        <a:t>With </a:t>
                      </a:r>
                      <a:r>
                        <a:rPr dirty="0" err="1"/>
                        <a:t>POMS（Phase</a:t>
                      </a:r>
                      <a:r>
                        <a:rPr dirty="0"/>
                        <a:t> 1上线后）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08:30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打开3个系统查看昨日持仓，看不到全资产机会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登录POMS，全组合实时全景一屏 · 相关性矩阵：黄金与利率债相关性仅0.1，建议增配5%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09:15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等风控发邮件——昨日VaR报告（数据过时12小时）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实时仪表盘：VaR 1.2亿 · DV01 850万 · CS01 420万 · 黄色预警：利率债集中度85%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10:00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想试增配黄金ETF，Excel粗算，不确定就放弃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虚拟组合一键试算：增配5%黄金ETF → 波动率-32% · 预期收益仅-3% · Sharpe 0.8→1.1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11:30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看到10Y-5Y利差走阔，缺工具，无法量化决策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利差监控推送：'10Y-5Y利差52bp，历史93%分位' · 回测：类似位置胜率78%，均收益12bp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14:00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手写指令单→签字→交易员执行，价格已变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一键生成指令：合规预检通过→领导线上审批→秒级下达→滑点仅0.3bp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15:30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无法知道今天操作对组合的真实贡献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实时归因：利差策略+8bp · 久期管理+3bp · 交易滑点-0.3bp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17:00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若全年仅做利率债，收益取决于单一方向判断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rPr dirty="0" err="1"/>
                        <a:t>系统实时：本月多资产配置</a:t>
                      </a:r>
                      <a:r>
                        <a:rPr dirty="0"/>
                        <a:t> 年化收益5.8% · 波动率3.1% · Sharpe 1.45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5074920"/>
            <a:ext cx="11247120" cy="6858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516636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微软雅黑"/>
              </a:defRPr>
            </a:pPr>
            <a:r>
              <a:t>M6 Quick Win交付承诺：6个月内，CEO打开系统即看全公司自营实时全貌——这是最快的价值验证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M6 Quick Win本身就是对华锐交付能力的验证：6个月先看见、先感受，后续深度功能基于信任分步建设</a:t>
            </a:r>
          </a:p>
        </p:txBody>
      </p:sp>
    </p:spTree>
    <p:extLst>
      <p:ext uri="{BB962C8B-B14F-4D97-AF65-F5344CB8AC3E}">
        <p14:creationId xmlns:p14="http://schemas.microsoft.com/office/powerpoint/2010/main" val="194382632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风险识别与应对：主要风险及缓解措施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提前识别、主动应对——分步建设策略降低整体风险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3567416"/>
              </p:ext>
            </p:extLst>
          </p:nvPr>
        </p:nvGraphicFramePr>
        <p:xfrm>
          <a:off x="457200" y="1435608"/>
          <a:ext cx="11247120" cy="27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5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风险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概率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影响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rPr dirty="0" err="1"/>
                        <a:t>应对措施</a:t>
                      </a:r>
                      <a:endParaRPr dirty="0"/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责任方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衡泰xIR数据对接复杂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Phase 1提前启动接口调研；已有IBOR对接经验；渐进替换策略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双方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千亿数据量性能瓶颈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Phase 1含性能压测专项；分布式架构预留弹性扩展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华锐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业务需求变更频繁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敏捷迭代（双周）+需求冻结期+变更委员会机制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双方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关键投资经理参与不足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项目发起人保障业务代表参与；专人对接关键用户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国元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数据质量问题影响准确性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Phase 1含数据治理专项；入库自动校验规则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双方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信创环境适配挑战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华锐已有信创全栈验证经验；提前环境验证专项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华锐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5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IFRS9合规时间压力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Phase 1优先覆盖IFRS9基础功能；按监管时间表倒排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rPr dirty="0" err="1"/>
                        <a:t>双方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5138928"/>
            <a:ext cx="11247120" cy="6858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523036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微软雅黑"/>
              </a:defRPr>
            </a:pPr>
            <a:r>
              <a:t>风险管理原则：先建数据根基，分步见效，Phase 1即验证华锐交付能力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分步建设策略：每个Phase单独验证，结果满意后继续——最大化投资保护</a:t>
            </a:r>
          </a:p>
        </p:txBody>
      </p:sp>
    </p:spTree>
    <p:extLst>
      <p:ext uri="{BB962C8B-B14F-4D97-AF65-F5344CB8AC3E}">
        <p14:creationId xmlns:p14="http://schemas.microsoft.com/office/powerpoint/2010/main" val="188783193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微软雅黑"/>
              </a:defRPr>
            </a:pPr>
            <a:r>
              <a:t>项目治理与关键里程碑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双周迭代 · 月度管理层汇报 · 季度Steering Committee · 结果驱动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2526401"/>
              </p:ext>
            </p:extLst>
          </p:nvPr>
        </p:nvGraphicFramePr>
        <p:xfrm>
          <a:off x="548640" y="1428456"/>
          <a:ext cx="11247120" cy="22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角色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国元侧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华锐侧</a:t>
                      </a:r>
                    </a:p>
                  </a:txBody>
                  <a:tcPr>
                    <a:solidFill>
                      <a:srgbClr val="0F206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rPr dirty="0" err="1"/>
                        <a:t>职责</a:t>
                      </a:r>
                      <a:endParaRPr dirty="0"/>
                    </a:p>
                  </a:txBody>
                  <a:tcPr>
                    <a:solidFill>
                      <a:srgbClr val="0F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项目发起人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分管副总裁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华锐VP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rPr dirty="0" err="1"/>
                        <a:t>战略决策·资源保障·阶段验收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项目经理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IT部项目经理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华锐项目总监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rPr dirty="0" err="1"/>
                        <a:t>日常协调·进度追踪·风险上报</a:t>
                      </a:r>
                      <a:endParaRPr dirty="0"/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业务代表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自营部投资经理+交易员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华锐业务顾问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rPr dirty="0" err="1"/>
                        <a:t>需求确认·验收测试·用户培训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技术代表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IT部架构师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华锐技术架构师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rPr dirty="0" err="1"/>
                        <a:t>技术方案·集成设计·性能验证</a:t>
                      </a:r>
                      <a:endParaRPr dirty="0"/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风控代表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风控合规部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华锐风控顾问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rPr dirty="0" err="1"/>
                        <a:t>合规规则·风控指标·监管对接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6576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微软雅黑"/>
              </a:defRPr>
            </a:pPr>
            <a:r>
              <a:t>关键里程碑时间线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251960"/>
            <a:ext cx="11247120" cy="36576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97280" y="4133087"/>
            <a:ext cx="228600" cy="22860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4434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B5EC7"/>
                </a:solidFill>
                <a:latin typeface="微软雅黑"/>
              </a:defRPr>
            </a:pPr>
            <a:r>
              <a:t>M1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77316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微软雅黑"/>
              </a:defRPr>
            </a:pPr>
            <a:r>
              <a:t>项目启动</a:t>
            </a:r>
            <a:br/>
            <a:r>
              <a:t>数据调研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7208" y="4133087"/>
            <a:ext cx="228600" cy="22860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41448" y="4434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B5EC7"/>
                </a:solidFill>
                <a:latin typeface="微软雅黑"/>
              </a:defRPr>
            </a:pPr>
            <a:r>
              <a:t>M3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58568" y="477316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微软雅黑"/>
              </a:defRPr>
            </a:pPr>
            <a:r>
              <a:t>IBOR对接</a:t>
            </a:r>
            <a:br/>
            <a:r>
              <a:t>数据集成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17136" y="4133087"/>
            <a:ext cx="228600" cy="22860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51376" y="4434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2060"/>
                </a:solidFill>
                <a:latin typeface="微软雅黑"/>
              </a:defRPr>
            </a:pPr>
            <a:r>
              <a:t>M6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68496" y="477316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微软雅黑"/>
              </a:defRPr>
            </a:pPr>
            <a:r>
              <a:t>Phase 1</a:t>
            </a:r>
            <a:br/>
            <a:r>
              <a:t>上线验收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27064" y="4133087"/>
            <a:ext cx="228600" cy="22860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861304" y="4434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B5EC7"/>
                </a:solidFill>
                <a:latin typeface="微软雅黑"/>
              </a:defRPr>
            </a:pPr>
            <a:r>
              <a:t>M9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477316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微软雅黑"/>
              </a:defRPr>
            </a:pPr>
            <a:r>
              <a:t>实时风控</a:t>
            </a:r>
            <a:br/>
            <a:r>
              <a:t>策略工具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36992" y="4133087"/>
            <a:ext cx="228600" cy="22860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71232" y="4434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2060"/>
                </a:solidFill>
                <a:latin typeface="微软雅黑"/>
              </a:defRPr>
            </a:pPr>
            <a:r>
              <a:t>M12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88352" y="477316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微软雅黑"/>
              </a:defRPr>
            </a:pPr>
            <a:r>
              <a:t>Phase 2</a:t>
            </a:r>
            <a:br/>
            <a:r>
              <a:t>上线验收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46920" y="4133087"/>
            <a:ext cx="228600" cy="228600"/>
          </a:xfrm>
          <a:prstGeom prst="rect">
            <a:avLst/>
          </a:prstGeom>
          <a:solidFill>
            <a:srgbClr val="2B5E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81160" y="4434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B5EC7"/>
                </a:solidFill>
                <a:latin typeface="微软雅黑"/>
              </a:defRPr>
            </a:pPr>
            <a:r>
              <a:t>M15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477316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微软雅黑"/>
              </a:defRPr>
            </a:pPr>
            <a:r>
              <a:t>全链路</a:t>
            </a:r>
            <a:br/>
            <a:r>
              <a:t>打通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356848" y="4133087"/>
            <a:ext cx="228600" cy="22860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991088" y="443484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2060"/>
                </a:solidFill>
                <a:latin typeface="微软雅黑"/>
              </a:defRPr>
            </a:pPr>
            <a:r>
              <a:t>M18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08208" y="4773168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33333"/>
                </a:solidFill>
                <a:latin typeface="微软雅黑"/>
              </a:defRPr>
            </a:pPr>
            <a:r>
              <a:t>Phase 3</a:t>
            </a:r>
            <a:br/>
            <a:r>
              <a:t>完整上线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349240"/>
            <a:ext cx="11247120" cy="457200"/>
          </a:xfrm>
          <a:prstGeom prst="rect">
            <a:avLst/>
          </a:prstGeom>
          <a:solidFill>
            <a:srgbClr val="0F2060"/>
          </a:solidFill>
          <a:ln w="12700">
            <a:solidFill>
              <a:srgbClr val="0F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" y="544068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2060"/>
                </a:solidFill>
                <a:latin typeface="微软雅黑"/>
              </a:defRPr>
            </a:pPr>
            <a:r>
              <a:t>治理节奏：双周Sprint迭代 · 月度管理层汇报 · 季度Steering Committee · 每Phase独立验收</a:t>
            </a:r>
          </a:p>
        </p:txBody>
      </p:sp>
    </p:spTree>
    <p:extLst>
      <p:ext uri="{BB962C8B-B14F-4D97-AF65-F5344CB8AC3E}">
        <p14:creationId xmlns:p14="http://schemas.microsoft.com/office/powerpoint/2010/main" val="117609984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31520" y="2606040"/>
            <a:ext cx="7315200" cy="36576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华锐POMS：让千亿资金拥有Aladdin级的数字化管理能力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微软雅黑"/>
              </a:defRPr>
            </a:pPr>
            <a:r>
              <a:t>POMS不是IT投资</a:t>
            </a:r>
            <a:br/>
            <a:r>
              <a:t>这是投资能力的投资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88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千亿自营资金，每年交易3000亿，管理500亿杠杆——值得拥有世界级的管理工具。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2044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年化直接价值：1-1.8亿 · 极端事件避损：1-2亿/次 · 3年不行动代价：3.3-8亿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93192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18个月追赶头部3-5年 · Phase 1六个月CEO看到全貌 · 分步建设风险可控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4340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微软雅黑"/>
              </a:defRPr>
            </a:pPr>
            <a:r>
              <a:t>▸ 华锐：唯一同时具备FICC+买方组合管理双重基因的国产厂商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5303520"/>
            <a:ext cx="10972800" cy="36576"/>
          </a:xfrm>
          <a:prstGeom prst="rect">
            <a:avLst/>
          </a:prstGeom>
          <a:solidFill>
            <a:srgbClr val="0F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539496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8888"/>
                </a:solidFill>
                <a:latin typeface="微软雅黑"/>
              </a:defRPr>
            </a:pPr>
            <a:r>
              <a:t>华锐科技  ·  上海+深圳+香港+长沙</a:t>
            </a:r>
          </a:p>
        </p:txBody>
      </p:sp>
    </p:spTree>
    <p:extLst>
      <p:ext uri="{BB962C8B-B14F-4D97-AF65-F5344CB8AC3E}">
        <p14:creationId xmlns:p14="http://schemas.microsoft.com/office/powerpoint/2010/main" val="274801354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1_1"/>
  <p:tag name="KSO_WM_UNIT_ID" val="diagram20200182_3*m_h_i*1_1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5"/>
  <p:tag name="KSO_WM_UNIT_FILL_TYPE" val="1"/>
  <p:tag name="KSO_WM_UNIT_TEXT_FILL_FORE_SCHEMECOLOR_INDEX" val="2"/>
  <p:tag name="KSO_WM_UNIT_TEXT_FILL_TYPE" val="1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4_1"/>
  <p:tag name="KSO_WM_UNIT_ID" val="diagram20200182_3*m_h_i*1_4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8"/>
  <p:tag name="KSO_WM_UNIT_FILL_TYPE" val="1"/>
  <p:tag name="KSO_WM_UNIT_TEXT_FILL_FORE_SCHEMECOLOR_INDEX" val="2"/>
  <p:tag name="KSO_WM_UNIT_TEXT_FILL_TYPE" val="1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3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3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1_1"/>
  <p:tag name="KSO_WM_UNIT_ID" val="diagram20200182_3*m_h_i*1_1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5"/>
  <p:tag name="KSO_WM_UNIT_FILL_TYPE" val="1"/>
  <p:tag name="KSO_WM_UNIT_TEXT_FILL_FORE_SCHEMECOLOR_INDEX" val="2"/>
  <p:tag name="KSO_WM_UNIT_TEXT_FILL_TYPE" val="1"/>
</p:tagLst>
</file>

<file path=ppt/tags/tag3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3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4_1"/>
  <p:tag name="KSO_WM_UNIT_ID" val="diagram20200182_3*m_h_i*1_4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8"/>
  <p:tag name="KSO_WM_UNIT_FILL_TYPE" val="1"/>
  <p:tag name="KSO_WM_UNIT_TEXT_FILL_FORE_SCHEMECOLOR_INDEX" val="2"/>
  <p:tag name="KSO_WM_UNIT_TEXT_FILL_TYPE" val="1"/>
</p:tagLst>
</file>

<file path=ppt/tags/tag3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3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3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3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3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2_1"/>
  <p:tag name="KSO_WM_UNIT_ID" val="diagram20200182_3*m_h_i*1_2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6"/>
  <p:tag name="KSO_WM_UNIT_FILL_TYPE" val="1"/>
  <p:tag name="KSO_WM_UNIT_TEXT_FILL_FORE_SCHEMECOLOR_INDEX" val="2"/>
  <p:tag name="KSO_WM_UNIT_TEXT_FILL_TYPE" val="1"/>
</p:tagLst>
</file>

<file path=ppt/tags/tag4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m1-1"/>
  <p:tag name="KSO_WM_UNIT_TYPE" val="m_h_i"/>
  <p:tag name="KSO_WM_UNIT_INDEX" val="1_3_1"/>
  <p:tag name="KSO_WM_UNIT_ID" val="diagram20200182_3*m_h_i*1_3_1"/>
  <p:tag name="KSO_WM_TEMPLATE_CATEGORY" val="diagram"/>
  <p:tag name="KSO_WM_TEMPLATE_INDEX" val="20200182"/>
  <p:tag name="KSO_WM_UNIT_LAYERLEVEL" val="1_1_1"/>
  <p:tag name="KSO_WM_TAG_VERSION" val="1.0"/>
  <p:tag name="KSO_WM_BEAUTIFY_FLAG" val="#wm#"/>
  <p:tag name="KSO_WM_UNIT_FILL_FORE_SCHEMECOLOR_INDEX" val="7"/>
  <p:tag name="KSO_WM_UNIT_FILL_TYPE" val="1"/>
  <p:tag name="KSO_WM_UNIT_TEXT_FILL_FORE_SCHEMECOLOR_INDEX" val="2"/>
  <p:tag name="KSO_WM_UNIT_TEXT_FILL_TYPE" val="1"/>
</p:tagLst>
</file>

<file path=ppt/tags/tag4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378*234"/>
  <p:tag name="TABLE_ENDDRAG_RECT" val="25*209*378*234"/>
</p:tagLst>
</file>

<file path=ppt/tags/tag4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378*234"/>
  <p:tag name="TABLE_ENDDRAG_RECT" val="25*209*378*234"/>
</p:tagLst>
</file>

<file path=ppt/tags/tag4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1_华锐主题">
  <a:themeElements>
    <a:clrScheme name="Office">
      <a:dk1>
        <a:sysClr val="windowText" lastClr="000000"/>
      </a:dk1>
      <a:lt1>
        <a:sysClr val="window" lastClr="FFFFFF"/>
      </a:lt1>
      <a:dk2>
        <a:srgbClr val="1B3275"/>
      </a:dk2>
      <a:lt2>
        <a:srgbClr val="E7E6E6"/>
      </a:lt2>
      <a:accent1>
        <a:srgbClr val="2B5EC7"/>
      </a:accent1>
      <a:accent2>
        <a:srgbClr val="E53935"/>
      </a:accent2>
      <a:accent3>
        <a:srgbClr val="3B7DD8"/>
      </a:accent3>
      <a:accent4>
        <a:srgbClr val="0F2060"/>
      </a:accent4>
      <a:accent5>
        <a:srgbClr val="1B3275"/>
      </a:accent5>
      <a:accent6>
        <a:srgbClr val="D6E4F7"/>
      </a:accent6>
      <a:hlink>
        <a:srgbClr val="2B5EC7"/>
      </a:hlink>
      <a:folHlink>
        <a:srgbClr val="954F72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12700">
          <a:solidFill>
            <a:schemeClr val="bg1"/>
          </a:solidFill>
          <a:headEnd type="none" w="lg" len="lg"/>
          <a:tailEnd type="oval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eme1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kumimoji="1" sz="1600">
            <a:latin typeface="黑体" panose="02010609060101010101" pitchFamily="49" charset="-122"/>
            <a:ea typeface="黑体" panose="02010609060101010101" pitchFamily="49" charset="-122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heme1" id="{53085661-8990-47BA-8CE4-FF2734DABD7D}" vid="{702E4EF9-7E0C-4E21-9BE6-47161897FCC8}"/>
    </a:ext>
  </a:extLst>
</a:theme>
</file>

<file path=ppt/theme/theme3.xml><?xml version="1.0" encoding="utf-8"?>
<a:theme xmlns:a="http://schemas.openxmlformats.org/drawingml/2006/main" name="2_华锐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12700">
          <a:solidFill>
            <a:schemeClr val="bg1"/>
          </a:solidFill>
          <a:headEnd type="none" w="lg" len="lg"/>
          <a:tailEnd type="oval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3_华锐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12700">
          <a:solidFill>
            <a:schemeClr val="bg1"/>
          </a:solidFill>
          <a:headEnd type="none" w="lg" len="lg"/>
          <a:tailEnd type="oval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4_华锐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12700">
          <a:solidFill>
            <a:schemeClr val="bg1"/>
          </a:solidFill>
          <a:headEnd type="none" w="lg" len="lg"/>
          <a:tailEnd type="oval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Theme2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kumimoji="1" sz="1600">
            <a:latin typeface="黑体" panose="02010609060101010101" pitchFamily="49" charset="-122"/>
            <a:ea typeface="黑体" panose="02010609060101010101" pitchFamily="49" charset="-122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heme2" id="{1518C8F5-EED6-46A8-8473-BE9AD173766E}" vid="{FBE812D9-A9DE-49A7-A310-21C0F4DE92A9}"/>
    </a:ext>
  </a:extLst>
</a:theme>
</file>

<file path=ppt/theme/theme7.xml><?xml version="1.0" encoding="utf-8"?>
<a:theme xmlns:a="http://schemas.openxmlformats.org/drawingml/2006/main" name="5_华锐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12700">
          <a:solidFill>
            <a:schemeClr val="bg1"/>
          </a:solidFill>
          <a:headEnd type="none" w="lg" len="lg"/>
          <a:tailEnd type="oval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7A64108-2BE7-4129-AE8A-1192AF1FD134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a3a84de7-7551-4675-ab4a-40fb3256917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186</TotalTime>
  <Words>9615</Words>
  <Application>Microsoft Office PowerPoint</Application>
  <PresentationFormat>Widescreen</PresentationFormat>
  <Paragraphs>1839</Paragraphs>
  <Slides>55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7</vt:i4>
      </vt:variant>
      <vt:variant>
        <vt:lpstr>Slide Titles</vt:lpstr>
      </vt:variant>
      <vt:variant>
        <vt:i4>55</vt:i4>
      </vt:variant>
    </vt:vector>
  </HeadingPairs>
  <TitlesOfParts>
    <vt:vector size="68" baseType="lpstr">
      <vt:lpstr>微软雅黑</vt:lpstr>
      <vt:lpstr>黑体</vt:lpstr>
      <vt:lpstr>Arial</vt:lpstr>
      <vt:lpstr>Calibri</vt:lpstr>
      <vt:lpstr>Times New Roman</vt:lpstr>
      <vt:lpstr>Wingdings</vt:lpstr>
      <vt:lpstr>1_华锐主题</vt:lpstr>
      <vt:lpstr>Theme1</vt:lpstr>
      <vt:lpstr>2_华锐主题</vt:lpstr>
      <vt:lpstr>3_华锐主题</vt:lpstr>
      <vt:lpstr>4_华锐主题</vt:lpstr>
      <vt:lpstr>Theme2</vt:lpstr>
      <vt:lpstr>5_华锐主题</vt:lpstr>
      <vt:lpstr>PowerPoint Presentation</vt:lpstr>
      <vt:lpstr>PowerPoint Presentation</vt:lpstr>
      <vt:lpstr>国元自营</vt:lpstr>
      <vt:lpstr>PowerPoint Presentation</vt:lpstr>
      <vt:lpstr>PowerPoint Presentation</vt:lpstr>
      <vt:lpstr>PowerPoint Presentation</vt:lpstr>
      <vt:lpstr>PowerPoint Presentation</vt:lpstr>
      <vt:lpstr>项目介绍</vt:lpstr>
      <vt:lpstr>PowerPoint Presentation</vt:lpstr>
      <vt:lpstr>PowerPoint Presentation</vt:lpstr>
      <vt:lpstr>PowerPoint Presentation</vt:lpstr>
      <vt:lpstr>PowerPoint Presentation</vt:lpstr>
      <vt:lpstr>华锐介绍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华锐介绍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华锐POMS系统介绍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华锐POMS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HD2373</cp:lastModifiedBy>
  <cp:revision>193</cp:revision>
  <dcterms:created xsi:type="dcterms:W3CDTF">2019-06-19T02:08:00Z</dcterms:created>
  <dcterms:modified xsi:type="dcterms:W3CDTF">2026-04-29T01:51:24Z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2052-12.1.0.23542</vt:lpwstr>
  </property>
  <property fmtid="{D5CDD505-2E9C-101B-9397-08002B2CF9AE}" pid="3" name="ICV">
    <vt:lpwstr>37B5AFFF82974929BECC5223CEE6BD9C_13</vt:lpwstr>
  </property>
</Properties>
</file>